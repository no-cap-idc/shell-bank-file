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93"/>
  </p:notesMasterIdLst>
  <p:sldIdLst>
    <p:sldId id="256" r:id="rId2"/>
    <p:sldId id="257" r:id="rId3"/>
    <p:sldId id="359" r:id="rId4"/>
    <p:sldId id="258" r:id="rId5"/>
    <p:sldId id="360" r:id="rId6"/>
    <p:sldId id="260" r:id="rId7"/>
    <p:sldId id="261" r:id="rId8"/>
    <p:sldId id="358"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361" r:id="rId22"/>
    <p:sldId id="275" r:id="rId23"/>
    <p:sldId id="276" r:id="rId24"/>
    <p:sldId id="277" r:id="rId25"/>
    <p:sldId id="278" r:id="rId26"/>
    <p:sldId id="279" r:id="rId27"/>
    <p:sldId id="357" r:id="rId28"/>
    <p:sldId id="280" r:id="rId29"/>
    <p:sldId id="281" r:id="rId30"/>
    <p:sldId id="282" r:id="rId31"/>
    <p:sldId id="283" r:id="rId32"/>
    <p:sldId id="284" r:id="rId33"/>
    <p:sldId id="285" r:id="rId34"/>
    <p:sldId id="286" r:id="rId35"/>
    <p:sldId id="287" r:id="rId36"/>
    <p:sldId id="289" r:id="rId37"/>
    <p:sldId id="290"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62" r:id="rId61"/>
    <p:sldId id="315"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42" r:id="rId82"/>
    <p:sldId id="343" r:id="rId83"/>
    <p:sldId id="344" r:id="rId84"/>
    <p:sldId id="345" r:id="rId85"/>
    <p:sldId id="346" r:id="rId86"/>
    <p:sldId id="336" r:id="rId87"/>
    <p:sldId id="348" r:id="rId88"/>
    <p:sldId id="356" r:id="rId89"/>
    <p:sldId id="352" r:id="rId90"/>
    <p:sldId id="338" r:id="rId91"/>
    <p:sldId id="339" r:id="rId92"/>
  </p:sldIdLst>
  <p:sldSz cx="24384000" cy="13716000"/>
  <p:notesSz cx="6858000" cy="9144000"/>
  <p:embeddedFontLst>
    <p:embeddedFont>
      <p:font typeface="Pretendard Bold" panose="020B0600000101010101" charset="-127"/>
      <p:bold r:id="rId94"/>
    </p:embeddedFont>
    <p:embeddedFont>
      <p:font typeface="Pretendard ExtraBold" panose="020B0600000101010101" charset="-127"/>
      <p:bold r:id="rId95"/>
    </p:embeddedFont>
    <p:embeddedFont>
      <p:font typeface="Pretendard Light" panose="020B0600000101010101" charset="-127"/>
      <p:regular r:id="rId96"/>
    </p:embeddedFont>
    <p:embeddedFont>
      <p:font typeface="Pretendard Medium" panose="020B0600000101010101" charset="-127"/>
      <p:regular r:id="rId97"/>
      <p:bold r:id="rId98"/>
    </p:embeddedFont>
    <p:embeddedFont>
      <p:font typeface="Pretendard Regular" panose="020B0600000101010101" charset="-127"/>
      <p:regular r:id="rId99"/>
    </p:embeddedFont>
    <p:embeddedFont>
      <p:font typeface="Geologica Roman Light" panose="020B0600000101010101" charset="0"/>
      <p:regular r:id="rId100"/>
    </p:embeddedFont>
    <p:embeddedFont>
      <p:font typeface="Hauora ExtraBold" panose="020B0600000101010101" charset="0"/>
      <p:bold r:id="rId101"/>
    </p:embeddedFont>
    <p:embeddedFont>
      <p:font typeface="Pretendard SemiBold" panose="02000703000000020004" pitchFamily="2" charset="-127"/>
      <p:regular r:id="rId102"/>
      <p:bold r:id="rId10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494B"/>
    <a:srgbClr val="FFFFFF"/>
    <a:srgbClr val="F2F6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17" autoAdjust="0"/>
    <p:restoredTop sz="89873" autoAdjust="0"/>
  </p:normalViewPr>
  <p:slideViewPr>
    <p:cSldViewPr>
      <p:cViewPr varScale="1">
        <p:scale>
          <a:sx n="40" d="100"/>
          <a:sy n="40" d="100"/>
        </p:scale>
        <p:origin x="30" y="142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tableStyles" Target="tableStyles.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font" Target="fonts/font9.fntdata"/><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font" Target="fonts/font2.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font" Target="fonts/font7.fntdata"/><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notesMaster" Target="notesMasters/notesMaster1.xml"/><Relationship Id="rId98" Type="http://schemas.openxmlformats.org/officeDocument/2006/relationships/font" Target="fonts/font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font" Target="fonts/font1.fntdata"/><Relationship Id="rId99" Type="http://schemas.openxmlformats.org/officeDocument/2006/relationships/font" Target="fonts/font6.fntdata"/><Relationship Id="rId10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4.fntdata"/><Relationship Id="rId10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K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3F1D0C-3122-4F49-8AF5-F094032BD3F4}" type="datetimeFigureOut">
              <a:rPr lang="en-KR" smtClean="0"/>
              <a:t>05/05/2026</a:t>
            </a:fld>
            <a:endParaRPr lang="en-K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K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K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3B9637-8F04-9D42-A4CF-40DB31B22CD7}" type="slidenum">
              <a:rPr lang="en-KR" smtClean="0"/>
              <a:t>‹#›</a:t>
            </a:fld>
            <a:endParaRPr lang="en-KR"/>
          </a:p>
        </p:txBody>
      </p:sp>
    </p:spTree>
    <p:extLst>
      <p:ext uri="{BB962C8B-B14F-4D97-AF65-F5344CB8AC3E}">
        <p14:creationId xmlns:p14="http://schemas.microsoft.com/office/powerpoint/2010/main" val="22638219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이미지 다시 찍기</a:t>
            </a:r>
            <a:r>
              <a:rPr lang="en-US" altLang="ko-KR" dirty="0"/>
              <a:t>(Response </a:t>
            </a:r>
            <a:r>
              <a:rPr lang="ko-KR" altLang="en-US" dirty="0"/>
              <a:t>수정</a:t>
            </a:r>
            <a:r>
              <a:rPr lang="en-US" altLang="ko-KR" dirty="0"/>
              <a:t>)</a:t>
            </a:r>
            <a:endParaRPr lang="en-KR" dirty="0"/>
          </a:p>
        </p:txBody>
      </p:sp>
      <p:sp>
        <p:nvSpPr>
          <p:cNvPr id="4" name="Slide Number Placeholder 3"/>
          <p:cNvSpPr>
            <a:spLocks noGrp="1"/>
          </p:cNvSpPr>
          <p:nvPr>
            <p:ph type="sldNum" sz="quarter" idx="5"/>
          </p:nvPr>
        </p:nvSpPr>
        <p:spPr/>
        <p:txBody>
          <a:bodyPr/>
          <a:lstStyle/>
          <a:p>
            <a:fld id="{443B9637-8F04-9D42-A4CF-40DB31B22CD7}" type="slidenum">
              <a:rPr lang="en-KR" smtClean="0"/>
              <a:t>16</a:t>
            </a:fld>
            <a:endParaRPr lang="en-KR"/>
          </a:p>
        </p:txBody>
      </p:sp>
    </p:spTree>
    <p:extLst>
      <p:ext uri="{BB962C8B-B14F-4D97-AF65-F5344CB8AC3E}">
        <p14:creationId xmlns:p14="http://schemas.microsoft.com/office/powerpoint/2010/main" val="7427706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KR" dirty="0"/>
          </a:p>
        </p:txBody>
      </p:sp>
      <p:sp>
        <p:nvSpPr>
          <p:cNvPr id="4" name="Slide Number Placeholder 3"/>
          <p:cNvSpPr>
            <a:spLocks noGrp="1"/>
          </p:cNvSpPr>
          <p:nvPr>
            <p:ph type="sldNum" sz="quarter" idx="5"/>
          </p:nvPr>
        </p:nvSpPr>
        <p:spPr/>
        <p:txBody>
          <a:bodyPr/>
          <a:lstStyle/>
          <a:p>
            <a:fld id="{443B9637-8F04-9D42-A4CF-40DB31B22CD7}" type="slidenum">
              <a:rPr lang="en-KR" smtClean="0"/>
              <a:t>18</a:t>
            </a:fld>
            <a:endParaRPr lang="en-KR"/>
          </a:p>
        </p:txBody>
      </p:sp>
    </p:spTree>
    <p:extLst>
      <p:ext uri="{BB962C8B-B14F-4D97-AF65-F5344CB8AC3E}">
        <p14:creationId xmlns:p14="http://schemas.microsoft.com/office/powerpoint/2010/main" val="2538767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금융권 테마 </a:t>
            </a:r>
            <a:r>
              <a:rPr lang="en-US" altLang="ko-KR" dirty="0"/>
              <a:t>E2E + CSRF</a:t>
            </a:r>
          </a:p>
          <a:p>
            <a:r>
              <a:rPr lang="en-US" altLang="ko-KR" dirty="0"/>
              <a:t>1,2,4</a:t>
            </a:r>
            <a:r>
              <a:rPr lang="ko-KR" altLang="en-US" dirty="0"/>
              <a:t>번 바꾸기</a:t>
            </a:r>
            <a:endParaRPr lang="en-KR" dirty="0"/>
          </a:p>
        </p:txBody>
      </p:sp>
      <p:sp>
        <p:nvSpPr>
          <p:cNvPr id="4" name="Slide Number Placeholder 3"/>
          <p:cNvSpPr>
            <a:spLocks noGrp="1"/>
          </p:cNvSpPr>
          <p:nvPr>
            <p:ph type="sldNum" sz="quarter" idx="5"/>
          </p:nvPr>
        </p:nvSpPr>
        <p:spPr/>
        <p:txBody>
          <a:bodyPr/>
          <a:lstStyle/>
          <a:p>
            <a:fld id="{443B9637-8F04-9D42-A4CF-40DB31B22CD7}" type="slidenum">
              <a:rPr lang="en-KR" smtClean="0"/>
              <a:t>25</a:t>
            </a:fld>
            <a:endParaRPr lang="en-KR"/>
          </a:p>
        </p:txBody>
      </p:sp>
    </p:spTree>
    <p:extLst>
      <p:ext uri="{BB962C8B-B14F-4D97-AF65-F5344CB8AC3E}">
        <p14:creationId xmlns:p14="http://schemas.microsoft.com/office/powerpoint/2010/main" val="3573896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표기방식이 제각각</a:t>
            </a:r>
            <a:r>
              <a:rPr lang="en-US" altLang="ko-KR" dirty="0"/>
              <a:t>(cups, </a:t>
            </a:r>
            <a:r>
              <a:rPr lang="ko-KR" altLang="en-US" dirty="0"/>
              <a:t>메일서버</a:t>
            </a:r>
            <a:r>
              <a:rPr lang="en-US" altLang="ko-KR" dirty="0"/>
              <a:t>)</a:t>
            </a:r>
          </a:p>
          <a:p>
            <a:r>
              <a:rPr lang="ko-KR" altLang="en-US" dirty="0" err="1"/>
              <a:t>외주망</a:t>
            </a:r>
            <a:r>
              <a:rPr lang="ko-KR" altLang="en-US" dirty="0"/>
              <a:t> </a:t>
            </a:r>
            <a:r>
              <a:rPr lang="en-US" altLang="ko-KR" dirty="0"/>
              <a:t>-&gt;</a:t>
            </a:r>
            <a:r>
              <a:rPr lang="ko-KR" altLang="en-US" dirty="0"/>
              <a:t> 협력사망</a:t>
            </a:r>
            <a:endParaRPr lang="en-US" altLang="ko-KR" dirty="0"/>
          </a:p>
          <a:p>
            <a:r>
              <a:rPr lang="ko-KR" altLang="en-US" dirty="0" err="1"/>
              <a:t>본사망</a:t>
            </a:r>
            <a:r>
              <a:rPr lang="ko-KR" altLang="en-US" dirty="0"/>
              <a:t> </a:t>
            </a:r>
            <a:r>
              <a:rPr lang="en-US" altLang="ko-KR" dirty="0"/>
              <a:t>|</a:t>
            </a:r>
          </a:p>
          <a:p>
            <a:r>
              <a:rPr lang="en-US" altLang="ko-KR" dirty="0"/>
              <a:t>--------------</a:t>
            </a:r>
            <a:br>
              <a:rPr lang="en-US" altLang="ko-KR" dirty="0"/>
            </a:br>
            <a:r>
              <a:rPr lang="ko-KR" altLang="en-US" dirty="0"/>
              <a:t>공격자 </a:t>
            </a:r>
            <a:r>
              <a:rPr lang="en-US" altLang="ko-KR" dirty="0"/>
              <a:t>|</a:t>
            </a:r>
            <a:r>
              <a:rPr lang="ko-KR" altLang="en-US" dirty="0"/>
              <a:t> </a:t>
            </a:r>
            <a:r>
              <a:rPr lang="ko-KR" altLang="en-US" dirty="0" err="1"/>
              <a:t>내부망</a:t>
            </a:r>
            <a:endParaRPr lang="en-US" altLang="ko-KR" dirty="0"/>
          </a:p>
          <a:p>
            <a:r>
              <a:rPr lang="en-US" altLang="ko-KR" dirty="0"/>
              <a:t>--------------</a:t>
            </a:r>
            <a:br>
              <a:rPr lang="en-US" altLang="ko-KR" dirty="0"/>
            </a:br>
            <a:r>
              <a:rPr lang="ko-KR" altLang="en-US" dirty="0" err="1"/>
              <a:t>외주망</a:t>
            </a:r>
            <a:r>
              <a:rPr lang="ko-KR" altLang="en-US" dirty="0"/>
              <a:t> </a:t>
            </a:r>
            <a:r>
              <a:rPr lang="en-US" altLang="ko-KR" dirty="0"/>
              <a:t>|</a:t>
            </a:r>
          </a:p>
          <a:p>
            <a:endParaRPr lang="en-US" dirty="0"/>
          </a:p>
          <a:p>
            <a:r>
              <a:rPr lang="ko-KR" altLang="en-US" dirty="0"/>
              <a:t>어떤 피해를 입히는지</a:t>
            </a:r>
            <a:endParaRPr lang="en-US" altLang="ko-KR" dirty="0"/>
          </a:p>
          <a:p>
            <a:r>
              <a:rPr lang="ko-KR" altLang="en-US" dirty="0"/>
              <a:t>결말이 없다</a:t>
            </a:r>
            <a:endParaRPr lang="en-KR" dirty="0"/>
          </a:p>
        </p:txBody>
      </p:sp>
      <p:sp>
        <p:nvSpPr>
          <p:cNvPr id="4" name="Slide Number Placeholder 3"/>
          <p:cNvSpPr>
            <a:spLocks noGrp="1"/>
          </p:cNvSpPr>
          <p:nvPr>
            <p:ph type="sldNum" sz="quarter" idx="5"/>
          </p:nvPr>
        </p:nvSpPr>
        <p:spPr/>
        <p:txBody>
          <a:bodyPr/>
          <a:lstStyle/>
          <a:p>
            <a:fld id="{443B9637-8F04-9D42-A4CF-40DB31B22CD7}" type="slidenum">
              <a:rPr lang="en-KR" smtClean="0"/>
              <a:t>29</a:t>
            </a:fld>
            <a:endParaRPr lang="en-KR"/>
          </a:p>
        </p:txBody>
      </p:sp>
    </p:spTree>
    <p:extLst>
      <p:ext uri="{BB962C8B-B14F-4D97-AF65-F5344CB8AC3E}">
        <p14:creationId xmlns:p14="http://schemas.microsoft.com/office/powerpoint/2010/main" val="31850140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용어 통일</a:t>
            </a:r>
            <a:endParaRPr lang="en-US" altLang="ko-KR" dirty="0"/>
          </a:p>
          <a:p>
            <a:r>
              <a:rPr lang="ko-KR" altLang="en-US" dirty="0"/>
              <a:t>어디에 위치하는지</a:t>
            </a:r>
            <a:r>
              <a:rPr lang="en-US" altLang="ko-KR" dirty="0"/>
              <a:t>(</a:t>
            </a:r>
            <a:r>
              <a:rPr lang="ko-KR" altLang="en-US" dirty="0"/>
              <a:t>망</a:t>
            </a:r>
            <a:r>
              <a:rPr lang="en-US" altLang="ko-KR" dirty="0"/>
              <a:t>)</a:t>
            </a:r>
            <a:endParaRPr lang="en-KR" dirty="0"/>
          </a:p>
        </p:txBody>
      </p:sp>
      <p:sp>
        <p:nvSpPr>
          <p:cNvPr id="4" name="Slide Number Placeholder 3"/>
          <p:cNvSpPr>
            <a:spLocks noGrp="1"/>
          </p:cNvSpPr>
          <p:nvPr>
            <p:ph type="sldNum" sz="quarter" idx="5"/>
          </p:nvPr>
        </p:nvSpPr>
        <p:spPr/>
        <p:txBody>
          <a:bodyPr/>
          <a:lstStyle/>
          <a:p>
            <a:fld id="{443B9637-8F04-9D42-A4CF-40DB31B22CD7}" type="slidenum">
              <a:rPr lang="en-KR" smtClean="0"/>
              <a:t>31</a:t>
            </a:fld>
            <a:endParaRPr lang="en-KR"/>
          </a:p>
        </p:txBody>
      </p:sp>
    </p:spTree>
    <p:extLst>
      <p:ext uri="{BB962C8B-B14F-4D97-AF65-F5344CB8AC3E}">
        <p14:creationId xmlns:p14="http://schemas.microsoft.com/office/powerpoint/2010/main" val="1531709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화살표 </a:t>
            </a:r>
            <a:r>
              <a:rPr lang="ko-KR" altLang="en-US" dirty="0" err="1"/>
              <a:t>너무많다</a:t>
            </a:r>
            <a:endParaRPr lang="en-US" altLang="ko-KR" dirty="0"/>
          </a:p>
          <a:p>
            <a:r>
              <a:rPr lang="ko-KR" altLang="en-US" dirty="0"/>
              <a:t>최대한 줄이기</a:t>
            </a:r>
            <a:endParaRPr lang="en-US" altLang="ko-KR" dirty="0"/>
          </a:p>
        </p:txBody>
      </p:sp>
      <p:sp>
        <p:nvSpPr>
          <p:cNvPr id="4" name="Slide Number Placeholder 3"/>
          <p:cNvSpPr>
            <a:spLocks noGrp="1"/>
          </p:cNvSpPr>
          <p:nvPr>
            <p:ph type="sldNum" sz="quarter" idx="5"/>
          </p:nvPr>
        </p:nvSpPr>
        <p:spPr/>
        <p:txBody>
          <a:bodyPr/>
          <a:lstStyle/>
          <a:p>
            <a:fld id="{443B9637-8F04-9D42-A4CF-40DB31B22CD7}" type="slidenum">
              <a:rPr lang="en-KR" smtClean="0"/>
              <a:t>59</a:t>
            </a:fld>
            <a:endParaRPr lang="en-KR"/>
          </a:p>
        </p:txBody>
      </p:sp>
    </p:spTree>
    <p:extLst>
      <p:ext uri="{BB962C8B-B14F-4D97-AF65-F5344CB8AC3E}">
        <p14:creationId xmlns:p14="http://schemas.microsoft.com/office/powerpoint/2010/main" val="11865682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6485A-531E-1CAA-12E8-7DB8B0FA06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2212A7-40E6-C0F3-DC11-64748A2CF1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25F987-6CD6-0C0C-A5D3-6BE50F72AAA4}"/>
              </a:ext>
            </a:extLst>
          </p:cNvPr>
          <p:cNvSpPr>
            <a:spLocks noGrp="1"/>
          </p:cNvSpPr>
          <p:nvPr>
            <p:ph type="body" idx="1"/>
          </p:nvPr>
        </p:nvSpPr>
        <p:spPr/>
        <p:txBody>
          <a:bodyPr/>
          <a:lstStyle/>
          <a:p>
            <a:r>
              <a:rPr lang="ko-KR" altLang="en-US" dirty="0"/>
              <a:t>템플릿 통일</a:t>
            </a:r>
            <a:endParaRPr lang="en-US" altLang="ko-KR" dirty="0"/>
          </a:p>
          <a:p>
            <a:r>
              <a:rPr lang="ko-KR" altLang="en-US" dirty="0"/>
              <a:t>로고 넣기</a:t>
            </a:r>
            <a:endParaRPr lang="en-US" altLang="ko-KR" dirty="0"/>
          </a:p>
          <a:p>
            <a:endParaRPr lang="en-US" altLang="ko-KR" dirty="0"/>
          </a:p>
        </p:txBody>
      </p:sp>
      <p:sp>
        <p:nvSpPr>
          <p:cNvPr id="4" name="Slide Number Placeholder 3">
            <a:extLst>
              <a:ext uri="{FF2B5EF4-FFF2-40B4-BE49-F238E27FC236}">
                <a16:creationId xmlns:a16="http://schemas.microsoft.com/office/drawing/2014/main" id="{A7CB40D4-39B0-285F-04D9-08E2A2A808D8}"/>
              </a:ext>
            </a:extLst>
          </p:cNvPr>
          <p:cNvSpPr>
            <a:spLocks noGrp="1"/>
          </p:cNvSpPr>
          <p:nvPr>
            <p:ph type="sldNum" sz="quarter" idx="5"/>
          </p:nvPr>
        </p:nvSpPr>
        <p:spPr/>
        <p:txBody>
          <a:bodyPr/>
          <a:lstStyle/>
          <a:p>
            <a:fld id="{443B9637-8F04-9D42-A4CF-40DB31B22CD7}" type="slidenum">
              <a:rPr lang="en-KR" smtClean="0"/>
              <a:t>60</a:t>
            </a:fld>
            <a:endParaRPr lang="en-KR"/>
          </a:p>
        </p:txBody>
      </p:sp>
    </p:spTree>
    <p:extLst>
      <p:ext uri="{BB962C8B-B14F-4D97-AF65-F5344CB8AC3E}">
        <p14:creationId xmlns:p14="http://schemas.microsoft.com/office/powerpoint/2010/main" val="40011143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템플릿 통일</a:t>
            </a:r>
            <a:endParaRPr lang="en-US" altLang="ko-KR" dirty="0"/>
          </a:p>
          <a:p>
            <a:r>
              <a:rPr lang="ko-KR" altLang="en-US" dirty="0"/>
              <a:t>로고 넣기</a:t>
            </a:r>
            <a:endParaRPr lang="en-US" altLang="ko-KR" dirty="0"/>
          </a:p>
          <a:p>
            <a:endParaRPr lang="en-US" altLang="ko-KR" dirty="0"/>
          </a:p>
        </p:txBody>
      </p:sp>
      <p:sp>
        <p:nvSpPr>
          <p:cNvPr id="4" name="Slide Number Placeholder 3"/>
          <p:cNvSpPr>
            <a:spLocks noGrp="1"/>
          </p:cNvSpPr>
          <p:nvPr>
            <p:ph type="sldNum" sz="quarter" idx="5"/>
          </p:nvPr>
        </p:nvSpPr>
        <p:spPr/>
        <p:txBody>
          <a:bodyPr/>
          <a:lstStyle/>
          <a:p>
            <a:fld id="{443B9637-8F04-9D42-A4CF-40DB31B22CD7}" type="slidenum">
              <a:rPr lang="en-KR" smtClean="0"/>
              <a:t>61</a:t>
            </a:fld>
            <a:endParaRPr lang="en-KR"/>
          </a:p>
        </p:txBody>
      </p:sp>
    </p:spTree>
    <p:extLst>
      <p:ext uri="{BB962C8B-B14F-4D97-AF65-F5344CB8AC3E}">
        <p14:creationId xmlns:p14="http://schemas.microsoft.com/office/powerpoint/2010/main" val="18243383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5A059-F668-6C4E-B2D0-626F9D0E02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FB8CE3-5A09-9D5E-78E8-1FADBD2EA7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4FB0BC-3946-8F63-D669-4D654AAA843C}"/>
              </a:ext>
            </a:extLst>
          </p:cNvPr>
          <p:cNvSpPr>
            <a:spLocks noGrp="1"/>
          </p:cNvSpPr>
          <p:nvPr>
            <p:ph type="body" idx="1"/>
          </p:nvPr>
        </p:nvSpPr>
        <p:spPr/>
        <p:txBody>
          <a:bodyPr/>
          <a:lstStyle/>
          <a:p>
            <a:r>
              <a:rPr lang="ko-KR" altLang="en-US" dirty="0"/>
              <a:t>왜 이 보안 대책을 썼는지</a:t>
            </a:r>
            <a:endParaRPr lang="en-US" altLang="ko-KR" dirty="0"/>
          </a:p>
          <a:p>
            <a:pPr marL="0" marR="0" lvl="0" indent="0" algn="l" defTabSz="914400" rtl="0" eaLnBrk="1" fontAlgn="auto" latinLnBrk="0" hangingPunct="1">
              <a:lnSpc>
                <a:spcPct val="100000"/>
              </a:lnSpc>
              <a:spcBef>
                <a:spcPts val="0"/>
              </a:spcBef>
              <a:spcAft>
                <a:spcPts val="0"/>
              </a:spcAft>
              <a:buClrTx/>
              <a:buSzTx/>
              <a:buFontTx/>
              <a:buNone/>
              <a:tabLst/>
              <a:defRPr/>
            </a:pPr>
            <a:r>
              <a:rPr lang="ko-KR" altLang="en-US" dirty="0"/>
              <a:t>도메인별 정리</a:t>
            </a:r>
            <a:r>
              <a:rPr lang="en-US" altLang="ko-KR" dirty="0"/>
              <a:t>,</a:t>
            </a:r>
            <a:r>
              <a:rPr lang="ko-KR" altLang="en-US" dirty="0"/>
              <a:t> 예시</a:t>
            </a:r>
            <a:r>
              <a:rPr lang="en-US" altLang="ko-KR" dirty="0"/>
              <a:t>,</a:t>
            </a:r>
            <a:r>
              <a:rPr lang="ko-KR" altLang="en-US" dirty="0"/>
              <a:t> 서비스</a:t>
            </a:r>
            <a:r>
              <a:rPr lang="en-US" altLang="ko-KR" dirty="0"/>
              <a:t>(</a:t>
            </a:r>
            <a:r>
              <a:rPr lang="ko-KR" altLang="en-US" dirty="0"/>
              <a:t>솔루션</a:t>
            </a:r>
            <a:r>
              <a:rPr lang="en-US" altLang="ko-KR" dirty="0"/>
              <a:t>)</a:t>
            </a:r>
            <a:endParaRPr lang="en-KR" dirty="0"/>
          </a:p>
        </p:txBody>
      </p:sp>
      <p:sp>
        <p:nvSpPr>
          <p:cNvPr id="4" name="Slide Number Placeholder 3">
            <a:extLst>
              <a:ext uri="{FF2B5EF4-FFF2-40B4-BE49-F238E27FC236}">
                <a16:creationId xmlns:a16="http://schemas.microsoft.com/office/drawing/2014/main" id="{9D57F96D-0D34-5664-EC7D-27D95786805F}"/>
              </a:ext>
            </a:extLst>
          </p:cNvPr>
          <p:cNvSpPr>
            <a:spLocks noGrp="1"/>
          </p:cNvSpPr>
          <p:nvPr>
            <p:ph type="sldNum" sz="quarter" idx="5"/>
          </p:nvPr>
        </p:nvSpPr>
        <p:spPr/>
        <p:txBody>
          <a:bodyPr/>
          <a:lstStyle/>
          <a:p>
            <a:fld id="{443B9637-8F04-9D42-A4CF-40DB31B22CD7}" type="slidenum">
              <a:rPr lang="en-KR" smtClean="0"/>
              <a:t>81</a:t>
            </a:fld>
            <a:endParaRPr lang="en-KR"/>
          </a:p>
        </p:txBody>
      </p:sp>
    </p:spTree>
    <p:extLst>
      <p:ext uri="{BB962C8B-B14F-4D97-AF65-F5344CB8AC3E}">
        <p14:creationId xmlns:p14="http://schemas.microsoft.com/office/powerpoint/2010/main" val="1113862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8D9F5-F73F-4193-5423-DEA9AD063A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1B8454-00C8-A719-2AC3-4E31CABF3B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59142B-AE02-017A-4E37-7E9EAE9F78BC}"/>
              </a:ext>
            </a:extLst>
          </p:cNvPr>
          <p:cNvSpPr>
            <a:spLocks noGrp="1"/>
          </p:cNvSpPr>
          <p:nvPr>
            <p:ph type="body" idx="1"/>
          </p:nvPr>
        </p:nvSpPr>
        <p:spPr/>
        <p:txBody>
          <a:bodyPr/>
          <a:lstStyle/>
          <a:p>
            <a:endParaRPr lang="en-KR" dirty="0"/>
          </a:p>
        </p:txBody>
      </p:sp>
      <p:sp>
        <p:nvSpPr>
          <p:cNvPr id="4" name="Slide Number Placeholder 3">
            <a:extLst>
              <a:ext uri="{FF2B5EF4-FFF2-40B4-BE49-F238E27FC236}">
                <a16:creationId xmlns:a16="http://schemas.microsoft.com/office/drawing/2014/main" id="{EBF3D5FE-2F4C-D740-9990-F17E6AF3CAA3}"/>
              </a:ext>
            </a:extLst>
          </p:cNvPr>
          <p:cNvSpPr>
            <a:spLocks noGrp="1"/>
          </p:cNvSpPr>
          <p:nvPr>
            <p:ph type="sldNum" sz="quarter" idx="5"/>
          </p:nvPr>
        </p:nvSpPr>
        <p:spPr/>
        <p:txBody>
          <a:bodyPr/>
          <a:lstStyle/>
          <a:p>
            <a:fld id="{443B9637-8F04-9D42-A4CF-40DB31B22CD7}" type="slidenum">
              <a:rPr lang="en-KR" smtClean="0"/>
              <a:t>82</a:t>
            </a:fld>
            <a:endParaRPr lang="en-KR"/>
          </a:p>
        </p:txBody>
      </p:sp>
    </p:spTree>
    <p:extLst>
      <p:ext uri="{BB962C8B-B14F-4D97-AF65-F5344CB8AC3E}">
        <p14:creationId xmlns:p14="http://schemas.microsoft.com/office/powerpoint/2010/main" val="41885406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9F736-54E3-0484-A3E5-F1F481D16C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624506-4E06-4B5E-E0CE-70EFF36695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8B0F00-8AB7-E78D-089A-DD84305C93AA}"/>
              </a:ext>
            </a:extLst>
          </p:cNvPr>
          <p:cNvSpPr>
            <a:spLocks noGrp="1"/>
          </p:cNvSpPr>
          <p:nvPr>
            <p:ph type="body" idx="1"/>
          </p:nvPr>
        </p:nvSpPr>
        <p:spPr/>
        <p:txBody>
          <a:bodyPr/>
          <a:lstStyle/>
          <a:p>
            <a:endParaRPr lang="en-KR" dirty="0"/>
          </a:p>
        </p:txBody>
      </p:sp>
      <p:sp>
        <p:nvSpPr>
          <p:cNvPr id="4" name="Slide Number Placeholder 3">
            <a:extLst>
              <a:ext uri="{FF2B5EF4-FFF2-40B4-BE49-F238E27FC236}">
                <a16:creationId xmlns:a16="http://schemas.microsoft.com/office/drawing/2014/main" id="{39E9FF90-08FA-857D-975E-E8ACED8E2407}"/>
              </a:ext>
            </a:extLst>
          </p:cNvPr>
          <p:cNvSpPr>
            <a:spLocks noGrp="1"/>
          </p:cNvSpPr>
          <p:nvPr>
            <p:ph type="sldNum" sz="quarter" idx="5"/>
          </p:nvPr>
        </p:nvSpPr>
        <p:spPr/>
        <p:txBody>
          <a:bodyPr/>
          <a:lstStyle/>
          <a:p>
            <a:fld id="{443B9637-8F04-9D42-A4CF-40DB31B22CD7}" type="slidenum">
              <a:rPr lang="en-KR" smtClean="0"/>
              <a:t>83</a:t>
            </a:fld>
            <a:endParaRPr lang="en-KR"/>
          </a:p>
        </p:txBody>
      </p:sp>
    </p:spTree>
    <p:extLst>
      <p:ext uri="{BB962C8B-B14F-4D97-AF65-F5344CB8AC3E}">
        <p14:creationId xmlns:p14="http://schemas.microsoft.com/office/powerpoint/2010/main" val="38207861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65F14-2A7C-D303-23AC-0AED28514C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D5C150-434E-C33C-8126-657FA444AA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F53231-43DC-AB22-9827-F52498A774DD}"/>
              </a:ext>
            </a:extLst>
          </p:cNvPr>
          <p:cNvSpPr>
            <a:spLocks noGrp="1"/>
          </p:cNvSpPr>
          <p:nvPr>
            <p:ph type="body" idx="1"/>
          </p:nvPr>
        </p:nvSpPr>
        <p:spPr/>
        <p:txBody>
          <a:bodyPr/>
          <a:lstStyle/>
          <a:p>
            <a:r>
              <a:rPr lang="ko-KR" altLang="en-US" dirty="0"/>
              <a:t>왜 이 보안 대책을 썼는지</a:t>
            </a:r>
            <a:endParaRPr lang="en-US" altLang="ko-KR" dirty="0"/>
          </a:p>
          <a:p>
            <a:pPr marL="0" marR="0" lvl="0" indent="0" algn="l" defTabSz="914400" rtl="0" eaLnBrk="1" fontAlgn="auto" latinLnBrk="0" hangingPunct="1">
              <a:lnSpc>
                <a:spcPct val="100000"/>
              </a:lnSpc>
              <a:spcBef>
                <a:spcPts val="0"/>
              </a:spcBef>
              <a:spcAft>
                <a:spcPts val="0"/>
              </a:spcAft>
              <a:buClrTx/>
              <a:buSzTx/>
              <a:buFontTx/>
              <a:buNone/>
              <a:tabLst/>
              <a:defRPr/>
            </a:pPr>
            <a:r>
              <a:rPr lang="ko-KR" altLang="en-US" dirty="0"/>
              <a:t>도메인별 정리</a:t>
            </a:r>
            <a:r>
              <a:rPr lang="en-US" altLang="ko-KR" dirty="0"/>
              <a:t>,</a:t>
            </a:r>
            <a:r>
              <a:rPr lang="ko-KR" altLang="en-US" dirty="0"/>
              <a:t> 예시</a:t>
            </a:r>
            <a:r>
              <a:rPr lang="en-US" altLang="ko-KR" dirty="0"/>
              <a:t>,</a:t>
            </a:r>
            <a:r>
              <a:rPr lang="ko-KR" altLang="en-US" dirty="0"/>
              <a:t> 서비스</a:t>
            </a:r>
            <a:r>
              <a:rPr lang="en-US" altLang="ko-KR" dirty="0"/>
              <a:t>(</a:t>
            </a:r>
            <a:r>
              <a:rPr lang="ko-KR" altLang="en-US" dirty="0"/>
              <a:t>솔루션</a:t>
            </a:r>
            <a:r>
              <a:rPr lang="en-US" altLang="ko-KR" dirty="0"/>
              <a:t>)</a:t>
            </a:r>
            <a:endParaRPr lang="en-KR" dirty="0"/>
          </a:p>
        </p:txBody>
      </p:sp>
      <p:sp>
        <p:nvSpPr>
          <p:cNvPr id="4" name="Slide Number Placeholder 3">
            <a:extLst>
              <a:ext uri="{FF2B5EF4-FFF2-40B4-BE49-F238E27FC236}">
                <a16:creationId xmlns:a16="http://schemas.microsoft.com/office/drawing/2014/main" id="{B662AB86-9B93-3E49-07E8-B0D1C74888E3}"/>
              </a:ext>
            </a:extLst>
          </p:cNvPr>
          <p:cNvSpPr>
            <a:spLocks noGrp="1"/>
          </p:cNvSpPr>
          <p:nvPr>
            <p:ph type="sldNum" sz="quarter" idx="5"/>
          </p:nvPr>
        </p:nvSpPr>
        <p:spPr/>
        <p:txBody>
          <a:bodyPr/>
          <a:lstStyle/>
          <a:p>
            <a:fld id="{443B9637-8F04-9D42-A4CF-40DB31B22CD7}" type="slidenum">
              <a:rPr lang="en-KR" smtClean="0"/>
              <a:t>84</a:t>
            </a:fld>
            <a:endParaRPr lang="en-KR"/>
          </a:p>
        </p:txBody>
      </p:sp>
    </p:spTree>
    <p:extLst>
      <p:ext uri="{BB962C8B-B14F-4D97-AF65-F5344CB8AC3E}">
        <p14:creationId xmlns:p14="http://schemas.microsoft.com/office/powerpoint/2010/main" val="25843080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2C5F8-DF15-CE76-CCCC-2AAB944C43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6301E5-8A21-FF3D-84AE-22C0CE9131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CA0EC5-3FCF-AF6A-F514-B0CED75176BC}"/>
              </a:ext>
            </a:extLst>
          </p:cNvPr>
          <p:cNvSpPr>
            <a:spLocks noGrp="1"/>
          </p:cNvSpPr>
          <p:nvPr>
            <p:ph type="body" idx="1"/>
          </p:nvPr>
        </p:nvSpPr>
        <p:spPr/>
        <p:txBody>
          <a:bodyPr/>
          <a:lstStyle/>
          <a:p>
            <a:r>
              <a:rPr lang="ko-KR" altLang="en-US" dirty="0"/>
              <a:t>왜 이 보안 대책을 썼는지</a:t>
            </a:r>
            <a:endParaRPr lang="en-US" altLang="ko-KR" dirty="0"/>
          </a:p>
          <a:p>
            <a:pPr marL="0" marR="0" lvl="0" indent="0" algn="l" defTabSz="914400" rtl="0" eaLnBrk="1" fontAlgn="auto" latinLnBrk="0" hangingPunct="1">
              <a:lnSpc>
                <a:spcPct val="100000"/>
              </a:lnSpc>
              <a:spcBef>
                <a:spcPts val="0"/>
              </a:spcBef>
              <a:spcAft>
                <a:spcPts val="0"/>
              </a:spcAft>
              <a:buClrTx/>
              <a:buSzTx/>
              <a:buFontTx/>
              <a:buNone/>
              <a:tabLst/>
              <a:defRPr/>
            </a:pPr>
            <a:r>
              <a:rPr lang="ko-KR" altLang="en-US" dirty="0"/>
              <a:t>도메인별 정리</a:t>
            </a:r>
            <a:r>
              <a:rPr lang="en-US" altLang="ko-KR" dirty="0"/>
              <a:t>,</a:t>
            </a:r>
            <a:r>
              <a:rPr lang="ko-KR" altLang="en-US" dirty="0"/>
              <a:t> 예시</a:t>
            </a:r>
            <a:r>
              <a:rPr lang="en-US" altLang="ko-KR" dirty="0"/>
              <a:t>,</a:t>
            </a:r>
            <a:r>
              <a:rPr lang="ko-KR" altLang="en-US" dirty="0"/>
              <a:t> 서비스</a:t>
            </a:r>
            <a:r>
              <a:rPr lang="en-US" altLang="ko-KR" dirty="0"/>
              <a:t>(</a:t>
            </a:r>
            <a:r>
              <a:rPr lang="ko-KR" altLang="en-US" dirty="0"/>
              <a:t>솔루션</a:t>
            </a:r>
            <a:r>
              <a:rPr lang="en-US" altLang="ko-KR" dirty="0"/>
              <a:t>)</a:t>
            </a:r>
            <a:endParaRPr lang="en-KR" dirty="0"/>
          </a:p>
        </p:txBody>
      </p:sp>
      <p:sp>
        <p:nvSpPr>
          <p:cNvPr id="4" name="Slide Number Placeholder 3">
            <a:extLst>
              <a:ext uri="{FF2B5EF4-FFF2-40B4-BE49-F238E27FC236}">
                <a16:creationId xmlns:a16="http://schemas.microsoft.com/office/drawing/2014/main" id="{C21AA8B8-AE70-B846-8B0E-C38FCF81CDD6}"/>
              </a:ext>
            </a:extLst>
          </p:cNvPr>
          <p:cNvSpPr>
            <a:spLocks noGrp="1"/>
          </p:cNvSpPr>
          <p:nvPr>
            <p:ph type="sldNum" sz="quarter" idx="5"/>
          </p:nvPr>
        </p:nvSpPr>
        <p:spPr/>
        <p:txBody>
          <a:bodyPr/>
          <a:lstStyle/>
          <a:p>
            <a:fld id="{443B9637-8F04-9D42-A4CF-40DB31B22CD7}" type="slidenum">
              <a:rPr lang="en-KR" smtClean="0"/>
              <a:t>85</a:t>
            </a:fld>
            <a:endParaRPr lang="en-KR"/>
          </a:p>
        </p:txBody>
      </p:sp>
    </p:spTree>
    <p:extLst>
      <p:ext uri="{BB962C8B-B14F-4D97-AF65-F5344CB8AC3E}">
        <p14:creationId xmlns:p14="http://schemas.microsoft.com/office/powerpoint/2010/main" val="30201892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왜 이 보안 대책을 썼는지</a:t>
            </a:r>
            <a:endParaRPr lang="en-US" altLang="ko-KR" dirty="0"/>
          </a:p>
          <a:p>
            <a:pPr marL="0" marR="0" lvl="0" indent="0" algn="l" defTabSz="914400" rtl="0" eaLnBrk="1" fontAlgn="auto" latinLnBrk="0" hangingPunct="1">
              <a:lnSpc>
                <a:spcPct val="100000"/>
              </a:lnSpc>
              <a:spcBef>
                <a:spcPts val="0"/>
              </a:spcBef>
              <a:spcAft>
                <a:spcPts val="0"/>
              </a:spcAft>
              <a:buClrTx/>
              <a:buSzTx/>
              <a:buFontTx/>
              <a:buNone/>
              <a:tabLst/>
              <a:defRPr/>
            </a:pPr>
            <a:r>
              <a:rPr lang="ko-KR" altLang="en-US" dirty="0"/>
              <a:t>도메인별 정리</a:t>
            </a:r>
            <a:r>
              <a:rPr lang="en-US" altLang="ko-KR" dirty="0"/>
              <a:t>,</a:t>
            </a:r>
            <a:r>
              <a:rPr lang="ko-KR" altLang="en-US" dirty="0"/>
              <a:t> 예시</a:t>
            </a:r>
            <a:r>
              <a:rPr lang="en-US" altLang="ko-KR" dirty="0"/>
              <a:t>,</a:t>
            </a:r>
            <a:r>
              <a:rPr lang="ko-KR" altLang="en-US" dirty="0"/>
              <a:t> 서비스</a:t>
            </a:r>
            <a:r>
              <a:rPr lang="en-US" altLang="ko-KR" dirty="0"/>
              <a:t>(</a:t>
            </a:r>
            <a:r>
              <a:rPr lang="ko-KR" altLang="en-US" dirty="0"/>
              <a:t>솔루션</a:t>
            </a:r>
            <a:r>
              <a:rPr lang="en-US" altLang="ko-KR" dirty="0"/>
              <a:t>)</a:t>
            </a:r>
            <a:endParaRPr lang="en-KR" dirty="0"/>
          </a:p>
        </p:txBody>
      </p:sp>
      <p:sp>
        <p:nvSpPr>
          <p:cNvPr id="4" name="Slide Number Placeholder 3"/>
          <p:cNvSpPr>
            <a:spLocks noGrp="1"/>
          </p:cNvSpPr>
          <p:nvPr>
            <p:ph type="sldNum" sz="quarter" idx="5"/>
          </p:nvPr>
        </p:nvSpPr>
        <p:spPr/>
        <p:txBody>
          <a:bodyPr/>
          <a:lstStyle/>
          <a:p>
            <a:fld id="{443B9637-8F04-9D42-A4CF-40DB31B22CD7}" type="slidenum">
              <a:rPr lang="en-KR" smtClean="0"/>
              <a:t>86</a:t>
            </a:fld>
            <a:endParaRPr lang="en-KR"/>
          </a:p>
        </p:txBody>
      </p:sp>
    </p:spTree>
    <p:extLst>
      <p:ext uri="{BB962C8B-B14F-4D97-AF65-F5344CB8AC3E}">
        <p14:creationId xmlns:p14="http://schemas.microsoft.com/office/powerpoint/2010/main" val="15488091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BF5CC-5D6C-C65C-A1D8-236A935753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46FA9F-7A6E-AC74-6792-7C96DE0B0C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15AE2-5824-F759-22C8-4A54D3766E9B}"/>
              </a:ext>
            </a:extLst>
          </p:cNvPr>
          <p:cNvSpPr>
            <a:spLocks noGrp="1"/>
          </p:cNvSpPr>
          <p:nvPr>
            <p:ph type="body" idx="1"/>
          </p:nvPr>
        </p:nvSpPr>
        <p:spPr/>
        <p:txBody>
          <a:bodyPr/>
          <a:lstStyle/>
          <a:p>
            <a:r>
              <a:rPr lang="ko-KR" altLang="en-US" dirty="0"/>
              <a:t>왜 이 보안 대책을 썼는지</a:t>
            </a:r>
            <a:endParaRPr lang="en-US" altLang="ko-KR" dirty="0"/>
          </a:p>
          <a:p>
            <a:pPr marL="0" marR="0" lvl="0" indent="0" algn="l" defTabSz="914400" rtl="0" eaLnBrk="1" fontAlgn="auto" latinLnBrk="0" hangingPunct="1">
              <a:lnSpc>
                <a:spcPct val="100000"/>
              </a:lnSpc>
              <a:spcBef>
                <a:spcPts val="0"/>
              </a:spcBef>
              <a:spcAft>
                <a:spcPts val="0"/>
              </a:spcAft>
              <a:buClrTx/>
              <a:buSzTx/>
              <a:buFontTx/>
              <a:buNone/>
              <a:tabLst/>
              <a:defRPr/>
            </a:pPr>
            <a:r>
              <a:rPr lang="ko-KR" altLang="en-US" dirty="0"/>
              <a:t>도메인별 정리</a:t>
            </a:r>
            <a:r>
              <a:rPr lang="en-US" altLang="ko-KR" dirty="0"/>
              <a:t>,</a:t>
            </a:r>
            <a:r>
              <a:rPr lang="ko-KR" altLang="en-US" dirty="0"/>
              <a:t> 예시</a:t>
            </a:r>
            <a:r>
              <a:rPr lang="en-US" altLang="ko-KR" dirty="0"/>
              <a:t>,</a:t>
            </a:r>
            <a:r>
              <a:rPr lang="ko-KR" altLang="en-US" dirty="0"/>
              <a:t> 서비스</a:t>
            </a:r>
            <a:r>
              <a:rPr lang="en-US" altLang="ko-KR" dirty="0"/>
              <a:t>(</a:t>
            </a:r>
            <a:r>
              <a:rPr lang="ko-KR" altLang="en-US" dirty="0"/>
              <a:t>솔루션</a:t>
            </a:r>
            <a:r>
              <a:rPr lang="en-US" altLang="ko-KR" dirty="0"/>
              <a:t>)</a:t>
            </a:r>
            <a:endParaRPr lang="en-KR" dirty="0"/>
          </a:p>
        </p:txBody>
      </p:sp>
      <p:sp>
        <p:nvSpPr>
          <p:cNvPr id="4" name="Slide Number Placeholder 3">
            <a:extLst>
              <a:ext uri="{FF2B5EF4-FFF2-40B4-BE49-F238E27FC236}">
                <a16:creationId xmlns:a16="http://schemas.microsoft.com/office/drawing/2014/main" id="{051ABA3A-125A-D194-21BE-E55F7DB28A7C}"/>
              </a:ext>
            </a:extLst>
          </p:cNvPr>
          <p:cNvSpPr>
            <a:spLocks noGrp="1"/>
          </p:cNvSpPr>
          <p:nvPr>
            <p:ph type="sldNum" sz="quarter" idx="5"/>
          </p:nvPr>
        </p:nvSpPr>
        <p:spPr/>
        <p:txBody>
          <a:bodyPr/>
          <a:lstStyle/>
          <a:p>
            <a:fld id="{443B9637-8F04-9D42-A4CF-40DB31B22CD7}" type="slidenum">
              <a:rPr lang="en-KR" smtClean="0"/>
              <a:t>87</a:t>
            </a:fld>
            <a:endParaRPr lang="en-KR"/>
          </a:p>
        </p:txBody>
      </p:sp>
    </p:spTree>
    <p:extLst>
      <p:ext uri="{BB962C8B-B14F-4D97-AF65-F5344CB8AC3E}">
        <p14:creationId xmlns:p14="http://schemas.microsoft.com/office/powerpoint/2010/main" val="4199812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전체 프로젝트의 </a:t>
            </a:r>
            <a:r>
              <a:rPr lang="ko-KR" altLang="en-US" dirty="0" err="1"/>
              <a:t>색입히기</a:t>
            </a:r>
            <a:endParaRPr lang="en-US" altLang="ko-KR" dirty="0"/>
          </a:p>
          <a:p>
            <a:endParaRPr lang="en-KR" dirty="0"/>
          </a:p>
        </p:txBody>
      </p:sp>
      <p:sp>
        <p:nvSpPr>
          <p:cNvPr id="4" name="Slide Number Placeholder 3"/>
          <p:cNvSpPr>
            <a:spLocks noGrp="1"/>
          </p:cNvSpPr>
          <p:nvPr>
            <p:ph type="sldNum" sz="quarter" idx="5"/>
          </p:nvPr>
        </p:nvSpPr>
        <p:spPr/>
        <p:txBody>
          <a:bodyPr/>
          <a:lstStyle/>
          <a:p>
            <a:fld id="{443B9637-8F04-9D42-A4CF-40DB31B22CD7}" type="slidenum">
              <a:rPr lang="en-KR" smtClean="0"/>
              <a:t>90</a:t>
            </a:fld>
            <a:endParaRPr lang="en-KR"/>
          </a:p>
        </p:txBody>
      </p:sp>
    </p:spTree>
    <p:extLst>
      <p:ext uri="{BB962C8B-B14F-4D97-AF65-F5344CB8AC3E}">
        <p14:creationId xmlns:p14="http://schemas.microsoft.com/office/powerpoint/2010/main" val="22784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6.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8.png"/></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18" Type="http://schemas.openxmlformats.org/officeDocument/2006/relationships/image" Target="../media/image33.png"/><Relationship Id="rId3" Type="http://schemas.openxmlformats.org/officeDocument/2006/relationships/image" Target="../media/image7.png"/><Relationship Id="rId7" Type="http://schemas.openxmlformats.org/officeDocument/2006/relationships/image" Target="../media/image22.png"/><Relationship Id="rId12" Type="http://schemas.openxmlformats.org/officeDocument/2006/relationships/image" Target="../media/image27.png"/><Relationship Id="rId17" Type="http://schemas.openxmlformats.org/officeDocument/2006/relationships/image" Target="../media/image32.png"/><Relationship Id="rId2" Type="http://schemas.openxmlformats.org/officeDocument/2006/relationships/image" Target="../media/image19.png"/><Relationship Id="rId16"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19" Type="http://schemas.openxmlformats.org/officeDocument/2006/relationships/image" Target="../media/image34.png"/><Relationship Id="rId4" Type="http://schemas.openxmlformats.org/officeDocument/2006/relationships/image" Target="../media/image8.png"/><Relationship Id="rId9" Type="http://schemas.openxmlformats.org/officeDocument/2006/relationships/image" Target="../media/image24.png"/><Relationship Id="rId14" Type="http://schemas.openxmlformats.org/officeDocument/2006/relationships/image" Target="../media/image29.png"/></Relationships>
</file>

<file path=ppt/slides/_rels/slide5.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3" Type="http://schemas.openxmlformats.org/officeDocument/2006/relationships/image" Target="../media/image7.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 Type="http://schemas.openxmlformats.org/officeDocument/2006/relationships/image" Target="../media/image19.png"/><Relationship Id="rId16" Type="http://schemas.openxmlformats.org/officeDocument/2006/relationships/image" Target="../media/image45.png"/><Relationship Id="rId1" Type="http://schemas.openxmlformats.org/officeDocument/2006/relationships/slideLayout" Target="../slideLayouts/slideLayout7.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5" Type="http://schemas.openxmlformats.org/officeDocument/2006/relationships/image" Target="../media/image44.png"/><Relationship Id="rId10" Type="http://schemas.openxmlformats.org/officeDocument/2006/relationships/image" Target="../media/image39.png"/><Relationship Id="rId4" Type="http://schemas.openxmlformats.org/officeDocument/2006/relationships/image" Target="../media/image8.png"/><Relationship Id="rId9" Type="http://schemas.openxmlformats.org/officeDocument/2006/relationships/image" Target="../media/image38.png"/><Relationship Id="rId14" Type="http://schemas.openxmlformats.org/officeDocument/2006/relationships/image" Target="../media/image43.png"/></Relationships>
</file>

<file path=ppt/slides/_rels/slide6.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7.png"/><Relationship Id="rId7" Type="http://schemas.openxmlformats.org/officeDocument/2006/relationships/image" Target="../media/image49.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47.png"/><Relationship Id="rId10" Type="http://schemas.openxmlformats.org/officeDocument/2006/relationships/image" Target="../media/image34.png"/><Relationship Id="rId4" Type="http://schemas.openxmlformats.org/officeDocument/2006/relationships/image" Target="../media/image8.png"/><Relationship Id="rId9" Type="http://schemas.openxmlformats.org/officeDocument/2006/relationships/image" Target="../media/image51.png"/></Relationships>
</file>

<file path=ppt/slides/_rels/slide7.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image" Target="../media/image34.png"/><Relationship Id="rId3" Type="http://schemas.openxmlformats.org/officeDocument/2006/relationships/image" Target="../media/image7.png"/><Relationship Id="rId7" Type="http://schemas.openxmlformats.org/officeDocument/2006/relationships/image" Target="../media/image54.png"/><Relationship Id="rId12" Type="http://schemas.openxmlformats.org/officeDocument/2006/relationships/image" Target="../media/image59.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53.png"/><Relationship Id="rId11" Type="http://schemas.openxmlformats.org/officeDocument/2006/relationships/image" Target="../media/image58.png"/><Relationship Id="rId5" Type="http://schemas.openxmlformats.org/officeDocument/2006/relationships/image" Target="../media/image52.png"/><Relationship Id="rId10" Type="http://schemas.openxmlformats.org/officeDocument/2006/relationships/image" Target="../media/image57.png"/><Relationship Id="rId4" Type="http://schemas.openxmlformats.org/officeDocument/2006/relationships/image" Target="../media/image8.png"/><Relationship Id="rId9" Type="http://schemas.openxmlformats.org/officeDocument/2006/relationships/image" Target="../media/image56.png"/></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60.png"/><Relationship Id="rId7" Type="http://schemas.openxmlformats.org/officeDocument/2006/relationships/image" Target="../media/image62.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61.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3" Type="http://schemas.openxmlformats.org/officeDocument/2006/relationships/image" Target="../media/image71.png"/><Relationship Id="rId18" Type="http://schemas.openxmlformats.org/officeDocument/2006/relationships/image" Target="../media/image75.png"/><Relationship Id="rId26" Type="http://schemas.openxmlformats.org/officeDocument/2006/relationships/image" Target="../media/image83.png"/><Relationship Id="rId39" Type="http://schemas.openxmlformats.org/officeDocument/2006/relationships/image" Target="../media/image96.png"/><Relationship Id="rId21" Type="http://schemas.openxmlformats.org/officeDocument/2006/relationships/image" Target="../media/image78.png"/><Relationship Id="rId34" Type="http://schemas.openxmlformats.org/officeDocument/2006/relationships/image" Target="../media/image91.png"/><Relationship Id="rId42" Type="http://schemas.openxmlformats.org/officeDocument/2006/relationships/image" Target="../media/image99.png"/><Relationship Id="rId47" Type="http://schemas.openxmlformats.org/officeDocument/2006/relationships/image" Target="../media/image104.png"/><Relationship Id="rId50" Type="http://schemas.openxmlformats.org/officeDocument/2006/relationships/image" Target="../media/image107.png"/><Relationship Id="rId55" Type="http://schemas.openxmlformats.org/officeDocument/2006/relationships/image" Target="../media/image112.png"/><Relationship Id="rId7" Type="http://schemas.openxmlformats.org/officeDocument/2006/relationships/image" Target="../media/image65.png"/><Relationship Id="rId12" Type="http://schemas.openxmlformats.org/officeDocument/2006/relationships/image" Target="../media/image70.png"/><Relationship Id="rId17" Type="http://schemas.openxmlformats.org/officeDocument/2006/relationships/image" Target="../media/image74.png"/><Relationship Id="rId25" Type="http://schemas.openxmlformats.org/officeDocument/2006/relationships/image" Target="../media/image82.png"/><Relationship Id="rId33" Type="http://schemas.openxmlformats.org/officeDocument/2006/relationships/image" Target="../media/image90.png"/><Relationship Id="rId38" Type="http://schemas.openxmlformats.org/officeDocument/2006/relationships/image" Target="../media/image95.png"/><Relationship Id="rId46" Type="http://schemas.openxmlformats.org/officeDocument/2006/relationships/image" Target="../media/image103.png"/><Relationship Id="rId2" Type="http://schemas.openxmlformats.org/officeDocument/2006/relationships/image" Target="../media/image19.png"/><Relationship Id="rId16" Type="http://schemas.openxmlformats.org/officeDocument/2006/relationships/image" Target="../media/image73.png"/><Relationship Id="rId20" Type="http://schemas.openxmlformats.org/officeDocument/2006/relationships/image" Target="../media/image77.png"/><Relationship Id="rId29" Type="http://schemas.openxmlformats.org/officeDocument/2006/relationships/image" Target="../media/image86.png"/><Relationship Id="rId41" Type="http://schemas.openxmlformats.org/officeDocument/2006/relationships/image" Target="../media/image98.png"/><Relationship Id="rId54" Type="http://schemas.openxmlformats.org/officeDocument/2006/relationships/image" Target="../media/image111.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69.png"/><Relationship Id="rId24" Type="http://schemas.openxmlformats.org/officeDocument/2006/relationships/image" Target="../media/image81.png"/><Relationship Id="rId32" Type="http://schemas.openxmlformats.org/officeDocument/2006/relationships/image" Target="../media/image89.png"/><Relationship Id="rId37" Type="http://schemas.openxmlformats.org/officeDocument/2006/relationships/image" Target="../media/image94.png"/><Relationship Id="rId40" Type="http://schemas.openxmlformats.org/officeDocument/2006/relationships/image" Target="../media/image97.png"/><Relationship Id="rId45" Type="http://schemas.openxmlformats.org/officeDocument/2006/relationships/image" Target="../media/image102.png"/><Relationship Id="rId53" Type="http://schemas.openxmlformats.org/officeDocument/2006/relationships/image" Target="../media/image110.png"/><Relationship Id="rId5" Type="http://schemas.openxmlformats.org/officeDocument/2006/relationships/image" Target="../media/image7.png"/><Relationship Id="rId15" Type="http://schemas.openxmlformats.org/officeDocument/2006/relationships/image" Target="../media/image72.png"/><Relationship Id="rId23" Type="http://schemas.openxmlformats.org/officeDocument/2006/relationships/image" Target="../media/image80.png"/><Relationship Id="rId28" Type="http://schemas.openxmlformats.org/officeDocument/2006/relationships/image" Target="../media/image85.png"/><Relationship Id="rId36" Type="http://schemas.openxmlformats.org/officeDocument/2006/relationships/image" Target="../media/image93.png"/><Relationship Id="rId49" Type="http://schemas.openxmlformats.org/officeDocument/2006/relationships/image" Target="../media/image106.png"/><Relationship Id="rId57" Type="http://schemas.openxmlformats.org/officeDocument/2006/relationships/image" Target="../media/image62.png"/><Relationship Id="rId10" Type="http://schemas.openxmlformats.org/officeDocument/2006/relationships/image" Target="../media/image68.png"/><Relationship Id="rId19" Type="http://schemas.openxmlformats.org/officeDocument/2006/relationships/image" Target="../media/image76.png"/><Relationship Id="rId31" Type="http://schemas.openxmlformats.org/officeDocument/2006/relationships/image" Target="../media/image88.png"/><Relationship Id="rId44" Type="http://schemas.openxmlformats.org/officeDocument/2006/relationships/image" Target="../media/image101.png"/><Relationship Id="rId52" Type="http://schemas.openxmlformats.org/officeDocument/2006/relationships/image" Target="../media/image109.png"/><Relationship Id="rId4" Type="http://schemas.openxmlformats.org/officeDocument/2006/relationships/image" Target="../media/image64.png"/><Relationship Id="rId9" Type="http://schemas.openxmlformats.org/officeDocument/2006/relationships/image" Target="../media/image67.png"/><Relationship Id="rId14" Type="http://schemas.openxmlformats.org/officeDocument/2006/relationships/image" Target="../media/image20.png"/><Relationship Id="rId22" Type="http://schemas.openxmlformats.org/officeDocument/2006/relationships/image" Target="../media/image79.png"/><Relationship Id="rId27" Type="http://schemas.openxmlformats.org/officeDocument/2006/relationships/image" Target="../media/image84.png"/><Relationship Id="rId30" Type="http://schemas.openxmlformats.org/officeDocument/2006/relationships/image" Target="../media/image87.png"/><Relationship Id="rId35" Type="http://schemas.openxmlformats.org/officeDocument/2006/relationships/image" Target="../media/image92.png"/><Relationship Id="rId43" Type="http://schemas.openxmlformats.org/officeDocument/2006/relationships/image" Target="../media/image100.png"/><Relationship Id="rId48" Type="http://schemas.openxmlformats.org/officeDocument/2006/relationships/image" Target="../media/image105.png"/><Relationship Id="rId56" Type="http://schemas.openxmlformats.org/officeDocument/2006/relationships/image" Target="../media/image113.png"/><Relationship Id="rId8" Type="http://schemas.openxmlformats.org/officeDocument/2006/relationships/image" Target="../media/image66.png"/><Relationship Id="rId51" Type="http://schemas.openxmlformats.org/officeDocument/2006/relationships/image" Target="../media/image108.png"/><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8" Type="http://schemas.openxmlformats.org/officeDocument/2006/relationships/image" Target="../media/image116.png"/><Relationship Id="rId13" Type="http://schemas.openxmlformats.org/officeDocument/2006/relationships/image" Target="../media/image121.png"/><Relationship Id="rId18" Type="http://schemas.openxmlformats.org/officeDocument/2006/relationships/image" Target="../media/image126.png"/><Relationship Id="rId3" Type="http://schemas.openxmlformats.org/officeDocument/2006/relationships/image" Target="../media/image115.png"/><Relationship Id="rId7" Type="http://schemas.openxmlformats.org/officeDocument/2006/relationships/image" Target="../media/image48.png"/><Relationship Id="rId12" Type="http://schemas.openxmlformats.org/officeDocument/2006/relationships/image" Target="../media/image120.png"/><Relationship Id="rId17" Type="http://schemas.openxmlformats.org/officeDocument/2006/relationships/image" Target="../media/image125.png"/><Relationship Id="rId2" Type="http://schemas.openxmlformats.org/officeDocument/2006/relationships/image" Target="../media/image114.png"/><Relationship Id="rId16" Type="http://schemas.openxmlformats.org/officeDocument/2006/relationships/image" Target="../media/image124.png"/><Relationship Id="rId20" Type="http://schemas.openxmlformats.org/officeDocument/2006/relationships/image" Target="../media/image62.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19.png"/><Relationship Id="rId5" Type="http://schemas.openxmlformats.org/officeDocument/2006/relationships/image" Target="../media/image7.png"/><Relationship Id="rId15" Type="http://schemas.openxmlformats.org/officeDocument/2006/relationships/image" Target="../media/image123.png"/><Relationship Id="rId10" Type="http://schemas.openxmlformats.org/officeDocument/2006/relationships/image" Target="../media/image118.png"/><Relationship Id="rId19" Type="http://schemas.openxmlformats.org/officeDocument/2006/relationships/image" Target="../media/image127.png"/><Relationship Id="rId4" Type="http://schemas.openxmlformats.org/officeDocument/2006/relationships/image" Target="../media/image19.png"/><Relationship Id="rId9" Type="http://schemas.openxmlformats.org/officeDocument/2006/relationships/image" Target="../media/image117.png"/><Relationship Id="rId14" Type="http://schemas.openxmlformats.org/officeDocument/2006/relationships/image" Target="../media/image122.png"/></Relationships>
</file>

<file path=ppt/slides/_rels/slide12.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image" Target="../media/image128.png"/><Relationship Id="rId7" Type="http://schemas.openxmlformats.org/officeDocument/2006/relationships/image" Target="../media/image129.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8.png"/><Relationship Id="rId10" Type="http://schemas.openxmlformats.org/officeDocument/2006/relationships/image" Target="../media/image62.png"/><Relationship Id="rId4" Type="http://schemas.openxmlformats.org/officeDocument/2006/relationships/image" Target="../media/image7.png"/><Relationship Id="rId9" Type="http://schemas.openxmlformats.org/officeDocument/2006/relationships/image" Target="../media/image131.png"/></Relationships>
</file>

<file path=ppt/slides/_rels/slide13.xml.rels><?xml version="1.0" encoding="UTF-8" standalone="yes"?>
<Relationships xmlns="http://schemas.openxmlformats.org/package/2006/relationships"><Relationship Id="rId8" Type="http://schemas.openxmlformats.org/officeDocument/2006/relationships/image" Target="../media/image136.png"/><Relationship Id="rId3" Type="http://schemas.openxmlformats.org/officeDocument/2006/relationships/image" Target="../media/image7.png"/><Relationship Id="rId7" Type="http://schemas.openxmlformats.org/officeDocument/2006/relationships/image" Target="../media/image135.png"/><Relationship Id="rId2" Type="http://schemas.openxmlformats.org/officeDocument/2006/relationships/image" Target="../media/image132.png"/><Relationship Id="rId1" Type="http://schemas.openxmlformats.org/officeDocument/2006/relationships/slideLayout" Target="../slideLayouts/slideLayout7.xml"/><Relationship Id="rId6" Type="http://schemas.openxmlformats.org/officeDocument/2006/relationships/image" Target="../media/image134.png"/><Relationship Id="rId5" Type="http://schemas.openxmlformats.org/officeDocument/2006/relationships/image" Target="../media/image133.png"/><Relationship Id="rId10" Type="http://schemas.openxmlformats.org/officeDocument/2006/relationships/image" Target="../media/image62.png"/><Relationship Id="rId4" Type="http://schemas.openxmlformats.org/officeDocument/2006/relationships/image" Target="../media/image8.png"/><Relationship Id="rId9" Type="http://schemas.openxmlformats.org/officeDocument/2006/relationships/image" Target="../media/image137.png"/></Relationships>
</file>

<file path=ppt/slides/_rels/slide14.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145.png"/><Relationship Id="rId3" Type="http://schemas.openxmlformats.org/officeDocument/2006/relationships/image" Target="../media/image7.png"/><Relationship Id="rId7" Type="http://schemas.openxmlformats.org/officeDocument/2006/relationships/image" Target="../media/image140.png"/><Relationship Id="rId12" Type="http://schemas.openxmlformats.org/officeDocument/2006/relationships/image" Target="../media/image144.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139.png"/><Relationship Id="rId11" Type="http://schemas.openxmlformats.org/officeDocument/2006/relationships/image" Target="../media/image143.png"/><Relationship Id="rId5" Type="http://schemas.openxmlformats.org/officeDocument/2006/relationships/image" Target="../media/image138.png"/><Relationship Id="rId10" Type="http://schemas.openxmlformats.org/officeDocument/2006/relationships/image" Target="../media/image142.png"/><Relationship Id="rId4" Type="http://schemas.openxmlformats.org/officeDocument/2006/relationships/image" Target="../media/image8.png"/><Relationship Id="rId9" Type="http://schemas.openxmlformats.org/officeDocument/2006/relationships/image" Target="../media/image141.png"/><Relationship Id="rId14" Type="http://schemas.openxmlformats.org/officeDocument/2006/relationships/image" Target="../media/image62.png"/></Relationships>
</file>

<file path=ppt/slides/_rels/slide15.xml.rels><?xml version="1.0" encoding="UTF-8" standalone="yes"?>
<Relationships xmlns="http://schemas.openxmlformats.org/package/2006/relationships"><Relationship Id="rId8" Type="http://schemas.openxmlformats.org/officeDocument/2006/relationships/image" Target="../media/image139.png"/><Relationship Id="rId13" Type="http://schemas.openxmlformats.org/officeDocument/2006/relationships/image" Target="../media/image144.png"/><Relationship Id="rId3" Type="http://schemas.openxmlformats.org/officeDocument/2006/relationships/image" Target="../media/image13.png"/><Relationship Id="rId7" Type="http://schemas.openxmlformats.org/officeDocument/2006/relationships/image" Target="../media/image61.png"/><Relationship Id="rId12" Type="http://schemas.openxmlformats.org/officeDocument/2006/relationships/image" Target="../media/image143.png"/><Relationship Id="rId2" Type="http://schemas.openxmlformats.org/officeDocument/2006/relationships/image" Target="../media/image138.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48.png"/><Relationship Id="rId5" Type="http://schemas.openxmlformats.org/officeDocument/2006/relationships/image" Target="../media/image146.png"/><Relationship Id="rId15" Type="http://schemas.openxmlformats.org/officeDocument/2006/relationships/image" Target="../media/image62.png"/><Relationship Id="rId10" Type="http://schemas.openxmlformats.org/officeDocument/2006/relationships/image" Target="../media/image141.png"/><Relationship Id="rId4" Type="http://schemas.openxmlformats.org/officeDocument/2006/relationships/image" Target="../media/image7.png"/><Relationship Id="rId9" Type="http://schemas.openxmlformats.org/officeDocument/2006/relationships/image" Target="../media/image147.png"/><Relationship Id="rId14" Type="http://schemas.openxmlformats.org/officeDocument/2006/relationships/image" Target="../media/image149.png"/></Relationships>
</file>

<file path=ppt/slides/_rels/slide16.xml.rels><?xml version="1.0" encoding="UTF-8" standalone="yes"?>
<Relationships xmlns="http://schemas.openxmlformats.org/package/2006/relationships"><Relationship Id="rId8" Type="http://schemas.openxmlformats.org/officeDocument/2006/relationships/image" Target="../media/image151.png"/><Relationship Id="rId13" Type="http://schemas.openxmlformats.org/officeDocument/2006/relationships/image" Target="../media/image155.png"/><Relationship Id="rId3" Type="http://schemas.openxmlformats.org/officeDocument/2006/relationships/image" Target="../media/image13.png"/><Relationship Id="rId7" Type="http://schemas.openxmlformats.org/officeDocument/2006/relationships/image" Target="../media/image150.png"/><Relationship Id="rId12" Type="http://schemas.openxmlformats.org/officeDocument/2006/relationships/image" Target="../media/image154.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33.png"/><Relationship Id="rId11" Type="http://schemas.openxmlformats.org/officeDocument/2006/relationships/image" Target="../media/image153.png"/><Relationship Id="rId5" Type="http://schemas.openxmlformats.org/officeDocument/2006/relationships/image" Target="../media/image8.png"/><Relationship Id="rId15" Type="http://schemas.openxmlformats.org/officeDocument/2006/relationships/image" Target="../media/image157.png"/><Relationship Id="rId10" Type="http://schemas.openxmlformats.org/officeDocument/2006/relationships/image" Target="../media/image152.png"/><Relationship Id="rId4" Type="http://schemas.openxmlformats.org/officeDocument/2006/relationships/image" Target="../media/image7.png"/><Relationship Id="rId9" Type="http://schemas.openxmlformats.org/officeDocument/2006/relationships/image" Target="../media/image62.png"/><Relationship Id="rId14" Type="http://schemas.openxmlformats.org/officeDocument/2006/relationships/image" Target="../media/image156.png"/></Relationships>
</file>

<file path=ppt/slides/_rels/slide17.xml.rels><?xml version="1.0" encoding="UTF-8" standalone="yes"?>
<Relationships xmlns="http://schemas.openxmlformats.org/package/2006/relationships"><Relationship Id="rId8" Type="http://schemas.openxmlformats.org/officeDocument/2006/relationships/image" Target="../media/image160.png"/><Relationship Id="rId3" Type="http://schemas.openxmlformats.org/officeDocument/2006/relationships/image" Target="../media/image7.png"/><Relationship Id="rId7" Type="http://schemas.openxmlformats.org/officeDocument/2006/relationships/image" Target="../media/image159.png"/><Relationship Id="rId12" Type="http://schemas.openxmlformats.org/officeDocument/2006/relationships/image" Target="../media/image62.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52.png"/><Relationship Id="rId11" Type="http://schemas.openxmlformats.org/officeDocument/2006/relationships/image" Target="../media/image163.png"/><Relationship Id="rId5" Type="http://schemas.openxmlformats.org/officeDocument/2006/relationships/image" Target="../media/image158.png"/><Relationship Id="rId10" Type="http://schemas.openxmlformats.org/officeDocument/2006/relationships/image" Target="../media/image162.png"/><Relationship Id="rId4" Type="http://schemas.openxmlformats.org/officeDocument/2006/relationships/image" Target="../media/image8.png"/><Relationship Id="rId9" Type="http://schemas.openxmlformats.org/officeDocument/2006/relationships/image" Target="../media/image161.png"/></Relationships>
</file>

<file path=ppt/slides/_rels/slide18.xml.rels><?xml version="1.0" encoding="UTF-8" standalone="yes"?>
<Relationships xmlns="http://schemas.openxmlformats.org/package/2006/relationships"><Relationship Id="rId8" Type="http://schemas.openxmlformats.org/officeDocument/2006/relationships/image" Target="../media/image166.png"/><Relationship Id="rId13" Type="http://schemas.openxmlformats.org/officeDocument/2006/relationships/image" Target="../media/image160.png"/><Relationship Id="rId3" Type="http://schemas.openxmlformats.org/officeDocument/2006/relationships/image" Target="../media/image19.png"/><Relationship Id="rId7" Type="http://schemas.openxmlformats.org/officeDocument/2006/relationships/image" Target="../media/image165.png"/><Relationship Id="rId12" Type="http://schemas.openxmlformats.org/officeDocument/2006/relationships/image" Target="../media/image170.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64.png"/><Relationship Id="rId11" Type="http://schemas.openxmlformats.org/officeDocument/2006/relationships/image" Target="../media/image169.png"/><Relationship Id="rId5" Type="http://schemas.openxmlformats.org/officeDocument/2006/relationships/image" Target="../media/image8.png"/><Relationship Id="rId15" Type="http://schemas.openxmlformats.org/officeDocument/2006/relationships/image" Target="../media/image62.png"/><Relationship Id="rId10" Type="http://schemas.openxmlformats.org/officeDocument/2006/relationships/image" Target="../media/image168.png"/><Relationship Id="rId4" Type="http://schemas.openxmlformats.org/officeDocument/2006/relationships/image" Target="../media/image7.png"/><Relationship Id="rId9" Type="http://schemas.openxmlformats.org/officeDocument/2006/relationships/image" Target="../media/image167.png"/><Relationship Id="rId14" Type="http://schemas.openxmlformats.org/officeDocument/2006/relationships/image" Target="../media/image171.png"/></Relationships>
</file>

<file path=ppt/slides/_rels/slide19.xml.rels><?xml version="1.0" encoding="UTF-8" standalone="yes"?>
<Relationships xmlns="http://schemas.openxmlformats.org/package/2006/relationships"><Relationship Id="rId8" Type="http://schemas.openxmlformats.org/officeDocument/2006/relationships/image" Target="../media/image174.png"/><Relationship Id="rId13" Type="http://schemas.openxmlformats.org/officeDocument/2006/relationships/image" Target="../media/image178.png"/><Relationship Id="rId3" Type="http://schemas.openxmlformats.org/officeDocument/2006/relationships/image" Target="../media/image7.png"/><Relationship Id="rId7" Type="http://schemas.openxmlformats.org/officeDocument/2006/relationships/image" Target="../media/image166.png"/><Relationship Id="rId12" Type="http://schemas.openxmlformats.org/officeDocument/2006/relationships/image" Target="../media/image160.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3.png"/><Relationship Id="rId11" Type="http://schemas.openxmlformats.org/officeDocument/2006/relationships/image" Target="../media/image177.png"/><Relationship Id="rId5" Type="http://schemas.openxmlformats.org/officeDocument/2006/relationships/image" Target="../media/image172.png"/><Relationship Id="rId15" Type="http://schemas.openxmlformats.org/officeDocument/2006/relationships/image" Target="../media/image62.png"/><Relationship Id="rId10" Type="http://schemas.openxmlformats.org/officeDocument/2006/relationships/image" Target="../media/image176.png"/><Relationship Id="rId4" Type="http://schemas.openxmlformats.org/officeDocument/2006/relationships/image" Target="../media/image8.png"/><Relationship Id="rId9" Type="http://schemas.openxmlformats.org/officeDocument/2006/relationships/image" Target="../media/image175.png"/><Relationship Id="rId14" Type="http://schemas.openxmlformats.org/officeDocument/2006/relationships/image" Target="../media/image179.png"/></Relationships>
</file>

<file path=ppt/slides/_rels/slide20.xml.rels><?xml version="1.0" encoding="UTF-8" standalone="yes"?>
<Relationships xmlns="http://schemas.openxmlformats.org/package/2006/relationships"><Relationship Id="rId8" Type="http://schemas.openxmlformats.org/officeDocument/2006/relationships/image" Target="../media/image182.png"/><Relationship Id="rId13" Type="http://schemas.openxmlformats.org/officeDocument/2006/relationships/image" Target="../media/image62.png"/><Relationship Id="rId18" Type="http://schemas.openxmlformats.org/officeDocument/2006/relationships/image" Target="../media/image189.png"/><Relationship Id="rId3" Type="http://schemas.openxmlformats.org/officeDocument/2006/relationships/image" Target="../media/image7.png"/><Relationship Id="rId7" Type="http://schemas.openxmlformats.org/officeDocument/2006/relationships/image" Target="../media/image181.png"/><Relationship Id="rId12" Type="http://schemas.openxmlformats.org/officeDocument/2006/relationships/image" Target="../media/image185.png"/><Relationship Id="rId17" Type="http://schemas.openxmlformats.org/officeDocument/2006/relationships/image" Target="../media/image188.jpg"/><Relationship Id="rId2" Type="http://schemas.openxmlformats.org/officeDocument/2006/relationships/image" Target="../media/image13.png"/><Relationship Id="rId16" Type="http://schemas.openxmlformats.org/officeDocument/2006/relationships/image" Target="../media/image187.png"/><Relationship Id="rId1" Type="http://schemas.openxmlformats.org/officeDocument/2006/relationships/slideLayout" Target="../slideLayouts/slideLayout7.xml"/><Relationship Id="rId6" Type="http://schemas.openxmlformats.org/officeDocument/2006/relationships/image" Target="../media/image166.png"/><Relationship Id="rId11" Type="http://schemas.openxmlformats.org/officeDocument/2006/relationships/image" Target="../media/image151.png"/><Relationship Id="rId5" Type="http://schemas.openxmlformats.org/officeDocument/2006/relationships/image" Target="../media/image180.png"/><Relationship Id="rId15" Type="http://schemas.openxmlformats.org/officeDocument/2006/relationships/image" Target="../media/image186.png"/><Relationship Id="rId10" Type="http://schemas.openxmlformats.org/officeDocument/2006/relationships/image" Target="../media/image184.png"/><Relationship Id="rId4" Type="http://schemas.openxmlformats.org/officeDocument/2006/relationships/image" Target="../media/image8.png"/><Relationship Id="rId9" Type="http://schemas.openxmlformats.org/officeDocument/2006/relationships/image" Target="../media/image183.png"/><Relationship Id="rId14" Type="http://schemas.openxmlformats.org/officeDocument/2006/relationships/image" Target="../media/image165.png"/></Relationships>
</file>

<file path=ppt/slides/_rels/slide21.xml.rels><?xml version="1.0" encoding="UTF-8" standalone="yes"?>
<Relationships xmlns="http://schemas.openxmlformats.org/package/2006/relationships"><Relationship Id="rId8" Type="http://schemas.openxmlformats.org/officeDocument/2006/relationships/image" Target="../media/image191.png"/><Relationship Id="rId13" Type="http://schemas.openxmlformats.org/officeDocument/2006/relationships/image" Target="../media/image196.png"/><Relationship Id="rId3" Type="http://schemas.openxmlformats.org/officeDocument/2006/relationships/image" Target="../media/image7.png"/><Relationship Id="rId7" Type="http://schemas.openxmlformats.org/officeDocument/2006/relationships/image" Target="../media/image190.png"/><Relationship Id="rId12" Type="http://schemas.openxmlformats.org/officeDocument/2006/relationships/image" Target="../media/image195.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61.png"/><Relationship Id="rId11" Type="http://schemas.openxmlformats.org/officeDocument/2006/relationships/image" Target="../media/image194.png"/><Relationship Id="rId5" Type="http://schemas.openxmlformats.org/officeDocument/2006/relationships/image" Target="../media/image62.png"/><Relationship Id="rId10" Type="http://schemas.openxmlformats.org/officeDocument/2006/relationships/image" Target="../media/image193.png"/><Relationship Id="rId4" Type="http://schemas.openxmlformats.org/officeDocument/2006/relationships/image" Target="../media/image8.png"/><Relationship Id="rId9" Type="http://schemas.openxmlformats.org/officeDocument/2006/relationships/image" Target="../media/image192.png"/><Relationship Id="rId14" Type="http://schemas.openxmlformats.org/officeDocument/2006/relationships/image" Target="../media/image35.png"/></Relationships>
</file>

<file path=ppt/slides/_rels/slide22.xml.rels><?xml version="1.0" encoding="UTF-8" standalone="yes"?>
<Relationships xmlns="http://schemas.openxmlformats.org/package/2006/relationships"><Relationship Id="rId8" Type="http://schemas.openxmlformats.org/officeDocument/2006/relationships/image" Target="../media/image160.png"/><Relationship Id="rId3" Type="http://schemas.openxmlformats.org/officeDocument/2006/relationships/image" Target="../media/image7.png"/><Relationship Id="rId7" Type="http://schemas.openxmlformats.org/officeDocument/2006/relationships/image" Target="../media/image197.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65.png"/><Relationship Id="rId5" Type="http://schemas.openxmlformats.org/officeDocument/2006/relationships/image" Target="../media/image35.png"/><Relationship Id="rId10" Type="http://schemas.openxmlformats.org/officeDocument/2006/relationships/image" Target="../media/image62.png"/><Relationship Id="rId4" Type="http://schemas.openxmlformats.org/officeDocument/2006/relationships/image" Target="../media/image8.png"/><Relationship Id="rId9" Type="http://schemas.openxmlformats.org/officeDocument/2006/relationships/image" Target="../media/image198.png"/></Relationships>
</file>

<file path=ppt/slides/_rels/slide23.xml.rels><?xml version="1.0" encoding="UTF-8" standalone="yes"?>
<Relationships xmlns="http://schemas.openxmlformats.org/package/2006/relationships"><Relationship Id="rId8" Type="http://schemas.openxmlformats.org/officeDocument/2006/relationships/image" Target="../media/image200.png"/><Relationship Id="rId13" Type="http://schemas.openxmlformats.org/officeDocument/2006/relationships/image" Target="../media/image62.png"/><Relationship Id="rId3" Type="http://schemas.openxmlformats.org/officeDocument/2006/relationships/image" Target="../media/image7.png"/><Relationship Id="rId7" Type="http://schemas.openxmlformats.org/officeDocument/2006/relationships/image" Target="../media/image166.png"/><Relationship Id="rId12" Type="http://schemas.openxmlformats.org/officeDocument/2006/relationships/image" Target="../media/image172.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165.png"/><Relationship Id="rId11" Type="http://schemas.openxmlformats.org/officeDocument/2006/relationships/image" Target="../media/image202.png"/><Relationship Id="rId5" Type="http://schemas.openxmlformats.org/officeDocument/2006/relationships/image" Target="../media/image199.png"/><Relationship Id="rId10" Type="http://schemas.openxmlformats.org/officeDocument/2006/relationships/image" Target="../media/image160.png"/><Relationship Id="rId4" Type="http://schemas.openxmlformats.org/officeDocument/2006/relationships/image" Target="../media/image8.png"/><Relationship Id="rId9" Type="http://schemas.openxmlformats.org/officeDocument/2006/relationships/image" Target="../media/image201.png"/></Relationships>
</file>

<file path=ppt/slides/_rels/slide24.xml.rels><?xml version="1.0" encoding="UTF-8" standalone="yes"?>
<Relationships xmlns="http://schemas.openxmlformats.org/package/2006/relationships"><Relationship Id="rId8" Type="http://schemas.openxmlformats.org/officeDocument/2006/relationships/image" Target="../media/image203.png"/><Relationship Id="rId13" Type="http://schemas.openxmlformats.org/officeDocument/2006/relationships/image" Target="../media/image207.png"/><Relationship Id="rId3" Type="http://schemas.openxmlformats.org/officeDocument/2006/relationships/image" Target="../media/image7.png"/><Relationship Id="rId7" Type="http://schemas.openxmlformats.org/officeDocument/2006/relationships/image" Target="../media/image183.png"/><Relationship Id="rId12" Type="http://schemas.openxmlformats.org/officeDocument/2006/relationships/image" Target="../media/image206.png"/><Relationship Id="rId2" Type="http://schemas.openxmlformats.org/officeDocument/2006/relationships/image" Target="../media/image13.png"/><Relationship Id="rId16" Type="http://schemas.openxmlformats.org/officeDocument/2006/relationships/image" Target="../media/image62.png"/><Relationship Id="rId1" Type="http://schemas.openxmlformats.org/officeDocument/2006/relationships/slideLayout" Target="../slideLayouts/slideLayout7.xml"/><Relationship Id="rId6" Type="http://schemas.openxmlformats.org/officeDocument/2006/relationships/image" Target="../media/image166.png"/><Relationship Id="rId11" Type="http://schemas.openxmlformats.org/officeDocument/2006/relationships/image" Target="../media/image160.png"/><Relationship Id="rId5" Type="http://schemas.openxmlformats.org/officeDocument/2006/relationships/image" Target="../media/image61.png"/><Relationship Id="rId15" Type="http://schemas.openxmlformats.org/officeDocument/2006/relationships/image" Target="../media/image133.png"/><Relationship Id="rId10" Type="http://schemas.openxmlformats.org/officeDocument/2006/relationships/image" Target="../media/image205.png"/><Relationship Id="rId4" Type="http://schemas.openxmlformats.org/officeDocument/2006/relationships/image" Target="../media/image8.png"/><Relationship Id="rId9" Type="http://schemas.openxmlformats.org/officeDocument/2006/relationships/image" Target="../media/image204.png"/><Relationship Id="rId14" Type="http://schemas.openxmlformats.org/officeDocument/2006/relationships/image" Target="../media/image208.png"/></Relationships>
</file>

<file path=ppt/slides/_rels/slide25.xml.rels><?xml version="1.0" encoding="UTF-8" standalone="yes"?>
<Relationships xmlns="http://schemas.openxmlformats.org/package/2006/relationships"><Relationship Id="rId8" Type="http://schemas.openxmlformats.org/officeDocument/2006/relationships/image" Target="../media/image209.png"/><Relationship Id="rId13" Type="http://schemas.openxmlformats.org/officeDocument/2006/relationships/image" Target="../media/image214.png"/><Relationship Id="rId18" Type="http://schemas.openxmlformats.org/officeDocument/2006/relationships/image" Target="../media/image62.png"/><Relationship Id="rId3" Type="http://schemas.openxmlformats.org/officeDocument/2006/relationships/image" Target="../media/image13.png"/><Relationship Id="rId7" Type="http://schemas.openxmlformats.org/officeDocument/2006/relationships/image" Target="../media/image173.png"/><Relationship Id="rId12" Type="http://schemas.openxmlformats.org/officeDocument/2006/relationships/image" Target="../media/image213.png"/><Relationship Id="rId17" Type="http://schemas.openxmlformats.org/officeDocument/2006/relationships/image" Target="../media/image48.png"/><Relationship Id="rId2" Type="http://schemas.openxmlformats.org/officeDocument/2006/relationships/notesSlide" Target="../notesSlides/notesSlide3.xml"/><Relationship Id="rId16" Type="http://schemas.openxmlformats.org/officeDocument/2006/relationships/image" Target="../media/image216.png"/><Relationship Id="rId1" Type="http://schemas.openxmlformats.org/officeDocument/2006/relationships/slideLayout" Target="../slideLayouts/slideLayout7.xml"/><Relationship Id="rId6" Type="http://schemas.openxmlformats.org/officeDocument/2006/relationships/image" Target="../media/image171.png"/><Relationship Id="rId11" Type="http://schemas.openxmlformats.org/officeDocument/2006/relationships/image" Target="../media/image212.png"/><Relationship Id="rId5" Type="http://schemas.openxmlformats.org/officeDocument/2006/relationships/image" Target="../media/image8.png"/><Relationship Id="rId15" Type="http://schemas.openxmlformats.org/officeDocument/2006/relationships/image" Target="../media/image215.png"/><Relationship Id="rId10" Type="http://schemas.openxmlformats.org/officeDocument/2006/relationships/image" Target="../media/image211.png"/><Relationship Id="rId4" Type="http://schemas.openxmlformats.org/officeDocument/2006/relationships/image" Target="../media/image7.png"/><Relationship Id="rId9" Type="http://schemas.openxmlformats.org/officeDocument/2006/relationships/image" Target="../media/image210.png"/><Relationship Id="rId14" Type="http://schemas.openxmlformats.org/officeDocument/2006/relationships/image" Target="../media/image160.png"/></Relationships>
</file>

<file path=ppt/slides/_rels/slide26.xml.rels><?xml version="1.0" encoding="UTF-8" standalone="yes"?>
<Relationships xmlns="http://schemas.openxmlformats.org/package/2006/relationships"><Relationship Id="rId8" Type="http://schemas.openxmlformats.org/officeDocument/2006/relationships/image" Target="../media/image217.png"/><Relationship Id="rId13" Type="http://schemas.openxmlformats.org/officeDocument/2006/relationships/image" Target="../media/image62.png"/><Relationship Id="rId3" Type="http://schemas.openxmlformats.org/officeDocument/2006/relationships/image" Target="../media/image19.png"/><Relationship Id="rId7" Type="http://schemas.openxmlformats.org/officeDocument/2006/relationships/image" Target="../media/image191.png"/><Relationship Id="rId12" Type="http://schemas.openxmlformats.org/officeDocument/2006/relationships/image" Target="../media/image179.png"/><Relationship Id="rId2" Type="http://schemas.openxmlformats.org/officeDocument/2006/relationships/image" Target="../media/image190.png"/><Relationship Id="rId1" Type="http://schemas.openxmlformats.org/officeDocument/2006/relationships/slideLayout" Target="../slideLayouts/slideLayout7.xml"/><Relationship Id="rId6" Type="http://schemas.openxmlformats.org/officeDocument/2006/relationships/image" Target="../media/image172.png"/><Relationship Id="rId11" Type="http://schemas.openxmlformats.org/officeDocument/2006/relationships/image" Target="../media/image219.png"/><Relationship Id="rId5" Type="http://schemas.openxmlformats.org/officeDocument/2006/relationships/image" Target="../media/image8.png"/><Relationship Id="rId10" Type="http://schemas.openxmlformats.org/officeDocument/2006/relationships/image" Target="../media/image196.png"/><Relationship Id="rId4" Type="http://schemas.openxmlformats.org/officeDocument/2006/relationships/image" Target="../media/image7.png"/><Relationship Id="rId9" Type="http://schemas.openxmlformats.org/officeDocument/2006/relationships/image" Target="../media/image218.png"/></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8" Type="http://schemas.openxmlformats.org/officeDocument/2006/relationships/image" Target="../media/image222.png"/><Relationship Id="rId13" Type="http://schemas.openxmlformats.org/officeDocument/2006/relationships/image" Target="../media/image227.png"/><Relationship Id="rId18" Type="http://schemas.openxmlformats.org/officeDocument/2006/relationships/image" Target="../media/image232.png"/><Relationship Id="rId3" Type="http://schemas.openxmlformats.org/officeDocument/2006/relationships/image" Target="../media/image220.png"/><Relationship Id="rId7" Type="http://schemas.openxmlformats.org/officeDocument/2006/relationships/image" Target="../media/image61.png"/><Relationship Id="rId12" Type="http://schemas.openxmlformats.org/officeDocument/2006/relationships/image" Target="../media/image226.png"/><Relationship Id="rId17" Type="http://schemas.openxmlformats.org/officeDocument/2006/relationships/image" Target="../media/image231.png"/><Relationship Id="rId2" Type="http://schemas.openxmlformats.org/officeDocument/2006/relationships/image" Target="../media/image19.png"/><Relationship Id="rId16" Type="http://schemas.openxmlformats.org/officeDocument/2006/relationships/image" Target="../media/image230.png"/><Relationship Id="rId20" Type="http://schemas.openxmlformats.org/officeDocument/2006/relationships/image" Target="../media/image234.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225.png"/><Relationship Id="rId5" Type="http://schemas.openxmlformats.org/officeDocument/2006/relationships/image" Target="../media/image7.png"/><Relationship Id="rId15" Type="http://schemas.openxmlformats.org/officeDocument/2006/relationships/image" Target="../media/image229.png"/><Relationship Id="rId10" Type="http://schemas.openxmlformats.org/officeDocument/2006/relationships/image" Target="../media/image224.png"/><Relationship Id="rId19" Type="http://schemas.openxmlformats.org/officeDocument/2006/relationships/image" Target="../media/image233.png"/><Relationship Id="rId4" Type="http://schemas.openxmlformats.org/officeDocument/2006/relationships/image" Target="../media/image221.png"/><Relationship Id="rId9" Type="http://schemas.openxmlformats.org/officeDocument/2006/relationships/image" Target="../media/image223.png"/><Relationship Id="rId14" Type="http://schemas.openxmlformats.org/officeDocument/2006/relationships/image" Target="../media/image228.png"/></Relationships>
</file>

<file path=ppt/slides/_rels/slide29.xml.rels><?xml version="1.0" encoding="UTF-8" standalone="yes"?>
<Relationships xmlns="http://schemas.openxmlformats.org/package/2006/relationships"><Relationship Id="rId8" Type="http://schemas.openxmlformats.org/officeDocument/2006/relationships/image" Target="../media/image235.png"/><Relationship Id="rId13" Type="http://schemas.openxmlformats.org/officeDocument/2006/relationships/image" Target="../media/image240.png"/><Relationship Id="rId18" Type="http://schemas.openxmlformats.org/officeDocument/2006/relationships/image" Target="../media/image245.png"/><Relationship Id="rId26" Type="http://schemas.openxmlformats.org/officeDocument/2006/relationships/image" Target="../media/image253.png"/><Relationship Id="rId3" Type="http://schemas.openxmlformats.org/officeDocument/2006/relationships/image" Target="../media/image13.png"/><Relationship Id="rId21" Type="http://schemas.openxmlformats.org/officeDocument/2006/relationships/image" Target="../media/image248.png"/><Relationship Id="rId34" Type="http://schemas.openxmlformats.org/officeDocument/2006/relationships/image" Target="../media/image261.png"/><Relationship Id="rId7" Type="http://schemas.openxmlformats.org/officeDocument/2006/relationships/image" Target="../media/image221.png"/><Relationship Id="rId12" Type="http://schemas.openxmlformats.org/officeDocument/2006/relationships/image" Target="../media/image239.png"/><Relationship Id="rId17" Type="http://schemas.openxmlformats.org/officeDocument/2006/relationships/image" Target="../media/image244.png"/><Relationship Id="rId25" Type="http://schemas.openxmlformats.org/officeDocument/2006/relationships/image" Target="../media/image252.png"/><Relationship Id="rId33" Type="http://schemas.openxmlformats.org/officeDocument/2006/relationships/image" Target="../media/image260.png"/><Relationship Id="rId38" Type="http://schemas.openxmlformats.org/officeDocument/2006/relationships/image" Target="../media/image265.png"/><Relationship Id="rId2" Type="http://schemas.openxmlformats.org/officeDocument/2006/relationships/notesSlide" Target="../notesSlides/notesSlide4.xml"/><Relationship Id="rId16" Type="http://schemas.openxmlformats.org/officeDocument/2006/relationships/image" Target="../media/image243.png"/><Relationship Id="rId20" Type="http://schemas.openxmlformats.org/officeDocument/2006/relationships/image" Target="../media/image247.png"/><Relationship Id="rId29" Type="http://schemas.openxmlformats.org/officeDocument/2006/relationships/image" Target="../media/image256.png"/><Relationship Id="rId1" Type="http://schemas.openxmlformats.org/officeDocument/2006/relationships/slideLayout" Target="../slideLayouts/slideLayout7.xml"/><Relationship Id="rId6" Type="http://schemas.openxmlformats.org/officeDocument/2006/relationships/image" Target="../media/image133.png"/><Relationship Id="rId11" Type="http://schemas.openxmlformats.org/officeDocument/2006/relationships/image" Target="../media/image238.png"/><Relationship Id="rId24" Type="http://schemas.openxmlformats.org/officeDocument/2006/relationships/image" Target="../media/image251.png"/><Relationship Id="rId32" Type="http://schemas.openxmlformats.org/officeDocument/2006/relationships/image" Target="../media/image259.png"/><Relationship Id="rId37" Type="http://schemas.openxmlformats.org/officeDocument/2006/relationships/image" Target="../media/image264.png"/><Relationship Id="rId5" Type="http://schemas.openxmlformats.org/officeDocument/2006/relationships/image" Target="../media/image8.png"/><Relationship Id="rId15" Type="http://schemas.openxmlformats.org/officeDocument/2006/relationships/image" Target="../media/image242.png"/><Relationship Id="rId23" Type="http://schemas.openxmlformats.org/officeDocument/2006/relationships/image" Target="../media/image250.png"/><Relationship Id="rId28" Type="http://schemas.openxmlformats.org/officeDocument/2006/relationships/image" Target="../media/image255.png"/><Relationship Id="rId36" Type="http://schemas.openxmlformats.org/officeDocument/2006/relationships/image" Target="../media/image263.png"/><Relationship Id="rId10" Type="http://schemas.openxmlformats.org/officeDocument/2006/relationships/image" Target="../media/image237.png"/><Relationship Id="rId19" Type="http://schemas.openxmlformats.org/officeDocument/2006/relationships/image" Target="../media/image246.png"/><Relationship Id="rId31" Type="http://schemas.openxmlformats.org/officeDocument/2006/relationships/image" Target="../media/image258.png"/><Relationship Id="rId4" Type="http://schemas.openxmlformats.org/officeDocument/2006/relationships/image" Target="../media/image7.png"/><Relationship Id="rId9" Type="http://schemas.openxmlformats.org/officeDocument/2006/relationships/image" Target="../media/image236.png"/><Relationship Id="rId14" Type="http://schemas.openxmlformats.org/officeDocument/2006/relationships/image" Target="../media/image241.png"/><Relationship Id="rId22" Type="http://schemas.openxmlformats.org/officeDocument/2006/relationships/image" Target="../media/image249.png"/><Relationship Id="rId27" Type="http://schemas.openxmlformats.org/officeDocument/2006/relationships/image" Target="../media/image254.png"/><Relationship Id="rId30" Type="http://schemas.openxmlformats.org/officeDocument/2006/relationships/image" Target="../media/image257.png"/><Relationship Id="rId35" Type="http://schemas.openxmlformats.org/officeDocument/2006/relationships/image" Target="../media/image262.png"/></Relationships>
</file>

<file path=ppt/slides/_rels/slide30.xml.rels><?xml version="1.0" encoding="UTF-8" standalone="yes"?>
<Relationships xmlns="http://schemas.openxmlformats.org/package/2006/relationships"><Relationship Id="rId3" Type="http://schemas.openxmlformats.org/officeDocument/2006/relationships/image" Target="../media/image266.png"/><Relationship Id="rId7" Type="http://schemas.openxmlformats.org/officeDocument/2006/relationships/image" Target="../media/image221.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8.png"/><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8" Type="http://schemas.openxmlformats.org/officeDocument/2006/relationships/image" Target="../media/image221.png"/><Relationship Id="rId13" Type="http://schemas.openxmlformats.org/officeDocument/2006/relationships/image" Target="../media/image271.png"/><Relationship Id="rId3" Type="http://schemas.openxmlformats.org/officeDocument/2006/relationships/image" Target="../media/image13.png"/><Relationship Id="rId7" Type="http://schemas.openxmlformats.org/officeDocument/2006/relationships/image" Target="../media/image48.png"/><Relationship Id="rId12" Type="http://schemas.openxmlformats.org/officeDocument/2006/relationships/image" Target="../media/image270.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238.png"/><Relationship Id="rId5" Type="http://schemas.openxmlformats.org/officeDocument/2006/relationships/image" Target="../media/image7.png"/><Relationship Id="rId10" Type="http://schemas.openxmlformats.org/officeDocument/2006/relationships/image" Target="../media/image269.png"/><Relationship Id="rId4" Type="http://schemas.openxmlformats.org/officeDocument/2006/relationships/image" Target="../media/image267.png"/><Relationship Id="rId9" Type="http://schemas.openxmlformats.org/officeDocument/2006/relationships/image" Target="../media/image268.png"/></Relationships>
</file>

<file path=ppt/slides/_rels/slide32.xml.rels><?xml version="1.0" encoding="UTF-8" standalone="yes"?>
<Relationships xmlns="http://schemas.openxmlformats.org/package/2006/relationships"><Relationship Id="rId8" Type="http://schemas.openxmlformats.org/officeDocument/2006/relationships/image" Target="../media/image221.png"/><Relationship Id="rId3" Type="http://schemas.openxmlformats.org/officeDocument/2006/relationships/image" Target="../media/image7.png"/><Relationship Id="rId7" Type="http://schemas.openxmlformats.org/officeDocument/2006/relationships/image" Target="../media/image273.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272.png"/><Relationship Id="rId5" Type="http://schemas.openxmlformats.org/officeDocument/2006/relationships/image" Target="../media/image133.png"/><Relationship Id="rId4" Type="http://schemas.openxmlformats.org/officeDocument/2006/relationships/image" Target="../media/image8.png"/></Relationships>
</file>

<file path=ppt/slides/_rels/slide33.xml.rels><?xml version="1.0" encoding="UTF-8" standalone="yes"?>
<Relationships xmlns="http://schemas.openxmlformats.org/package/2006/relationships"><Relationship Id="rId8" Type="http://schemas.openxmlformats.org/officeDocument/2006/relationships/image" Target="../media/image268.png"/><Relationship Id="rId3" Type="http://schemas.openxmlformats.org/officeDocument/2006/relationships/image" Target="../media/image267.png"/><Relationship Id="rId7" Type="http://schemas.openxmlformats.org/officeDocument/2006/relationships/image" Target="../media/image221.png"/><Relationship Id="rId12" Type="http://schemas.openxmlformats.org/officeDocument/2006/relationships/image" Target="../media/image276.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63.png"/><Relationship Id="rId11" Type="http://schemas.openxmlformats.org/officeDocument/2006/relationships/image" Target="../media/image275.png"/><Relationship Id="rId5" Type="http://schemas.openxmlformats.org/officeDocument/2006/relationships/image" Target="../media/image8.png"/><Relationship Id="rId10" Type="http://schemas.openxmlformats.org/officeDocument/2006/relationships/image" Target="../media/image274.png"/><Relationship Id="rId4" Type="http://schemas.openxmlformats.org/officeDocument/2006/relationships/image" Target="../media/image7.png"/><Relationship Id="rId9" Type="http://schemas.openxmlformats.org/officeDocument/2006/relationships/image" Target="../media/image269.png"/></Relationships>
</file>

<file path=ppt/slides/_rels/slide34.xml.rels><?xml version="1.0" encoding="UTF-8" standalone="yes"?>
<Relationships xmlns="http://schemas.openxmlformats.org/package/2006/relationships"><Relationship Id="rId8" Type="http://schemas.openxmlformats.org/officeDocument/2006/relationships/image" Target="../media/image268.png"/><Relationship Id="rId3" Type="http://schemas.openxmlformats.org/officeDocument/2006/relationships/image" Target="../media/image267.png"/><Relationship Id="rId7" Type="http://schemas.openxmlformats.org/officeDocument/2006/relationships/image" Target="../media/image221.png"/><Relationship Id="rId12" Type="http://schemas.openxmlformats.org/officeDocument/2006/relationships/image" Target="../media/image260.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9.png"/><Relationship Id="rId11" Type="http://schemas.openxmlformats.org/officeDocument/2006/relationships/image" Target="../media/image269.png"/><Relationship Id="rId5" Type="http://schemas.openxmlformats.org/officeDocument/2006/relationships/image" Target="../media/image8.png"/><Relationship Id="rId10" Type="http://schemas.openxmlformats.org/officeDocument/2006/relationships/image" Target="../media/image278.png"/><Relationship Id="rId4" Type="http://schemas.openxmlformats.org/officeDocument/2006/relationships/image" Target="../media/image7.png"/><Relationship Id="rId9" Type="http://schemas.openxmlformats.org/officeDocument/2006/relationships/image" Target="../media/image277.png"/></Relationships>
</file>

<file path=ppt/slides/_rels/slide35.xml.rels><?xml version="1.0" encoding="UTF-8" standalone="yes"?>
<Relationships xmlns="http://schemas.openxmlformats.org/package/2006/relationships"><Relationship Id="rId8" Type="http://schemas.openxmlformats.org/officeDocument/2006/relationships/image" Target="../media/image268.png"/><Relationship Id="rId13" Type="http://schemas.openxmlformats.org/officeDocument/2006/relationships/image" Target="../media/image256.png"/><Relationship Id="rId3" Type="http://schemas.openxmlformats.org/officeDocument/2006/relationships/image" Target="../media/image267.png"/><Relationship Id="rId7" Type="http://schemas.openxmlformats.org/officeDocument/2006/relationships/image" Target="../media/image221.png"/><Relationship Id="rId12" Type="http://schemas.openxmlformats.org/officeDocument/2006/relationships/image" Target="../media/image255.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158.png"/><Relationship Id="rId11" Type="http://schemas.openxmlformats.org/officeDocument/2006/relationships/image" Target="../media/image254.png"/><Relationship Id="rId5" Type="http://schemas.openxmlformats.org/officeDocument/2006/relationships/image" Target="../media/image8.png"/><Relationship Id="rId10" Type="http://schemas.openxmlformats.org/officeDocument/2006/relationships/image" Target="../media/image280.png"/><Relationship Id="rId4" Type="http://schemas.openxmlformats.org/officeDocument/2006/relationships/image" Target="../media/image7.png"/><Relationship Id="rId9" Type="http://schemas.openxmlformats.org/officeDocument/2006/relationships/image" Target="../media/image279.png"/><Relationship Id="rId14" Type="http://schemas.openxmlformats.org/officeDocument/2006/relationships/image" Target="../media/image259.png"/></Relationships>
</file>

<file path=ppt/slides/_rels/slide36.xml.rels><?xml version="1.0" encoding="UTF-8" standalone="yes"?>
<Relationships xmlns="http://schemas.openxmlformats.org/package/2006/relationships"><Relationship Id="rId8" Type="http://schemas.openxmlformats.org/officeDocument/2006/relationships/image" Target="../media/image268.png"/><Relationship Id="rId13" Type="http://schemas.openxmlformats.org/officeDocument/2006/relationships/image" Target="../media/image279.png"/><Relationship Id="rId3" Type="http://schemas.openxmlformats.org/officeDocument/2006/relationships/image" Target="../media/image7.png"/><Relationship Id="rId7" Type="http://schemas.openxmlformats.org/officeDocument/2006/relationships/image" Target="../media/image267.png"/><Relationship Id="rId12" Type="http://schemas.openxmlformats.org/officeDocument/2006/relationships/image" Target="../media/image256.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221.png"/><Relationship Id="rId11" Type="http://schemas.openxmlformats.org/officeDocument/2006/relationships/image" Target="../media/image255.png"/><Relationship Id="rId5" Type="http://schemas.openxmlformats.org/officeDocument/2006/relationships/image" Target="../media/image61.png"/><Relationship Id="rId10" Type="http://schemas.openxmlformats.org/officeDocument/2006/relationships/image" Target="../media/image254.png"/><Relationship Id="rId4" Type="http://schemas.openxmlformats.org/officeDocument/2006/relationships/image" Target="../media/image8.png"/><Relationship Id="rId9" Type="http://schemas.openxmlformats.org/officeDocument/2006/relationships/image" Target="../media/image244.png"/><Relationship Id="rId14" Type="http://schemas.openxmlformats.org/officeDocument/2006/relationships/image" Target="../media/image264.png"/></Relationships>
</file>

<file path=ppt/slides/_rels/slide37.xml.rels><?xml version="1.0" encoding="UTF-8" standalone="yes"?>
<Relationships xmlns="http://schemas.openxmlformats.org/package/2006/relationships"><Relationship Id="rId8" Type="http://schemas.openxmlformats.org/officeDocument/2006/relationships/image" Target="../media/image268.png"/><Relationship Id="rId13" Type="http://schemas.openxmlformats.org/officeDocument/2006/relationships/image" Target="../media/image279.png"/><Relationship Id="rId3" Type="http://schemas.openxmlformats.org/officeDocument/2006/relationships/image" Target="../media/image267.png"/><Relationship Id="rId7" Type="http://schemas.openxmlformats.org/officeDocument/2006/relationships/image" Target="../media/image221.png"/><Relationship Id="rId12" Type="http://schemas.openxmlformats.org/officeDocument/2006/relationships/image" Target="../media/image256.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133.png"/><Relationship Id="rId11" Type="http://schemas.openxmlformats.org/officeDocument/2006/relationships/image" Target="../media/image255.png"/><Relationship Id="rId5" Type="http://schemas.openxmlformats.org/officeDocument/2006/relationships/image" Target="../media/image8.png"/><Relationship Id="rId10" Type="http://schemas.openxmlformats.org/officeDocument/2006/relationships/image" Target="../media/image254.png"/><Relationship Id="rId4" Type="http://schemas.openxmlformats.org/officeDocument/2006/relationships/image" Target="../media/image7.png"/><Relationship Id="rId9" Type="http://schemas.openxmlformats.org/officeDocument/2006/relationships/image" Target="../media/image244.png"/><Relationship Id="rId14" Type="http://schemas.openxmlformats.org/officeDocument/2006/relationships/image" Target="../media/image264.png"/></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21.png"/><Relationship Id="rId2" Type="http://schemas.openxmlformats.org/officeDocument/2006/relationships/image" Target="../media/image281.png"/><Relationship Id="rId1" Type="http://schemas.openxmlformats.org/officeDocument/2006/relationships/slideLayout" Target="../slideLayouts/slideLayout7.xml"/><Relationship Id="rId6" Type="http://schemas.openxmlformats.org/officeDocument/2006/relationships/image" Target="../media/image282.png"/><Relationship Id="rId5" Type="http://schemas.openxmlformats.org/officeDocument/2006/relationships/image" Target="../media/image61.png"/><Relationship Id="rId4" Type="http://schemas.openxmlformats.org/officeDocument/2006/relationships/image" Target="../media/image8.png"/></Relationships>
</file>

<file path=ppt/slides/_rels/slide39.xml.rels><?xml version="1.0" encoding="UTF-8" standalone="yes"?>
<Relationships xmlns="http://schemas.openxmlformats.org/package/2006/relationships"><Relationship Id="rId8" Type="http://schemas.openxmlformats.org/officeDocument/2006/relationships/image" Target="../media/image221.png"/><Relationship Id="rId3" Type="http://schemas.openxmlformats.org/officeDocument/2006/relationships/image" Target="../media/image7.png"/><Relationship Id="rId7" Type="http://schemas.openxmlformats.org/officeDocument/2006/relationships/image" Target="../media/image284.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283.png"/><Relationship Id="rId5" Type="http://schemas.openxmlformats.org/officeDocument/2006/relationships/image" Target="../media/image61.png"/><Relationship Id="rId4" Type="http://schemas.openxmlformats.org/officeDocument/2006/relationships/image" Target="../media/image8.png"/></Relationships>
</file>

<file path=ppt/slides/_rels/slide40.xml.rels><?xml version="1.0" encoding="UTF-8" standalone="yes"?>
<Relationships xmlns="http://schemas.openxmlformats.org/package/2006/relationships"><Relationship Id="rId8" Type="http://schemas.openxmlformats.org/officeDocument/2006/relationships/image" Target="../media/image287.png"/><Relationship Id="rId3" Type="http://schemas.openxmlformats.org/officeDocument/2006/relationships/image" Target="../media/image7.png"/><Relationship Id="rId7" Type="http://schemas.openxmlformats.org/officeDocument/2006/relationships/image" Target="../media/image286.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285.png"/><Relationship Id="rId5" Type="http://schemas.openxmlformats.org/officeDocument/2006/relationships/image" Target="../media/image35.png"/><Relationship Id="rId10" Type="http://schemas.openxmlformats.org/officeDocument/2006/relationships/image" Target="../media/image221.png"/><Relationship Id="rId4" Type="http://schemas.openxmlformats.org/officeDocument/2006/relationships/image" Target="../media/image8.png"/><Relationship Id="rId9" Type="http://schemas.openxmlformats.org/officeDocument/2006/relationships/image" Target="../media/image288.png"/></Relationships>
</file>

<file path=ppt/slides/_rels/slide41.xml.rels><?xml version="1.0" encoding="UTF-8" standalone="yes"?>
<Relationships xmlns="http://schemas.openxmlformats.org/package/2006/relationships"><Relationship Id="rId8" Type="http://schemas.openxmlformats.org/officeDocument/2006/relationships/image" Target="../media/image291.png"/><Relationship Id="rId3" Type="http://schemas.openxmlformats.org/officeDocument/2006/relationships/image" Target="../media/image7.png"/><Relationship Id="rId7" Type="http://schemas.openxmlformats.org/officeDocument/2006/relationships/image" Target="../media/image290.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289.png"/><Relationship Id="rId5" Type="http://schemas.openxmlformats.org/officeDocument/2006/relationships/image" Target="../media/image133.png"/><Relationship Id="rId10" Type="http://schemas.openxmlformats.org/officeDocument/2006/relationships/image" Target="../media/image221.png"/><Relationship Id="rId4" Type="http://schemas.openxmlformats.org/officeDocument/2006/relationships/image" Target="../media/image8.png"/><Relationship Id="rId9" Type="http://schemas.openxmlformats.org/officeDocument/2006/relationships/image" Target="../media/image292.png"/></Relationships>
</file>

<file path=ppt/slides/_rels/slide42.xml.rels><?xml version="1.0" encoding="UTF-8" standalone="yes"?>
<Relationships xmlns="http://schemas.openxmlformats.org/package/2006/relationships"><Relationship Id="rId8" Type="http://schemas.openxmlformats.org/officeDocument/2006/relationships/image" Target="../media/image296.png"/><Relationship Id="rId3" Type="http://schemas.openxmlformats.org/officeDocument/2006/relationships/image" Target="../media/image7.png"/><Relationship Id="rId7" Type="http://schemas.openxmlformats.org/officeDocument/2006/relationships/image" Target="../media/image295.png"/><Relationship Id="rId2" Type="http://schemas.openxmlformats.org/officeDocument/2006/relationships/image" Target="../media/image281.png"/><Relationship Id="rId1" Type="http://schemas.openxmlformats.org/officeDocument/2006/relationships/slideLayout" Target="../slideLayouts/slideLayout7.xml"/><Relationship Id="rId6" Type="http://schemas.openxmlformats.org/officeDocument/2006/relationships/image" Target="../media/image294.png"/><Relationship Id="rId5" Type="http://schemas.openxmlformats.org/officeDocument/2006/relationships/image" Target="../media/image293.png"/><Relationship Id="rId10" Type="http://schemas.openxmlformats.org/officeDocument/2006/relationships/image" Target="../media/image221.png"/><Relationship Id="rId4" Type="http://schemas.openxmlformats.org/officeDocument/2006/relationships/image" Target="../media/image8.png"/><Relationship Id="rId9" Type="http://schemas.openxmlformats.org/officeDocument/2006/relationships/image" Target="../media/image297.png"/></Relationships>
</file>

<file path=ppt/slides/_rels/slide43.xml.rels><?xml version="1.0" encoding="UTF-8" standalone="yes"?>
<Relationships xmlns="http://schemas.openxmlformats.org/package/2006/relationships"><Relationship Id="rId8" Type="http://schemas.openxmlformats.org/officeDocument/2006/relationships/image" Target="../media/image221.png"/><Relationship Id="rId3" Type="http://schemas.openxmlformats.org/officeDocument/2006/relationships/image" Target="../media/image7.png"/><Relationship Id="rId7" Type="http://schemas.openxmlformats.org/officeDocument/2006/relationships/image" Target="../media/image299.png"/><Relationship Id="rId2" Type="http://schemas.openxmlformats.org/officeDocument/2006/relationships/image" Target="../media/image281.png"/><Relationship Id="rId1" Type="http://schemas.openxmlformats.org/officeDocument/2006/relationships/slideLayout" Target="../slideLayouts/slideLayout7.xml"/><Relationship Id="rId6" Type="http://schemas.openxmlformats.org/officeDocument/2006/relationships/image" Target="../media/image298.png"/><Relationship Id="rId5" Type="http://schemas.openxmlformats.org/officeDocument/2006/relationships/image" Target="../media/image61.png"/><Relationship Id="rId4" Type="http://schemas.openxmlformats.org/officeDocument/2006/relationships/image" Target="../media/image8.png"/></Relationships>
</file>

<file path=ppt/slides/_rels/slide44.xml.rels><?xml version="1.0" encoding="UTF-8" standalone="yes"?>
<Relationships xmlns="http://schemas.openxmlformats.org/package/2006/relationships"><Relationship Id="rId8" Type="http://schemas.openxmlformats.org/officeDocument/2006/relationships/image" Target="../media/image302.png"/><Relationship Id="rId3" Type="http://schemas.openxmlformats.org/officeDocument/2006/relationships/image" Target="../media/image7.png"/><Relationship Id="rId7" Type="http://schemas.openxmlformats.org/officeDocument/2006/relationships/image" Target="../media/image301.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300.png"/><Relationship Id="rId5" Type="http://schemas.openxmlformats.org/officeDocument/2006/relationships/image" Target="../media/image133.png"/><Relationship Id="rId10" Type="http://schemas.openxmlformats.org/officeDocument/2006/relationships/image" Target="../media/image221.png"/><Relationship Id="rId4" Type="http://schemas.openxmlformats.org/officeDocument/2006/relationships/image" Target="../media/image8.png"/><Relationship Id="rId9" Type="http://schemas.openxmlformats.org/officeDocument/2006/relationships/image" Target="../media/image303.png"/></Relationships>
</file>

<file path=ppt/slides/_rels/slide45.xml.rels><?xml version="1.0" encoding="UTF-8" standalone="yes"?>
<Relationships xmlns="http://schemas.openxmlformats.org/package/2006/relationships"><Relationship Id="rId8" Type="http://schemas.openxmlformats.org/officeDocument/2006/relationships/image" Target="../media/image306.png"/><Relationship Id="rId3" Type="http://schemas.openxmlformats.org/officeDocument/2006/relationships/image" Target="../media/image7.png"/><Relationship Id="rId7" Type="http://schemas.openxmlformats.org/officeDocument/2006/relationships/image" Target="../media/image305.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304.png"/><Relationship Id="rId5" Type="http://schemas.openxmlformats.org/officeDocument/2006/relationships/image" Target="../media/image61.png"/><Relationship Id="rId4" Type="http://schemas.openxmlformats.org/officeDocument/2006/relationships/image" Target="../media/image8.png"/><Relationship Id="rId9" Type="http://schemas.openxmlformats.org/officeDocument/2006/relationships/image" Target="../media/image221.png"/></Relationships>
</file>

<file path=ppt/slides/_rels/slide46.xml.rels><?xml version="1.0" encoding="UTF-8" standalone="yes"?>
<Relationships xmlns="http://schemas.openxmlformats.org/package/2006/relationships"><Relationship Id="rId8" Type="http://schemas.openxmlformats.org/officeDocument/2006/relationships/image" Target="../media/image310.png"/><Relationship Id="rId3" Type="http://schemas.openxmlformats.org/officeDocument/2006/relationships/image" Target="../media/image7.png"/><Relationship Id="rId7" Type="http://schemas.openxmlformats.org/officeDocument/2006/relationships/image" Target="../media/image309.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308.png"/><Relationship Id="rId5" Type="http://schemas.openxmlformats.org/officeDocument/2006/relationships/image" Target="../media/image307.png"/><Relationship Id="rId4" Type="http://schemas.openxmlformats.org/officeDocument/2006/relationships/image" Target="../media/image8.png"/><Relationship Id="rId9" Type="http://schemas.openxmlformats.org/officeDocument/2006/relationships/image" Target="../media/image221.png"/></Relationships>
</file>

<file path=ppt/slides/_rels/slide47.xml.rels><?xml version="1.0" encoding="UTF-8" standalone="yes"?>
<Relationships xmlns="http://schemas.openxmlformats.org/package/2006/relationships"><Relationship Id="rId8" Type="http://schemas.openxmlformats.org/officeDocument/2006/relationships/image" Target="../media/image221.png"/><Relationship Id="rId3" Type="http://schemas.openxmlformats.org/officeDocument/2006/relationships/image" Target="../media/image7.png"/><Relationship Id="rId7" Type="http://schemas.openxmlformats.org/officeDocument/2006/relationships/image" Target="../media/image312.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311.png"/><Relationship Id="rId5" Type="http://schemas.openxmlformats.org/officeDocument/2006/relationships/image" Target="../media/image61.png"/><Relationship Id="rId4" Type="http://schemas.openxmlformats.org/officeDocument/2006/relationships/image" Target="../media/image8.png"/></Relationships>
</file>

<file path=ppt/slides/_rels/slide48.xml.rels><?xml version="1.0" encoding="UTF-8" standalone="yes"?>
<Relationships xmlns="http://schemas.openxmlformats.org/package/2006/relationships"><Relationship Id="rId8" Type="http://schemas.openxmlformats.org/officeDocument/2006/relationships/image" Target="../media/image221.png"/><Relationship Id="rId3" Type="http://schemas.openxmlformats.org/officeDocument/2006/relationships/image" Target="../media/image7.png"/><Relationship Id="rId7" Type="http://schemas.openxmlformats.org/officeDocument/2006/relationships/image" Target="../media/image314.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313.png"/><Relationship Id="rId5" Type="http://schemas.openxmlformats.org/officeDocument/2006/relationships/image" Target="../media/image133.png"/><Relationship Id="rId4" Type="http://schemas.openxmlformats.org/officeDocument/2006/relationships/image" Target="../media/image8.png"/></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21.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315.png"/><Relationship Id="rId5" Type="http://schemas.openxmlformats.org/officeDocument/2006/relationships/image" Target="../media/image48.png"/><Relationship Id="rId4" Type="http://schemas.openxmlformats.org/officeDocument/2006/relationships/image" Target="../media/image8.png"/></Relationships>
</file>

<file path=ppt/slides/_rels/slide50.xml.rels><?xml version="1.0" encoding="UTF-8" standalone="yes"?>
<Relationships xmlns="http://schemas.openxmlformats.org/package/2006/relationships"><Relationship Id="rId8" Type="http://schemas.openxmlformats.org/officeDocument/2006/relationships/image" Target="../media/image319.png"/><Relationship Id="rId3" Type="http://schemas.openxmlformats.org/officeDocument/2006/relationships/image" Target="../media/image7.png"/><Relationship Id="rId7" Type="http://schemas.openxmlformats.org/officeDocument/2006/relationships/image" Target="../media/image318.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317.png"/><Relationship Id="rId11" Type="http://schemas.openxmlformats.org/officeDocument/2006/relationships/image" Target="../media/image221.png"/><Relationship Id="rId5" Type="http://schemas.openxmlformats.org/officeDocument/2006/relationships/image" Target="../media/image316.png"/><Relationship Id="rId10" Type="http://schemas.openxmlformats.org/officeDocument/2006/relationships/image" Target="../media/image321.png"/><Relationship Id="rId4" Type="http://schemas.openxmlformats.org/officeDocument/2006/relationships/image" Target="../media/image8.png"/><Relationship Id="rId9" Type="http://schemas.openxmlformats.org/officeDocument/2006/relationships/image" Target="../media/image320.png"/></Relationships>
</file>

<file path=ppt/slides/_rels/slide51.xml.rels><?xml version="1.0" encoding="UTF-8" standalone="yes"?>
<Relationships xmlns="http://schemas.openxmlformats.org/package/2006/relationships"><Relationship Id="rId8" Type="http://schemas.openxmlformats.org/officeDocument/2006/relationships/image" Target="../media/image324.png"/><Relationship Id="rId3" Type="http://schemas.openxmlformats.org/officeDocument/2006/relationships/image" Target="../media/image7.png"/><Relationship Id="rId7" Type="http://schemas.openxmlformats.org/officeDocument/2006/relationships/image" Target="../media/image323.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322.png"/><Relationship Id="rId5" Type="http://schemas.openxmlformats.org/officeDocument/2006/relationships/image" Target="../media/image133.png"/><Relationship Id="rId4" Type="http://schemas.openxmlformats.org/officeDocument/2006/relationships/image" Target="../media/image8.png"/><Relationship Id="rId9" Type="http://schemas.openxmlformats.org/officeDocument/2006/relationships/image" Target="../media/image221.png"/></Relationships>
</file>

<file path=ppt/slides/_rels/slide52.xml.rels><?xml version="1.0" encoding="UTF-8" standalone="yes"?>
<Relationships xmlns="http://schemas.openxmlformats.org/package/2006/relationships"><Relationship Id="rId8" Type="http://schemas.openxmlformats.org/officeDocument/2006/relationships/image" Target="../media/image221.png"/><Relationship Id="rId3" Type="http://schemas.openxmlformats.org/officeDocument/2006/relationships/image" Target="../media/image7.png"/><Relationship Id="rId7" Type="http://schemas.openxmlformats.org/officeDocument/2006/relationships/image" Target="../media/image326.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325.png"/><Relationship Id="rId5" Type="http://schemas.openxmlformats.org/officeDocument/2006/relationships/image" Target="../media/image293.png"/><Relationship Id="rId4" Type="http://schemas.openxmlformats.org/officeDocument/2006/relationships/image" Target="../media/image8.png"/></Relationships>
</file>

<file path=ppt/slides/_rels/slide53.xml.rels><?xml version="1.0" encoding="UTF-8" standalone="yes"?>
<Relationships xmlns="http://schemas.openxmlformats.org/package/2006/relationships"><Relationship Id="rId8" Type="http://schemas.openxmlformats.org/officeDocument/2006/relationships/image" Target="../media/image329.png"/><Relationship Id="rId3" Type="http://schemas.openxmlformats.org/officeDocument/2006/relationships/image" Target="../media/image7.png"/><Relationship Id="rId7" Type="http://schemas.openxmlformats.org/officeDocument/2006/relationships/image" Target="../media/image328.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327.png"/><Relationship Id="rId5" Type="http://schemas.openxmlformats.org/officeDocument/2006/relationships/image" Target="../media/image133.png"/><Relationship Id="rId10" Type="http://schemas.openxmlformats.org/officeDocument/2006/relationships/image" Target="../media/image221.png"/><Relationship Id="rId4" Type="http://schemas.openxmlformats.org/officeDocument/2006/relationships/image" Target="../media/image8.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21.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331.png"/><Relationship Id="rId5" Type="http://schemas.openxmlformats.org/officeDocument/2006/relationships/image" Target="../media/image20.png"/><Relationship Id="rId4" Type="http://schemas.openxmlformats.org/officeDocument/2006/relationships/image" Target="../media/image8.png"/></Relationships>
</file>

<file path=ppt/slides/_rels/slide55.xml.rels><?xml version="1.0" encoding="UTF-8" standalone="yes"?>
<Relationships xmlns="http://schemas.openxmlformats.org/package/2006/relationships"><Relationship Id="rId8" Type="http://schemas.openxmlformats.org/officeDocument/2006/relationships/image" Target="../media/image221.png"/><Relationship Id="rId3" Type="http://schemas.openxmlformats.org/officeDocument/2006/relationships/image" Target="../media/image7.png"/><Relationship Id="rId7" Type="http://schemas.openxmlformats.org/officeDocument/2006/relationships/image" Target="../media/image333.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332.png"/><Relationship Id="rId5" Type="http://schemas.openxmlformats.org/officeDocument/2006/relationships/image" Target="../media/image133.png"/><Relationship Id="rId4" Type="http://schemas.openxmlformats.org/officeDocument/2006/relationships/image" Target="../media/image8.png"/></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21.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334.png"/><Relationship Id="rId5" Type="http://schemas.openxmlformats.org/officeDocument/2006/relationships/image" Target="../media/image61.png"/><Relationship Id="rId4" Type="http://schemas.openxmlformats.org/officeDocument/2006/relationships/image" Target="../media/image8.png"/></Relationships>
</file>

<file path=ppt/slides/_rels/slide57.xml.rels><?xml version="1.0" encoding="UTF-8" standalone="yes"?>
<Relationships xmlns="http://schemas.openxmlformats.org/package/2006/relationships"><Relationship Id="rId8" Type="http://schemas.openxmlformats.org/officeDocument/2006/relationships/image" Target="../media/image337.png"/><Relationship Id="rId3" Type="http://schemas.openxmlformats.org/officeDocument/2006/relationships/image" Target="../media/image7.png"/><Relationship Id="rId7" Type="http://schemas.openxmlformats.org/officeDocument/2006/relationships/image" Target="../media/image336.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335.png"/><Relationship Id="rId5" Type="http://schemas.openxmlformats.org/officeDocument/2006/relationships/image" Target="../media/image61.png"/><Relationship Id="rId10" Type="http://schemas.openxmlformats.org/officeDocument/2006/relationships/image" Target="../media/image221.png"/><Relationship Id="rId4" Type="http://schemas.openxmlformats.org/officeDocument/2006/relationships/image" Target="../media/image8.png"/><Relationship Id="rId9" Type="http://schemas.openxmlformats.org/officeDocument/2006/relationships/image" Target="../media/image338.png"/></Relationships>
</file>

<file path=ppt/slides/_rels/slide58.xml.rels><?xml version="1.0" encoding="UTF-8" standalone="yes"?>
<Relationships xmlns="http://schemas.openxmlformats.org/package/2006/relationships"><Relationship Id="rId8" Type="http://schemas.openxmlformats.org/officeDocument/2006/relationships/image" Target="../media/image222.png"/><Relationship Id="rId13" Type="http://schemas.openxmlformats.org/officeDocument/2006/relationships/image" Target="../media/image343.png"/><Relationship Id="rId18" Type="http://schemas.openxmlformats.org/officeDocument/2006/relationships/image" Target="../media/image347.png"/><Relationship Id="rId3" Type="http://schemas.openxmlformats.org/officeDocument/2006/relationships/image" Target="../media/image220.png"/><Relationship Id="rId7" Type="http://schemas.openxmlformats.org/officeDocument/2006/relationships/image" Target="../media/image223.png"/><Relationship Id="rId12" Type="http://schemas.openxmlformats.org/officeDocument/2006/relationships/image" Target="../media/image342.png"/><Relationship Id="rId17" Type="http://schemas.openxmlformats.org/officeDocument/2006/relationships/image" Target="../media/image346.png"/><Relationship Id="rId2" Type="http://schemas.openxmlformats.org/officeDocument/2006/relationships/image" Target="../media/image13.png"/><Relationship Id="rId16" Type="http://schemas.openxmlformats.org/officeDocument/2006/relationships/image" Target="../media/image345.png"/><Relationship Id="rId20" Type="http://schemas.openxmlformats.org/officeDocument/2006/relationships/image" Target="../media/image221.png"/><Relationship Id="rId1" Type="http://schemas.openxmlformats.org/officeDocument/2006/relationships/slideLayout" Target="../slideLayouts/slideLayout7.xml"/><Relationship Id="rId6" Type="http://schemas.openxmlformats.org/officeDocument/2006/relationships/image" Target="../media/image199.png"/><Relationship Id="rId11" Type="http://schemas.openxmlformats.org/officeDocument/2006/relationships/image" Target="../media/image341.png"/><Relationship Id="rId5" Type="http://schemas.openxmlformats.org/officeDocument/2006/relationships/image" Target="../media/image8.png"/><Relationship Id="rId15" Type="http://schemas.openxmlformats.org/officeDocument/2006/relationships/image" Target="../media/image344.png"/><Relationship Id="rId10" Type="http://schemas.openxmlformats.org/officeDocument/2006/relationships/image" Target="../media/image340.png"/><Relationship Id="rId19" Type="http://schemas.openxmlformats.org/officeDocument/2006/relationships/image" Target="../media/image348.png"/><Relationship Id="rId4" Type="http://schemas.openxmlformats.org/officeDocument/2006/relationships/image" Target="../media/image7.png"/><Relationship Id="rId9" Type="http://schemas.openxmlformats.org/officeDocument/2006/relationships/image" Target="../media/image339.png"/><Relationship Id="rId14" Type="http://schemas.openxmlformats.org/officeDocument/2006/relationships/image" Target="../media/image229.png"/></Relationships>
</file>

<file path=ppt/slides/_rels/slide59.xml.rels><?xml version="1.0" encoding="UTF-8" standalone="yes"?>
<Relationships xmlns="http://schemas.openxmlformats.org/package/2006/relationships"><Relationship Id="rId13" Type="http://schemas.openxmlformats.org/officeDocument/2006/relationships/image" Target="../media/image353.png"/><Relationship Id="rId18" Type="http://schemas.openxmlformats.org/officeDocument/2006/relationships/image" Target="../media/image356.png"/><Relationship Id="rId26" Type="http://schemas.openxmlformats.org/officeDocument/2006/relationships/image" Target="../media/image363.png"/><Relationship Id="rId39" Type="http://schemas.openxmlformats.org/officeDocument/2006/relationships/image" Target="../media/image375.png"/><Relationship Id="rId3" Type="http://schemas.openxmlformats.org/officeDocument/2006/relationships/image" Target="../media/image19.png"/><Relationship Id="rId21" Type="http://schemas.openxmlformats.org/officeDocument/2006/relationships/image" Target="../media/image358.png"/><Relationship Id="rId34" Type="http://schemas.openxmlformats.org/officeDocument/2006/relationships/image" Target="../media/image370.png"/><Relationship Id="rId42" Type="http://schemas.openxmlformats.org/officeDocument/2006/relationships/image" Target="../media/image378.png"/><Relationship Id="rId47" Type="http://schemas.openxmlformats.org/officeDocument/2006/relationships/image" Target="../media/image382.png"/><Relationship Id="rId50" Type="http://schemas.openxmlformats.org/officeDocument/2006/relationships/image" Target="../media/image385.png"/><Relationship Id="rId7" Type="http://schemas.openxmlformats.org/officeDocument/2006/relationships/image" Target="../media/image221.png"/><Relationship Id="rId12" Type="http://schemas.openxmlformats.org/officeDocument/2006/relationships/image" Target="../media/image352.png"/><Relationship Id="rId17" Type="http://schemas.openxmlformats.org/officeDocument/2006/relationships/image" Target="../media/image355.png"/><Relationship Id="rId25" Type="http://schemas.openxmlformats.org/officeDocument/2006/relationships/image" Target="../media/image362.png"/><Relationship Id="rId33" Type="http://schemas.openxmlformats.org/officeDocument/2006/relationships/image" Target="../media/image369.png"/><Relationship Id="rId38" Type="http://schemas.openxmlformats.org/officeDocument/2006/relationships/image" Target="../media/image374.png"/><Relationship Id="rId46" Type="http://schemas.openxmlformats.org/officeDocument/2006/relationships/image" Target="../media/image381.png"/><Relationship Id="rId2" Type="http://schemas.openxmlformats.org/officeDocument/2006/relationships/notesSlide" Target="../notesSlides/notesSlide6.xml"/><Relationship Id="rId16" Type="http://schemas.openxmlformats.org/officeDocument/2006/relationships/image" Target="../media/image264.png"/><Relationship Id="rId20" Type="http://schemas.openxmlformats.org/officeDocument/2006/relationships/image" Target="../media/image357.png"/><Relationship Id="rId29" Type="http://schemas.openxmlformats.org/officeDocument/2006/relationships/image" Target="../media/image365.png"/><Relationship Id="rId41" Type="http://schemas.openxmlformats.org/officeDocument/2006/relationships/image" Target="../media/image377.png"/><Relationship Id="rId54" Type="http://schemas.openxmlformats.org/officeDocument/2006/relationships/image" Target="../media/image389.png"/><Relationship Id="rId1" Type="http://schemas.openxmlformats.org/officeDocument/2006/relationships/slideLayout" Target="../slideLayouts/slideLayout7.xml"/><Relationship Id="rId6" Type="http://schemas.openxmlformats.org/officeDocument/2006/relationships/image" Target="../media/image164.png"/><Relationship Id="rId11" Type="http://schemas.openxmlformats.org/officeDocument/2006/relationships/image" Target="../media/image351.png"/><Relationship Id="rId24" Type="http://schemas.openxmlformats.org/officeDocument/2006/relationships/image" Target="../media/image361.png"/><Relationship Id="rId32" Type="http://schemas.openxmlformats.org/officeDocument/2006/relationships/image" Target="../media/image368.png"/><Relationship Id="rId37" Type="http://schemas.openxmlformats.org/officeDocument/2006/relationships/image" Target="../media/image373.png"/><Relationship Id="rId40" Type="http://schemas.openxmlformats.org/officeDocument/2006/relationships/image" Target="../media/image376.png"/><Relationship Id="rId45" Type="http://schemas.openxmlformats.org/officeDocument/2006/relationships/image" Target="../media/image261.png"/><Relationship Id="rId53" Type="http://schemas.openxmlformats.org/officeDocument/2006/relationships/image" Target="../media/image388.png"/><Relationship Id="rId5" Type="http://schemas.openxmlformats.org/officeDocument/2006/relationships/image" Target="../media/image8.png"/><Relationship Id="rId15" Type="http://schemas.openxmlformats.org/officeDocument/2006/relationships/image" Target="../media/image354.png"/><Relationship Id="rId23" Type="http://schemas.openxmlformats.org/officeDocument/2006/relationships/image" Target="../media/image360.png"/><Relationship Id="rId28" Type="http://schemas.openxmlformats.org/officeDocument/2006/relationships/image" Target="../media/image265.png"/><Relationship Id="rId36" Type="http://schemas.openxmlformats.org/officeDocument/2006/relationships/image" Target="../media/image372.png"/><Relationship Id="rId49" Type="http://schemas.openxmlformats.org/officeDocument/2006/relationships/image" Target="../media/image384.png"/><Relationship Id="rId10" Type="http://schemas.openxmlformats.org/officeDocument/2006/relationships/image" Target="../media/image350.png"/><Relationship Id="rId19" Type="http://schemas.openxmlformats.org/officeDocument/2006/relationships/image" Target="../media/image260.png"/><Relationship Id="rId31" Type="http://schemas.openxmlformats.org/officeDocument/2006/relationships/image" Target="../media/image367.png"/><Relationship Id="rId44" Type="http://schemas.openxmlformats.org/officeDocument/2006/relationships/image" Target="../media/image380.png"/><Relationship Id="rId52" Type="http://schemas.openxmlformats.org/officeDocument/2006/relationships/image" Target="../media/image387.png"/><Relationship Id="rId4" Type="http://schemas.openxmlformats.org/officeDocument/2006/relationships/image" Target="../media/image7.png"/><Relationship Id="rId9" Type="http://schemas.openxmlformats.org/officeDocument/2006/relationships/image" Target="../media/image349.png"/><Relationship Id="rId14" Type="http://schemas.openxmlformats.org/officeDocument/2006/relationships/image" Target="../media/image238.png"/><Relationship Id="rId22" Type="http://schemas.openxmlformats.org/officeDocument/2006/relationships/image" Target="../media/image359.png"/><Relationship Id="rId27" Type="http://schemas.openxmlformats.org/officeDocument/2006/relationships/image" Target="../media/image364.png"/><Relationship Id="rId30" Type="http://schemas.openxmlformats.org/officeDocument/2006/relationships/image" Target="../media/image366.png"/><Relationship Id="rId35" Type="http://schemas.openxmlformats.org/officeDocument/2006/relationships/image" Target="../media/image371.png"/><Relationship Id="rId43" Type="http://schemas.openxmlformats.org/officeDocument/2006/relationships/image" Target="../media/image379.png"/><Relationship Id="rId48" Type="http://schemas.openxmlformats.org/officeDocument/2006/relationships/image" Target="../media/image383.png"/><Relationship Id="rId8" Type="http://schemas.openxmlformats.org/officeDocument/2006/relationships/image" Target="../media/image235.png"/><Relationship Id="rId51" Type="http://schemas.openxmlformats.org/officeDocument/2006/relationships/image" Target="../media/image386.png"/></Relationships>
</file>

<file path=ppt/slides/_rels/slide60.xml.rels><?xml version="1.0" encoding="UTF-8" standalone="yes"?>
<Relationships xmlns="http://schemas.openxmlformats.org/package/2006/relationships"><Relationship Id="rId8" Type="http://schemas.openxmlformats.org/officeDocument/2006/relationships/image" Target="../media/image266.png"/><Relationship Id="rId3" Type="http://schemas.openxmlformats.org/officeDocument/2006/relationships/image" Target="../media/image13.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21.png"/><Relationship Id="rId11" Type="http://schemas.openxmlformats.org/officeDocument/2006/relationships/image" Target="../media/image392.png"/><Relationship Id="rId5" Type="http://schemas.openxmlformats.org/officeDocument/2006/relationships/image" Target="../media/image8.png"/><Relationship Id="rId10" Type="http://schemas.openxmlformats.org/officeDocument/2006/relationships/image" Target="../media/image391.png"/><Relationship Id="rId4" Type="http://schemas.openxmlformats.org/officeDocument/2006/relationships/image" Target="../media/image7.png"/><Relationship Id="rId9" Type="http://schemas.openxmlformats.org/officeDocument/2006/relationships/image" Target="../media/image390.png"/></Relationships>
</file>

<file path=ppt/slides/_rels/slide61.xml.rels><?xml version="1.0" encoding="UTF-8" standalone="yes"?>
<Relationships xmlns="http://schemas.openxmlformats.org/package/2006/relationships"><Relationship Id="rId8" Type="http://schemas.openxmlformats.org/officeDocument/2006/relationships/image" Target="../media/image394.png"/><Relationship Id="rId3" Type="http://schemas.openxmlformats.org/officeDocument/2006/relationships/image" Target="../media/image13.png"/><Relationship Id="rId7" Type="http://schemas.openxmlformats.org/officeDocument/2006/relationships/image" Target="../media/image393.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61.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221.png"/></Relationships>
</file>

<file path=ppt/slides/_rels/slide62.xml.rels><?xml version="1.0" encoding="UTF-8" standalone="yes"?>
<Relationships xmlns="http://schemas.openxmlformats.org/package/2006/relationships"><Relationship Id="rId8" Type="http://schemas.openxmlformats.org/officeDocument/2006/relationships/image" Target="../media/image397.png"/><Relationship Id="rId13" Type="http://schemas.openxmlformats.org/officeDocument/2006/relationships/image" Target="../media/image402.png"/><Relationship Id="rId3" Type="http://schemas.openxmlformats.org/officeDocument/2006/relationships/image" Target="../media/image7.png"/><Relationship Id="rId7" Type="http://schemas.openxmlformats.org/officeDocument/2006/relationships/image" Target="../media/image396.png"/><Relationship Id="rId12" Type="http://schemas.openxmlformats.org/officeDocument/2006/relationships/image" Target="../media/image401.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395.png"/><Relationship Id="rId11" Type="http://schemas.openxmlformats.org/officeDocument/2006/relationships/image" Target="../media/image400.png"/><Relationship Id="rId5" Type="http://schemas.openxmlformats.org/officeDocument/2006/relationships/image" Target="../media/image48.png"/><Relationship Id="rId10" Type="http://schemas.openxmlformats.org/officeDocument/2006/relationships/image" Target="../media/image399.png"/><Relationship Id="rId4" Type="http://schemas.openxmlformats.org/officeDocument/2006/relationships/image" Target="../media/image8.png"/><Relationship Id="rId9" Type="http://schemas.openxmlformats.org/officeDocument/2006/relationships/image" Target="../media/image398.png"/><Relationship Id="rId14" Type="http://schemas.openxmlformats.org/officeDocument/2006/relationships/image" Target="../media/image221.png"/></Relationships>
</file>

<file path=ppt/slides/_rels/slide63.xml.rels><?xml version="1.0" encoding="UTF-8" standalone="yes"?>
<Relationships xmlns="http://schemas.openxmlformats.org/package/2006/relationships"><Relationship Id="rId8" Type="http://schemas.openxmlformats.org/officeDocument/2006/relationships/image" Target="../media/image405.png"/><Relationship Id="rId3" Type="http://schemas.openxmlformats.org/officeDocument/2006/relationships/image" Target="../media/image7.png"/><Relationship Id="rId7" Type="http://schemas.openxmlformats.org/officeDocument/2006/relationships/image" Target="../media/image404.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403.png"/><Relationship Id="rId5" Type="http://schemas.openxmlformats.org/officeDocument/2006/relationships/image" Target="../media/image61.png"/><Relationship Id="rId4" Type="http://schemas.openxmlformats.org/officeDocument/2006/relationships/image" Target="../media/image8.png"/><Relationship Id="rId9" Type="http://schemas.openxmlformats.org/officeDocument/2006/relationships/image" Target="../media/image221.png"/></Relationships>
</file>

<file path=ppt/slides/_rels/slide64.xml.rels><?xml version="1.0" encoding="UTF-8" standalone="yes"?>
<Relationships xmlns="http://schemas.openxmlformats.org/package/2006/relationships"><Relationship Id="rId8" Type="http://schemas.openxmlformats.org/officeDocument/2006/relationships/image" Target="../media/image408.png"/><Relationship Id="rId3" Type="http://schemas.openxmlformats.org/officeDocument/2006/relationships/image" Target="../media/image7.png"/><Relationship Id="rId7" Type="http://schemas.openxmlformats.org/officeDocument/2006/relationships/image" Target="../media/image407.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406.png"/><Relationship Id="rId5" Type="http://schemas.openxmlformats.org/officeDocument/2006/relationships/image" Target="../media/image163.png"/><Relationship Id="rId10" Type="http://schemas.openxmlformats.org/officeDocument/2006/relationships/image" Target="../media/image221.png"/><Relationship Id="rId4" Type="http://schemas.openxmlformats.org/officeDocument/2006/relationships/image" Target="../media/image8.png"/><Relationship Id="rId9" Type="http://schemas.openxmlformats.org/officeDocument/2006/relationships/image" Target="../media/image409.png"/></Relationships>
</file>

<file path=ppt/slides/_rels/slide65.xml.rels><?xml version="1.0" encoding="UTF-8" standalone="yes"?>
<Relationships xmlns="http://schemas.openxmlformats.org/package/2006/relationships"><Relationship Id="rId8" Type="http://schemas.openxmlformats.org/officeDocument/2006/relationships/image" Target="../media/image412.png"/><Relationship Id="rId3" Type="http://schemas.openxmlformats.org/officeDocument/2006/relationships/image" Target="../media/image7.png"/><Relationship Id="rId7" Type="http://schemas.openxmlformats.org/officeDocument/2006/relationships/image" Target="../media/image411.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410.png"/><Relationship Id="rId5" Type="http://schemas.openxmlformats.org/officeDocument/2006/relationships/image" Target="../media/image61.png"/><Relationship Id="rId4" Type="http://schemas.openxmlformats.org/officeDocument/2006/relationships/image" Target="../media/image8.png"/><Relationship Id="rId9" Type="http://schemas.openxmlformats.org/officeDocument/2006/relationships/image" Target="../media/image221.png"/></Relationships>
</file>

<file path=ppt/slides/_rels/slide66.xml.rels><?xml version="1.0" encoding="UTF-8" standalone="yes"?>
<Relationships xmlns="http://schemas.openxmlformats.org/package/2006/relationships"><Relationship Id="rId8" Type="http://schemas.openxmlformats.org/officeDocument/2006/relationships/image" Target="../media/image221.png"/><Relationship Id="rId3" Type="http://schemas.openxmlformats.org/officeDocument/2006/relationships/image" Target="../media/image7.png"/><Relationship Id="rId7" Type="http://schemas.openxmlformats.org/officeDocument/2006/relationships/image" Target="../media/image414.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413.png"/><Relationship Id="rId5" Type="http://schemas.openxmlformats.org/officeDocument/2006/relationships/image" Target="../media/image61.png"/><Relationship Id="rId4" Type="http://schemas.openxmlformats.org/officeDocument/2006/relationships/image" Target="../media/image8.png"/></Relationships>
</file>

<file path=ppt/slides/_rels/slide67.xml.rels><?xml version="1.0" encoding="UTF-8" standalone="yes"?>
<Relationships xmlns="http://schemas.openxmlformats.org/package/2006/relationships"><Relationship Id="rId8" Type="http://schemas.openxmlformats.org/officeDocument/2006/relationships/image" Target="../media/image417.png"/><Relationship Id="rId3" Type="http://schemas.openxmlformats.org/officeDocument/2006/relationships/image" Target="../media/image7.png"/><Relationship Id="rId7" Type="http://schemas.openxmlformats.org/officeDocument/2006/relationships/image" Target="../media/image416.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415.png"/><Relationship Id="rId5" Type="http://schemas.openxmlformats.org/officeDocument/2006/relationships/image" Target="../media/image61.png"/><Relationship Id="rId4" Type="http://schemas.openxmlformats.org/officeDocument/2006/relationships/image" Target="../media/image8.png"/><Relationship Id="rId9" Type="http://schemas.openxmlformats.org/officeDocument/2006/relationships/image" Target="../media/image221.png"/></Relationships>
</file>

<file path=ppt/slides/_rels/slide68.xml.rels><?xml version="1.0" encoding="UTF-8" standalone="yes"?>
<Relationships xmlns="http://schemas.openxmlformats.org/package/2006/relationships"><Relationship Id="rId8" Type="http://schemas.openxmlformats.org/officeDocument/2006/relationships/image" Target="../media/image221.png"/><Relationship Id="rId3" Type="http://schemas.openxmlformats.org/officeDocument/2006/relationships/image" Target="../media/image7.png"/><Relationship Id="rId7" Type="http://schemas.openxmlformats.org/officeDocument/2006/relationships/image" Target="../media/image419.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418.png"/><Relationship Id="rId5" Type="http://schemas.openxmlformats.org/officeDocument/2006/relationships/image" Target="../media/image61.png"/><Relationship Id="rId4" Type="http://schemas.openxmlformats.org/officeDocument/2006/relationships/image" Target="../media/image8.png"/></Relationships>
</file>

<file path=ppt/slides/_rels/slide69.xml.rels><?xml version="1.0" encoding="UTF-8" standalone="yes"?>
<Relationships xmlns="http://schemas.openxmlformats.org/package/2006/relationships"><Relationship Id="rId8" Type="http://schemas.openxmlformats.org/officeDocument/2006/relationships/image" Target="../media/image221.png"/><Relationship Id="rId3" Type="http://schemas.openxmlformats.org/officeDocument/2006/relationships/image" Target="../media/image7.png"/><Relationship Id="rId7" Type="http://schemas.openxmlformats.org/officeDocument/2006/relationships/image" Target="../media/image421.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420.png"/><Relationship Id="rId5" Type="http://schemas.openxmlformats.org/officeDocument/2006/relationships/image" Target="../media/image61.png"/><Relationship Id="rId4" Type="http://schemas.openxmlformats.org/officeDocument/2006/relationships/image" Target="../media/image8.png"/></Relationships>
</file>

<file path=ppt/slides/_rels/slide70.xml.rels><?xml version="1.0" encoding="UTF-8" standalone="yes"?>
<Relationships xmlns="http://schemas.openxmlformats.org/package/2006/relationships"><Relationship Id="rId8" Type="http://schemas.openxmlformats.org/officeDocument/2006/relationships/image" Target="../media/image221.png"/><Relationship Id="rId3" Type="http://schemas.openxmlformats.org/officeDocument/2006/relationships/image" Target="../media/image7.png"/><Relationship Id="rId7" Type="http://schemas.openxmlformats.org/officeDocument/2006/relationships/image" Target="../media/image423.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422.png"/><Relationship Id="rId5" Type="http://schemas.openxmlformats.org/officeDocument/2006/relationships/image" Target="../media/image61.png"/><Relationship Id="rId4" Type="http://schemas.openxmlformats.org/officeDocument/2006/relationships/image" Target="../media/image8.png"/></Relationships>
</file>

<file path=ppt/slides/_rels/slide71.xml.rels><?xml version="1.0" encoding="UTF-8" standalone="yes"?>
<Relationships xmlns="http://schemas.openxmlformats.org/package/2006/relationships"><Relationship Id="rId8" Type="http://schemas.openxmlformats.org/officeDocument/2006/relationships/image" Target="../media/image426.png"/><Relationship Id="rId3" Type="http://schemas.openxmlformats.org/officeDocument/2006/relationships/image" Target="../media/image7.png"/><Relationship Id="rId7" Type="http://schemas.openxmlformats.org/officeDocument/2006/relationships/image" Target="../media/image425.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424.png"/><Relationship Id="rId5" Type="http://schemas.openxmlformats.org/officeDocument/2006/relationships/image" Target="../media/image133.png"/><Relationship Id="rId4" Type="http://schemas.openxmlformats.org/officeDocument/2006/relationships/image" Target="../media/image8.png"/><Relationship Id="rId9" Type="http://schemas.openxmlformats.org/officeDocument/2006/relationships/image" Target="../media/image221.png"/></Relationships>
</file>

<file path=ppt/slides/_rels/slide72.xml.rels><?xml version="1.0" encoding="UTF-8" standalone="yes"?>
<Relationships xmlns="http://schemas.openxmlformats.org/package/2006/relationships"><Relationship Id="rId8" Type="http://schemas.openxmlformats.org/officeDocument/2006/relationships/image" Target="../media/image429.png"/><Relationship Id="rId3" Type="http://schemas.openxmlformats.org/officeDocument/2006/relationships/image" Target="../media/image7.png"/><Relationship Id="rId7" Type="http://schemas.openxmlformats.org/officeDocument/2006/relationships/image" Target="../media/image428.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427.png"/><Relationship Id="rId5" Type="http://schemas.openxmlformats.org/officeDocument/2006/relationships/image" Target="../media/image133.png"/><Relationship Id="rId10" Type="http://schemas.openxmlformats.org/officeDocument/2006/relationships/image" Target="../media/image221.png"/><Relationship Id="rId4" Type="http://schemas.openxmlformats.org/officeDocument/2006/relationships/image" Target="../media/image8.png"/><Relationship Id="rId9" Type="http://schemas.openxmlformats.org/officeDocument/2006/relationships/image" Target="../media/image430.png"/></Relationships>
</file>

<file path=ppt/slides/_rels/slide73.xml.rels><?xml version="1.0" encoding="UTF-8" standalone="yes"?>
<Relationships xmlns="http://schemas.openxmlformats.org/package/2006/relationships"><Relationship Id="rId8" Type="http://schemas.openxmlformats.org/officeDocument/2006/relationships/image" Target="../media/image433.png"/><Relationship Id="rId13" Type="http://schemas.openxmlformats.org/officeDocument/2006/relationships/image" Target="../media/image438.png"/><Relationship Id="rId3" Type="http://schemas.openxmlformats.org/officeDocument/2006/relationships/image" Target="../media/image7.png"/><Relationship Id="rId7" Type="http://schemas.openxmlformats.org/officeDocument/2006/relationships/image" Target="../media/image432.png"/><Relationship Id="rId12" Type="http://schemas.openxmlformats.org/officeDocument/2006/relationships/image" Target="../media/image437.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431.png"/><Relationship Id="rId11" Type="http://schemas.openxmlformats.org/officeDocument/2006/relationships/image" Target="../media/image436.png"/><Relationship Id="rId5" Type="http://schemas.openxmlformats.org/officeDocument/2006/relationships/image" Target="../media/image133.png"/><Relationship Id="rId15" Type="http://schemas.openxmlformats.org/officeDocument/2006/relationships/image" Target="../media/image221.png"/><Relationship Id="rId10" Type="http://schemas.openxmlformats.org/officeDocument/2006/relationships/image" Target="../media/image435.png"/><Relationship Id="rId4" Type="http://schemas.openxmlformats.org/officeDocument/2006/relationships/image" Target="../media/image8.png"/><Relationship Id="rId9" Type="http://schemas.openxmlformats.org/officeDocument/2006/relationships/image" Target="../media/image434.png"/><Relationship Id="rId14" Type="http://schemas.openxmlformats.org/officeDocument/2006/relationships/image" Target="../media/image439.png"/></Relationships>
</file>

<file path=ppt/slides/_rels/slide74.xml.rels><?xml version="1.0" encoding="UTF-8" standalone="yes"?>
<Relationships xmlns="http://schemas.openxmlformats.org/package/2006/relationships"><Relationship Id="rId8" Type="http://schemas.openxmlformats.org/officeDocument/2006/relationships/image" Target="../media/image221.png"/><Relationship Id="rId3" Type="http://schemas.openxmlformats.org/officeDocument/2006/relationships/image" Target="../media/image7.png"/><Relationship Id="rId7" Type="http://schemas.openxmlformats.org/officeDocument/2006/relationships/image" Target="../media/image442.png"/><Relationship Id="rId2" Type="http://schemas.openxmlformats.org/officeDocument/2006/relationships/image" Target="../media/image440.png"/><Relationship Id="rId1" Type="http://schemas.openxmlformats.org/officeDocument/2006/relationships/slideLayout" Target="../slideLayouts/slideLayout7.xml"/><Relationship Id="rId6" Type="http://schemas.openxmlformats.org/officeDocument/2006/relationships/image" Target="../media/image441.png"/><Relationship Id="rId5" Type="http://schemas.openxmlformats.org/officeDocument/2006/relationships/image" Target="../media/image133.png"/><Relationship Id="rId4" Type="http://schemas.openxmlformats.org/officeDocument/2006/relationships/image" Target="../media/image8.png"/></Relationships>
</file>

<file path=ppt/slides/_rels/slide75.xml.rels><?xml version="1.0" encoding="UTF-8" standalone="yes"?>
<Relationships xmlns="http://schemas.openxmlformats.org/package/2006/relationships"><Relationship Id="rId8" Type="http://schemas.openxmlformats.org/officeDocument/2006/relationships/image" Target="../media/image445.png"/><Relationship Id="rId3" Type="http://schemas.openxmlformats.org/officeDocument/2006/relationships/image" Target="../media/image7.png"/><Relationship Id="rId7" Type="http://schemas.openxmlformats.org/officeDocument/2006/relationships/image" Target="../media/image444.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443.png"/><Relationship Id="rId11" Type="http://schemas.openxmlformats.org/officeDocument/2006/relationships/image" Target="../media/image221.png"/><Relationship Id="rId5" Type="http://schemas.openxmlformats.org/officeDocument/2006/relationships/image" Target="../media/image61.png"/><Relationship Id="rId10" Type="http://schemas.openxmlformats.org/officeDocument/2006/relationships/image" Target="../media/image447.png"/><Relationship Id="rId4" Type="http://schemas.openxmlformats.org/officeDocument/2006/relationships/image" Target="../media/image8.png"/><Relationship Id="rId9" Type="http://schemas.openxmlformats.org/officeDocument/2006/relationships/image" Target="../media/image446.png"/></Relationships>
</file>

<file path=ppt/slides/_rels/slide76.xml.rels><?xml version="1.0" encoding="UTF-8" standalone="yes"?>
<Relationships xmlns="http://schemas.openxmlformats.org/package/2006/relationships"><Relationship Id="rId8" Type="http://schemas.openxmlformats.org/officeDocument/2006/relationships/image" Target="../media/image450.png"/><Relationship Id="rId13" Type="http://schemas.openxmlformats.org/officeDocument/2006/relationships/image" Target="../media/image221.png"/><Relationship Id="rId3" Type="http://schemas.openxmlformats.org/officeDocument/2006/relationships/image" Target="../media/image7.png"/><Relationship Id="rId7" Type="http://schemas.openxmlformats.org/officeDocument/2006/relationships/image" Target="../media/image449.png"/><Relationship Id="rId12" Type="http://schemas.openxmlformats.org/officeDocument/2006/relationships/image" Target="../media/image454.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448.png"/><Relationship Id="rId11" Type="http://schemas.openxmlformats.org/officeDocument/2006/relationships/image" Target="../media/image453.png"/><Relationship Id="rId5" Type="http://schemas.openxmlformats.org/officeDocument/2006/relationships/image" Target="../media/image61.png"/><Relationship Id="rId10" Type="http://schemas.openxmlformats.org/officeDocument/2006/relationships/image" Target="../media/image452.png"/><Relationship Id="rId4" Type="http://schemas.openxmlformats.org/officeDocument/2006/relationships/image" Target="../media/image8.png"/><Relationship Id="rId9" Type="http://schemas.openxmlformats.org/officeDocument/2006/relationships/image" Target="../media/image451.png"/></Relationships>
</file>

<file path=ppt/slides/_rels/slide77.xml.rels><?xml version="1.0" encoding="UTF-8" standalone="yes"?>
<Relationships xmlns="http://schemas.openxmlformats.org/package/2006/relationships"><Relationship Id="rId8" Type="http://schemas.openxmlformats.org/officeDocument/2006/relationships/image" Target="../media/image221.png"/><Relationship Id="rId3" Type="http://schemas.openxmlformats.org/officeDocument/2006/relationships/image" Target="../media/image7.png"/><Relationship Id="rId7" Type="http://schemas.openxmlformats.org/officeDocument/2006/relationships/image" Target="../media/image456.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455.png"/><Relationship Id="rId5" Type="http://schemas.openxmlformats.org/officeDocument/2006/relationships/image" Target="../media/image61.png"/><Relationship Id="rId4" Type="http://schemas.openxmlformats.org/officeDocument/2006/relationships/image" Target="../media/image8.png"/></Relationships>
</file>

<file path=ppt/slides/_rels/slide78.xml.rels><?xml version="1.0" encoding="UTF-8" standalone="yes"?>
<Relationships xmlns="http://schemas.openxmlformats.org/package/2006/relationships"><Relationship Id="rId8" Type="http://schemas.openxmlformats.org/officeDocument/2006/relationships/image" Target="../media/image459.png"/><Relationship Id="rId3" Type="http://schemas.openxmlformats.org/officeDocument/2006/relationships/image" Target="../media/image7.png"/><Relationship Id="rId7" Type="http://schemas.openxmlformats.org/officeDocument/2006/relationships/image" Target="../media/image458.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457.png"/><Relationship Id="rId5" Type="http://schemas.openxmlformats.org/officeDocument/2006/relationships/image" Target="../media/image61.png"/><Relationship Id="rId10" Type="http://schemas.openxmlformats.org/officeDocument/2006/relationships/image" Target="../media/image221.png"/><Relationship Id="rId4" Type="http://schemas.openxmlformats.org/officeDocument/2006/relationships/image" Target="../media/image8.png"/><Relationship Id="rId9" Type="http://schemas.openxmlformats.org/officeDocument/2006/relationships/image" Target="../media/image460.png"/></Relationships>
</file>

<file path=ppt/slides/_rels/slide79.xml.rels><?xml version="1.0" encoding="UTF-8" standalone="yes"?>
<Relationships xmlns="http://schemas.openxmlformats.org/package/2006/relationships"><Relationship Id="rId8" Type="http://schemas.openxmlformats.org/officeDocument/2006/relationships/image" Target="../media/image463.png"/><Relationship Id="rId3" Type="http://schemas.openxmlformats.org/officeDocument/2006/relationships/image" Target="../media/image7.png"/><Relationship Id="rId7" Type="http://schemas.openxmlformats.org/officeDocument/2006/relationships/image" Target="../media/image462.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461.png"/><Relationship Id="rId11" Type="http://schemas.openxmlformats.org/officeDocument/2006/relationships/image" Target="../media/image221.png"/><Relationship Id="rId5" Type="http://schemas.openxmlformats.org/officeDocument/2006/relationships/image" Target="../media/image316.png"/><Relationship Id="rId10" Type="http://schemas.openxmlformats.org/officeDocument/2006/relationships/image" Target="../media/image465.png"/><Relationship Id="rId4" Type="http://schemas.openxmlformats.org/officeDocument/2006/relationships/image" Target="../media/image8.png"/><Relationship Id="rId9" Type="http://schemas.openxmlformats.org/officeDocument/2006/relationships/image" Target="../media/image464.png"/></Relationships>
</file>

<file path=ppt/slides/_rels/slide80.xml.rels><?xml version="1.0" encoding="UTF-8" standalone="yes"?>
<Relationships xmlns="http://schemas.openxmlformats.org/package/2006/relationships"><Relationship Id="rId8" Type="http://schemas.openxmlformats.org/officeDocument/2006/relationships/image" Target="../media/image221.png"/><Relationship Id="rId3" Type="http://schemas.openxmlformats.org/officeDocument/2006/relationships/image" Target="../media/image7.png"/><Relationship Id="rId7" Type="http://schemas.openxmlformats.org/officeDocument/2006/relationships/image" Target="../media/image467.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466.png"/><Relationship Id="rId5" Type="http://schemas.openxmlformats.org/officeDocument/2006/relationships/image" Target="../media/image61.png"/><Relationship Id="rId4" Type="http://schemas.openxmlformats.org/officeDocument/2006/relationships/image" Target="../media/image8.png"/></Relationships>
</file>

<file path=ppt/slides/_rels/slide81.xml.rels><?xml version="1.0" encoding="UTF-8" standalone="yes"?>
<Relationships xmlns="http://schemas.openxmlformats.org/package/2006/relationships"><Relationship Id="rId8" Type="http://schemas.openxmlformats.org/officeDocument/2006/relationships/image" Target="../media/image196.png"/><Relationship Id="rId13" Type="http://schemas.openxmlformats.org/officeDocument/2006/relationships/image" Target="../media/image472.png"/><Relationship Id="rId18" Type="http://schemas.openxmlformats.org/officeDocument/2006/relationships/image" Target="../media/image221.png"/><Relationship Id="rId3" Type="http://schemas.openxmlformats.org/officeDocument/2006/relationships/image" Target="../media/image226.png"/><Relationship Id="rId7" Type="http://schemas.openxmlformats.org/officeDocument/2006/relationships/image" Target="../media/image61.png"/><Relationship Id="rId12" Type="http://schemas.openxmlformats.org/officeDocument/2006/relationships/image" Target="../media/image471.png"/><Relationship Id="rId17" Type="http://schemas.openxmlformats.org/officeDocument/2006/relationships/image" Target="../media/image476.png"/><Relationship Id="rId2" Type="http://schemas.openxmlformats.org/officeDocument/2006/relationships/notesSlide" Target="../notesSlides/notesSlide9.xml"/><Relationship Id="rId16" Type="http://schemas.openxmlformats.org/officeDocument/2006/relationships/image" Target="../media/image475.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470.png"/><Relationship Id="rId5" Type="http://schemas.openxmlformats.org/officeDocument/2006/relationships/image" Target="../media/image7.png"/><Relationship Id="rId15" Type="http://schemas.openxmlformats.org/officeDocument/2006/relationships/image" Target="../media/image474.png"/><Relationship Id="rId10" Type="http://schemas.openxmlformats.org/officeDocument/2006/relationships/image" Target="../media/image469.png"/><Relationship Id="rId4" Type="http://schemas.openxmlformats.org/officeDocument/2006/relationships/image" Target="../media/image13.png"/><Relationship Id="rId9" Type="http://schemas.openxmlformats.org/officeDocument/2006/relationships/image" Target="../media/image468.png"/><Relationship Id="rId14" Type="http://schemas.openxmlformats.org/officeDocument/2006/relationships/image" Target="../media/image473.png"/></Relationships>
</file>

<file path=ppt/slides/_rels/slide82.xml.rels><?xml version="1.0" encoding="UTF-8" standalone="yes"?>
<Relationships xmlns="http://schemas.openxmlformats.org/package/2006/relationships"><Relationship Id="rId8" Type="http://schemas.openxmlformats.org/officeDocument/2006/relationships/image" Target="../media/image477.png"/><Relationship Id="rId13" Type="http://schemas.openxmlformats.org/officeDocument/2006/relationships/image" Target="../media/image482.png"/><Relationship Id="rId3" Type="http://schemas.openxmlformats.org/officeDocument/2006/relationships/image" Target="../media/image123.png"/><Relationship Id="rId7" Type="http://schemas.openxmlformats.org/officeDocument/2006/relationships/image" Target="../media/image61.png"/><Relationship Id="rId12" Type="http://schemas.openxmlformats.org/officeDocument/2006/relationships/image" Target="../media/image481.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480.png"/><Relationship Id="rId5" Type="http://schemas.openxmlformats.org/officeDocument/2006/relationships/image" Target="../media/image7.png"/><Relationship Id="rId10" Type="http://schemas.openxmlformats.org/officeDocument/2006/relationships/image" Target="../media/image479.png"/><Relationship Id="rId4" Type="http://schemas.openxmlformats.org/officeDocument/2006/relationships/image" Target="../media/image13.png"/><Relationship Id="rId9" Type="http://schemas.openxmlformats.org/officeDocument/2006/relationships/image" Target="../media/image478.png"/><Relationship Id="rId14" Type="http://schemas.openxmlformats.org/officeDocument/2006/relationships/image" Target="../media/image221.png"/></Relationships>
</file>

<file path=ppt/slides/_rels/slide83.xml.rels><?xml version="1.0" encoding="UTF-8" standalone="yes"?>
<Relationships xmlns="http://schemas.openxmlformats.org/package/2006/relationships"><Relationship Id="rId8" Type="http://schemas.openxmlformats.org/officeDocument/2006/relationships/image" Target="../media/image484.png"/><Relationship Id="rId13" Type="http://schemas.openxmlformats.org/officeDocument/2006/relationships/image" Target="../media/image123.png"/><Relationship Id="rId3" Type="http://schemas.openxmlformats.org/officeDocument/2006/relationships/image" Target="../media/image13.png"/><Relationship Id="rId7" Type="http://schemas.openxmlformats.org/officeDocument/2006/relationships/image" Target="../media/image483.png"/><Relationship Id="rId12" Type="http://schemas.openxmlformats.org/officeDocument/2006/relationships/image" Target="../media/image482.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61.png"/><Relationship Id="rId11" Type="http://schemas.openxmlformats.org/officeDocument/2006/relationships/image" Target="../media/image487.png"/><Relationship Id="rId5" Type="http://schemas.openxmlformats.org/officeDocument/2006/relationships/image" Target="../media/image8.png"/><Relationship Id="rId10" Type="http://schemas.openxmlformats.org/officeDocument/2006/relationships/image" Target="../media/image486.png"/><Relationship Id="rId4" Type="http://schemas.openxmlformats.org/officeDocument/2006/relationships/image" Target="../media/image7.png"/><Relationship Id="rId9" Type="http://schemas.openxmlformats.org/officeDocument/2006/relationships/image" Target="../media/image485.png"/><Relationship Id="rId14" Type="http://schemas.openxmlformats.org/officeDocument/2006/relationships/image" Target="../media/image221.png"/></Relationships>
</file>

<file path=ppt/slides/_rels/slide84.xml.rels><?xml version="1.0" encoding="UTF-8" standalone="yes"?>
<Relationships xmlns="http://schemas.openxmlformats.org/package/2006/relationships"><Relationship Id="rId8" Type="http://schemas.openxmlformats.org/officeDocument/2006/relationships/image" Target="../media/image221.png"/><Relationship Id="rId3" Type="http://schemas.openxmlformats.org/officeDocument/2006/relationships/image" Target="../media/image13.png"/><Relationship Id="rId7" Type="http://schemas.openxmlformats.org/officeDocument/2006/relationships/image" Target="../media/image61.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23.png"/></Relationships>
</file>

<file path=ppt/slides/_rels/slide85.xml.rels><?xml version="1.0" encoding="UTF-8" standalone="yes"?>
<Relationships xmlns="http://schemas.openxmlformats.org/package/2006/relationships"><Relationship Id="rId8" Type="http://schemas.openxmlformats.org/officeDocument/2006/relationships/image" Target="../media/image221.png"/><Relationship Id="rId3" Type="http://schemas.openxmlformats.org/officeDocument/2006/relationships/image" Target="../media/image13.png"/><Relationship Id="rId7" Type="http://schemas.openxmlformats.org/officeDocument/2006/relationships/image" Target="../media/image61.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23.png"/></Relationships>
</file>

<file path=ppt/slides/_rels/slide86.xml.rels><?xml version="1.0" encoding="UTF-8" standalone="yes"?>
<Relationships xmlns="http://schemas.openxmlformats.org/package/2006/relationships"><Relationship Id="rId8" Type="http://schemas.openxmlformats.org/officeDocument/2006/relationships/image" Target="../media/image221.png"/><Relationship Id="rId3" Type="http://schemas.openxmlformats.org/officeDocument/2006/relationships/image" Target="../media/image13.png"/><Relationship Id="rId7" Type="http://schemas.openxmlformats.org/officeDocument/2006/relationships/image" Target="../media/image61.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488.png"/><Relationship Id="rId4" Type="http://schemas.openxmlformats.org/officeDocument/2006/relationships/image" Target="../media/image123.png"/><Relationship Id="rId9" Type="http://schemas.openxmlformats.org/officeDocument/2006/relationships/image" Target="../media/image196.png"/></Relationships>
</file>

<file path=ppt/slides/_rels/slide87.xml.rels><?xml version="1.0" encoding="UTF-8" standalone="yes"?>
<Relationships xmlns="http://schemas.openxmlformats.org/package/2006/relationships"><Relationship Id="rId8" Type="http://schemas.openxmlformats.org/officeDocument/2006/relationships/image" Target="../media/image221.png"/><Relationship Id="rId3" Type="http://schemas.openxmlformats.org/officeDocument/2006/relationships/image" Target="../media/image13.png"/><Relationship Id="rId7" Type="http://schemas.openxmlformats.org/officeDocument/2006/relationships/image" Target="../media/image61.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23.png"/></Relationships>
</file>

<file path=ppt/slides/_rels/slide8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8" Type="http://schemas.openxmlformats.org/officeDocument/2006/relationships/image" Target="../media/image489.png"/><Relationship Id="rId3" Type="http://schemas.openxmlformats.org/officeDocument/2006/relationships/image" Target="../media/image7.png"/><Relationship Id="rId7" Type="http://schemas.openxmlformats.org/officeDocument/2006/relationships/image" Target="../media/image468.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221.png"/><Relationship Id="rId5" Type="http://schemas.openxmlformats.org/officeDocument/2006/relationships/image" Target="../media/image48.png"/><Relationship Id="rId10" Type="http://schemas.openxmlformats.org/officeDocument/2006/relationships/image" Target="../media/image491.png"/><Relationship Id="rId4" Type="http://schemas.openxmlformats.org/officeDocument/2006/relationships/image" Target="../media/image8.png"/><Relationship Id="rId9" Type="http://schemas.openxmlformats.org/officeDocument/2006/relationships/image" Target="../media/image490.png"/></Relationships>
</file>

<file path=ppt/slides/_rels/slide90.xml.rels><?xml version="1.0" encoding="UTF-8" standalone="yes"?>
<Relationships xmlns="http://schemas.openxmlformats.org/package/2006/relationships"><Relationship Id="rId8" Type="http://schemas.openxmlformats.org/officeDocument/2006/relationships/image" Target="../media/image492.png"/><Relationship Id="rId3" Type="http://schemas.openxmlformats.org/officeDocument/2006/relationships/image" Target="../media/image13.png"/><Relationship Id="rId7"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33.png"/><Relationship Id="rId5" Type="http://schemas.openxmlformats.org/officeDocument/2006/relationships/image" Target="../media/image8.png"/><Relationship Id="rId4" Type="http://schemas.openxmlformats.org/officeDocument/2006/relationships/image" Target="../media/image7.png"/></Relationships>
</file>

<file path=ppt/slides/_rels/slide9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17081500" y="6769100"/>
            <a:ext cx="5130800" cy="5486400"/>
          </a:xfrm>
          <a:prstGeom prst="rect">
            <a:avLst/>
          </a:prstGeom>
        </p:spPr>
      </p:pic>
      <p:pic>
        <p:nvPicPr>
          <p:cNvPr id="3" name="Picture 3"/>
          <p:cNvPicPr>
            <a:picLocks noChangeAspect="1"/>
          </p:cNvPicPr>
          <p:nvPr/>
        </p:nvPicPr>
        <p:blipFill>
          <a:blip r:embed="rId3"/>
          <a:stretch>
            <a:fillRect/>
          </a:stretch>
        </p:blipFill>
        <p:spPr>
          <a:xfrm>
            <a:off x="16484600" y="6870700"/>
            <a:ext cx="11442700" cy="11442700"/>
          </a:xfrm>
          <a:prstGeom prst="rect">
            <a:avLst/>
          </a:prstGeom>
        </p:spPr>
      </p:pic>
      <p:pic>
        <p:nvPicPr>
          <p:cNvPr id="4" name="Picture 4"/>
          <p:cNvPicPr>
            <a:picLocks noChangeAspect="1"/>
          </p:cNvPicPr>
          <p:nvPr/>
        </p:nvPicPr>
        <p:blipFill>
          <a:blip r:embed="rId4">
            <a:alphaModFix amt="80000"/>
          </a:blip>
          <a:stretch>
            <a:fillRect/>
          </a:stretch>
        </p:blipFill>
        <p:spPr>
          <a:xfrm>
            <a:off x="-3251200" y="5918200"/>
            <a:ext cx="10109200" cy="10109200"/>
          </a:xfrm>
          <a:prstGeom prst="rect">
            <a:avLst/>
          </a:prstGeom>
        </p:spPr>
      </p:pic>
      <p:pic>
        <p:nvPicPr>
          <p:cNvPr id="5" name="Picture 5"/>
          <p:cNvPicPr>
            <a:picLocks noChangeAspect="1"/>
          </p:cNvPicPr>
          <p:nvPr/>
        </p:nvPicPr>
        <p:blipFill>
          <a:blip r:embed="rId5"/>
          <a:stretch>
            <a:fillRect/>
          </a:stretch>
        </p:blipFill>
        <p:spPr>
          <a:xfrm>
            <a:off x="1384300" y="9131300"/>
            <a:ext cx="9271000" cy="1295400"/>
          </a:xfrm>
          <a:prstGeom prst="rect">
            <a:avLst/>
          </a:prstGeom>
          <a:effectLst>
            <a:outerShdw blurRad="97396" dist="29968" dir="2700000">
              <a:srgbClr val="1A7AE1">
                <a:alpha val="15000"/>
              </a:srgbClr>
            </a:outerShdw>
          </a:effectLst>
        </p:spPr>
      </p:pic>
      <p:pic>
        <p:nvPicPr>
          <p:cNvPr id="6" name="Picture 6"/>
          <p:cNvPicPr>
            <a:picLocks noChangeAspect="1"/>
          </p:cNvPicPr>
          <p:nvPr/>
        </p:nvPicPr>
        <p:blipFill>
          <a:blip r:embed="rId6"/>
          <a:stretch>
            <a:fillRect/>
          </a:stretch>
        </p:blipFill>
        <p:spPr>
          <a:xfrm>
            <a:off x="1638300" y="9334500"/>
            <a:ext cx="901700" cy="901700"/>
          </a:xfrm>
          <a:prstGeom prst="rect">
            <a:avLst/>
          </a:prstGeom>
        </p:spPr>
      </p:pic>
      <p:sp>
        <p:nvSpPr>
          <p:cNvPr id="7" name="TextBox 7"/>
          <p:cNvSpPr txBox="1"/>
          <p:nvPr/>
        </p:nvSpPr>
        <p:spPr>
          <a:xfrm>
            <a:off x="2857500" y="9436100"/>
            <a:ext cx="7607300" cy="685800"/>
          </a:xfrm>
          <a:prstGeom prst="rect">
            <a:avLst/>
          </a:prstGeom>
        </p:spPr>
        <p:txBody>
          <a:bodyPr lIns="0" tIns="24686" rIns="0" bIns="0" rtlCol="0" anchor="t"/>
          <a:lstStyle/>
          <a:p>
            <a:pPr lvl="0" algn="l">
              <a:lnSpc>
                <a:spcPct val="107899"/>
              </a:lnSpc>
            </a:pPr>
            <a:r>
              <a:rPr lang="en-US" sz="3886" b="0" i="1" u="none" strike="noStrike" spc="-100">
                <a:solidFill>
                  <a:srgbClr val="000000"/>
                </a:solidFill>
                <a:latin typeface="Pretendard Medium"/>
                <a:ea typeface="Pretendard Medium"/>
                <a:cs typeface="Pretendard Medium"/>
              </a:rPr>
              <a:t>Team. 모의해킹</a:t>
            </a:r>
          </a:p>
        </p:txBody>
      </p:sp>
      <p:pic>
        <p:nvPicPr>
          <p:cNvPr id="8" name="Picture 8"/>
          <p:cNvPicPr>
            <a:picLocks noChangeAspect="1"/>
          </p:cNvPicPr>
          <p:nvPr/>
        </p:nvPicPr>
        <p:blipFill>
          <a:blip r:embed="rId7"/>
          <a:stretch>
            <a:fillRect/>
          </a:stretch>
        </p:blipFill>
        <p:spPr>
          <a:xfrm>
            <a:off x="1879600" y="9613900"/>
            <a:ext cx="419100" cy="330200"/>
          </a:xfrm>
          <a:prstGeom prst="rect">
            <a:avLst/>
          </a:prstGeom>
        </p:spPr>
      </p:pic>
      <p:pic>
        <p:nvPicPr>
          <p:cNvPr id="9" name="Picture 9"/>
          <p:cNvPicPr>
            <a:picLocks noChangeAspect="1"/>
          </p:cNvPicPr>
          <p:nvPr/>
        </p:nvPicPr>
        <p:blipFill>
          <a:blip r:embed="rId8"/>
          <a:stretch>
            <a:fillRect/>
          </a:stretch>
        </p:blipFill>
        <p:spPr>
          <a:xfrm>
            <a:off x="723900" y="1092200"/>
            <a:ext cx="22860000" cy="12700"/>
          </a:xfrm>
          <a:prstGeom prst="rect">
            <a:avLst/>
          </a:prstGeom>
        </p:spPr>
      </p:pic>
      <p:pic>
        <p:nvPicPr>
          <p:cNvPr id="10" name="Picture 10"/>
          <p:cNvPicPr>
            <a:picLocks noChangeAspect="1"/>
          </p:cNvPicPr>
          <p:nvPr/>
        </p:nvPicPr>
        <p:blipFill>
          <a:blip r:embed="rId9"/>
          <a:stretch>
            <a:fillRect/>
          </a:stretch>
        </p:blipFill>
        <p:spPr>
          <a:xfrm rot="5400000">
            <a:off x="3200400" y="787400"/>
            <a:ext cx="635000" cy="12700"/>
          </a:xfrm>
          <a:prstGeom prst="rect">
            <a:avLst/>
          </a:prstGeom>
        </p:spPr>
      </p:pic>
      <p:pic>
        <p:nvPicPr>
          <p:cNvPr id="11" name="Picture 11"/>
          <p:cNvPicPr>
            <a:picLocks noChangeAspect="1"/>
          </p:cNvPicPr>
          <p:nvPr/>
        </p:nvPicPr>
        <p:blipFill>
          <a:blip r:embed="rId9"/>
          <a:stretch>
            <a:fillRect/>
          </a:stretch>
        </p:blipFill>
        <p:spPr>
          <a:xfrm rot="5400000">
            <a:off x="22225000" y="787400"/>
            <a:ext cx="635000" cy="12700"/>
          </a:xfrm>
          <a:prstGeom prst="rect">
            <a:avLst/>
          </a:prstGeom>
        </p:spPr>
      </p:pic>
      <p:pic>
        <p:nvPicPr>
          <p:cNvPr id="12" name="Picture 12"/>
          <p:cNvPicPr>
            <a:picLocks noChangeAspect="1"/>
          </p:cNvPicPr>
          <p:nvPr/>
        </p:nvPicPr>
        <p:blipFill>
          <a:blip r:embed="rId9"/>
          <a:stretch>
            <a:fillRect/>
          </a:stretch>
        </p:blipFill>
        <p:spPr>
          <a:xfrm rot="5400000">
            <a:off x="6337300" y="787400"/>
            <a:ext cx="635000" cy="12700"/>
          </a:xfrm>
          <a:prstGeom prst="rect">
            <a:avLst/>
          </a:prstGeom>
        </p:spPr>
      </p:pic>
      <p:pic>
        <p:nvPicPr>
          <p:cNvPr id="13" name="Picture 13"/>
          <p:cNvPicPr>
            <a:picLocks noChangeAspect="1"/>
          </p:cNvPicPr>
          <p:nvPr/>
        </p:nvPicPr>
        <p:blipFill>
          <a:blip r:embed="rId8"/>
          <a:stretch>
            <a:fillRect/>
          </a:stretch>
        </p:blipFill>
        <p:spPr>
          <a:xfrm>
            <a:off x="723900" y="457200"/>
            <a:ext cx="22860000" cy="12700"/>
          </a:xfrm>
          <a:prstGeom prst="rect">
            <a:avLst/>
          </a:prstGeom>
        </p:spPr>
      </p:pic>
      <p:sp>
        <p:nvSpPr>
          <p:cNvPr id="14" name="TextBox 14"/>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15" name="TextBox 15"/>
          <p:cNvSpPr txBox="1"/>
          <p:nvPr/>
        </p:nvSpPr>
        <p:spPr>
          <a:xfrm>
            <a:off x="1638300" y="3365500"/>
            <a:ext cx="12763500" cy="1155700"/>
          </a:xfrm>
          <a:prstGeom prst="rect">
            <a:avLst/>
          </a:prstGeom>
        </p:spPr>
        <p:txBody>
          <a:bodyPr lIns="0" tIns="41174" rIns="0" bIns="0" rtlCol="0" anchor="t"/>
          <a:lstStyle/>
          <a:p>
            <a:pPr lvl="0" algn="l">
              <a:lnSpc>
                <a:spcPct val="107899"/>
              </a:lnSpc>
            </a:pPr>
            <a:r>
              <a:rPr lang="en-US" sz="6484" b="0" i="0" u="none" strike="noStrike" spc="-200">
                <a:solidFill>
                  <a:srgbClr val="1A7AE1"/>
                </a:solidFill>
                <a:latin typeface="Pretendard SemiBold"/>
                <a:ea typeface="Pretendard SemiBold"/>
                <a:cs typeface="Pretendard SemiBold"/>
              </a:rPr>
              <a:t>SHELL we dance</a:t>
            </a:r>
          </a:p>
        </p:txBody>
      </p:sp>
      <p:sp>
        <p:nvSpPr>
          <p:cNvPr id="16" name="TextBox 16"/>
          <p:cNvSpPr txBox="1"/>
          <p:nvPr/>
        </p:nvSpPr>
        <p:spPr>
          <a:xfrm>
            <a:off x="1638300" y="4711700"/>
            <a:ext cx="14287500" cy="2400300"/>
          </a:xfrm>
          <a:prstGeom prst="rect">
            <a:avLst/>
          </a:prstGeom>
        </p:spPr>
        <p:txBody>
          <a:bodyPr lIns="0" tIns="44560" rIns="0" bIns="0" rtlCol="0" anchor="t"/>
          <a:lstStyle/>
          <a:p>
            <a:pPr lvl="0" algn="l">
              <a:lnSpc>
                <a:spcPct val="107899"/>
              </a:lnSpc>
            </a:pPr>
            <a:r>
              <a:rPr lang="en-US" sz="7017" b="0" i="0" u="none" strike="noStrike" spc="-200">
                <a:solidFill>
                  <a:srgbClr val="000000"/>
                </a:solidFill>
                <a:latin typeface="Pretendard SemiBold"/>
                <a:ea typeface="Pretendard SemiBold"/>
                <a:cs typeface="Pretendard SemiBold"/>
              </a:rPr>
              <a:t>클라우드 기반 핀테크 플랫폼
시나리오 모의해킹</a:t>
            </a:r>
          </a:p>
        </p:txBody>
      </p:sp>
      <p:sp>
        <p:nvSpPr>
          <p:cNvPr id="17" name="TextBox 17"/>
          <p:cNvSpPr txBox="1"/>
          <p:nvPr/>
        </p:nvSpPr>
        <p:spPr>
          <a:xfrm>
            <a:off x="3975100" y="647700"/>
            <a:ext cx="2171700" cy="304800"/>
          </a:xfrm>
          <a:prstGeom prst="rect">
            <a:avLst/>
          </a:prstGeom>
        </p:spPr>
        <p:txBody>
          <a:bodyPr lIns="0" tIns="26415" rIns="0" bIns="0" rtlCol="0" anchor="t"/>
          <a:lstStyle/>
          <a:p>
            <a:pPr lvl="0" algn="ctr">
              <a:lnSpc>
                <a:spcPct val="96279"/>
              </a:lnSpc>
            </a:pPr>
            <a:r>
              <a:rPr lang="en-US" sz="1733" b="0" i="0" u="none" strike="noStrike">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29기</a:t>
            </a:r>
          </a:p>
        </p:txBody>
      </p:sp>
      <p:pic>
        <p:nvPicPr>
          <p:cNvPr id="18" name="Picture 18"/>
          <p:cNvPicPr>
            <a:picLocks noChangeAspect="1"/>
          </p:cNvPicPr>
          <p:nvPr/>
        </p:nvPicPr>
        <p:blipFill>
          <a:blip r:embed="rId10"/>
          <a:stretch>
            <a:fillRect/>
          </a:stretch>
        </p:blipFill>
        <p:spPr>
          <a:xfrm>
            <a:off x="15709900" y="10426700"/>
            <a:ext cx="1473200" cy="1866900"/>
          </a:xfrm>
          <a:prstGeom prst="rect">
            <a:avLst/>
          </a:prstGeom>
        </p:spPr>
      </p:pic>
      <p:pic>
        <p:nvPicPr>
          <p:cNvPr id="19" name="Picture 19"/>
          <p:cNvPicPr>
            <a:picLocks noChangeAspect="1"/>
          </p:cNvPicPr>
          <p:nvPr/>
        </p:nvPicPr>
        <p:blipFill>
          <a:blip r:embed="rId11"/>
          <a:stretch>
            <a:fillRect/>
          </a:stretch>
        </p:blipFill>
        <p:spPr>
          <a:xfrm>
            <a:off x="16637000" y="11506200"/>
            <a:ext cx="1371600" cy="977900"/>
          </a:xfrm>
          <a:prstGeom prst="rect">
            <a:avLst/>
          </a:prstGeom>
        </p:spPr>
      </p:pic>
      <p:sp>
        <p:nvSpPr>
          <p:cNvPr id="20" name="TextBox 20"/>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a:solidFill>
                  <a:srgbClr val="024EA0"/>
                </a:solidFill>
                <a:latin typeface="Geologica Roman Light"/>
                <a:ea typeface="Geologica Roman Light"/>
                <a:cs typeface="Geologica Roman Light"/>
              </a:rPr>
              <a:t>1</a:t>
            </a:r>
          </a:p>
        </p:txBody>
      </p:sp>
      <p:pic>
        <p:nvPicPr>
          <p:cNvPr id="21" name="Picture 21"/>
          <p:cNvPicPr>
            <a:picLocks noChangeAspect="1"/>
          </p:cNvPicPr>
          <p:nvPr/>
        </p:nvPicPr>
        <p:blipFill>
          <a:blip r:embed="rId12"/>
          <a:stretch>
            <a:fillRect/>
          </a:stretch>
        </p:blipFill>
        <p:spPr>
          <a:xfrm>
            <a:off x="16217900" y="3886200"/>
            <a:ext cx="2298700" cy="2006600"/>
          </a:xfrm>
          <a:prstGeom prst="rect">
            <a:avLst/>
          </a:prstGeom>
        </p:spPr>
      </p:pic>
      <p:pic>
        <p:nvPicPr>
          <p:cNvPr id="22" name="Picture 22"/>
          <p:cNvPicPr>
            <a:picLocks noChangeAspect="1"/>
          </p:cNvPicPr>
          <p:nvPr/>
        </p:nvPicPr>
        <p:blipFill>
          <a:blip r:embed="rId13"/>
          <a:stretch>
            <a:fillRect/>
          </a:stretch>
        </p:blipFill>
        <p:spPr>
          <a:xfrm>
            <a:off x="20916900" y="4787900"/>
            <a:ext cx="1943100" cy="21717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80000"/>
          </a:blip>
          <a:stretch>
            <a:fillRect/>
          </a:stretch>
        </p:blipFill>
        <p:spPr>
          <a:xfrm>
            <a:off x="15798800" y="-1803400"/>
            <a:ext cx="11442700" cy="11442700"/>
          </a:xfrm>
          <a:prstGeom prst="rect">
            <a:avLst/>
          </a:prstGeom>
        </p:spPr>
      </p:pic>
      <p:pic>
        <p:nvPicPr>
          <p:cNvPr id="3" name="Picture 3"/>
          <p:cNvPicPr>
            <a:picLocks noChangeAspect="1"/>
          </p:cNvPicPr>
          <p:nvPr/>
        </p:nvPicPr>
        <p:blipFill>
          <a:blip r:embed="rId2">
            <a:alphaModFix amt="40000"/>
          </a:blip>
          <a:stretch>
            <a:fillRect/>
          </a:stretch>
        </p:blipFill>
        <p:spPr>
          <a:xfrm>
            <a:off x="-2819400" y="4864100"/>
            <a:ext cx="11442700" cy="11442700"/>
          </a:xfrm>
          <a:prstGeom prst="rect">
            <a:avLst/>
          </a:prstGeom>
        </p:spPr>
      </p:pic>
      <p:sp>
        <p:nvSpPr>
          <p:cNvPr id="4" name="TextBox 4"/>
          <p:cNvSpPr txBox="1"/>
          <p:nvPr/>
        </p:nvSpPr>
        <p:spPr>
          <a:xfrm>
            <a:off x="2578100" y="1778000"/>
            <a:ext cx="6438900" cy="1778000"/>
          </a:xfrm>
          <a:prstGeom prst="rect">
            <a:avLst/>
          </a:prstGeom>
        </p:spPr>
        <p:txBody>
          <a:bodyPr lIns="0" tIns="0" rIns="0" bIns="0" rtlCol="0" anchor="t"/>
          <a:lstStyle/>
          <a:p>
            <a:pPr lvl="0" algn="l">
              <a:lnSpc>
                <a:spcPct val="143590"/>
              </a:lnSpc>
            </a:pPr>
            <a:r>
              <a:rPr lang="en-US" sz="10000" b="0" i="0" u="none" strike="noStrike">
                <a:solidFill>
                  <a:srgbClr val="000000"/>
                </a:solidFill>
                <a:latin typeface="Pretendard SemiBold"/>
                <a:ea typeface="Pretendard SemiBold"/>
                <a:cs typeface="Pretendard SemiBold"/>
              </a:rPr>
              <a:t>Contents</a:t>
            </a:r>
          </a:p>
        </p:txBody>
      </p:sp>
      <p:pic>
        <p:nvPicPr>
          <p:cNvPr id="5" name="Picture 5"/>
          <p:cNvPicPr>
            <a:picLocks noChangeAspect="1"/>
          </p:cNvPicPr>
          <p:nvPr/>
        </p:nvPicPr>
        <p:blipFill>
          <a:blip r:embed="rId3"/>
          <a:stretch>
            <a:fillRect/>
          </a:stretch>
        </p:blipFill>
        <p:spPr>
          <a:xfrm>
            <a:off x="723900" y="1092200"/>
            <a:ext cx="22860000" cy="12700"/>
          </a:xfrm>
          <a:prstGeom prst="rect">
            <a:avLst/>
          </a:prstGeom>
        </p:spPr>
      </p:pic>
      <p:pic>
        <p:nvPicPr>
          <p:cNvPr id="6" name="Picture 6"/>
          <p:cNvPicPr>
            <a:picLocks noChangeAspect="1"/>
          </p:cNvPicPr>
          <p:nvPr/>
        </p:nvPicPr>
        <p:blipFill>
          <a:blip r:embed="rId4"/>
          <a:stretch>
            <a:fillRect/>
          </a:stretch>
        </p:blipFill>
        <p:spPr>
          <a:xfrm rot="5400000">
            <a:off x="3200400" y="787400"/>
            <a:ext cx="635000" cy="12700"/>
          </a:xfrm>
          <a:prstGeom prst="rect">
            <a:avLst/>
          </a:prstGeom>
        </p:spPr>
      </p:pic>
      <p:pic>
        <p:nvPicPr>
          <p:cNvPr id="7" name="Picture 7"/>
          <p:cNvPicPr>
            <a:picLocks noChangeAspect="1"/>
          </p:cNvPicPr>
          <p:nvPr/>
        </p:nvPicPr>
        <p:blipFill>
          <a:blip r:embed="rId4"/>
          <a:stretch>
            <a:fillRect/>
          </a:stretch>
        </p:blipFill>
        <p:spPr>
          <a:xfrm rot="5400000">
            <a:off x="22225000" y="787400"/>
            <a:ext cx="635000" cy="12700"/>
          </a:xfrm>
          <a:prstGeom prst="rect">
            <a:avLst/>
          </a:prstGeom>
        </p:spPr>
      </p:pic>
      <p:pic>
        <p:nvPicPr>
          <p:cNvPr id="8" name="Picture 8"/>
          <p:cNvPicPr>
            <a:picLocks noChangeAspect="1"/>
          </p:cNvPicPr>
          <p:nvPr/>
        </p:nvPicPr>
        <p:blipFill>
          <a:blip r:embed="rId4"/>
          <a:stretch>
            <a:fillRect/>
          </a:stretch>
        </p:blipFill>
        <p:spPr>
          <a:xfrm rot="5400000">
            <a:off x="6337300" y="787400"/>
            <a:ext cx="635000" cy="12700"/>
          </a:xfrm>
          <a:prstGeom prst="rect">
            <a:avLst/>
          </a:prstGeom>
        </p:spPr>
      </p:pic>
      <p:pic>
        <p:nvPicPr>
          <p:cNvPr id="9" name="Picture 9"/>
          <p:cNvPicPr>
            <a:picLocks noChangeAspect="1"/>
          </p:cNvPicPr>
          <p:nvPr/>
        </p:nvPicPr>
        <p:blipFill>
          <a:blip r:embed="rId3"/>
          <a:stretch>
            <a:fillRect/>
          </a:stretch>
        </p:blipFill>
        <p:spPr>
          <a:xfrm>
            <a:off x="723900" y="457200"/>
            <a:ext cx="22860000" cy="12700"/>
          </a:xfrm>
          <a:prstGeom prst="rect">
            <a:avLst/>
          </a:prstGeom>
        </p:spPr>
      </p:pic>
      <p:sp>
        <p:nvSpPr>
          <p:cNvPr id="12" name="TextBox 12"/>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a:solidFill>
                  <a:srgbClr val="024EA0"/>
                </a:solidFill>
                <a:latin typeface="Geologica Roman Light"/>
                <a:ea typeface="Geologica Roman Light"/>
                <a:cs typeface="Geologica Roman Light"/>
              </a:rPr>
              <a:t>2</a:t>
            </a:r>
          </a:p>
        </p:txBody>
      </p:sp>
      <p:sp>
        <p:nvSpPr>
          <p:cNvPr id="13" name="TextBox 13"/>
          <p:cNvSpPr txBox="1"/>
          <p:nvPr/>
        </p:nvSpPr>
        <p:spPr>
          <a:xfrm>
            <a:off x="15189200" y="3556000"/>
            <a:ext cx="4953000" cy="711200"/>
          </a:xfrm>
          <a:prstGeom prst="rect">
            <a:avLst/>
          </a:prstGeom>
        </p:spPr>
        <p:txBody>
          <a:bodyPr lIns="0" tIns="0" rIns="0" bIns="0" rtlCol="0" anchor="t"/>
          <a:lstStyle/>
          <a:p>
            <a:pPr lvl="0" algn="l">
              <a:lnSpc>
                <a:spcPct val="143590"/>
              </a:lnSpc>
            </a:pPr>
            <a:r>
              <a:rPr lang="en-US" sz="4000" b="0" i="0" u="none" strike="noStrike" spc="-100">
                <a:solidFill>
                  <a:srgbClr val="000000"/>
                </a:solidFill>
                <a:latin typeface="Pretendard SemiBold"/>
                <a:ea typeface="Pretendard SemiBold"/>
                <a:cs typeface="Pretendard SemiBold"/>
              </a:rPr>
              <a:t>시나리오 모의해킹</a:t>
            </a:r>
          </a:p>
        </p:txBody>
      </p:sp>
      <p:pic>
        <p:nvPicPr>
          <p:cNvPr id="14" name="Picture 14"/>
          <p:cNvPicPr>
            <a:picLocks noChangeAspect="1"/>
          </p:cNvPicPr>
          <p:nvPr/>
        </p:nvPicPr>
        <p:blipFill>
          <a:blip r:embed="rId5">
            <a:alphaModFix amt="70000"/>
          </a:blip>
          <a:stretch>
            <a:fillRect/>
          </a:stretch>
        </p:blipFill>
        <p:spPr>
          <a:xfrm>
            <a:off x="18999200" y="4737100"/>
            <a:ext cx="1981200" cy="12700"/>
          </a:xfrm>
          <a:prstGeom prst="rect">
            <a:avLst/>
          </a:prstGeom>
        </p:spPr>
      </p:pic>
      <p:sp>
        <p:nvSpPr>
          <p:cNvPr id="15" name="TextBox 15"/>
          <p:cNvSpPr txBox="1"/>
          <p:nvPr/>
        </p:nvSpPr>
        <p:spPr>
          <a:xfrm>
            <a:off x="15227300" y="4445000"/>
            <a:ext cx="4140200" cy="1016000"/>
          </a:xfrm>
          <a:prstGeom prst="rect">
            <a:avLst/>
          </a:prstGeom>
        </p:spPr>
        <p:txBody>
          <a:bodyPr lIns="0" tIns="84667" rIns="0" bIns="0" rtlCol="0" anchor="t"/>
          <a:lstStyle/>
          <a:p>
            <a:pPr lvl="0" algn="l">
              <a:lnSpc>
                <a:spcPct val="83000"/>
              </a:lnSpc>
            </a:pPr>
            <a:r>
              <a:rPr lang="en-US" sz="3200" b="0" i="0" u="none" strike="noStrike" spc="-100" dirty="0" err="1">
                <a:solidFill>
                  <a:srgbClr val="000000">
                    <a:alpha val="70196"/>
                  </a:srgbClr>
                </a:solidFill>
                <a:latin typeface="Pretendard Medium"/>
                <a:ea typeface="Pretendard Medium"/>
                <a:cs typeface="Pretendard Medium"/>
              </a:rPr>
              <a:t>협력사망</a:t>
            </a:r>
            <a:r>
              <a:rPr lang="en-US" sz="3200" b="0" i="0" u="none" strike="noStrike" spc="-100" dirty="0">
                <a:solidFill>
                  <a:srgbClr val="000000">
                    <a:alpha val="70196"/>
                  </a:srgbClr>
                </a:solidFill>
                <a:latin typeface="Pretendard Medium"/>
                <a:ea typeface="Pretendard Medium"/>
                <a:cs typeface="Pretendard Medium"/>
              </a:rPr>
              <a:t> </a:t>
            </a:r>
            <a:r>
              <a:rPr lang="en-US" sz="3200" b="0" i="0" u="none" strike="noStrike" spc="-100" dirty="0" err="1">
                <a:solidFill>
                  <a:srgbClr val="000000">
                    <a:alpha val="70196"/>
                  </a:srgbClr>
                </a:solidFill>
                <a:latin typeface="Pretendard Medium"/>
                <a:ea typeface="Pretendard Medium"/>
                <a:cs typeface="Pretendard Medium"/>
              </a:rPr>
              <a:t>경유를</a:t>
            </a:r>
            <a:r>
              <a:rPr lang="en-US" sz="3200" b="0" i="0" u="none" strike="noStrike" spc="-100" dirty="0">
                <a:solidFill>
                  <a:srgbClr val="000000">
                    <a:alpha val="70196"/>
                  </a:srgbClr>
                </a:solidFill>
                <a:latin typeface="Pretendard Medium"/>
                <a:ea typeface="Pretendard Medium"/>
                <a:cs typeface="Pretendard Medium"/>
              </a:rPr>
              <a:t> </a:t>
            </a:r>
            <a:r>
              <a:rPr lang="en-US" sz="3200" b="0" i="0" u="none" strike="noStrike" spc="-100" dirty="0" err="1">
                <a:solidFill>
                  <a:srgbClr val="000000">
                    <a:alpha val="70196"/>
                  </a:srgbClr>
                </a:solidFill>
                <a:latin typeface="Pretendard Medium"/>
                <a:ea typeface="Pretendard Medium"/>
                <a:cs typeface="Pretendard Medium"/>
              </a:rPr>
              <a:t>통한</a:t>
            </a:r>
            <a:r>
              <a:rPr lang="en-US" sz="3200" b="0" i="0" u="none" strike="noStrike" spc="-100" dirty="0">
                <a:solidFill>
                  <a:srgbClr val="000000">
                    <a:alpha val="70196"/>
                  </a:srgbClr>
                </a:solidFill>
                <a:latin typeface="Pretendard Medium"/>
                <a:ea typeface="Pretendard Medium"/>
                <a:cs typeface="Pretendard Medium"/>
              </a:rPr>
              <a:t> </a:t>
            </a:r>
          </a:p>
          <a:p>
            <a:pPr lvl="0" algn="l">
              <a:lnSpc>
                <a:spcPct val="83000"/>
              </a:lnSpc>
            </a:pPr>
            <a:r>
              <a:rPr lang="en-US" sz="3200" b="0" i="0" u="none" strike="noStrike" spc="-100" dirty="0" err="1">
                <a:solidFill>
                  <a:srgbClr val="000000">
                    <a:alpha val="70196"/>
                  </a:srgbClr>
                </a:solidFill>
                <a:latin typeface="Pretendard Medium"/>
                <a:ea typeface="Pretendard Medium"/>
                <a:cs typeface="Pretendard Medium"/>
              </a:rPr>
              <a:t>공급망</a:t>
            </a:r>
            <a:r>
              <a:rPr lang="en-US" sz="3200" b="0" i="0" u="none" strike="noStrike" spc="-100" dirty="0">
                <a:solidFill>
                  <a:srgbClr val="000000">
                    <a:alpha val="70196"/>
                  </a:srgbClr>
                </a:solidFill>
                <a:latin typeface="Pretendard Medium"/>
                <a:ea typeface="Pretendard Medium"/>
                <a:cs typeface="Pretendard Medium"/>
              </a:rPr>
              <a:t> </a:t>
            </a:r>
            <a:r>
              <a:rPr lang="en-US" sz="3200" b="0" i="0" u="none" strike="noStrike" spc="-100" dirty="0" err="1">
                <a:solidFill>
                  <a:srgbClr val="000000">
                    <a:alpha val="70196"/>
                  </a:srgbClr>
                </a:solidFill>
                <a:latin typeface="Pretendard Medium"/>
                <a:ea typeface="Pretendard Medium"/>
                <a:cs typeface="Pretendard Medium"/>
              </a:rPr>
              <a:t>연쇄침투</a:t>
            </a:r>
            <a:endParaRPr lang="en-US" sz="3200" b="0" i="0" u="none" strike="noStrike" spc="-100" dirty="0">
              <a:solidFill>
                <a:srgbClr val="000000">
                  <a:alpha val="70196"/>
                </a:srgbClr>
              </a:solidFill>
              <a:latin typeface="Pretendard Medium"/>
              <a:ea typeface="Pretendard Medium"/>
              <a:cs typeface="Pretendard Medium"/>
            </a:endParaRPr>
          </a:p>
        </p:txBody>
      </p:sp>
      <p:sp>
        <p:nvSpPr>
          <p:cNvPr id="16" name="TextBox 16"/>
          <p:cNvSpPr txBox="1"/>
          <p:nvPr/>
        </p:nvSpPr>
        <p:spPr>
          <a:xfrm>
            <a:off x="20739100" y="4470400"/>
            <a:ext cx="965200" cy="558800"/>
          </a:xfrm>
          <a:prstGeom prst="rect">
            <a:avLst/>
          </a:prstGeom>
        </p:spPr>
        <p:txBody>
          <a:bodyPr lIns="0" tIns="0" rIns="0" bIns="0" rtlCol="0" anchor="t"/>
          <a:lstStyle/>
          <a:p>
            <a:pPr lvl="0" algn="r">
              <a:lnSpc>
                <a:spcPct val="143590"/>
              </a:lnSpc>
            </a:pPr>
            <a:r>
              <a:rPr lang="en-US" sz="3145" b="0" i="0" u="none" strike="noStrike" spc="-100" dirty="0">
                <a:solidFill>
                  <a:srgbClr val="000000">
                    <a:alpha val="70196"/>
                  </a:srgbClr>
                </a:solidFill>
                <a:latin typeface="Pretendard Medium"/>
                <a:ea typeface="Pretendard Medium"/>
                <a:cs typeface="Pretendard Medium"/>
              </a:rPr>
              <a:t>25</a:t>
            </a:r>
          </a:p>
        </p:txBody>
      </p:sp>
      <p:pic>
        <p:nvPicPr>
          <p:cNvPr id="17" name="Picture 17"/>
          <p:cNvPicPr>
            <a:picLocks noChangeAspect="1"/>
          </p:cNvPicPr>
          <p:nvPr/>
        </p:nvPicPr>
        <p:blipFill>
          <a:blip r:embed="rId6"/>
          <a:stretch>
            <a:fillRect/>
          </a:stretch>
        </p:blipFill>
        <p:spPr>
          <a:xfrm>
            <a:off x="12738100" y="3619500"/>
            <a:ext cx="2032000" cy="571500"/>
          </a:xfrm>
          <a:prstGeom prst="rect">
            <a:avLst/>
          </a:prstGeom>
        </p:spPr>
      </p:pic>
      <p:sp>
        <p:nvSpPr>
          <p:cNvPr id="18" name="TextBox 18"/>
          <p:cNvSpPr txBox="1"/>
          <p:nvPr/>
        </p:nvSpPr>
        <p:spPr>
          <a:xfrm>
            <a:off x="12865100" y="3670300"/>
            <a:ext cx="1765300" cy="431800"/>
          </a:xfrm>
          <a:prstGeom prst="rect">
            <a:avLst/>
          </a:prstGeom>
        </p:spPr>
        <p:txBody>
          <a:bodyPr lIns="0" tIns="0" rIns="0" bIns="0" rtlCol="0" anchor="t"/>
          <a:lstStyle/>
          <a:p>
            <a:pPr lvl="0" algn="ctr">
              <a:lnSpc>
                <a:spcPct val="116199"/>
              </a:lnSpc>
            </a:pPr>
            <a:r>
              <a:rPr lang="en-US" sz="2399" b="0" i="0" u="none" strike="noStrike">
                <a:solidFill>
                  <a:srgbClr val="FFFFFF"/>
                </a:solidFill>
                <a:latin typeface="Geologica Roman Light"/>
                <a:ea typeface="Geologica Roman Light"/>
                <a:cs typeface="Geologica Roman Light"/>
              </a:rPr>
              <a:t>Chapter 3</a:t>
            </a:r>
          </a:p>
        </p:txBody>
      </p:sp>
      <p:pic>
        <p:nvPicPr>
          <p:cNvPr id="19" name="Picture 19"/>
          <p:cNvPicPr>
            <a:picLocks noChangeAspect="1"/>
          </p:cNvPicPr>
          <p:nvPr/>
        </p:nvPicPr>
        <p:blipFill>
          <a:blip r:embed="rId5">
            <a:alphaModFix amt="70000"/>
          </a:blip>
          <a:stretch>
            <a:fillRect/>
          </a:stretch>
        </p:blipFill>
        <p:spPr>
          <a:xfrm>
            <a:off x="18999200" y="5842000"/>
            <a:ext cx="1981200" cy="12700"/>
          </a:xfrm>
          <a:prstGeom prst="rect">
            <a:avLst/>
          </a:prstGeom>
        </p:spPr>
      </p:pic>
      <p:sp>
        <p:nvSpPr>
          <p:cNvPr id="20" name="TextBox 20"/>
          <p:cNvSpPr txBox="1"/>
          <p:nvPr/>
        </p:nvSpPr>
        <p:spPr>
          <a:xfrm>
            <a:off x="15240000" y="5562600"/>
            <a:ext cx="4140200" cy="838200"/>
          </a:xfrm>
          <a:prstGeom prst="rect">
            <a:avLst/>
          </a:prstGeom>
        </p:spPr>
        <p:txBody>
          <a:bodyPr lIns="0" tIns="0" rIns="0" bIns="0" rtlCol="0" anchor="t"/>
          <a:lstStyle/>
          <a:p>
            <a:pPr lvl="0" algn="l">
              <a:lnSpc>
                <a:spcPct val="90000"/>
              </a:lnSpc>
            </a:pPr>
            <a:r>
              <a:rPr lang="ko-KR" altLang="en-US" sz="3200" spc="-100" dirty="0">
                <a:solidFill>
                  <a:srgbClr val="000000">
                    <a:alpha val="70196"/>
                  </a:srgbClr>
                </a:solidFill>
                <a:latin typeface="Pretendard Medium"/>
                <a:ea typeface="Pretendard Medium"/>
                <a:cs typeface="Pretendard Medium"/>
              </a:rPr>
              <a:t>연쇄 침투를 통한 지능형 보이스피싱 공격</a:t>
            </a:r>
            <a:endParaRPr lang="en-US" sz="3200" b="0" i="0" u="none" strike="noStrike" spc="-100" dirty="0">
              <a:solidFill>
                <a:srgbClr val="000000">
                  <a:alpha val="70196"/>
                </a:srgbClr>
              </a:solidFill>
              <a:latin typeface="Pretendard Medium"/>
              <a:ea typeface="Pretendard Medium"/>
              <a:cs typeface="Pretendard Medium"/>
            </a:endParaRPr>
          </a:p>
        </p:txBody>
      </p:sp>
      <p:sp>
        <p:nvSpPr>
          <p:cNvPr id="21" name="TextBox 21"/>
          <p:cNvSpPr txBox="1"/>
          <p:nvPr/>
        </p:nvSpPr>
        <p:spPr>
          <a:xfrm>
            <a:off x="20751800" y="5562600"/>
            <a:ext cx="965200" cy="558800"/>
          </a:xfrm>
          <a:prstGeom prst="rect">
            <a:avLst/>
          </a:prstGeom>
        </p:spPr>
        <p:txBody>
          <a:bodyPr lIns="0" tIns="0" rIns="0" bIns="0" rtlCol="0" anchor="t"/>
          <a:lstStyle/>
          <a:p>
            <a:pPr lvl="0" algn="r">
              <a:lnSpc>
                <a:spcPct val="143590"/>
              </a:lnSpc>
            </a:pPr>
            <a:r>
              <a:rPr lang="en-US" sz="3145" b="0" i="0" u="none" strike="noStrike" spc="-100" dirty="0">
                <a:solidFill>
                  <a:srgbClr val="000000">
                    <a:alpha val="70196"/>
                  </a:srgbClr>
                </a:solidFill>
                <a:latin typeface="Pretendard Medium"/>
                <a:ea typeface="Pretendard Medium"/>
                <a:cs typeface="Pretendard Medium"/>
              </a:rPr>
              <a:t>55</a:t>
            </a:r>
          </a:p>
        </p:txBody>
      </p:sp>
      <p:sp>
        <p:nvSpPr>
          <p:cNvPr id="22" name="TextBox 22"/>
          <p:cNvSpPr txBox="1"/>
          <p:nvPr/>
        </p:nvSpPr>
        <p:spPr>
          <a:xfrm>
            <a:off x="15201900" y="7442200"/>
            <a:ext cx="4953000" cy="711200"/>
          </a:xfrm>
          <a:prstGeom prst="rect">
            <a:avLst/>
          </a:prstGeom>
        </p:spPr>
        <p:txBody>
          <a:bodyPr lIns="0" tIns="0" rIns="0" bIns="0" rtlCol="0" anchor="t"/>
          <a:lstStyle/>
          <a:p>
            <a:pPr lvl="0" algn="l">
              <a:lnSpc>
                <a:spcPct val="143590"/>
              </a:lnSpc>
            </a:pPr>
            <a:r>
              <a:rPr lang="en-US" sz="4000" b="0" i="0" u="none" strike="noStrike" spc="-100">
                <a:solidFill>
                  <a:srgbClr val="000000"/>
                </a:solidFill>
                <a:latin typeface="Pretendard SemiBold"/>
                <a:ea typeface="Pretendard SemiBold"/>
                <a:cs typeface="Pretendard SemiBold"/>
              </a:rPr>
              <a:t>프로젝트 총평</a:t>
            </a:r>
          </a:p>
        </p:txBody>
      </p:sp>
      <p:pic>
        <p:nvPicPr>
          <p:cNvPr id="23" name="Picture 23"/>
          <p:cNvPicPr>
            <a:picLocks noChangeAspect="1"/>
          </p:cNvPicPr>
          <p:nvPr/>
        </p:nvPicPr>
        <p:blipFill>
          <a:blip r:embed="rId5">
            <a:alphaModFix amt="70000"/>
          </a:blip>
          <a:stretch>
            <a:fillRect/>
          </a:stretch>
        </p:blipFill>
        <p:spPr>
          <a:xfrm>
            <a:off x="18707100" y="8623300"/>
            <a:ext cx="1981200" cy="12700"/>
          </a:xfrm>
          <a:prstGeom prst="rect">
            <a:avLst/>
          </a:prstGeom>
        </p:spPr>
      </p:pic>
      <p:sp>
        <p:nvSpPr>
          <p:cNvPr id="24" name="TextBox 24"/>
          <p:cNvSpPr txBox="1"/>
          <p:nvPr/>
        </p:nvSpPr>
        <p:spPr>
          <a:xfrm>
            <a:off x="15240000" y="8331200"/>
            <a:ext cx="4140200" cy="596900"/>
          </a:xfrm>
          <a:prstGeom prst="rect">
            <a:avLst/>
          </a:prstGeom>
        </p:spPr>
        <p:txBody>
          <a:bodyPr lIns="0" tIns="0" rIns="0" bIns="0" rtlCol="0" anchor="t"/>
          <a:lstStyle/>
          <a:p>
            <a:pPr lvl="0" algn="l">
              <a:lnSpc>
                <a:spcPct val="143590"/>
              </a:lnSpc>
            </a:pPr>
            <a:r>
              <a:rPr lang="en-US" sz="3333" b="0" i="0" u="none" strike="noStrike" spc="-100">
                <a:solidFill>
                  <a:srgbClr val="000000">
                    <a:alpha val="70196"/>
                  </a:srgbClr>
                </a:solidFill>
                <a:latin typeface="Pretendard Medium"/>
                <a:ea typeface="Pretendard Medium"/>
                <a:cs typeface="Pretendard Medium"/>
              </a:rPr>
              <a:t>향후 계획</a:t>
            </a:r>
          </a:p>
        </p:txBody>
      </p:sp>
      <p:sp>
        <p:nvSpPr>
          <p:cNvPr id="25" name="TextBox 25"/>
          <p:cNvSpPr txBox="1"/>
          <p:nvPr/>
        </p:nvSpPr>
        <p:spPr>
          <a:xfrm>
            <a:off x="20751800" y="8356600"/>
            <a:ext cx="965200" cy="558800"/>
          </a:xfrm>
          <a:prstGeom prst="rect">
            <a:avLst/>
          </a:prstGeom>
        </p:spPr>
        <p:txBody>
          <a:bodyPr lIns="0" tIns="0" rIns="0" bIns="0" rtlCol="0" anchor="t"/>
          <a:lstStyle/>
          <a:p>
            <a:pPr lvl="0" algn="r">
              <a:lnSpc>
                <a:spcPct val="143590"/>
              </a:lnSpc>
            </a:pPr>
            <a:r>
              <a:rPr lang="en-US" sz="3145" b="0" i="0" u="none" strike="noStrike" spc="-100" dirty="0">
                <a:solidFill>
                  <a:srgbClr val="000000">
                    <a:alpha val="70196"/>
                  </a:srgbClr>
                </a:solidFill>
                <a:latin typeface="Pretendard Medium"/>
                <a:ea typeface="Pretendard Medium"/>
                <a:cs typeface="Pretendard Medium"/>
              </a:rPr>
              <a:t>85</a:t>
            </a:r>
          </a:p>
        </p:txBody>
      </p:sp>
      <p:pic>
        <p:nvPicPr>
          <p:cNvPr id="26" name="Picture 26"/>
          <p:cNvPicPr>
            <a:picLocks noChangeAspect="1"/>
          </p:cNvPicPr>
          <p:nvPr/>
        </p:nvPicPr>
        <p:blipFill>
          <a:blip r:embed="rId7"/>
          <a:stretch>
            <a:fillRect/>
          </a:stretch>
        </p:blipFill>
        <p:spPr>
          <a:xfrm>
            <a:off x="12750800" y="7505700"/>
            <a:ext cx="2032000" cy="571500"/>
          </a:xfrm>
          <a:prstGeom prst="rect">
            <a:avLst/>
          </a:prstGeom>
        </p:spPr>
      </p:pic>
      <p:sp>
        <p:nvSpPr>
          <p:cNvPr id="27" name="TextBox 27"/>
          <p:cNvSpPr txBox="1"/>
          <p:nvPr/>
        </p:nvSpPr>
        <p:spPr>
          <a:xfrm>
            <a:off x="12877800" y="7556500"/>
            <a:ext cx="1765300" cy="431800"/>
          </a:xfrm>
          <a:prstGeom prst="rect">
            <a:avLst/>
          </a:prstGeom>
        </p:spPr>
        <p:txBody>
          <a:bodyPr lIns="0" tIns="0" rIns="0" bIns="0" rtlCol="0" anchor="t"/>
          <a:lstStyle/>
          <a:p>
            <a:pPr lvl="0" algn="ctr">
              <a:lnSpc>
                <a:spcPct val="116199"/>
              </a:lnSpc>
            </a:pPr>
            <a:r>
              <a:rPr lang="en-US" sz="2399" b="0" i="0" u="none" strike="noStrike">
                <a:solidFill>
                  <a:srgbClr val="FFFFFF"/>
                </a:solidFill>
                <a:latin typeface="Geologica Roman Light"/>
                <a:ea typeface="Geologica Roman Light"/>
                <a:cs typeface="Geologica Roman Light"/>
              </a:rPr>
              <a:t>Chapter 4</a:t>
            </a:r>
          </a:p>
        </p:txBody>
      </p:sp>
      <p:pic>
        <p:nvPicPr>
          <p:cNvPr id="28" name="Picture 28"/>
          <p:cNvPicPr>
            <a:picLocks noChangeAspect="1"/>
          </p:cNvPicPr>
          <p:nvPr/>
        </p:nvPicPr>
        <p:blipFill>
          <a:blip r:embed="rId5">
            <a:alphaModFix amt="70000"/>
          </a:blip>
          <a:stretch>
            <a:fillRect/>
          </a:stretch>
        </p:blipFill>
        <p:spPr>
          <a:xfrm>
            <a:off x="18707100" y="9232900"/>
            <a:ext cx="1981200" cy="12700"/>
          </a:xfrm>
          <a:prstGeom prst="rect">
            <a:avLst/>
          </a:prstGeom>
        </p:spPr>
      </p:pic>
      <p:sp>
        <p:nvSpPr>
          <p:cNvPr id="29" name="TextBox 29"/>
          <p:cNvSpPr txBox="1"/>
          <p:nvPr/>
        </p:nvSpPr>
        <p:spPr>
          <a:xfrm>
            <a:off x="15240000" y="8940800"/>
            <a:ext cx="4140200" cy="596900"/>
          </a:xfrm>
          <a:prstGeom prst="rect">
            <a:avLst/>
          </a:prstGeom>
        </p:spPr>
        <p:txBody>
          <a:bodyPr lIns="0" tIns="0" rIns="0" bIns="0" rtlCol="0" anchor="t"/>
          <a:lstStyle/>
          <a:p>
            <a:pPr lvl="0" algn="l">
              <a:lnSpc>
                <a:spcPct val="143590"/>
              </a:lnSpc>
            </a:pPr>
            <a:r>
              <a:rPr lang="en-US" sz="3333" b="0" i="0" u="none" strike="noStrike" spc="-100">
                <a:solidFill>
                  <a:srgbClr val="000000">
                    <a:alpha val="70196"/>
                  </a:srgbClr>
                </a:solidFill>
                <a:latin typeface="Pretendard Medium"/>
                <a:ea typeface="Pretendard Medium"/>
                <a:cs typeface="Pretendard Medium"/>
              </a:rPr>
              <a:t>프로젝트 소감</a:t>
            </a:r>
          </a:p>
        </p:txBody>
      </p:sp>
      <p:sp>
        <p:nvSpPr>
          <p:cNvPr id="30" name="TextBox 30"/>
          <p:cNvSpPr txBox="1"/>
          <p:nvPr/>
        </p:nvSpPr>
        <p:spPr>
          <a:xfrm>
            <a:off x="20751800" y="8966200"/>
            <a:ext cx="965200" cy="558800"/>
          </a:xfrm>
          <a:prstGeom prst="rect">
            <a:avLst/>
          </a:prstGeom>
        </p:spPr>
        <p:txBody>
          <a:bodyPr lIns="0" tIns="0" rIns="0" bIns="0" rtlCol="0" anchor="t"/>
          <a:lstStyle/>
          <a:p>
            <a:pPr lvl="0" algn="r">
              <a:lnSpc>
                <a:spcPct val="143590"/>
              </a:lnSpc>
            </a:pPr>
            <a:r>
              <a:rPr lang="en-US" sz="3145" b="0" i="0" u="none" strike="noStrike" spc="-100" dirty="0">
                <a:solidFill>
                  <a:srgbClr val="000000">
                    <a:alpha val="70196"/>
                  </a:srgbClr>
                </a:solidFill>
                <a:latin typeface="Pretendard Medium"/>
                <a:ea typeface="Pretendard Medium"/>
                <a:cs typeface="Pretendard Medium"/>
              </a:rPr>
              <a:t>86</a:t>
            </a:r>
          </a:p>
        </p:txBody>
      </p:sp>
      <p:sp>
        <p:nvSpPr>
          <p:cNvPr id="37" name="TextBox 37"/>
          <p:cNvSpPr txBox="1"/>
          <p:nvPr/>
        </p:nvSpPr>
        <p:spPr>
          <a:xfrm>
            <a:off x="5105400" y="7442200"/>
            <a:ext cx="3962400" cy="711200"/>
          </a:xfrm>
          <a:prstGeom prst="rect">
            <a:avLst/>
          </a:prstGeom>
        </p:spPr>
        <p:txBody>
          <a:bodyPr lIns="0" tIns="0" rIns="0" bIns="0" rtlCol="0" anchor="t"/>
          <a:lstStyle/>
          <a:p>
            <a:pPr lvl="0" algn="l">
              <a:lnSpc>
                <a:spcPct val="143590"/>
              </a:lnSpc>
            </a:pPr>
            <a:r>
              <a:rPr lang="en-US" sz="4000" b="0" i="0" u="none" strike="noStrike" spc="-100">
                <a:solidFill>
                  <a:srgbClr val="000000"/>
                </a:solidFill>
                <a:latin typeface="Pretendard SemiBold"/>
                <a:ea typeface="Pretendard SemiBold"/>
                <a:cs typeface="Pretendard SemiBold"/>
              </a:rPr>
              <a:t>개발 및 진단</a:t>
            </a:r>
          </a:p>
        </p:txBody>
      </p:sp>
      <p:pic>
        <p:nvPicPr>
          <p:cNvPr id="41" name="Picture 41"/>
          <p:cNvPicPr>
            <a:picLocks noChangeAspect="1"/>
          </p:cNvPicPr>
          <p:nvPr/>
        </p:nvPicPr>
        <p:blipFill>
          <a:blip r:embed="rId8"/>
          <a:stretch>
            <a:fillRect/>
          </a:stretch>
        </p:blipFill>
        <p:spPr>
          <a:xfrm>
            <a:off x="2654300" y="7505700"/>
            <a:ext cx="2032000" cy="571500"/>
          </a:xfrm>
          <a:prstGeom prst="rect">
            <a:avLst/>
          </a:prstGeom>
        </p:spPr>
      </p:pic>
      <p:sp>
        <p:nvSpPr>
          <p:cNvPr id="42" name="TextBox 42"/>
          <p:cNvSpPr txBox="1"/>
          <p:nvPr/>
        </p:nvSpPr>
        <p:spPr>
          <a:xfrm>
            <a:off x="2781300" y="7556500"/>
            <a:ext cx="1765300" cy="431800"/>
          </a:xfrm>
          <a:prstGeom prst="rect">
            <a:avLst/>
          </a:prstGeom>
        </p:spPr>
        <p:txBody>
          <a:bodyPr lIns="0" tIns="0" rIns="0" bIns="0" rtlCol="0" anchor="t"/>
          <a:lstStyle/>
          <a:p>
            <a:pPr lvl="0" algn="ctr">
              <a:lnSpc>
                <a:spcPct val="116199"/>
              </a:lnSpc>
            </a:pPr>
            <a:r>
              <a:rPr lang="en-US" sz="2399" b="0" i="0" u="none" strike="noStrike">
                <a:solidFill>
                  <a:srgbClr val="FFFFFF"/>
                </a:solidFill>
                <a:latin typeface="Geologica Roman Light"/>
                <a:ea typeface="Geologica Roman Light"/>
                <a:cs typeface="Geologica Roman Light"/>
              </a:rPr>
              <a:t>Chapter 2</a:t>
            </a:r>
          </a:p>
        </p:txBody>
      </p:sp>
      <p:sp>
        <p:nvSpPr>
          <p:cNvPr id="46" name="TextBox 46"/>
          <p:cNvSpPr txBox="1"/>
          <p:nvPr/>
        </p:nvSpPr>
        <p:spPr>
          <a:xfrm>
            <a:off x="5105400" y="3721100"/>
            <a:ext cx="2959100" cy="711200"/>
          </a:xfrm>
          <a:prstGeom prst="rect">
            <a:avLst/>
          </a:prstGeom>
        </p:spPr>
        <p:txBody>
          <a:bodyPr lIns="0" tIns="0" rIns="0" bIns="0" rtlCol="0" anchor="t"/>
          <a:lstStyle/>
          <a:p>
            <a:pPr lvl="0" algn="l">
              <a:lnSpc>
                <a:spcPct val="143590"/>
              </a:lnSpc>
            </a:pPr>
            <a:r>
              <a:rPr lang="en-US" sz="4000" b="0" i="0" u="none" strike="noStrike" spc="-100">
                <a:solidFill>
                  <a:srgbClr val="000000"/>
                </a:solidFill>
                <a:latin typeface="Pretendard SemiBold"/>
                <a:ea typeface="Pretendard SemiBold"/>
                <a:cs typeface="Pretendard SemiBold"/>
              </a:rPr>
              <a:t>프로젝트 개요</a:t>
            </a:r>
          </a:p>
        </p:txBody>
      </p:sp>
      <p:pic>
        <p:nvPicPr>
          <p:cNvPr id="47" name="Picture 47"/>
          <p:cNvPicPr>
            <a:picLocks noChangeAspect="1"/>
          </p:cNvPicPr>
          <p:nvPr/>
        </p:nvPicPr>
        <p:blipFill>
          <a:blip r:embed="rId5">
            <a:alphaModFix amt="70000"/>
          </a:blip>
          <a:stretch>
            <a:fillRect/>
          </a:stretch>
        </p:blipFill>
        <p:spPr>
          <a:xfrm>
            <a:off x="8801100" y="4762500"/>
            <a:ext cx="1981200" cy="12700"/>
          </a:xfrm>
          <a:prstGeom prst="rect">
            <a:avLst/>
          </a:prstGeom>
        </p:spPr>
      </p:pic>
      <p:sp>
        <p:nvSpPr>
          <p:cNvPr id="48" name="TextBox 48"/>
          <p:cNvSpPr txBox="1"/>
          <p:nvPr/>
        </p:nvSpPr>
        <p:spPr>
          <a:xfrm>
            <a:off x="5143500" y="4445000"/>
            <a:ext cx="4140200" cy="596900"/>
          </a:xfrm>
          <a:prstGeom prst="rect">
            <a:avLst/>
          </a:prstGeom>
        </p:spPr>
        <p:txBody>
          <a:bodyPr lIns="0" tIns="0" rIns="0" bIns="0" rtlCol="0" anchor="t"/>
          <a:lstStyle/>
          <a:p>
            <a:pPr lvl="0" algn="l">
              <a:lnSpc>
                <a:spcPct val="143590"/>
              </a:lnSpc>
            </a:pPr>
            <a:r>
              <a:rPr lang="en-US" sz="3333" b="0" i="0" u="none" strike="noStrike" spc="-100">
                <a:solidFill>
                  <a:srgbClr val="000000">
                    <a:alpha val="70196"/>
                  </a:srgbClr>
                </a:solidFill>
                <a:latin typeface="Pretendard Medium"/>
                <a:ea typeface="Pretendard Medium"/>
                <a:cs typeface="Pretendard Medium"/>
              </a:rPr>
              <a:t>팀원소개</a:t>
            </a:r>
          </a:p>
        </p:txBody>
      </p:sp>
      <p:sp>
        <p:nvSpPr>
          <p:cNvPr id="49" name="TextBox 49"/>
          <p:cNvSpPr txBox="1"/>
          <p:nvPr/>
        </p:nvSpPr>
        <p:spPr>
          <a:xfrm>
            <a:off x="10655300" y="4483100"/>
            <a:ext cx="965200" cy="558800"/>
          </a:xfrm>
          <a:prstGeom prst="rect">
            <a:avLst/>
          </a:prstGeom>
        </p:spPr>
        <p:txBody>
          <a:bodyPr lIns="0" tIns="0" rIns="0" bIns="0" rtlCol="0" anchor="t"/>
          <a:lstStyle/>
          <a:p>
            <a:pPr lvl="0" algn="r">
              <a:lnSpc>
                <a:spcPct val="143590"/>
              </a:lnSpc>
            </a:pPr>
            <a:r>
              <a:rPr lang="en-US" sz="3145" b="0" i="0" u="none" strike="noStrike" spc="-100">
                <a:solidFill>
                  <a:srgbClr val="000000">
                    <a:alpha val="70196"/>
                  </a:srgbClr>
                </a:solidFill>
                <a:latin typeface="Pretendard Medium"/>
                <a:ea typeface="Pretendard Medium"/>
                <a:cs typeface="Pretendard Medium"/>
              </a:rPr>
              <a:t>3</a:t>
            </a:r>
          </a:p>
        </p:txBody>
      </p:sp>
      <p:pic>
        <p:nvPicPr>
          <p:cNvPr id="50" name="Picture 50"/>
          <p:cNvPicPr>
            <a:picLocks noChangeAspect="1"/>
          </p:cNvPicPr>
          <p:nvPr/>
        </p:nvPicPr>
        <p:blipFill>
          <a:blip r:embed="rId5">
            <a:alphaModFix amt="70000"/>
          </a:blip>
          <a:stretch>
            <a:fillRect/>
          </a:stretch>
        </p:blipFill>
        <p:spPr>
          <a:xfrm>
            <a:off x="8801100" y="5334000"/>
            <a:ext cx="1981200" cy="12700"/>
          </a:xfrm>
          <a:prstGeom prst="rect">
            <a:avLst/>
          </a:prstGeom>
        </p:spPr>
      </p:pic>
      <p:sp>
        <p:nvSpPr>
          <p:cNvPr id="51" name="TextBox 51"/>
          <p:cNvSpPr txBox="1"/>
          <p:nvPr/>
        </p:nvSpPr>
        <p:spPr>
          <a:xfrm>
            <a:off x="5143500" y="5600700"/>
            <a:ext cx="4140200" cy="596900"/>
          </a:xfrm>
          <a:prstGeom prst="rect">
            <a:avLst/>
          </a:prstGeom>
        </p:spPr>
        <p:txBody>
          <a:bodyPr lIns="0" tIns="0" rIns="0" bIns="0" rtlCol="0" anchor="t"/>
          <a:lstStyle/>
          <a:p>
            <a:pPr lvl="0" algn="l">
              <a:lnSpc>
                <a:spcPct val="143590"/>
              </a:lnSpc>
            </a:pPr>
            <a:r>
              <a:rPr lang="en-US" sz="3333" b="0" i="0" u="none" strike="noStrike" spc="-100">
                <a:solidFill>
                  <a:srgbClr val="000000">
                    <a:alpha val="70196"/>
                  </a:srgbClr>
                </a:solidFill>
                <a:latin typeface="Pretendard Medium"/>
                <a:ea typeface="Pretendard Medium"/>
                <a:cs typeface="Pretendard Medium"/>
              </a:rPr>
              <a:t>프로젝트 선정 개요</a:t>
            </a:r>
          </a:p>
        </p:txBody>
      </p:sp>
      <p:sp>
        <p:nvSpPr>
          <p:cNvPr id="52" name="TextBox 52"/>
          <p:cNvSpPr txBox="1"/>
          <p:nvPr/>
        </p:nvSpPr>
        <p:spPr>
          <a:xfrm>
            <a:off x="10655300" y="5092700"/>
            <a:ext cx="965200" cy="558800"/>
          </a:xfrm>
          <a:prstGeom prst="rect">
            <a:avLst/>
          </a:prstGeom>
        </p:spPr>
        <p:txBody>
          <a:bodyPr lIns="0" tIns="0" rIns="0" bIns="0" rtlCol="0" anchor="t"/>
          <a:lstStyle/>
          <a:p>
            <a:pPr lvl="0" algn="r">
              <a:lnSpc>
                <a:spcPct val="143590"/>
              </a:lnSpc>
            </a:pPr>
            <a:r>
              <a:rPr lang="en-US" sz="3145" b="0" i="0" u="none" strike="noStrike" spc="-100">
                <a:solidFill>
                  <a:srgbClr val="000000">
                    <a:alpha val="70196"/>
                  </a:srgbClr>
                </a:solidFill>
                <a:latin typeface="Pretendard Medium"/>
                <a:ea typeface="Pretendard Medium"/>
                <a:cs typeface="Pretendard Medium"/>
              </a:rPr>
              <a:t>4</a:t>
            </a:r>
          </a:p>
        </p:txBody>
      </p:sp>
      <p:pic>
        <p:nvPicPr>
          <p:cNvPr id="53" name="Picture 53"/>
          <p:cNvPicPr>
            <a:picLocks noChangeAspect="1"/>
          </p:cNvPicPr>
          <p:nvPr/>
        </p:nvPicPr>
        <p:blipFill>
          <a:blip r:embed="rId9"/>
          <a:stretch>
            <a:fillRect/>
          </a:stretch>
        </p:blipFill>
        <p:spPr>
          <a:xfrm>
            <a:off x="2654300" y="3759200"/>
            <a:ext cx="2032000" cy="571500"/>
          </a:xfrm>
          <a:prstGeom prst="rect">
            <a:avLst/>
          </a:prstGeom>
        </p:spPr>
      </p:pic>
      <p:sp>
        <p:nvSpPr>
          <p:cNvPr id="54" name="TextBox 54"/>
          <p:cNvSpPr txBox="1"/>
          <p:nvPr/>
        </p:nvSpPr>
        <p:spPr>
          <a:xfrm>
            <a:off x="2781300" y="3822700"/>
            <a:ext cx="1765300" cy="431800"/>
          </a:xfrm>
          <a:prstGeom prst="rect">
            <a:avLst/>
          </a:prstGeom>
        </p:spPr>
        <p:txBody>
          <a:bodyPr lIns="0" tIns="0" rIns="0" bIns="0" rtlCol="0" anchor="t"/>
          <a:lstStyle/>
          <a:p>
            <a:pPr lvl="0" algn="ctr">
              <a:lnSpc>
                <a:spcPct val="116199"/>
              </a:lnSpc>
            </a:pPr>
            <a:r>
              <a:rPr lang="en-US" sz="2399" b="0" i="0" u="none" strike="noStrike">
                <a:solidFill>
                  <a:srgbClr val="FFFFFF"/>
                </a:solidFill>
                <a:latin typeface="Geologica Roman Light"/>
                <a:ea typeface="Geologica Roman Light"/>
                <a:cs typeface="Geologica Roman Light"/>
              </a:rPr>
              <a:t>Chapter 1</a:t>
            </a:r>
          </a:p>
        </p:txBody>
      </p:sp>
      <p:pic>
        <p:nvPicPr>
          <p:cNvPr id="55" name="Picture 55"/>
          <p:cNvPicPr>
            <a:picLocks noChangeAspect="1"/>
          </p:cNvPicPr>
          <p:nvPr/>
        </p:nvPicPr>
        <p:blipFill>
          <a:blip r:embed="rId5">
            <a:alphaModFix amt="70000"/>
          </a:blip>
          <a:stretch>
            <a:fillRect/>
          </a:stretch>
        </p:blipFill>
        <p:spPr>
          <a:xfrm>
            <a:off x="8801100" y="5905500"/>
            <a:ext cx="1981200" cy="12700"/>
          </a:xfrm>
          <a:prstGeom prst="rect">
            <a:avLst/>
          </a:prstGeom>
        </p:spPr>
      </p:pic>
      <p:sp>
        <p:nvSpPr>
          <p:cNvPr id="56" name="TextBox 56"/>
          <p:cNvSpPr txBox="1"/>
          <p:nvPr/>
        </p:nvSpPr>
        <p:spPr>
          <a:xfrm>
            <a:off x="10655300" y="5638800"/>
            <a:ext cx="965200" cy="558800"/>
          </a:xfrm>
          <a:prstGeom prst="rect">
            <a:avLst/>
          </a:prstGeom>
        </p:spPr>
        <p:txBody>
          <a:bodyPr lIns="0" tIns="0" rIns="0" bIns="0" rtlCol="0" anchor="t"/>
          <a:lstStyle/>
          <a:p>
            <a:pPr lvl="0" algn="r">
              <a:lnSpc>
                <a:spcPct val="143590"/>
              </a:lnSpc>
            </a:pPr>
            <a:r>
              <a:rPr lang="en-US" sz="3145" b="0" i="0" u="none" strike="noStrike" spc="-100">
                <a:solidFill>
                  <a:srgbClr val="000000">
                    <a:alpha val="70196"/>
                  </a:srgbClr>
                </a:solidFill>
                <a:latin typeface="Pretendard Medium"/>
                <a:ea typeface="Pretendard Medium"/>
                <a:cs typeface="Pretendard Medium"/>
              </a:rPr>
              <a:t>5</a:t>
            </a:r>
          </a:p>
        </p:txBody>
      </p:sp>
      <p:pic>
        <p:nvPicPr>
          <p:cNvPr id="57" name="Picture 57"/>
          <p:cNvPicPr>
            <a:picLocks noChangeAspect="1"/>
          </p:cNvPicPr>
          <p:nvPr/>
        </p:nvPicPr>
        <p:blipFill>
          <a:blip r:embed="rId5">
            <a:alphaModFix amt="70000"/>
          </a:blip>
          <a:stretch>
            <a:fillRect/>
          </a:stretch>
        </p:blipFill>
        <p:spPr>
          <a:xfrm>
            <a:off x="8801100" y="6451600"/>
            <a:ext cx="1981200" cy="12700"/>
          </a:xfrm>
          <a:prstGeom prst="rect">
            <a:avLst/>
          </a:prstGeom>
        </p:spPr>
      </p:pic>
      <p:sp>
        <p:nvSpPr>
          <p:cNvPr id="58" name="TextBox 58"/>
          <p:cNvSpPr txBox="1"/>
          <p:nvPr/>
        </p:nvSpPr>
        <p:spPr>
          <a:xfrm>
            <a:off x="5143500" y="6159500"/>
            <a:ext cx="4140200" cy="596900"/>
          </a:xfrm>
          <a:prstGeom prst="rect">
            <a:avLst/>
          </a:prstGeom>
        </p:spPr>
        <p:txBody>
          <a:bodyPr lIns="0" tIns="0" rIns="0" bIns="0" rtlCol="0" anchor="t"/>
          <a:lstStyle/>
          <a:p>
            <a:pPr lvl="0" algn="l">
              <a:lnSpc>
                <a:spcPct val="143590"/>
              </a:lnSpc>
            </a:pPr>
            <a:r>
              <a:rPr lang="en-US" sz="3333" b="0" i="0" u="none" strike="noStrike" spc="-100">
                <a:solidFill>
                  <a:srgbClr val="000000">
                    <a:alpha val="70196"/>
                  </a:srgbClr>
                </a:solidFill>
                <a:latin typeface="Pretendard Medium"/>
                <a:ea typeface="Pretendard Medium"/>
                <a:cs typeface="Pretendard Medium"/>
              </a:rPr>
              <a:t>타겟 기업 분석</a:t>
            </a:r>
          </a:p>
        </p:txBody>
      </p:sp>
      <p:sp>
        <p:nvSpPr>
          <p:cNvPr id="59" name="TextBox 59"/>
          <p:cNvSpPr txBox="1"/>
          <p:nvPr/>
        </p:nvSpPr>
        <p:spPr>
          <a:xfrm>
            <a:off x="10655300" y="6184900"/>
            <a:ext cx="965200" cy="558800"/>
          </a:xfrm>
          <a:prstGeom prst="rect">
            <a:avLst/>
          </a:prstGeom>
        </p:spPr>
        <p:txBody>
          <a:bodyPr lIns="0" tIns="0" rIns="0" bIns="0" rtlCol="0" anchor="t"/>
          <a:lstStyle/>
          <a:p>
            <a:pPr lvl="0" algn="r">
              <a:lnSpc>
                <a:spcPct val="143590"/>
              </a:lnSpc>
            </a:pPr>
            <a:r>
              <a:rPr lang="en-US" sz="3145" b="0" i="0" u="none" strike="noStrike" spc="-100">
                <a:solidFill>
                  <a:srgbClr val="000000">
                    <a:alpha val="70196"/>
                  </a:srgbClr>
                </a:solidFill>
                <a:latin typeface="Pretendard Medium"/>
                <a:ea typeface="Pretendard Medium"/>
                <a:cs typeface="Pretendard Medium"/>
              </a:rPr>
              <a:t>6</a:t>
            </a:r>
          </a:p>
        </p:txBody>
      </p:sp>
      <p:sp>
        <p:nvSpPr>
          <p:cNvPr id="60" name="TextBox 60"/>
          <p:cNvSpPr txBox="1"/>
          <p:nvPr/>
        </p:nvSpPr>
        <p:spPr>
          <a:xfrm>
            <a:off x="5143500" y="5054600"/>
            <a:ext cx="4140200" cy="596900"/>
          </a:xfrm>
          <a:prstGeom prst="rect">
            <a:avLst/>
          </a:prstGeom>
        </p:spPr>
        <p:txBody>
          <a:bodyPr lIns="0" tIns="0" rIns="0" bIns="0" rtlCol="0" anchor="t"/>
          <a:lstStyle/>
          <a:p>
            <a:pPr lvl="0" algn="l">
              <a:lnSpc>
                <a:spcPct val="143590"/>
              </a:lnSpc>
            </a:pPr>
            <a:r>
              <a:rPr lang="en-US" sz="3333" b="0" i="0" u="none" strike="noStrike" spc="-100">
                <a:solidFill>
                  <a:srgbClr val="000000">
                    <a:alpha val="70196"/>
                  </a:srgbClr>
                </a:solidFill>
                <a:latin typeface="Pretendard Medium"/>
                <a:ea typeface="Pretendard Medium"/>
                <a:cs typeface="Pretendard Medium"/>
              </a:rPr>
              <a:t>WBS</a:t>
            </a:r>
          </a:p>
        </p:txBody>
      </p:sp>
      <p:pic>
        <p:nvPicPr>
          <p:cNvPr id="61" name="Picture 61"/>
          <p:cNvPicPr>
            <a:picLocks noChangeAspect="1"/>
          </p:cNvPicPr>
          <p:nvPr/>
        </p:nvPicPr>
        <p:blipFill>
          <a:blip r:embed="rId5">
            <a:alphaModFix amt="70000"/>
          </a:blip>
          <a:stretch>
            <a:fillRect/>
          </a:stretch>
        </p:blipFill>
        <p:spPr>
          <a:xfrm>
            <a:off x="18999200" y="6667500"/>
            <a:ext cx="1981200" cy="12700"/>
          </a:xfrm>
          <a:prstGeom prst="rect">
            <a:avLst/>
          </a:prstGeom>
        </p:spPr>
      </p:pic>
      <p:sp>
        <p:nvSpPr>
          <p:cNvPr id="62" name="TextBox 62"/>
          <p:cNvSpPr txBox="1"/>
          <p:nvPr/>
        </p:nvSpPr>
        <p:spPr>
          <a:xfrm>
            <a:off x="15240000" y="6388100"/>
            <a:ext cx="4140200" cy="596900"/>
          </a:xfrm>
          <a:prstGeom prst="rect">
            <a:avLst/>
          </a:prstGeom>
        </p:spPr>
        <p:txBody>
          <a:bodyPr lIns="0" tIns="0" rIns="0" bIns="0" rtlCol="0" anchor="t"/>
          <a:lstStyle/>
          <a:p>
            <a:pPr lvl="0" algn="l">
              <a:lnSpc>
                <a:spcPct val="143590"/>
              </a:lnSpc>
            </a:pPr>
            <a:r>
              <a:rPr lang="en-US" sz="3333" b="0" i="0" u="none" strike="noStrike" spc="-100">
                <a:solidFill>
                  <a:srgbClr val="000000">
                    <a:alpha val="70196"/>
                  </a:srgbClr>
                </a:solidFill>
                <a:latin typeface="Pretendard Medium"/>
                <a:ea typeface="Pretendard Medium"/>
                <a:cs typeface="Pretendard Medium"/>
              </a:rPr>
              <a:t>보안 대책</a:t>
            </a:r>
          </a:p>
        </p:txBody>
      </p:sp>
      <p:sp>
        <p:nvSpPr>
          <p:cNvPr id="63" name="TextBox 63"/>
          <p:cNvSpPr txBox="1"/>
          <p:nvPr/>
        </p:nvSpPr>
        <p:spPr>
          <a:xfrm>
            <a:off x="20751800" y="6388100"/>
            <a:ext cx="965200" cy="558800"/>
          </a:xfrm>
          <a:prstGeom prst="rect">
            <a:avLst/>
          </a:prstGeom>
        </p:spPr>
        <p:txBody>
          <a:bodyPr lIns="0" tIns="0" rIns="0" bIns="0" rtlCol="0" anchor="t"/>
          <a:lstStyle/>
          <a:p>
            <a:pPr lvl="0" algn="r">
              <a:lnSpc>
                <a:spcPct val="143590"/>
              </a:lnSpc>
            </a:pPr>
            <a:r>
              <a:rPr lang="en-US" sz="3145" b="0" i="0" u="none" strike="noStrike" spc="-100" dirty="0">
                <a:solidFill>
                  <a:srgbClr val="000000">
                    <a:alpha val="70196"/>
                  </a:srgbClr>
                </a:solidFill>
                <a:latin typeface="Pretendard Medium"/>
                <a:ea typeface="Pretendard Medium"/>
                <a:cs typeface="Pretendard Medium"/>
              </a:rPr>
              <a:t>78</a:t>
            </a:r>
          </a:p>
        </p:txBody>
      </p:sp>
      <p:sp>
        <p:nvSpPr>
          <p:cNvPr id="64" name="TextBox 14">
            <a:extLst>
              <a:ext uri="{FF2B5EF4-FFF2-40B4-BE49-F238E27FC236}">
                <a16:creationId xmlns:a16="http://schemas.microsoft.com/office/drawing/2014/main" id="{83A17155-1781-8535-268A-F94BC4B5C2C5}"/>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65" name="TextBox 17">
            <a:extLst>
              <a:ext uri="{FF2B5EF4-FFF2-40B4-BE49-F238E27FC236}">
                <a16:creationId xmlns:a16="http://schemas.microsoft.com/office/drawing/2014/main" id="{93B9DAD9-CA62-DCBD-9159-9AC9231D84A6}"/>
              </a:ext>
            </a:extLst>
          </p:cNvPr>
          <p:cNvSpPr txBox="1"/>
          <p:nvPr/>
        </p:nvSpPr>
        <p:spPr>
          <a:xfrm>
            <a:off x="3975100" y="647700"/>
            <a:ext cx="2171700" cy="304800"/>
          </a:xfrm>
          <a:prstGeom prst="rect">
            <a:avLst/>
          </a:prstGeom>
        </p:spPr>
        <p:txBody>
          <a:bodyPr lIns="0" tIns="26415" rIns="0" bIns="0" rtlCol="0" anchor="t"/>
          <a:lstStyle/>
          <a:p>
            <a:pPr lvl="0" algn="ctr">
              <a:lnSpc>
                <a:spcPct val="96279"/>
              </a:lnSpc>
            </a:pPr>
            <a:r>
              <a:rPr lang="en-US" sz="1733" b="0" i="0" u="none" strike="noStrike">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29기</a:t>
            </a:r>
          </a:p>
        </p:txBody>
      </p:sp>
      <p:pic>
        <p:nvPicPr>
          <p:cNvPr id="115" name="Picture 31">
            <a:extLst>
              <a:ext uri="{FF2B5EF4-FFF2-40B4-BE49-F238E27FC236}">
                <a16:creationId xmlns:a16="http://schemas.microsoft.com/office/drawing/2014/main" id="{56FBC60F-9955-253C-0C0A-EAB5A2BA838A}"/>
              </a:ext>
            </a:extLst>
          </p:cNvPr>
          <p:cNvPicPr>
            <a:picLocks noChangeAspect="1"/>
          </p:cNvPicPr>
          <p:nvPr/>
        </p:nvPicPr>
        <p:blipFill>
          <a:blip r:embed="rId5">
            <a:alphaModFix amt="70000"/>
          </a:blip>
          <a:stretch>
            <a:fillRect/>
          </a:stretch>
        </p:blipFill>
        <p:spPr>
          <a:xfrm>
            <a:off x="8801100" y="10274300"/>
            <a:ext cx="1981200" cy="12700"/>
          </a:xfrm>
          <a:prstGeom prst="rect">
            <a:avLst/>
          </a:prstGeom>
        </p:spPr>
      </p:pic>
      <p:sp>
        <p:nvSpPr>
          <p:cNvPr id="116" name="TextBox 32">
            <a:extLst>
              <a:ext uri="{FF2B5EF4-FFF2-40B4-BE49-F238E27FC236}">
                <a16:creationId xmlns:a16="http://schemas.microsoft.com/office/drawing/2014/main" id="{FDD5DCEC-E4DB-4BAC-C70B-2D804B9E78D0}"/>
              </a:ext>
            </a:extLst>
          </p:cNvPr>
          <p:cNvSpPr txBox="1"/>
          <p:nvPr/>
        </p:nvSpPr>
        <p:spPr>
          <a:xfrm>
            <a:off x="5143500" y="9912350"/>
            <a:ext cx="4140200" cy="596900"/>
          </a:xfrm>
          <a:prstGeom prst="rect">
            <a:avLst/>
          </a:prstGeom>
        </p:spPr>
        <p:txBody>
          <a:bodyPr lIns="0" tIns="0" rIns="0" bIns="0" rtlCol="0" anchor="t"/>
          <a:lstStyle/>
          <a:p>
            <a:pPr lvl="0" algn="l">
              <a:lnSpc>
                <a:spcPct val="143590"/>
              </a:lnSpc>
            </a:pPr>
            <a:r>
              <a:rPr lang="en-US" sz="3333" b="0" i="0" u="none" strike="noStrike" spc="-100" dirty="0" err="1">
                <a:solidFill>
                  <a:srgbClr val="000000">
                    <a:alpha val="70196"/>
                  </a:srgbClr>
                </a:solidFill>
                <a:latin typeface="Pretendard Medium"/>
                <a:ea typeface="Pretendard Medium"/>
                <a:cs typeface="Pretendard Medium"/>
              </a:rPr>
              <a:t>진단</a:t>
            </a:r>
            <a:r>
              <a:rPr lang="en-US" sz="3333" b="0" i="0" u="none" strike="noStrike" spc="-100" dirty="0">
                <a:solidFill>
                  <a:srgbClr val="000000">
                    <a:alpha val="70196"/>
                  </a:srgbClr>
                </a:solidFill>
                <a:latin typeface="Pretendard Medium"/>
                <a:ea typeface="Pretendard Medium"/>
                <a:cs typeface="Pretendard Medium"/>
              </a:rPr>
              <a:t> </a:t>
            </a:r>
            <a:r>
              <a:rPr lang="en-US" sz="3333" b="0" i="0" u="none" strike="noStrike" spc="-100" dirty="0" err="1">
                <a:solidFill>
                  <a:srgbClr val="000000">
                    <a:alpha val="70196"/>
                  </a:srgbClr>
                </a:solidFill>
                <a:latin typeface="Pretendard Medium"/>
                <a:ea typeface="Pretendard Medium"/>
                <a:cs typeface="Pretendard Medium"/>
              </a:rPr>
              <a:t>결과</a:t>
            </a:r>
            <a:r>
              <a:rPr lang="en-US" sz="3333" b="0" i="0" u="none" strike="noStrike" spc="-100" dirty="0">
                <a:solidFill>
                  <a:srgbClr val="000000">
                    <a:alpha val="70196"/>
                  </a:srgbClr>
                </a:solidFill>
                <a:latin typeface="Pretendard Medium"/>
                <a:ea typeface="Pretendard Medium"/>
                <a:cs typeface="Pretendard Medium"/>
              </a:rPr>
              <a:t>(Web)</a:t>
            </a:r>
          </a:p>
        </p:txBody>
      </p:sp>
      <p:sp>
        <p:nvSpPr>
          <p:cNvPr id="117" name="TextBox 33">
            <a:extLst>
              <a:ext uri="{FF2B5EF4-FFF2-40B4-BE49-F238E27FC236}">
                <a16:creationId xmlns:a16="http://schemas.microsoft.com/office/drawing/2014/main" id="{1B56C3F6-43B0-7EA2-C157-95789D44B5B0}"/>
              </a:ext>
            </a:extLst>
          </p:cNvPr>
          <p:cNvSpPr txBox="1"/>
          <p:nvPr/>
        </p:nvSpPr>
        <p:spPr>
          <a:xfrm>
            <a:off x="10655300" y="9883775"/>
            <a:ext cx="965200" cy="558800"/>
          </a:xfrm>
          <a:prstGeom prst="rect">
            <a:avLst/>
          </a:prstGeom>
        </p:spPr>
        <p:txBody>
          <a:bodyPr lIns="0" tIns="0" rIns="0" bIns="0" rtlCol="0" anchor="t"/>
          <a:lstStyle/>
          <a:p>
            <a:pPr lvl="0" algn="r">
              <a:lnSpc>
                <a:spcPct val="143590"/>
              </a:lnSpc>
            </a:pPr>
            <a:r>
              <a:rPr lang="en-US" sz="3145" b="0" i="0" u="none" strike="noStrike" spc="-100" dirty="0">
                <a:solidFill>
                  <a:srgbClr val="000000">
                    <a:alpha val="70196"/>
                  </a:srgbClr>
                </a:solidFill>
                <a:latin typeface="Pretendard Medium"/>
                <a:ea typeface="Pretendard Medium"/>
                <a:cs typeface="Pretendard Medium"/>
              </a:rPr>
              <a:t>12</a:t>
            </a:r>
          </a:p>
        </p:txBody>
      </p:sp>
      <p:pic>
        <p:nvPicPr>
          <p:cNvPr id="118" name="Picture 34">
            <a:extLst>
              <a:ext uri="{FF2B5EF4-FFF2-40B4-BE49-F238E27FC236}">
                <a16:creationId xmlns:a16="http://schemas.microsoft.com/office/drawing/2014/main" id="{CD5E2638-3080-F235-A016-890CA243B876}"/>
              </a:ext>
            </a:extLst>
          </p:cNvPr>
          <p:cNvPicPr>
            <a:picLocks noChangeAspect="1"/>
          </p:cNvPicPr>
          <p:nvPr/>
        </p:nvPicPr>
        <p:blipFill>
          <a:blip r:embed="rId5">
            <a:alphaModFix amt="70000"/>
          </a:blip>
          <a:stretch>
            <a:fillRect/>
          </a:stretch>
        </p:blipFill>
        <p:spPr>
          <a:xfrm>
            <a:off x="8801100" y="10982325"/>
            <a:ext cx="1981200" cy="12700"/>
          </a:xfrm>
          <a:prstGeom prst="rect">
            <a:avLst/>
          </a:prstGeom>
        </p:spPr>
      </p:pic>
      <p:sp>
        <p:nvSpPr>
          <p:cNvPr id="119" name="TextBox 35">
            <a:extLst>
              <a:ext uri="{FF2B5EF4-FFF2-40B4-BE49-F238E27FC236}">
                <a16:creationId xmlns:a16="http://schemas.microsoft.com/office/drawing/2014/main" id="{99F009C0-EC34-031D-1CAF-C6E19531C016}"/>
              </a:ext>
            </a:extLst>
          </p:cNvPr>
          <p:cNvSpPr txBox="1"/>
          <p:nvPr/>
        </p:nvSpPr>
        <p:spPr>
          <a:xfrm>
            <a:off x="5143500" y="10598150"/>
            <a:ext cx="4140200" cy="596900"/>
          </a:xfrm>
          <a:prstGeom prst="rect">
            <a:avLst/>
          </a:prstGeom>
        </p:spPr>
        <p:txBody>
          <a:bodyPr lIns="0" tIns="0" rIns="0" bIns="0" rtlCol="0" anchor="t"/>
          <a:lstStyle/>
          <a:p>
            <a:pPr lvl="0" algn="l">
              <a:lnSpc>
                <a:spcPct val="143590"/>
              </a:lnSpc>
            </a:pPr>
            <a:r>
              <a:rPr lang="en-US" sz="3333" b="0" i="0" u="none" strike="noStrike" spc="-100">
                <a:solidFill>
                  <a:srgbClr val="000000">
                    <a:alpha val="70196"/>
                  </a:srgbClr>
                </a:solidFill>
                <a:latin typeface="Pretendard Medium"/>
                <a:ea typeface="Pretendard Medium"/>
                <a:cs typeface="Pretendard Medium"/>
              </a:rPr>
              <a:t>진단 결과(App)</a:t>
            </a:r>
          </a:p>
        </p:txBody>
      </p:sp>
      <p:sp>
        <p:nvSpPr>
          <p:cNvPr id="120" name="TextBox 36">
            <a:extLst>
              <a:ext uri="{FF2B5EF4-FFF2-40B4-BE49-F238E27FC236}">
                <a16:creationId xmlns:a16="http://schemas.microsoft.com/office/drawing/2014/main" id="{6CE533D0-F684-F886-4B02-C271BAA7FF79}"/>
              </a:ext>
            </a:extLst>
          </p:cNvPr>
          <p:cNvSpPr txBox="1"/>
          <p:nvPr/>
        </p:nvSpPr>
        <p:spPr>
          <a:xfrm>
            <a:off x="10655300" y="10591800"/>
            <a:ext cx="965200" cy="558800"/>
          </a:xfrm>
          <a:prstGeom prst="rect">
            <a:avLst/>
          </a:prstGeom>
        </p:spPr>
        <p:txBody>
          <a:bodyPr lIns="0" tIns="0" rIns="0" bIns="0" rtlCol="0" anchor="t"/>
          <a:lstStyle/>
          <a:p>
            <a:pPr lvl="0" algn="r">
              <a:lnSpc>
                <a:spcPct val="143590"/>
              </a:lnSpc>
            </a:pPr>
            <a:r>
              <a:rPr lang="en-US" sz="3145" b="0" i="0" u="none" strike="noStrike" spc="-100" dirty="0">
                <a:solidFill>
                  <a:srgbClr val="000000">
                    <a:alpha val="70196"/>
                  </a:srgbClr>
                </a:solidFill>
                <a:latin typeface="Pretendard Medium"/>
                <a:ea typeface="Pretendard Medium"/>
                <a:cs typeface="Pretendard Medium"/>
              </a:rPr>
              <a:t>13</a:t>
            </a:r>
          </a:p>
        </p:txBody>
      </p:sp>
      <p:pic>
        <p:nvPicPr>
          <p:cNvPr id="121" name="Picture 38">
            <a:extLst>
              <a:ext uri="{FF2B5EF4-FFF2-40B4-BE49-F238E27FC236}">
                <a16:creationId xmlns:a16="http://schemas.microsoft.com/office/drawing/2014/main" id="{DFE04661-8D89-357A-9592-F374490FE46D}"/>
              </a:ext>
            </a:extLst>
          </p:cNvPr>
          <p:cNvPicPr>
            <a:picLocks noChangeAspect="1"/>
          </p:cNvPicPr>
          <p:nvPr/>
        </p:nvPicPr>
        <p:blipFill>
          <a:blip r:embed="rId5">
            <a:alphaModFix amt="70000"/>
          </a:blip>
          <a:stretch>
            <a:fillRect/>
          </a:stretch>
        </p:blipFill>
        <p:spPr>
          <a:xfrm>
            <a:off x="8801100" y="8547100"/>
            <a:ext cx="1981200" cy="12700"/>
          </a:xfrm>
          <a:prstGeom prst="rect">
            <a:avLst/>
          </a:prstGeom>
        </p:spPr>
      </p:pic>
      <p:sp>
        <p:nvSpPr>
          <p:cNvPr id="122" name="TextBox 39">
            <a:extLst>
              <a:ext uri="{FF2B5EF4-FFF2-40B4-BE49-F238E27FC236}">
                <a16:creationId xmlns:a16="http://schemas.microsoft.com/office/drawing/2014/main" id="{2AEE5F63-1065-27EE-F593-54E3C71394E6}"/>
              </a:ext>
            </a:extLst>
          </p:cNvPr>
          <p:cNvSpPr txBox="1"/>
          <p:nvPr/>
        </p:nvSpPr>
        <p:spPr>
          <a:xfrm>
            <a:off x="5143500" y="8242300"/>
            <a:ext cx="4140200" cy="596900"/>
          </a:xfrm>
          <a:prstGeom prst="rect">
            <a:avLst/>
          </a:prstGeom>
        </p:spPr>
        <p:txBody>
          <a:bodyPr lIns="0" tIns="0" rIns="0" bIns="0" rtlCol="0" anchor="t"/>
          <a:lstStyle/>
          <a:p>
            <a:pPr lvl="0" algn="l">
              <a:lnSpc>
                <a:spcPct val="143590"/>
              </a:lnSpc>
            </a:pPr>
            <a:r>
              <a:rPr lang="ko-KR" altLang="en-US" sz="3333" spc="-100" dirty="0">
                <a:solidFill>
                  <a:srgbClr val="000000">
                    <a:alpha val="70196"/>
                  </a:srgbClr>
                </a:solidFill>
                <a:latin typeface="Pretendard Medium"/>
                <a:ea typeface="Pretendard Medium"/>
                <a:cs typeface="Pretendard Medium"/>
              </a:rPr>
              <a:t>아키텍처</a:t>
            </a:r>
            <a:endParaRPr lang="en-US" sz="3333" b="0" i="0" u="none" strike="noStrike" spc="-100" dirty="0">
              <a:solidFill>
                <a:srgbClr val="000000">
                  <a:alpha val="70196"/>
                </a:srgbClr>
              </a:solidFill>
              <a:latin typeface="Pretendard Medium"/>
              <a:ea typeface="Pretendard Medium"/>
              <a:cs typeface="Pretendard Medium"/>
            </a:endParaRPr>
          </a:p>
        </p:txBody>
      </p:sp>
      <p:sp>
        <p:nvSpPr>
          <p:cNvPr id="123" name="TextBox 40">
            <a:extLst>
              <a:ext uri="{FF2B5EF4-FFF2-40B4-BE49-F238E27FC236}">
                <a16:creationId xmlns:a16="http://schemas.microsoft.com/office/drawing/2014/main" id="{767B9B68-3D88-EC9C-A66B-4CE4D7179129}"/>
              </a:ext>
            </a:extLst>
          </p:cNvPr>
          <p:cNvSpPr txBox="1"/>
          <p:nvPr/>
        </p:nvSpPr>
        <p:spPr>
          <a:xfrm>
            <a:off x="10655300" y="8204200"/>
            <a:ext cx="965200" cy="558800"/>
          </a:xfrm>
          <a:prstGeom prst="rect">
            <a:avLst/>
          </a:prstGeom>
        </p:spPr>
        <p:txBody>
          <a:bodyPr lIns="0" tIns="0" rIns="0" bIns="0" rtlCol="0" anchor="t"/>
          <a:lstStyle/>
          <a:p>
            <a:pPr lvl="0" algn="r">
              <a:lnSpc>
                <a:spcPct val="143590"/>
              </a:lnSpc>
            </a:pPr>
            <a:r>
              <a:rPr lang="en-US" sz="3145" b="0" i="0" u="none" strike="noStrike" spc="-100" dirty="0">
                <a:solidFill>
                  <a:srgbClr val="000000">
                    <a:alpha val="70196"/>
                  </a:srgbClr>
                </a:solidFill>
                <a:latin typeface="Pretendard Medium"/>
                <a:ea typeface="Pretendard Medium"/>
                <a:cs typeface="Pretendard Medium"/>
              </a:rPr>
              <a:t>7</a:t>
            </a:r>
          </a:p>
        </p:txBody>
      </p:sp>
      <p:pic>
        <p:nvPicPr>
          <p:cNvPr id="124" name="Picture 43">
            <a:extLst>
              <a:ext uri="{FF2B5EF4-FFF2-40B4-BE49-F238E27FC236}">
                <a16:creationId xmlns:a16="http://schemas.microsoft.com/office/drawing/2014/main" id="{2867039C-F93A-B459-841D-8DE027D04EEA}"/>
              </a:ext>
            </a:extLst>
          </p:cNvPr>
          <p:cNvPicPr>
            <a:picLocks noChangeAspect="1"/>
          </p:cNvPicPr>
          <p:nvPr/>
        </p:nvPicPr>
        <p:blipFill>
          <a:blip r:embed="rId5">
            <a:alphaModFix amt="70000"/>
          </a:blip>
          <a:stretch>
            <a:fillRect/>
          </a:stretch>
        </p:blipFill>
        <p:spPr>
          <a:xfrm>
            <a:off x="8801100" y="9594850"/>
            <a:ext cx="1981200" cy="12700"/>
          </a:xfrm>
          <a:prstGeom prst="rect">
            <a:avLst/>
          </a:prstGeom>
        </p:spPr>
      </p:pic>
      <p:sp>
        <p:nvSpPr>
          <p:cNvPr id="125" name="TextBox 44">
            <a:extLst>
              <a:ext uri="{FF2B5EF4-FFF2-40B4-BE49-F238E27FC236}">
                <a16:creationId xmlns:a16="http://schemas.microsoft.com/office/drawing/2014/main" id="{1DD3D335-002A-71A2-19B9-A02712E4C34E}"/>
              </a:ext>
            </a:extLst>
          </p:cNvPr>
          <p:cNvSpPr txBox="1"/>
          <p:nvPr/>
        </p:nvSpPr>
        <p:spPr>
          <a:xfrm>
            <a:off x="5143500" y="9302750"/>
            <a:ext cx="4140200" cy="596900"/>
          </a:xfrm>
          <a:prstGeom prst="rect">
            <a:avLst/>
          </a:prstGeom>
        </p:spPr>
        <p:txBody>
          <a:bodyPr lIns="0" tIns="0" rIns="0" bIns="0" rtlCol="0" anchor="t"/>
          <a:lstStyle/>
          <a:p>
            <a:pPr lvl="0" algn="l">
              <a:lnSpc>
                <a:spcPct val="143590"/>
              </a:lnSpc>
            </a:pPr>
            <a:r>
              <a:rPr lang="en-US" sz="3333" b="0" i="0" u="none" strike="noStrike" spc="-100" dirty="0" err="1">
                <a:solidFill>
                  <a:srgbClr val="000000">
                    <a:alpha val="70196"/>
                  </a:srgbClr>
                </a:solidFill>
                <a:latin typeface="Pretendard Medium"/>
                <a:ea typeface="Pretendard Medium"/>
                <a:cs typeface="Pretendard Medium"/>
              </a:rPr>
              <a:t>취약점</a:t>
            </a:r>
            <a:r>
              <a:rPr lang="en-US" sz="3333" b="0" i="0" u="none" strike="noStrike" spc="-100" dirty="0">
                <a:solidFill>
                  <a:srgbClr val="000000">
                    <a:alpha val="70196"/>
                  </a:srgbClr>
                </a:solidFill>
                <a:latin typeface="Pretendard Medium"/>
                <a:ea typeface="Pretendard Medium"/>
                <a:cs typeface="Pretendard Medium"/>
              </a:rPr>
              <a:t> </a:t>
            </a:r>
            <a:r>
              <a:rPr lang="en-US" sz="3333" b="0" i="0" u="none" strike="noStrike" spc="-100" dirty="0" err="1">
                <a:solidFill>
                  <a:srgbClr val="000000">
                    <a:alpha val="70196"/>
                  </a:srgbClr>
                </a:solidFill>
                <a:latin typeface="Pretendard Medium"/>
                <a:ea typeface="Pretendard Medium"/>
                <a:cs typeface="Pretendard Medium"/>
              </a:rPr>
              <a:t>진단</a:t>
            </a:r>
            <a:endParaRPr lang="en-US" sz="3333" b="0" i="0" u="none" strike="noStrike" spc="-100" dirty="0">
              <a:solidFill>
                <a:srgbClr val="000000">
                  <a:alpha val="70196"/>
                </a:srgbClr>
              </a:solidFill>
              <a:latin typeface="Pretendard Medium"/>
              <a:ea typeface="Pretendard Medium"/>
              <a:cs typeface="Pretendard Medium"/>
            </a:endParaRPr>
          </a:p>
        </p:txBody>
      </p:sp>
      <p:sp>
        <p:nvSpPr>
          <p:cNvPr id="126" name="TextBox 45">
            <a:extLst>
              <a:ext uri="{FF2B5EF4-FFF2-40B4-BE49-F238E27FC236}">
                <a16:creationId xmlns:a16="http://schemas.microsoft.com/office/drawing/2014/main" id="{803BF506-7F85-7FF9-EF03-21EB0BA60DD5}"/>
              </a:ext>
            </a:extLst>
          </p:cNvPr>
          <p:cNvSpPr txBox="1"/>
          <p:nvPr/>
        </p:nvSpPr>
        <p:spPr>
          <a:xfrm>
            <a:off x="10655300" y="9328150"/>
            <a:ext cx="965200" cy="558800"/>
          </a:xfrm>
          <a:prstGeom prst="rect">
            <a:avLst/>
          </a:prstGeom>
        </p:spPr>
        <p:txBody>
          <a:bodyPr lIns="0" tIns="0" rIns="0" bIns="0" rtlCol="0" anchor="t"/>
          <a:lstStyle/>
          <a:p>
            <a:pPr lvl="0" algn="r">
              <a:lnSpc>
                <a:spcPct val="143590"/>
              </a:lnSpc>
            </a:pPr>
            <a:r>
              <a:rPr lang="en-US" sz="3145" b="0" i="0" u="none" strike="noStrike" spc="-100" dirty="0">
                <a:solidFill>
                  <a:srgbClr val="000000">
                    <a:alpha val="70196"/>
                  </a:srgbClr>
                </a:solidFill>
                <a:latin typeface="Pretendard Medium"/>
                <a:ea typeface="Pretendard Medium"/>
                <a:cs typeface="Pretendard Medium"/>
              </a:rPr>
              <a:t>9</a:t>
            </a:r>
          </a:p>
        </p:txBody>
      </p:sp>
      <p:pic>
        <p:nvPicPr>
          <p:cNvPr id="127" name="Picture 38">
            <a:extLst>
              <a:ext uri="{FF2B5EF4-FFF2-40B4-BE49-F238E27FC236}">
                <a16:creationId xmlns:a16="http://schemas.microsoft.com/office/drawing/2014/main" id="{828F77E3-CEA9-81D9-E776-24749F677D63}"/>
              </a:ext>
            </a:extLst>
          </p:cNvPr>
          <p:cNvPicPr>
            <a:picLocks noChangeAspect="1"/>
          </p:cNvPicPr>
          <p:nvPr/>
        </p:nvPicPr>
        <p:blipFill>
          <a:blip r:embed="rId5">
            <a:alphaModFix amt="70000"/>
          </a:blip>
          <a:stretch>
            <a:fillRect/>
          </a:stretch>
        </p:blipFill>
        <p:spPr>
          <a:xfrm>
            <a:off x="8801100" y="9144000"/>
            <a:ext cx="1981200" cy="12700"/>
          </a:xfrm>
          <a:prstGeom prst="rect">
            <a:avLst/>
          </a:prstGeom>
        </p:spPr>
      </p:pic>
      <p:sp>
        <p:nvSpPr>
          <p:cNvPr id="128" name="TextBox 39">
            <a:extLst>
              <a:ext uri="{FF2B5EF4-FFF2-40B4-BE49-F238E27FC236}">
                <a16:creationId xmlns:a16="http://schemas.microsoft.com/office/drawing/2014/main" id="{4039D4AE-6C01-3D9C-CDC8-62D56AC5EDCD}"/>
              </a:ext>
            </a:extLst>
          </p:cNvPr>
          <p:cNvSpPr txBox="1"/>
          <p:nvPr/>
        </p:nvSpPr>
        <p:spPr>
          <a:xfrm>
            <a:off x="5153025" y="8788400"/>
            <a:ext cx="4140200" cy="596900"/>
          </a:xfrm>
          <a:prstGeom prst="rect">
            <a:avLst/>
          </a:prstGeom>
        </p:spPr>
        <p:txBody>
          <a:bodyPr lIns="0" tIns="0" rIns="0" bIns="0" rtlCol="0" anchor="t"/>
          <a:lstStyle/>
          <a:p>
            <a:pPr lvl="0" algn="l">
              <a:lnSpc>
                <a:spcPct val="143590"/>
              </a:lnSpc>
            </a:pPr>
            <a:r>
              <a:rPr lang="ko-KR" altLang="en-US" sz="3333" spc="-100" dirty="0">
                <a:solidFill>
                  <a:srgbClr val="000000">
                    <a:alpha val="70196"/>
                  </a:srgbClr>
                </a:solidFill>
                <a:latin typeface="Pretendard Medium"/>
                <a:ea typeface="Pretendard Medium"/>
                <a:cs typeface="Pretendard Medium"/>
              </a:rPr>
              <a:t>기능 구성</a:t>
            </a:r>
            <a:endParaRPr lang="en-US" sz="3333" b="0" i="0" u="none" strike="noStrike" spc="-100" dirty="0">
              <a:solidFill>
                <a:srgbClr val="000000">
                  <a:alpha val="70196"/>
                </a:srgbClr>
              </a:solidFill>
              <a:latin typeface="Pretendard Medium"/>
              <a:ea typeface="Pretendard Medium"/>
              <a:cs typeface="Pretendard Medium"/>
            </a:endParaRPr>
          </a:p>
        </p:txBody>
      </p:sp>
      <p:sp>
        <p:nvSpPr>
          <p:cNvPr id="129" name="TextBox 40">
            <a:extLst>
              <a:ext uri="{FF2B5EF4-FFF2-40B4-BE49-F238E27FC236}">
                <a16:creationId xmlns:a16="http://schemas.microsoft.com/office/drawing/2014/main" id="{F7E9FA95-950D-DEE8-7133-9C8A2BD6CD77}"/>
              </a:ext>
            </a:extLst>
          </p:cNvPr>
          <p:cNvSpPr txBox="1"/>
          <p:nvPr/>
        </p:nvSpPr>
        <p:spPr>
          <a:xfrm>
            <a:off x="10655300" y="8743950"/>
            <a:ext cx="965200" cy="558800"/>
          </a:xfrm>
          <a:prstGeom prst="rect">
            <a:avLst/>
          </a:prstGeom>
        </p:spPr>
        <p:txBody>
          <a:bodyPr lIns="0" tIns="0" rIns="0" bIns="0" rtlCol="0" anchor="t"/>
          <a:lstStyle/>
          <a:p>
            <a:pPr lvl="0" algn="r">
              <a:lnSpc>
                <a:spcPct val="143590"/>
              </a:lnSpc>
            </a:pPr>
            <a:r>
              <a:rPr lang="en-US" sz="3145" b="0" i="0" u="none" strike="noStrike" spc="-100" dirty="0">
                <a:solidFill>
                  <a:srgbClr val="000000">
                    <a:alpha val="70196"/>
                  </a:srgbClr>
                </a:solidFill>
                <a:latin typeface="Pretendard Medium"/>
                <a:ea typeface="Pretendard Medium"/>
                <a:cs typeface="Pretendard Medium"/>
              </a:rPr>
              <a:t>8</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a:extLst>
            <a:ext uri="{FF2B5EF4-FFF2-40B4-BE49-F238E27FC236}">
              <a16:creationId xmlns:a16="http://schemas.microsoft.com/office/drawing/2014/main" id="{22E7461C-368F-DFBF-2F34-3A1AA160FA70}"/>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99C1D555-8A2D-FBB3-B17C-F246F3669E2F}"/>
              </a:ext>
            </a:extLst>
          </p:cNvPr>
          <p:cNvPicPr>
            <a:picLocks noChangeAspect="1"/>
          </p:cNvPicPr>
          <p:nvPr/>
        </p:nvPicPr>
        <p:blipFill>
          <a:blip r:embed="rId2">
            <a:alphaModFix amt="80000"/>
          </a:blip>
          <a:stretch>
            <a:fillRect/>
          </a:stretch>
        </p:blipFill>
        <p:spPr>
          <a:xfrm>
            <a:off x="15798800" y="-1803400"/>
            <a:ext cx="11442700" cy="11442700"/>
          </a:xfrm>
          <a:prstGeom prst="rect">
            <a:avLst/>
          </a:prstGeom>
        </p:spPr>
      </p:pic>
      <p:pic>
        <p:nvPicPr>
          <p:cNvPr id="3" name="Picture 3">
            <a:extLst>
              <a:ext uri="{FF2B5EF4-FFF2-40B4-BE49-F238E27FC236}">
                <a16:creationId xmlns:a16="http://schemas.microsoft.com/office/drawing/2014/main" id="{0E4EB8BD-0A75-20DA-E222-7859D5EE4795}"/>
              </a:ext>
            </a:extLst>
          </p:cNvPr>
          <p:cNvPicPr>
            <a:picLocks noChangeAspect="1"/>
          </p:cNvPicPr>
          <p:nvPr/>
        </p:nvPicPr>
        <p:blipFill>
          <a:blip r:embed="rId2">
            <a:alphaModFix amt="40000"/>
          </a:blip>
          <a:stretch>
            <a:fillRect/>
          </a:stretch>
        </p:blipFill>
        <p:spPr>
          <a:xfrm>
            <a:off x="-2806700" y="4838354"/>
            <a:ext cx="11442700" cy="11442700"/>
          </a:xfrm>
          <a:prstGeom prst="rect">
            <a:avLst/>
          </a:prstGeom>
        </p:spPr>
      </p:pic>
      <p:sp>
        <p:nvSpPr>
          <p:cNvPr id="4" name="TextBox 4">
            <a:extLst>
              <a:ext uri="{FF2B5EF4-FFF2-40B4-BE49-F238E27FC236}">
                <a16:creationId xmlns:a16="http://schemas.microsoft.com/office/drawing/2014/main" id="{E5AD8DCF-F476-4C1F-473F-EF89EA9EBF0C}"/>
              </a:ext>
            </a:extLst>
          </p:cNvPr>
          <p:cNvSpPr txBox="1"/>
          <p:nvPr/>
        </p:nvSpPr>
        <p:spPr>
          <a:xfrm>
            <a:off x="6858000" y="4838354"/>
            <a:ext cx="7099300" cy="1778000"/>
          </a:xfrm>
          <a:prstGeom prst="rect">
            <a:avLst/>
          </a:prstGeom>
        </p:spPr>
        <p:txBody>
          <a:bodyPr lIns="0" tIns="0" rIns="0" bIns="0" rtlCol="0" anchor="t"/>
          <a:lstStyle/>
          <a:p>
            <a:pPr>
              <a:lnSpc>
                <a:spcPct val="143590"/>
              </a:lnSpc>
            </a:pPr>
            <a:r>
              <a:rPr lang="ko-KR" altLang="en-US" sz="9600" dirty="0">
                <a:latin typeface="Pretendard SemiBold" panose="02000703000000020004" pitchFamily="2" charset="-127"/>
                <a:ea typeface="Pretendard SemiBold" panose="02000703000000020004" pitchFamily="2" charset="-127"/>
                <a:cs typeface="Pretendard SemiBold" panose="02000703000000020004" pitchFamily="2" charset="-127"/>
              </a:rPr>
              <a:t>프로젝트 개요</a:t>
            </a:r>
            <a:endParaRPr lang="en-US" altLang="ko-KR" sz="9600" dirty="0">
              <a:latin typeface="Pretendard SemiBold" panose="02000703000000020004" pitchFamily="2" charset="-127"/>
              <a:ea typeface="Pretendard SemiBold" panose="02000703000000020004" pitchFamily="2" charset="-127"/>
              <a:cs typeface="Pretendard SemiBold" panose="02000703000000020004" pitchFamily="2" charset="-127"/>
            </a:endParaRPr>
          </a:p>
        </p:txBody>
      </p:sp>
      <p:sp>
        <p:nvSpPr>
          <p:cNvPr id="65" name="TextBox 64">
            <a:extLst>
              <a:ext uri="{FF2B5EF4-FFF2-40B4-BE49-F238E27FC236}">
                <a16:creationId xmlns:a16="http://schemas.microsoft.com/office/drawing/2014/main" id="{F1B3F6F4-7200-D64D-A9DB-FBCA67C289E6}"/>
              </a:ext>
            </a:extLst>
          </p:cNvPr>
          <p:cNvSpPr txBox="1"/>
          <p:nvPr/>
        </p:nvSpPr>
        <p:spPr>
          <a:xfrm>
            <a:off x="2114550" y="2057400"/>
            <a:ext cx="4340283" cy="6011839"/>
          </a:xfrm>
          <a:prstGeom prst="rect">
            <a:avLst/>
          </a:prstGeom>
          <a:noFill/>
        </p:spPr>
        <p:txBody>
          <a:bodyPr wrap="square">
            <a:spAutoFit/>
          </a:bodyPr>
          <a:lstStyle/>
          <a:p>
            <a:pPr>
              <a:lnSpc>
                <a:spcPct val="143590"/>
              </a:lnSpc>
            </a:pPr>
            <a:r>
              <a:rPr lang="en-US" altLang="ko-KR" sz="30000" dirty="0">
                <a:solidFill>
                  <a:srgbClr val="1A7AE1"/>
                </a:solidFill>
                <a:latin typeface="Pretendard Regular" panose="02000503000000020004" pitchFamily="2" charset="-127"/>
                <a:ea typeface="Pretendard Regular" panose="02000503000000020004" pitchFamily="2" charset="-127"/>
                <a:cs typeface="Pretendard Regular" panose="02000503000000020004" pitchFamily="2" charset="-127"/>
              </a:rPr>
              <a:t>01</a:t>
            </a:r>
          </a:p>
        </p:txBody>
      </p:sp>
      <p:cxnSp>
        <p:nvCxnSpPr>
          <p:cNvPr id="67" name="직선 연결선 66">
            <a:extLst>
              <a:ext uri="{FF2B5EF4-FFF2-40B4-BE49-F238E27FC236}">
                <a16:creationId xmlns:a16="http://schemas.microsoft.com/office/drawing/2014/main" id="{BECE42E4-6CAD-EEE8-4EFC-D77F43A039DC}"/>
              </a:ext>
            </a:extLst>
          </p:cNvPr>
          <p:cNvCxnSpPr>
            <a:cxnSpLocks/>
          </p:cNvCxnSpPr>
          <p:nvPr/>
        </p:nvCxnSpPr>
        <p:spPr>
          <a:xfrm>
            <a:off x="6661150" y="6858000"/>
            <a:ext cx="13760450" cy="0"/>
          </a:xfrm>
          <a:prstGeom prst="line">
            <a:avLst/>
          </a:prstGeom>
          <a:ln w="57150">
            <a:solidFill>
              <a:srgbClr val="1A7AE1"/>
            </a:solidFill>
          </a:ln>
        </p:spPr>
        <p:style>
          <a:lnRef idx="1">
            <a:schemeClr val="accent1"/>
          </a:lnRef>
          <a:fillRef idx="0">
            <a:schemeClr val="accent1"/>
          </a:fillRef>
          <a:effectRef idx="0">
            <a:schemeClr val="accent1"/>
          </a:effectRef>
          <a:fontRef idx="minor">
            <a:schemeClr val="tx1"/>
          </a:fontRef>
        </p:style>
      </p:cxnSp>
      <p:cxnSp>
        <p:nvCxnSpPr>
          <p:cNvPr id="68" name="직선 연결선 67">
            <a:extLst>
              <a:ext uri="{FF2B5EF4-FFF2-40B4-BE49-F238E27FC236}">
                <a16:creationId xmlns:a16="http://schemas.microsoft.com/office/drawing/2014/main" id="{01E91654-F14B-98C9-6425-56224A590B85}"/>
              </a:ext>
            </a:extLst>
          </p:cNvPr>
          <p:cNvCxnSpPr>
            <a:cxnSpLocks/>
          </p:cNvCxnSpPr>
          <p:nvPr/>
        </p:nvCxnSpPr>
        <p:spPr>
          <a:xfrm>
            <a:off x="4857114" y="3191568"/>
            <a:ext cx="781686" cy="0"/>
          </a:xfrm>
          <a:prstGeom prst="line">
            <a:avLst/>
          </a:prstGeom>
          <a:ln w="9525">
            <a:solidFill>
              <a:srgbClr val="1A7AE1"/>
            </a:solidFill>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2CED0BD0-ECB4-FFA6-046A-571E4DFE0EDD}"/>
              </a:ext>
            </a:extLst>
          </p:cNvPr>
          <p:cNvSpPr txBox="1"/>
          <p:nvPr/>
        </p:nvSpPr>
        <p:spPr>
          <a:xfrm>
            <a:off x="2514600" y="2872827"/>
            <a:ext cx="3048000" cy="637482"/>
          </a:xfrm>
          <a:prstGeom prst="rect">
            <a:avLst/>
          </a:prstGeom>
          <a:noFill/>
        </p:spPr>
        <p:txBody>
          <a:bodyPr wrap="square">
            <a:spAutoFit/>
          </a:bodyPr>
          <a:lstStyle/>
          <a:p>
            <a:pPr lvl="0" algn="l">
              <a:lnSpc>
                <a:spcPct val="107899"/>
              </a:lnSpc>
            </a:pPr>
            <a:r>
              <a:rPr lang="en-US" altLang="ko-KR" sz="3500" dirty="0">
                <a:solidFill>
                  <a:srgbClr val="1A7AE1"/>
                </a:solidFill>
                <a:latin typeface="Pretendard Medium"/>
                <a:ea typeface="Pretendard Medium"/>
                <a:cs typeface="Pretendard Medium"/>
              </a:rPr>
              <a:t>CHAPTER</a:t>
            </a:r>
            <a:endParaRPr lang="en-US" altLang="ko-KR" sz="3500" b="0" i="0" u="none" strike="noStrike" dirty="0">
              <a:solidFill>
                <a:srgbClr val="1A7AE1"/>
              </a:solidFill>
              <a:latin typeface="Pretendard Medium"/>
              <a:ea typeface="Pretendard Medium"/>
              <a:cs typeface="Pretendard Medium"/>
            </a:endParaRPr>
          </a:p>
        </p:txBody>
      </p:sp>
      <p:sp>
        <p:nvSpPr>
          <p:cNvPr id="76" name="타원 75">
            <a:extLst>
              <a:ext uri="{FF2B5EF4-FFF2-40B4-BE49-F238E27FC236}">
                <a16:creationId xmlns:a16="http://schemas.microsoft.com/office/drawing/2014/main" id="{ADA9FB28-9A8E-F1B9-9285-7540B2322D2A}"/>
              </a:ext>
            </a:extLst>
          </p:cNvPr>
          <p:cNvSpPr/>
          <p:nvPr/>
        </p:nvSpPr>
        <p:spPr>
          <a:xfrm>
            <a:off x="20246913" y="6704980"/>
            <a:ext cx="303274" cy="304800"/>
          </a:xfrm>
          <a:prstGeom prst="ellipse">
            <a:avLst/>
          </a:prstGeom>
          <a:solidFill>
            <a:srgbClr val="1A7AE1"/>
          </a:solidFill>
          <a:ln>
            <a:solidFill>
              <a:srgbClr val="1A7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7" name="타원 76">
            <a:extLst>
              <a:ext uri="{FF2B5EF4-FFF2-40B4-BE49-F238E27FC236}">
                <a16:creationId xmlns:a16="http://schemas.microsoft.com/office/drawing/2014/main" id="{50DB1385-1C60-4241-819F-E59C5D0053F3}"/>
              </a:ext>
            </a:extLst>
          </p:cNvPr>
          <p:cNvSpPr/>
          <p:nvPr/>
        </p:nvSpPr>
        <p:spPr>
          <a:xfrm>
            <a:off x="6934200" y="7620000"/>
            <a:ext cx="152400" cy="137447"/>
          </a:xfrm>
          <a:prstGeom prst="ellipse">
            <a:avLst/>
          </a:prstGeom>
          <a:solidFill>
            <a:srgbClr val="1A7AE1"/>
          </a:solidFill>
          <a:ln>
            <a:solidFill>
              <a:srgbClr val="1A7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8" name="타원 77">
            <a:extLst>
              <a:ext uri="{FF2B5EF4-FFF2-40B4-BE49-F238E27FC236}">
                <a16:creationId xmlns:a16="http://schemas.microsoft.com/office/drawing/2014/main" id="{DE9AC081-BD1B-FCDE-A8FB-0FF35DB3B731}"/>
              </a:ext>
            </a:extLst>
          </p:cNvPr>
          <p:cNvSpPr/>
          <p:nvPr/>
        </p:nvSpPr>
        <p:spPr>
          <a:xfrm>
            <a:off x="6934200" y="8554605"/>
            <a:ext cx="152400" cy="137447"/>
          </a:xfrm>
          <a:prstGeom prst="ellipse">
            <a:avLst/>
          </a:prstGeom>
          <a:solidFill>
            <a:srgbClr val="1A7AE1"/>
          </a:solidFill>
          <a:ln>
            <a:solidFill>
              <a:srgbClr val="1A7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9" name="타원 78">
            <a:extLst>
              <a:ext uri="{FF2B5EF4-FFF2-40B4-BE49-F238E27FC236}">
                <a16:creationId xmlns:a16="http://schemas.microsoft.com/office/drawing/2014/main" id="{0DA381F5-1A07-1D27-93CD-2AC6F5F3AE68}"/>
              </a:ext>
            </a:extLst>
          </p:cNvPr>
          <p:cNvSpPr/>
          <p:nvPr/>
        </p:nvSpPr>
        <p:spPr>
          <a:xfrm>
            <a:off x="6934200" y="9465397"/>
            <a:ext cx="152400" cy="137447"/>
          </a:xfrm>
          <a:prstGeom prst="ellipse">
            <a:avLst/>
          </a:prstGeom>
          <a:solidFill>
            <a:srgbClr val="1A7AE1"/>
          </a:solidFill>
          <a:ln>
            <a:solidFill>
              <a:srgbClr val="1A7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0" name="타원 79">
            <a:extLst>
              <a:ext uri="{FF2B5EF4-FFF2-40B4-BE49-F238E27FC236}">
                <a16:creationId xmlns:a16="http://schemas.microsoft.com/office/drawing/2014/main" id="{EBABA909-D14D-F5E2-6B51-3C443F8865D0}"/>
              </a:ext>
            </a:extLst>
          </p:cNvPr>
          <p:cNvSpPr/>
          <p:nvPr/>
        </p:nvSpPr>
        <p:spPr>
          <a:xfrm>
            <a:off x="6934200" y="10400955"/>
            <a:ext cx="152400" cy="137446"/>
          </a:xfrm>
          <a:prstGeom prst="ellipse">
            <a:avLst/>
          </a:prstGeom>
          <a:solidFill>
            <a:srgbClr val="1A7AE1"/>
          </a:solidFill>
          <a:ln>
            <a:solidFill>
              <a:srgbClr val="1A7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a:extLst>
              <a:ext uri="{FF2B5EF4-FFF2-40B4-BE49-F238E27FC236}">
                <a16:creationId xmlns:a16="http://schemas.microsoft.com/office/drawing/2014/main" id="{5A599135-E5FD-C0E9-7453-F93BCB15F57D}"/>
              </a:ext>
            </a:extLst>
          </p:cNvPr>
          <p:cNvSpPr txBox="1"/>
          <p:nvPr/>
        </p:nvSpPr>
        <p:spPr>
          <a:xfrm>
            <a:off x="7389018" y="7338139"/>
            <a:ext cx="2605087" cy="644857"/>
          </a:xfrm>
          <a:prstGeom prst="rect">
            <a:avLst/>
          </a:prstGeom>
          <a:noFill/>
        </p:spPr>
        <p:txBody>
          <a:bodyPr wrap="square">
            <a:spAutoFit/>
          </a:bodyPr>
          <a:lstStyle/>
          <a:p>
            <a:pPr lvl="0">
              <a:lnSpc>
                <a:spcPct val="143590"/>
              </a:lnSpc>
            </a:pPr>
            <a:r>
              <a:rPr lang="en-US" altLang="ko-KR" sz="2800" spc="-100" dirty="0" err="1">
                <a:solidFill>
                  <a:srgbClr val="000000">
                    <a:alpha val="70196"/>
                  </a:srgbClr>
                </a:solidFill>
                <a:latin typeface="Pretendard Medium"/>
                <a:ea typeface="Pretendard Medium"/>
                <a:cs typeface="Pretendard Medium"/>
              </a:rPr>
              <a:t>팀원소개</a:t>
            </a:r>
            <a:endParaRPr lang="en-US" altLang="ko-KR" sz="2800" spc="-100" dirty="0">
              <a:solidFill>
                <a:srgbClr val="000000">
                  <a:alpha val="70196"/>
                </a:srgbClr>
              </a:solidFill>
              <a:latin typeface="Pretendard Medium"/>
              <a:ea typeface="Pretendard Medium"/>
              <a:cs typeface="Pretendard Medium"/>
            </a:endParaRPr>
          </a:p>
        </p:txBody>
      </p:sp>
      <p:sp>
        <p:nvSpPr>
          <p:cNvPr id="83" name="TextBox 82">
            <a:extLst>
              <a:ext uri="{FF2B5EF4-FFF2-40B4-BE49-F238E27FC236}">
                <a16:creationId xmlns:a16="http://schemas.microsoft.com/office/drawing/2014/main" id="{B4640BDC-2B51-EF6B-8D46-546BA82864C9}"/>
              </a:ext>
            </a:extLst>
          </p:cNvPr>
          <p:cNvSpPr txBox="1"/>
          <p:nvPr/>
        </p:nvSpPr>
        <p:spPr>
          <a:xfrm>
            <a:off x="7377113" y="8271407"/>
            <a:ext cx="2605087" cy="644857"/>
          </a:xfrm>
          <a:prstGeom prst="rect">
            <a:avLst/>
          </a:prstGeom>
          <a:noFill/>
        </p:spPr>
        <p:txBody>
          <a:bodyPr wrap="square">
            <a:spAutoFit/>
          </a:bodyPr>
          <a:lstStyle/>
          <a:p>
            <a:pPr lvl="0">
              <a:lnSpc>
                <a:spcPct val="143590"/>
              </a:lnSpc>
            </a:pPr>
            <a:r>
              <a:rPr lang="en-US" altLang="ko-KR" sz="2800" spc="-100" dirty="0">
                <a:solidFill>
                  <a:srgbClr val="000000">
                    <a:alpha val="70196"/>
                  </a:srgbClr>
                </a:solidFill>
                <a:latin typeface="Pretendard Medium"/>
                <a:ea typeface="Pretendard Medium"/>
                <a:cs typeface="Pretendard Medium"/>
              </a:rPr>
              <a:t>WBS</a:t>
            </a:r>
          </a:p>
        </p:txBody>
      </p:sp>
      <p:sp>
        <p:nvSpPr>
          <p:cNvPr id="84" name="TextBox 83">
            <a:extLst>
              <a:ext uri="{FF2B5EF4-FFF2-40B4-BE49-F238E27FC236}">
                <a16:creationId xmlns:a16="http://schemas.microsoft.com/office/drawing/2014/main" id="{2B3F9FD8-0BC8-0213-7FC2-0F6585AC6830}"/>
              </a:ext>
            </a:extLst>
          </p:cNvPr>
          <p:cNvSpPr txBox="1"/>
          <p:nvPr/>
        </p:nvSpPr>
        <p:spPr>
          <a:xfrm>
            <a:off x="7333456" y="9147867"/>
            <a:ext cx="3029744" cy="644857"/>
          </a:xfrm>
          <a:prstGeom prst="rect">
            <a:avLst/>
          </a:prstGeom>
          <a:noFill/>
        </p:spPr>
        <p:txBody>
          <a:bodyPr wrap="square">
            <a:spAutoFit/>
          </a:bodyPr>
          <a:lstStyle/>
          <a:p>
            <a:pPr lvl="0">
              <a:lnSpc>
                <a:spcPct val="143590"/>
              </a:lnSpc>
            </a:pPr>
            <a:r>
              <a:rPr lang="en-US" altLang="ko-KR" sz="2800" spc="-100" dirty="0" err="1">
                <a:solidFill>
                  <a:srgbClr val="000000">
                    <a:alpha val="70196"/>
                  </a:srgbClr>
                </a:solidFill>
                <a:latin typeface="Pretendard Medium"/>
                <a:ea typeface="Pretendard Medium"/>
                <a:cs typeface="Pretendard Medium"/>
              </a:rPr>
              <a:t>프로젝트</a:t>
            </a:r>
            <a:r>
              <a:rPr lang="en-US" altLang="ko-KR" sz="2800" spc="-100" dirty="0">
                <a:solidFill>
                  <a:srgbClr val="000000">
                    <a:alpha val="70196"/>
                  </a:srgbClr>
                </a:solidFill>
                <a:latin typeface="Pretendard Medium"/>
                <a:ea typeface="Pretendard Medium"/>
                <a:cs typeface="Pretendard Medium"/>
              </a:rPr>
              <a:t> </a:t>
            </a:r>
            <a:r>
              <a:rPr lang="en-US" altLang="ko-KR" sz="2800" spc="-100" dirty="0" err="1">
                <a:solidFill>
                  <a:srgbClr val="000000">
                    <a:alpha val="70196"/>
                  </a:srgbClr>
                </a:solidFill>
                <a:latin typeface="Pretendard Medium"/>
                <a:ea typeface="Pretendard Medium"/>
                <a:cs typeface="Pretendard Medium"/>
              </a:rPr>
              <a:t>선정</a:t>
            </a:r>
            <a:r>
              <a:rPr lang="en-US" altLang="ko-KR" sz="2800" spc="-100" dirty="0">
                <a:solidFill>
                  <a:srgbClr val="000000">
                    <a:alpha val="70196"/>
                  </a:srgbClr>
                </a:solidFill>
                <a:latin typeface="Pretendard Medium"/>
                <a:ea typeface="Pretendard Medium"/>
                <a:cs typeface="Pretendard Medium"/>
              </a:rPr>
              <a:t> </a:t>
            </a:r>
            <a:r>
              <a:rPr lang="en-US" altLang="ko-KR" sz="2800" spc="-100" dirty="0" err="1">
                <a:solidFill>
                  <a:srgbClr val="000000">
                    <a:alpha val="70196"/>
                  </a:srgbClr>
                </a:solidFill>
                <a:latin typeface="Pretendard Medium"/>
                <a:ea typeface="Pretendard Medium"/>
                <a:cs typeface="Pretendard Medium"/>
              </a:rPr>
              <a:t>개요</a:t>
            </a:r>
            <a:endParaRPr lang="en-US" altLang="ko-KR" sz="2800" spc="-100" dirty="0">
              <a:solidFill>
                <a:srgbClr val="000000">
                  <a:alpha val="70196"/>
                </a:srgbClr>
              </a:solidFill>
              <a:latin typeface="Pretendard Medium"/>
              <a:ea typeface="Pretendard Medium"/>
              <a:cs typeface="Pretendard Medium"/>
            </a:endParaRPr>
          </a:p>
        </p:txBody>
      </p:sp>
      <p:sp>
        <p:nvSpPr>
          <p:cNvPr id="85" name="TextBox 84">
            <a:extLst>
              <a:ext uri="{FF2B5EF4-FFF2-40B4-BE49-F238E27FC236}">
                <a16:creationId xmlns:a16="http://schemas.microsoft.com/office/drawing/2014/main" id="{E24DE0C5-4E44-7666-FFBA-95A551150FFF}"/>
              </a:ext>
            </a:extLst>
          </p:cNvPr>
          <p:cNvSpPr txBox="1"/>
          <p:nvPr/>
        </p:nvSpPr>
        <p:spPr>
          <a:xfrm>
            <a:off x="7389019" y="10092121"/>
            <a:ext cx="2605087" cy="644857"/>
          </a:xfrm>
          <a:prstGeom prst="rect">
            <a:avLst/>
          </a:prstGeom>
          <a:noFill/>
        </p:spPr>
        <p:txBody>
          <a:bodyPr wrap="square">
            <a:spAutoFit/>
          </a:bodyPr>
          <a:lstStyle/>
          <a:p>
            <a:pPr lvl="0">
              <a:lnSpc>
                <a:spcPct val="143590"/>
              </a:lnSpc>
            </a:pPr>
            <a:r>
              <a:rPr lang="en-US" altLang="ko-KR" sz="2800" spc="-100" dirty="0" err="1">
                <a:solidFill>
                  <a:srgbClr val="000000">
                    <a:alpha val="70196"/>
                  </a:srgbClr>
                </a:solidFill>
                <a:latin typeface="Pretendard Medium"/>
                <a:ea typeface="Pretendard Medium"/>
                <a:cs typeface="Pretendard Medium"/>
              </a:rPr>
              <a:t>타겟</a:t>
            </a:r>
            <a:r>
              <a:rPr lang="en-US" altLang="ko-KR" sz="2800" spc="-100" dirty="0">
                <a:solidFill>
                  <a:srgbClr val="000000">
                    <a:alpha val="70196"/>
                  </a:srgbClr>
                </a:solidFill>
                <a:latin typeface="Pretendard Medium"/>
                <a:ea typeface="Pretendard Medium"/>
                <a:cs typeface="Pretendard Medium"/>
              </a:rPr>
              <a:t> </a:t>
            </a:r>
            <a:r>
              <a:rPr lang="en-US" altLang="ko-KR" sz="2800" spc="-100" dirty="0" err="1">
                <a:solidFill>
                  <a:srgbClr val="000000">
                    <a:alpha val="70196"/>
                  </a:srgbClr>
                </a:solidFill>
                <a:latin typeface="Pretendard Medium"/>
                <a:ea typeface="Pretendard Medium"/>
                <a:cs typeface="Pretendard Medium"/>
              </a:rPr>
              <a:t>기업</a:t>
            </a:r>
            <a:r>
              <a:rPr lang="en-US" altLang="ko-KR" sz="2800" spc="-100" dirty="0">
                <a:solidFill>
                  <a:srgbClr val="000000">
                    <a:alpha val="70196"/>
                  </a:srgbClr>
                </a:solidFill>
                <a:latin typeface="Pretendard Medium"/>
                <a:ea typeface="Pretendard Medium"/>
                <a:cs typeface="Pretendard Medium"/>
              </a:rPr>
              <a:t> </a:t>
            </a:r>
            <a:r>
              <a:rPr lang="en-US" altLang="ko-KR" sz="2800" spc="-100" dirty="0" err="1">
                <a:solidFill>
                  <a:srgbClr val="000000">
                    <a:alpha val="70196"/>
                  </a:srgbClr>
                </a:solidFill>
                <a:latin typeface="Pretendard Medium"/>
                <a:ea typeface="Pretendard Medium"/>
                <a:cs typeface="Pretendard Medium"/>
              </a:rPr>
              <a:t>분석</a:t>
            </a:r>
            <a:endParaRPr lang="en-US" altLang="ko-KR" sz="2800" spc="-100" dirty="0">
              <a:solidFill>
                <a:srgbClr val="000000">
                  <a:alpha val="70196"/>
                </a:srgbClr>
              </a:solidFill>
              <a:latin typeface="Pretendard Medium"/>
              <a:ea typeface="Pretendard Medium"/>
              <a:cs typeface="Pretendard Medium"/>
            </a:endParaRPr>
          </a:p>
        </p:txBody>
      </p:sp>
      <p:sp>
        <p:nvSpPr>
          <p:cNvPr id="86" name="타원 85">
            <a:extLst>
              <a:ext uri="{FF2B5EF4-FFF2-40B4-BE49-F238E27FC236}">
                <a16:creationId xmlns:a16="http://schemas.microsoft.com/office/drawing/2014/main" id="{6BE1C03C-A759-4953-FCC8-28C380EBF159}"/>
              </a:ext>
            </a:extLst>
          </p:cNvPr>
          <p:cNvSpPr/>
          <p:nvPr/>
        </p:nvSpPr>
        <p:spPr>
          <a:xfrm>
            <a:off x="17326031" y="3808760"/>
            <a:ext cx="6219769" cy="6249640"/>
          </a:xfrm>
          <a:prstGeom prst="ellipse">
            <a:avLst/>
          </a:prstGeom>
          <a:noFill/>
          <a:ln w="38100">
            <a:solidFill>
              <a:srgbClr val="1A7AE1">
                <a:alpha val="3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9" name="타원 88">
            <a:extLst>
              <a:ext uri="{FF2B5EF4-FFF2-40B4-BE49-F238E27FC236}">
                <a16:creationId xmlns:a16="http://schemas.microsoft.com/office/drawing/2014/main" id="{D48B97F5-738C-88A8-76D6-E5DEBABFE7F1}"/>
              </a:ext>
            </a:extLst>
          </p:cNvPr>
          <p:cNvSpPr/>
          <p:nvPr/>
        </p:nvSpPr>
        <p:spPr>
          <a:xfrm>
            <a:off x="18643481" y="5180421"/>
            <a:ext cx="3584867" cy="3546788"/>
          </a:xfrm>
          <a:prstGeom prst="ellipse">
            <a:avLst/>
          </a:prstGeom>
          <a:solidFill>
            <a:srgbClr val="1A7AE1">
              <a:alpha val="8000"/>
            </a:srgb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0" name="원형: 비어 있음 89">
            <a:extLst>
              <a:ext uri="{FF2B5EF4-FFF2-40B4-BE49-F238E27FC236}">
                <a16:creationId xmlns:a16="http://schemas.microsoft.com/office/drawing/2014/main" id="{F64A2718-4081-F307-8B7C-DD526BB7FAD3}"/>
              </a:ext>
            </a:extLst>
          </p:cNvPr>
          <p:cNvSpPr/>
          <p:nvPr/>
        </p:nvSpPr>
        <p:spPr>
          <a:xfrm>
            <a:off x="17781407" y="4228873"/>
            <a:ext cx="5334000" cy="5415371"/>
          </a:xfrm>
          <a:prstGeom prst="donut">
            <a:avLst>
              <a:gd name="adj" fmla="val 3577"/>
            </a:avLst>
          </a:prstGeom>
          <a:solidFill>
            <a:srgbClr val="1A7AE1">
              <a:alpha val="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Tree>
    <p:extLst>
      <p:ext uri="{BB962C8B-B14F-4D97-AF65-F5344CB8AC3E}">
        <p14:creationId xmlns:p14="http://schemas.microsoft.com/office/powerpoint/2010/main" val="1275763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9" name="Picture 2">
            <a:extLst>
              <a:ext uri="{FF2B5EF4-FFF2-40B4-BE49-F238E27FC236}">
                <a16:creationId xmlns:a16="http://schemas.microsoft.com/office/drawing/2014/main" id="{B7CCCC51-BD77-FE0E-76AB-8AE8C6AA9FF7}"/>
              </a:ext>
            </a:extLst>
          </p:cNvPr>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2" name="Picture 2"/>
          <p:cNvPicPr>
            <a:picLocks noChangeAspect="1"/>
          </p:cNvPicPr>
          <p:nvPr/>
        </p:nvPicPr>
        <p:blipFill>
          <a:blip r:embed="rId3"/>
          <a:stretch>
            <a:fillRect/>
          </a:stretch>
        </p:blipFill>
        <p:spPr>
          <a:xfrm>
            <a:off x="762000" y="1092200"/>
            <a:ext cx="22860000" cy="12700"/>
          </a:xfrm>
          <a:prstGeom prst="rect">
            <a:avLst/>
          </a:prstGeom>
        </p:spPr>
      </p:pic>
      <p:pic>
        <p:nvPicPr>
          <p:cNvPr id="3" name="Picture 3"/>
          <p:cNvPicPr>
            <a:picLocks noChangeAspect="1"/>
          </p:cNvPicPr>
          <p:nvPr/>
        </p:nvPicPr>
        <p:blipFill>
          <a:blip r:embed="rId4"/>
          <a:stretch>
            <a:fillRect/>
          </a:stretch>
        </p:blipFill>
        <p:spPr>
          <a:xfrm rot="5400000">
            <a:off x="3200400" y="787400"/>
            <a:ext cx="635000" cy="12700"/>
          </a:xfrm>
          <a:prstGeom prst="rect">
            <a:avLst/>
          </a:prstGeom>
        </p:spPr>
      </p:pic>
      <p:pic>
        <p:nvPicPr>
          <p:cNvPr id="4" name="Picture 4"/>
          <p:cNvPicPr>
            <a:picLocks noChangeAspect="1"/>
          </p:cNvPicPr>
          <p:nvPr/>
        </p:nvPicPr>
        <p:blipFill>
          <a:blip r:embed="rId4"/>
          <a:stretch>
            <a:fillRect/>
          </a:stretch>
        </p:blipFill>
        <p:spPr>
          <a:xfrm rot="5400000">
            <a:off x="222250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6337300" y="787400"/>
            <a:ext cx="635000" cy="12700"/>
          </a:xfrm>
          <a:prstGeom prst="rect">
            <a:avLst/>
          </a:prstGeom>
        </p:spPr>
      </p:pic>
      <p:pic>
        <p:nvPicPr>
          <p:cNvPr id="6" name="Picture 6"/>
          <p:cNvPicPr>
            <a:picLocks noChangeAspect="1"/>
          </p:cNvPicPr>
          <p:nvPr/>
        </p:nvPicPr>
        <p:blipFill>
          <a:blip r:embed="rId3"/>
          <a:stretch>
            <a:fillRect/>
          </a:stretch>
        </p:blipFill>
        <p:spPr>
          <a:xfrm>
            <a:off x="723900" y="457200"/>
            <a:ext cx="22860000" cy="12700"/>
          </a:xfrm>
          <a:prstGeom prst="rect">
            <a:avLst/>
          </a:prstGeom>
        </p:spPr>
      </p:pic>
      <p:pic>
        <p:nvPicPr>
          <p:cNvPr id="7" name="Picture 7"/>
          <p:cNvPicPr>
            <a:picLocks noChangeAspect="1"/>
          </p:cNvPicPr>
          <p:nvPr/>
        </p:nvPicPr>
        <p:blipFill>
          <a:blip r:embed="rId5"/>
          <a:stretch>
            <a:fillRect/>
          </a:stretch>
        </p:blipFill>
        <p:spPr>
          <a:xfrm>
            <a:off x="1485900" y="1612900"/>
            <a:ext cx="88900" cy="850900"/>
          </a:xfrm>
          <a:prstGeom prst="rect">
            <a:avLst/>
          </a:prstGeom>
        </p:spPr>
      </p:pic>
      <p:sp>
        <p:nvSpPr>
          <p:cNvPr id="8" name="TextBox 8"/>
          <p:cNvSpPr txBox="1"/>
          <p:nvPr/>
        </p:nvSpPr>
        <p:spPr>
          <a:xfrm>
            <a:off x="1943100" y="1409700"/>
            <a:ext cx="106807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팀원 소개</a:t>
            </a:r>
          </a:p>
        </p:txBody>
      </p:sp>
      <p:pic>
        <p:nvPicPr>
          <p:cNvPr id="9" name="Picture 9"/>
          <p:cNvPicPr>
            <a:picLocks noChangeAspect="1"/>
          </p:cNvPicPr>
          <p:nvPr/>
        </p:nvPicPr>
        <p:blipFill>
          <a:blip r:embed="rId6"/>
          <a:stretch>
            <a:fillRect/>
          </a:stretch>
        </p:blipFill>
        <p:spPr>
          <a:xfrm>
            <a:off x="1485900" y="3771900"/>
            <a:ext cx="6858000" cy="3187700"/>
          </a:xfrm>
          <a:prstGeom prst="rect">
            <a:avLst/>
          </a:prstGeom>
          <a:effectLst>
            <a:outerShdw blurRad="79726" dist="73593" dir="2700000">
              <a:srgbClr val="1A7AE1">
                <a:alpha val="15000"/>
              </a:srgbClr>
            </a:outerShdw>
          </a:effectLst>
        </p:spPr>
      </p:pic>
      <p:sp>
        <p:nvSpPr>
          <p:cNvPr id="10" name="TextBox 10"/>
          <p:cNvSpPr txBox="1"/>
          <p:nvPr/>
        </p:nvSpPr>
        <p:spPr>
          <a:xfrm>
            <a:off x="2527300" y="4140200"/>
            <a:ext cx="2921000" cy="469900"/>
          </a:xfrm>
          <a:prstGeom prst="rect">
            <a:avLst/>
          </a:prstGeom>
        </p:spPr>
        <p:txBody>
          <a:bodyPr lIns="0" tIns="16933" rIns="0" bIns="0" rtlCol="0" anchor="t"/>
          <a:lstStyle/>
          <a:p>
            <a:pPr lvl="0" algn="l">
              <a:lnSpc>
                <a:spcPct val="107899"/>
              </a:lnSpc>
            </a:pPr>
            <a:r>
              <a:rPr lang="en-US" sz="2666" b="0" i="0" u="none" strike="noStrike">
                <a:solidFill>
                  <a:srgbClr val="1A7AE1"/>
                </a:solidFill>
                <a:latin typeface="Pretendard Medium"/>
                <a:ea typeface="Pretendard Medium"/>
                <a:cs typeface="Pretendard Medium"/>
              </a:rPr>
              <a:t>팀장</a:t>
            </a:r>
          </a:p>
        </p:txBody>
      </p:sp>
      <p:pic>
        <p:nvPicPr>
          <p:cNvPr id="11" name="Picture 11"/>
          <p:cNvPicPr>
            <a:picLocks noChangeAspect="1"/>
          </p:cNvPicPr>
          <p:nvPr/>
        </p:nvPicPr>
        <p:blipFill>
          <a:blip r:embed="rId7"/>
          <a:stretch>
            <a:fillRect/>
          </a:stretch>
        </p:blipFill>
        <p:spPr>
          <a:xfrm>
            <a:off x="4000500" y="4191000"/>
            <a:ext cx="3848100" cy="2324100"/>
          </a:xfrm>
          <a:prstGeom prst="rect">
            <a:avLst/>
          </a:prstGeom>
          <a:effectLst>
            <a:outerShdw blurRad="57955" dist="53497" dir="2700000">
              <a:srgbClr val="1A7AE1">
                <a:alpha val="15000"/>
              </a:srgbClr>
            </a:outerShdw>
          </a:effectLst>
        </p:spPr>
      </p:pic>
      <p:sp>
        <p:nvSpPr>
          <p:cNvPr id="12" name="TextBox 12"/>
          <p:cNvSpPr txBox="1"/>
          <p:nvPr/>
        </p:nvSpPr>
        <p:spPr>
          <a:xfrm>
            <a:off x="1435100" y="4711700"/>
            <a:ext cx="27051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Medium"/>
                <a:ea typeface="Pretendard Medium"/>
                <a:cs typeface="Pretendard Medium"/>
              </a:rPr>
              <a:t>백승빈</a:t>
            </a:r>
          </a:p>
        </p:txBody>
      </p:sp>
      <p:pic>
        <p:nvPicPr>
          <p:cNvPr id="13" name="Picture 13"/>
          <p:cNvPicPr>
            <a:picLocks noChangeAspect="1"/>
          </p:cNvPicPr>
          <p:nvPr/>
        </p:nvPicPr>
        <p:blipFill>
          <a:blip r:embed="rId6"/>
          <a:stretch>
            <a:fillRect/>
          </a:stretch>
        </p:blipFill>
        <p:spPr>
          <a:xfrm>
            <a:off x="8877300" y="3784600"/>
            <a:ext cx="6858000" cy="3187700"/>
          </a:xfrm>
          <a:prstGeom prst="rect">
            <a:avLst/>
          </a:prstGeom>
          <a:effectLst>
            <a:outerShdw blurRad="79726" dist="73593" dir="2700000">
              <a:srgbClr val="1A7AE1">
                <a:alpha val="15000"/>
              </a:srgbClr>
            </a:outerShdw>
          </a:effectLst>
        </p:spPr>
      </p:pic>
      <p:sp>
        <p:nvSpPr>
          <p:cNvPr id="14" name="TextBox 14"/>
          <p:cNvSpPr txBox="1"/>
          <p:nvPr/>
        </p:nvSpPr>
        <p:spPr>
          <a:xfrm>
            <a:off x="9893300" y="4140200"/>
            <a:ext cx="2921000" cy="469900"/>
          </a:xfrm>
          <a:prstGeom prst="rect">
            <a:avLst/>
          </a:prstGeom>
        </p:spPr>
        <p:txBody>
          <a:bodyPr lIns="0" tIns="16933" rIns="0" bIns="0" rtlCol="0" anchor="t"/>
          <a:lstStyle/>
          <a:p>
            <a:pPr lvl="0" algn="l">
              <a:lnSpc>
                <a:spcPct val="107899"/>
              </a:lnSpc>
            </a:pPr>
            <a:r>
              <a:rPr lang="en-US" sz="2666" b="0" i="0" u="none" strike="noStrike">
                <a:solidFill>
                  <a:srgbClr val="1A7AE1"/>
                </a:solidFill>
                <a:latin typeface="Pretendard Medium"/>
                <a:ea typeface="Pretendard Medium"/>
                <a:cs typeface="Pretendard Medium"/>
              </a:rPr>
              <a:t>팀원</a:t>
            </a:r>
          </a:p>
        </p:txBody>
      </p:sp>
      <p:pic>
        <p:nvPicPr>
          <p:cNvPr id="15" name="Picture 15"/>
          <p:cNvPicPr>
            <a:picLocks noChangeAspect="1"/>
          </p:cNvPicPr>
          <p:nvPr/>
        </p:nvPicPr>
        <p:blipFill>
          <a:blip r:embed="rId8"/>
          <a:stretch>
            <a:fillRect/>
          </a:stretch>
        </p:blipFill>
        <p:spPr>
          <a:xfrm>
            <a:off x="11379200" y="4203700"/>
            <a:ext cx="3848100" cy="2324100"/>
          </a:xfrm>
          <a:prstGeom prst="rect">
            <a:avLst/>
          </a:prstGeom>
          <a:effectLst>
            <a:outerShdw blurRad="57955" dist="53497" dir="2700000">
              <a:srgbClr val="1A7AE1">
                <a:alpha val="15000"/>
              </a:srgbClr>
            </a:outerShdw>
          </a:effectLst>
        </p:spPr>
      </p:pic>
      <p:pic>
        <p:nvPicPr>
          <p:cNvPr id="16" name="Picture 16"/>
          <p:cNvPicPr>
            <a:picLocks noChangeAspect="1"/>
          </p:cNvPicPr>
          <p:nvPr/>
        </p:nvPicPr>
        <p:blipFill>
          <a:blip r:embed="rId6"/>
          <a:stretch>
            <a:fillRect/>
          </a:stretch>
        </p:blipFill>
        <p:spPr>
          <a:xfrm>
            <a:off x="16256000" y="3771900"/>
            <a:ext cx="6858000" cy="3187700"/>
          </a:xfrm>
          <a:prstGeom prst="rect">
            <a:avLst/>
          </a:prstGeom>
          <a:effectLst>
            <a:outerShdw blurRad="79726" dist="73593" dir="2700000">
              <a:srgbClr val="1A7AE1">
                <a:alpha val="15000"/>
              </a:srgbClr>
            </a:outerShdw>
          </a:effectLst>
        </p:spPr>
      </p:pic>
      <p:sp>
        <p:nvSpPr>
          <p:cNvPr id="17" name="TextBox 17"/>
          <p:cNvSpPr txBox="1"/>
          <p:nvPr/>
        </p:nvSpPr>
        <p:spPr>
          <a:xfrm>
            <a:off x="17246600" y="4114800"/>
            <a:ext cx="2921000" cy="469900"/>
          </a:xfrm>
          <a:prstGeom prst="rect">
            <a:avLst/>
          </a:prstGeom>
        </p:spPr>
        <p:txBody>
          <a:bodyPr lIns="0" tIns="16933" rIns="0" bIns="0" rtlCol="0" anchor="t"/>
          <a:lstStyle/>
          <a:p>
            <a:pPr lvl="0" algn="l">
              <a:lnSpc>
                <a:spcPct val="107899"/>
              </a:lnSpc>
            </a:pPr>
            <a:r>
              <a:rPr lang="en-US" sz="2666" b="0" i="0" u="none" strike="noStrike">
                <a:solidFill>
                  <a:srgbClr val="1A7AE1"/>
                </a:solidFill>
                <a:latin typeface="Pretendard Medium"/>
                <a:ea typeface="Pretendard Medium"/>
                <a:cs typeface="Pretendard Medium"/>
              </a:rPr>
              <a:t>팀원</a:t>
            </a:r>
          </a:p>
        </p:txBody>
      </p:sp>
      <p:pic>
        <p:nvPicPr>
          <p:cNvPr id="18" name="Picture 18"/>
          <p:cNvPicPr>
            <a:picLocks noChangeAspect="1"/>
          </p:cNvPicPr>
          <p:nvPr/>
        </p:nvPicPr>
        <p:blipFill>
          <a:blip r:embed="rId9"/>
          <a:stretch>
            <a:fillRect/>
          </a:stretch>
        </p:blipFill>
        <p:spPr>
          <a:xfrm>
            <a:off x="18872200" y="4191000"/>
            <a:ext cx="3733800" cy="2324100"/>
          </a:xfrm>
          <a:prstGeom prst="rect">
            <a:avLst/>
          </a:prstGeom>
          <a:effectLst>
            <a:outerShdw blurRad="57955" dist="53497" dir="2700000">
              <a:srgbClr val="1A7AE1">
                <a:alpha val="15000"/>
              </a:srgbClr>
            </a:outerShdw>
          </a:effectLst>
        </p:spPr>
      </p:pic>
      <p:pic>
        <p:nvPicPr>
          <p:cNvPr id="19" name="Picture 19"/>
          <p:cNvPicPr>
            <a:picLocks noChangeAspect="1"/>
          </p:cNvPicPr>
          <p:nvPr/>
        </p:nvPicPr>
        <p:blipFill>
          <a:blip r:embed="rId6"/>
          <a:stretch>
            <a:fillRect/>
          </a:stretch>
        </p:blipFill>
        <p:spPr>
          <a:xfrm>
            <a:off x="1485900" y="8712200"/>
            <a:ext cx="6858000" cy="3187700"/>
          </a:xfrm>
          <a:prstGeom prst="rect">
            <a:avLst/>
          </a:prstGeom>
          <a:effectLst>
            <a:outerShdw blurRad="79726" dist="73593" dir="2700000">
              <a:srgbClr val="1A7AE1">
                <a:alpha val="15000"/>
              </a:srgbClr>
            </a:outerShdw>
          </a:effectLst>
        </p:spPr>
      </p:pic>
      <p:sp>
        <p:nvSpPr>
          <p:cNvPr id="20" name="TextBox 20"/>
          <p:cNvSpPr txBox="1"/>
          <p:nvPr/>
        </p:nvSpPr>
        <p:spPr>
          <a:xfrm>
            <a:off x="2527300" y="9080500"/>
            <a:ext cx="2921000" cy="469900"/>
          </a:xfrm>
          <a:prstGeom prst="rect">
            <a:avLst/>
          </a:prstGeom>
        </p:spPr>
        <p:txBody>
          <a:bodyPr lIns="0" tIns="16933" rIns="0" bIns="0" rtlCol="0" anchor="t"/>
          <a:lstStyle/>
          <a:p>
            <a:pPr lvl="0" algn="l">
              <a:lnSpc>
                <a:spcPct val="107899"/>
              </a:lnSpc>
            </a:pPr>
            <a:r>
              <a:rPr lang="en-US" sz="2666" b="0" i="0" u="none" strike="noStrike">
                <a:solidFill>
                  <a:srgbClr val="1A7AE1"/>
                </a:solidFill>
                <a:latin typeface="Pretendard Medium"/>
                <a:ea typeface="Pretendard Medium"/>
                <a:cs typeface="Pretendard Medium"/>
              </a:rPr>
              <a:t>팀원</a:t>
            </a:r>
          </a:p>
        </p:txBody>
      </p:sp>
      <p:pic>
        <p:nvPicPr>
          <p:cNvPr id="21" name="Picture 21"/>
          <p:cNvPicPr>
            <a:picLocks noChangeAspect="1"/>
          </p:cNvPicPr>
          <p:nvPr/>
        </p:nvPicPr>
        <p:blipFill>
          <a:blip r:embed="rId10"/>
          <a:stretch>
            <a:fillRect/>
          </a:stretch>
        </p:blipFill>
        <p:spPr>
          <a:xfrm>
            <a:off x="4000500" y="9131300"/>
            <a:ext cx="3848100" cy="2324100"/>
          </a:xfrm>
          <a:prstGeom prst="rect">
            <a:avLst/>
          </a:prstGeom>
          <a:effectLst>
            <a:outerShdw blurRad="57955" dist="53497" dir="2700000">
              <a:srgbClr val="1A7AE1">
                <a:alpha val="15000"/>
              </a:srgbClr>
            </a:outerShdw>
          </a:effectLst>
        </p:spPr>
      </p:pic>
      <p:pic>
        <p:nvPicPr>
          <p:cNvPr id="22" name="Picture 22"/>
          <p:cNvPicPr>
            <a:picLocks noChangeAspect="1"/>
          </p:cNvPicPr>
          <p:nvPr/>
        </p:nvPicPr>
        <p:blipFill>
          <a:blip r:embed="rId6"/>
          <a:stretch>
            <a:fillRect/>
          </a:stretch>
        </p:blipFill>
        <p:spPr>
          <a:xfrm>
            <a:off x="8877300" y="8724900"/>
            <a:ext cx="6858000" cy="3187700"/>
          </a:xfrm>
          <a:prstGeom prst="rect">
            <a:avLst/>
          </a:prstGeom>
          <a:effectLst>
            <a:outerShdw blurRad="79726" dist="73593" dir="2700000">
              <a:srgbClr val="1A7AE1">
                <a:alpha val="15000"/>
              </a:srgbClr>
            </a:outerShdw>
          </a:effectLst>
        </p:spPr>
      </p:pic>
      <p:sp>
        <p:nvSpPr>
          <p:cNvPr id="23" name="TextBox 23"/>
          <p:cNvSpPr txBox="1"/>
          <p:nvPr/>
        </p:nvSpPr>
        <p:spPr>
          <a:xfrm>
            <a:off x="9969500" y="9093200"/>
            <a:ext cx="2921000" cy="469900"/>
          </a:xfrm>
          <a:prstGeom prst="rect">
            <a:avLst/>
          </a:prstGeom>
        </p:spPr>
        <p:txBody>
          <a:bodyPr lIns="0" tIns="16933" rIns="0" bIns="0" rtlCol="0" anchor="t"/>
          <a:lstStyle/>
          <a:p>
            <a:pPr lvl="0" algn="l">
              <a:lnSpc>
                <a:spcPct val="107899"/>
              </a:lnSpc>
            </a:pPr>
            <a:r>
              <a:rPr lang="en-US" sz="2666" b="0" i="0" u="none" strike="noStrike">
                <a:solidFill>
                  <a:srgbClr val="1A7AE1"/>
                </a:solidFill>
                <a:latin typeface="Pretendard Medium"/>
                <a:ea typeface="Pretendard Medium"/>
                <a:cs typeface="Pretendard Medium"/>
              </a:rPr>
              <a:t>팀원</a:t>
            </a:r>
          </a:p>
        </p:txBody>
      </p:sp>
      <p:pic>
        <p:nvPicPr>
          <p:cNvPr id="24" name="Picture 24"/>
          <p:cNvPicPr>
            <a:picLocks noChangeAspect="1"/>
          </p:cNvPicPr>
          <p:nvPr/>
        </p:nvPicPr>
        <p:blipFill>
          <a:blip r:embed="rId11"/>
          <a:stretch>
            <a:fillRect/>
          </a:stretch>
        </p:blipFill>
        <p:spPr>
          <a:xfrm>
            <a:off x="11379200" y="9144000"/>
            <a:ext cx="3848100" cy="2324100"/>
          </a:xfrm>
          <a:prstGeom prst="rect">
            <a:avLst/>
          </a:prstGeom>
          <a:effectLst>
            <a:outerShdw blurRad="57955" dist="53497" dir="2700000">
              <a:srgbClr val="1A7AE1">
                <a:alpha val="15000"/>
              </a:srgbClr>
            </a:outerShdw>
          </a:effectLst>
        </p:spPr>
      </p:pic>
      <p:pic>
        <p:nvPicPr>
          <p:cNvPr id="25" name="Picture 25"/>
          <p:cNvPicPr>
            <a:picLocks noChangeAspect="1"/>
          </p:cNvPicPr>
          <p:nvPr/>
        </p:nvPicPr>
        <p:blipFill>
          <a:blip r:embed="rId6"/>
          <a:stretch>
            <a:fillRect/>
          </a:stretch>
        </p:blipFill>
        <p:spPr>
          <a:xfrm>
            <a:off x="16256000" y="8712200"/>
            <a:ext cx="6858000" cy="3187700"/>
          </a:xfrm>
          <a:prstGeom prst="rect">
            <a:avLst/>
          </a:prstGeom>
          <a:effectLst>
            <a:outerShdw blurRad="79726" dist="73593" dir="2700000">
              <a:srgbClr val="1A7AE1">
                <a:alpha val="15000"/>
              </a:srgbClr>
            </a:outerShdw>
          </a:effectLst>
        </p:spPr>
      </p:pic>
      <p:sp>
        <p:nvSpPr>
          <p:cNvPr id="26" name="TextBox 26"/>
          <p:cNvSpPr txBox="1"/>
          <p:nvPr/>
        </p:nvSpPr>
        <p:spPr>
          <a:xfrm>
            <a:off x="17348200" y="9067800"/>
            <a:ext cx="2921000" cy="469900"/>
          </a:xfrm>
          <a:prstGeom prst="rect">
            <a:avLst/>
          </a:prstGeom>
        </p:spPr>
        <p:txBody>
          <a:bodyPr lIns="0" tIns="16933" rIns="0" bIns="0" rtlCol="0" anchor="t"/>
          <a:lstStyle/>
          <a:p>
            <a:pPr lvl="0" algn="l">
              <a:lnSpc>
                <a:spcPct val="107899"/>
              </a:lnSpc>
            </a:pPr>
            <a:r>
              <a:rPr lang="en-US" sz="2666" b="0" i="0" u="none" strike="noStrike">
                <a:solidFill>
                  <a:srgbClr val="1A7AE1"/>
                </a:solidFill>
                <a:latin typeface="Pretendard Medium"/>
                <a:ea typeface="Pretendard Medium"/>
                <a:cs typeface="Pretendard Medium"/>
              </a:rPr>
              <a:t>팀원</a:t>
            </a:r>
          </a:p>
        </p:txBody>
      </p:sp>
      <p:pic>
        <p:nvPicPr>
          <p:cNvPr id="27" name="Picture 27"/>
          <p:cNvPicPr>
            <a:picLocks noChangeAspect="1"/>
          </p:cNvPicPr>
          <p:nvPr/>
        </p:nvPicPr>
        <p:blipFill>
          <a:blip r:embed="rId12"/>
          <a:stretch>
            <a:fillRect/>
          </a:stretch>
        </p:blipFill>
        <p:spPr>
          <a:xfrm>
            <a:off x="18770600" y="9131300"/>
            <a:ext cx="3848100" cy="2324100"/>
          </a:xfrm>
          <a:prstGeom prst="rect">
            <a:avLst/>
          </a:prstGeom>
          <a:effectLst>
            <a:outerShdw blurRad="57955" dist="53497" dir="2700000">
              <a:srgbClr val="1A7AE1">
                <a:alpha val="15000"/>
              </a:srgbClr>
            </a:outerShdw>
          </a:effectLst>
        </p:spPr>
      </p:pic>
      <p:pic>
        <p:nvPicPr>
          <p:cNvPr id="28" name="Picture 28"/>
          <p:cNvPicPr>
            <a:picLocks noChangeAspect="1"/>
          </p:cNvPicPr>
          <p:nvPr/>
        </p:nvPicPr>
        <p:blipFill>
          <a:blip r:embed="rId13"/>
          <a:stretch>
            <a:fillRect/>
          </a:stretch>
        </p:blipFill>
        <p:spPr>
          <a:xfrm>
            <a:off x="4533900" y="8280400"/>
            <a:ext cx="2781300" cy="3175000"/>
          </a:xfrm>
          <a:prstGeom prst="rect">
            <a:avLst/>
          </a:prstGeom>
        </p:spPr>
      </p:pic>
      <p:sp>
        <p:nvSpPr>
          <p:cNvPr id="31" name="TextBox 31"/>
          <p:cNvSpPr txBox="1"/>
          <p:nvPr/>
        </p:nvSpPr>
        <p:spPr>
          <a:xfrm>
            <a:off x="2032000" y="5283200"/>
            <a:ext cx="1803400" cy="406400"/>
          </a:xfrm>
          <a:prstGeom prst="rect">
            <a:avLst/>
          </a:prstGeom>
        </p:spPr>
        <p:txBody>
          <a:bodyPr lIns="0" tIns="0" rIns="0" bIns="0" rtlCol="0" anchor="t"/>
          <a:lstStyle/>
          <a:p>
            <a:pPr lvl="0" algn="l">
              <a:lnSpc>
                <a:spcPct val="116199"/>
              </a:lnSpc>
            </a:pPr>
            <a:r>
              <a:rPr lang="en-US" sz="2266" b="0" i="0" u="none" strike="noStrike">
                <a:solidFill>
                  <a:srgbClr val="000000"/>
                </a:solidFill>
                <a:latin typeface="Pretendard Regular"/>
                <a:ea typeface="Pretendard Regular"/>
                <a:cs typeface="Pretendard Regular"/>
              </a:rPr>
              <a:t>보안 프로그램</a:t>
            </a:r>
          </a:p>
        </p:txBody>
      </p:sp>
      <p:sp>
        <p:nvSpPr>
          <p:cNvPr id="32" name="TextBox 32"/>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a:solidFill>
                  <a:srgbClr val="024EA0"/>
                </a:solidFill>
                <a:latin typeface="Geologica Roman Light"/>
                <a:ea typeface="Geologica Roman Light"/>
                <a:cs typeface="Geologica Roman Light"/>
              </a:rPr>
              <a:t>3</a:t>
            </a:r>
          </a:p>
        </p:txBody>
      </p:sp>
      <p:pic>
        <p:nvPicPr>
          <p:cNvPr id="33" name="Picture 33"/>
          <p:cNvPicPr>
            <a:picLocks noChangeAspect="1"/>
          </p:cNvPicPr>
          <p:nvPr/>
        </p:nvPicPr>
        <p:blipFill>
          <a:blip r:embed="rId14"/>
          <a:stretch>
            <a:fillRect/>
          </a:stretch>
        </p:blipFill>
        <p:spPr>
          <a:xfrm>
            <a:off x="19138900" y="3175000"/>
            <a:ext cx="3225800" cy="3340100"/>
          </a:xfrm>
          <a:prstGeom prst="rect">
            <a:avLst/>
          </a:prstGeom>
        </p:spPr>
      </p:pic>
      <p:pic>
        <p:nvPicPr>
          <p:cNvPr id="34" name="Picture 34"/>
          <p:cNvPicPr>
            <a:picLocks noChangeAspect="1"/>
          </p:cNvPicPr>
          <p:nvPr/>
        </p:nvPicPr>
        <p:blipFill>
          <a:blip r:embed="rId15"/>
          <a:stretch>
            <a:fillRect/>
          </a:stretch>
        </p:blipFill>
        <p:spPr>
          <a:xfrm>
            <a:off x="11442700" y="8318500"/>
            <a:ext cx="3759200" cy="3149600"/>
          </a:xfrm>
          <a:prstGeom prst="rect">
            <a:avLst/>
          </a:prstGeom>
        </p:spPr>
      </p:pic>
      <p:pic>
        <p:nvPicPr>
          <p:cNvPr id="35" name="Picture 35"/>
          <p:cNvPicPr>
            <a:picLocks noChangeAspect="1"/>
          </p:cNvPicPr>
          <p:nvPr/>
        </p:nvPicPr>
        <p:blipFill>
          <a:blip r:embed="rId16"/>
          <a:stretch>
            <a:fillRect/>
          </a:stretch>
        </p:blipFill>
        <p:spPr>
          <a:xfrm>
            <a:off x="4013200" y="3086100"/>
            <a:ext cx="3746500" cy="3416300"/>
          </a:xfrm>
          <a:prstGeom prst="rect">
            <a:avLst/>
          </a:prstGeom>
        </p:spPr>
      </p:pic>
      <p:pic>
        <p:nvPicPr>
          <p:cNvPr id="36" name="Picture 36"/>
          <p:cNvPicPr>
            <a:picLocks noChangeAspect="1"/>
          </p:cNvPicPr>
          <p:nvPr/>
        </p:nvPicPr>
        <p:blipFill>
          <a:blip r:embed="rId17"/>
          <a:stretch>
            <a:fillRect/>
          </a:stretch>
        </p:blipFill>
        <p:spPr>
          <a:xfrm>
            <a:off x="18973800" y="8140700"/>
            <a:ext cx="3505200" cy="3302000"/>
          </a:xfrm>
          <a:prstGeom prst="rect">
            <a:avLst/>
          </a:prstGeom>
        </p:spPr>
      </p:pic>
      <p:pic>
        <p:nvPicPr>
          <p:cNvPr id="37" name="Picture 37"/>
          <p:cNvPicPr>
            <a:picLocks noChangeAspect="1"/>
          </p:cNvPicPr>
          <p:nvPr/>
        </p:nvPicPr>
        <p:blipFill>
          <a:blip r:embed="rId18"/>
          <a:stretch>
            <a:fillRect/>
          </a:stretch>
        </p:blipFill>
        <p:spPr>
          <a:xfrm>
            <a:off x="11531600" y="3060700"/>
            <a:ext cx="3581400" cy="3467100"/>
          </a:xfrm>
          <a:prstGeom prst="rect">
            <a:avLst/>
          </a:prstGeom>
        </p:spPr>
      </p:pic>
      <p:sp>
        <p:nvSpPr>
          <p:cNvPr id="38" name="TextBox 38"/>
          <p:cNvSpPr txBox="1"/>
          <p:nvPr/>
        </p:nvSpPr>
        <p:spPr>
          <a:xfrm>
            <a:off x="8851900" y="9664700"/>
            <a:ext cx="27051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Medium"/>
                <a:ea typeface="Pretendard Medium"/>
                <a:cs typeface="Pretendard Medium"/>
              </a:rPr>
              <a:t>성준모</a:t>
            </a:r>
          </a:p>
        </p:txBody>
      </p:sp>
      <p:sp>
        <p:nvSpPr>
          <p:cNvPr id="39" name="TextBox 39"/>
          <p:cNvSpPr txBox="1"/>
          <p:nvPr/>
        </p:nvSpPr>
        <p:spPr>
          <a:xfrm>
            <a:off x="9334500" y="10198100"/>
            <a:ext cx="1828800" cy="406400"/>
          </a:xfrm>
          <a:prstGeom prst="rect">
            <a:avLst/>
          </a:prstGeom>
        </p:spPr>
        <p:txBody>
          <a:bodyPr lIns="0" tIns="0" rIns="0" bIns="0" rtlCol="0" anchor="t"/>
          <a:lstStyle/>
          <a:p>
            <a:pPr lvl="0" algn="l">
              <a:lnSpc>
                <a:spcPct val="116199"/>
              </a:lnSpc>
            </a:pPr>
            <a:r>
              <a:rPr lang="en-US" sz="2266" b="0" i="0" u="none" strike="noStrike">
                <a:solidFill>
                  <a:srgbClr val="000000"/>
                </a:solidFill>
                <a:latin typeface="Pretendard Regular"/>
                <a:ea typeface="Pretendard Regular"/>
                <a:cs typeface="Pretendard Regular"/>
              </a:rPr>
              <a:t>Backend 개발</a:t>
            </a:r>
          </a:p>
        </p:txBody>
      </p:sp>
      <p:sp>
        <p:nvSpPr>
          <p:cNvPr id="40" name="TextBox 40"/>
          <p:cNvSpPr txBox="1"/>
          <p:nvPr/>
        </p:nvSpPr>
        <p:spPr>
          <a:xfrm>
            <a:off x="16217900" y="4648200"/>
            <a:ext cx="27051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Medium"/>
                <a:ea typeface="Pretendard Medium"/>
                <a:cs typeface="Pretendard Medium"/>
              </a:rPr>
              <a:t>서정우</a:t>
            </a:r>
          </a:p>
        </p:txBody>
      </p:sp>
      <p:sp>
        <p:nvSpPr>
          <p:cNvPr id="41" name="TextBox 41"/>
          <p:cNvSpPr txBox="1"/>
          <p:nvPr/>
        </p:nvSpPr>
        <p:spPr>
          <a:xfrm>
            <a:off x="16725900" y="5181600"/>
            <a:ext cx="1854200" cy="406400"/>
          </a:xfrm>
          <a:prstGeom prst="rect">
            <a:avLst/>
          </a:prstGeom>
        </p:spPr>
        <p:txBody>
          <a:bodyPr lIns="0" tIns="0" rIns="0" bIns="0" rtlCol="0" anchor="t"/>
          <a:lstStyle/>
          <a:p>
            <a:pPr lvl="0" algn="l">
              <a:lnSpc>
                <a:spcPct val="116199"/>
              </a:lnSpc>
            </a:pPr>
            <a:r>
              <a:rPr lang="en-US" sz="2266" b="0" i="0" u="none" strike="noStrike">
                <a:solidFill>
                  <a:srgbClr val="000000"/>
                </a:solidFill>
                <a:latin typeface="Pretendard Regular"/>
                <a:ea typeface="Pretendard Regular"/>
                <a:cs typeface="Pretendard Regular"/>
              </a:rPr>
              <a:t>Frontend 개발</a:t>
            </a:r>
          </a:p>
        </p:txBody>
      </p:sp>
      <p:sp>
        <p:nvSpPr>
          <p:cNvPr id="42" name="TextBox 42"/>
          <p:cNvSpPr txBox="1"/>
          <p:nvPr/>
        </p:nvSpPr>
        <p:spPr>
          <a:xfrm>
            <a:off x="1435100" y="9652000"/>
            <a:ext cx="27051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Medium"/>
                <a:ea typeface="Pretendard Medium"/>
                <a:cs typeface="Pretendard Medium"/>
              </a:rPr>
              <a:t>손지선</a:t>
            </a:r>
          </a:p>
        </p:txBody>
      </p:sp>
      <p:sp>
        <p:nvSpPr>
          <p:cNvPr id="43" name="TextBox 43"/>
          <p:cNvSpPr txBox="1"/>
          <p:nvPr/>
        </p:nvSpPr>
        <p:spPr>
          <a:xfrm>
            <a:off x="1981200" y="10236200"/>
            <a:ext cx="1905000" cy="406400"/>
          </a:xfrm>
          <a:prstGeom prst="rect">
            <a:avLst/>
          </a:prstGeom>
        </p:spPr>
        <p:txBody>
          <a:bodyPr lIns="0" tIns="0" rIns="0" bIns="0" rtlCol="0" anchor="t"/>
          <a:lstStyle/>
          <a:p>
            <a:pPr lvl="0" algn="l">
              <a:lnSpc>
                <a:spcPct val="116199"/>
              </a:lnSpc>
            </a:pPr>
            <a:r>
              <a:rPr lang="en-US" sz="2266" b="0" i="0" u="none" strike="noStrike">
                <a:solidFill>
                  <a:srgbClr val="000000"/>
                </a:solidFill>
                <a:latin typeface="Pretendard Regular"/>
                <a:ea typeface="Pretendard Regular"/>
                <a:cs typeface="Pretendard Regular"/>
              </a:rPr>
              <a:t>Frontend 개발</a:t>
            </a:r>
          </a:p>
        </p:txBody>
      </p:sp>
      <p:sp>
        <p:nvSpPr>
          <p:cNvPr id="44" name="TextBox 44"/>
          <p:cNvSpPr txBox="1"/>
          <p:nvPr/>
        </p:nvSpPr>
        <p:spPr>
          <a:xfrm>
            <a:off x="8851900" y="4762500"/>
            <a:ext cx="27051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Medium"/>
                <a:ea typeface="Pretendard Medium"/>
                <a:cs typeface="Pretendard Medium"/>
              </a:rPr>
              <a:t>최상훈</a:t>
            </a:r>
          </a:p>
        </p:txBody>
      </p:sp>
      <p:sp>
        <p:nvSpPr>
          <p:cNvPr id="45" name="TextBox 45"/>
          <p:cNvSpPr txBox="1"/>
          <p:nvPr/>
        </p:nvSpPr>
        <p:spPr>
          <a:xfrm>
            <a:off x="9169400" y="5295900"/>
            <a:ext cx="2159000" cy="406400"/>
          </a:xfrm>
          <a:prstGeom prst="rect">
            <a:avLst/>
          </a:prstGeom>
        </p:spPr>
        <p:txBody>
          <a:bodyPr lIns="0" tIns="0" rIns="0" bIns="0" rtlCol="0" anchor="t"/>
          <a:lstStyle/>
          <a:p>
            <a:pPr lvl="0" algn="l">
              <a:lnSpc>
                <a:spcPct val="116199"/>
              </a:lnSpc>
            </a:pPr>
            <a:r>
              <a:rPr lang="en-US" sz="2266" b="0" i="0" u="none" strike="noStrike">
                <a:solidFill>
                  <a:srgbClr val="000000"/>
                </a:solidFill>
                <a:latin typeface="Pretendard Regular"/>
                <a:ea typeface="Pretendard Regular"/>
                <a:cs typeface="Pretendard Regular"/>
              </a:rPr>
              <a:t>APP 개발 / AWS</a:t>
            </a:r>
          </a:p>
        </p:txBody>
      </p:sp>
      <p:sp>
        <p:nvSpPr>
          <p:cNvPr id="46" name="TextBox 46"/>
          <p:cNvSpPr txBox="1"/>
          <p:nvPr/>
        </p:nvSpPr>
        <p:spPr>
          <a:xfrm>
            <a:off x="16217900" y="9664700"/>
            <a:ext cx="27051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Medium"/>
                <a:ea typeface="Pretendard Medium"/>
                <a:cs typeface="Pretendard Medium"/>
              </a:rPr>
              <a:t>표민우</a:t>
            </a:r>
          </a:p>
        </p:txBody>
      </p:sp>
      <p:sp>
        <p:nvSpPr>
          <p:cNvPr id="47" name="TextBox 47"/>
          <p:cNvSpPr txBox="1"/>
          <p:nvPr/>
        </p:nvSpPr>
        <p:spPr>
          <a:xfrm>
            <a:off x="16675100" y="10198100"/>
            <a:ext cx="2070100" cy="406400"/>
          </a:xfrm>
          <a:prstGeom prst="rect">
            <a:avLst/>
          </a:prstGeom>
        </p:spPr>
        <p:txBody>
          <a:bodyPr lIns="0" tIns="0" rIns="0" bIns="0" rtlCol="0" anchor="t"/>
          <a:lstStyle/>
          <a:p>
            <a:pPr lvl="0" algn="l">
              <a:lnSpc>
                <a:spcPct val="116199"/>
              </a:lnSpc>
            </a:pPr>
            <a:r>
              <a:rPr lang="en-US" sz="2266" b="0" i="0" u="none" strike="noStrike">
                <a:solidFill>
                  <a:srgbClr val="000000"/>
                </a:solidFill>
                <a:latin typeface="Pretendard Regular"/>
                <a:ea typeface="Pretendard Regular"/>
                <a:cs typeface="Pretendard Regular"/>
              </a:rPr>
              <a:t>시나리오 / AWS </a:t>
            </a:r>
          </a:p>
        </p:txBody>
      </p:sp>
      <p:sp>
        <p:nvSpPr>
          <p:cNvPr id="48" name="TextBox 48"/>
          <p:cNvSpPr txBox="1"/>
          <p:nvPr/>
        </p:nvSpPr>
        <p:spPr>
          <a:xfrm>
            <a:off x="2108200" y="5778500"/>
            <a:ext cx="1460500" cy="406400"/>
          </a:xfrm>
          <a:prstGeom prst="rect">
            <a:avLst/>
          </a:prstGeom>
        </p:spPr>
        <p:txBody>
          <a:bodyPr lIns="0" tIns="0" rIns="0" bIns="0" rtlCol="0" anchor="t"/>
          <a:lstStyle/>
          <a:p>
            <a:pPr lvl="0" algn="l">
              <a:lnSpc>
                <a:spcPct val="116199"/>
              </a:lnSpc>
            </a:pPr>
            <a:r>
              <a:rPr lang="en-US" sz="2266" b="0" i="0" u="none" strike="noStrike">
                <a:solidFill>
                  <a:srgbClr val="000000"/>
                </a:solidFill>
                <a:latin typeface="Pretendard Regular"/>
                <a:ea typeface="Pretendard Regular"/>
                <a:cs typeface="Pretendard Regular"/>
              </a:rPr>
              <a:t>공급망 공격</a:t>
            </a:r>
          </a:p>
        </p:txBody>
      </p:sp>
      <p:sp>
        <p:nvSpPr>
          <p:cNvPr id="49" name="TextBox 49"/>
          <p:cNvSpPr txBox="1"/>
          <p:nvPr/>
        </p:nvSpPr>
        <p:spPr>
          <a:xfrm>
            <a:off x="9550400" y="10668000"/>
            <a:ext cx="1384300" cy="406400"/>
          </a:xfrm>
          <a:prstGeom prst="rect">
            <a:avLst/>
          </a:prstGeom>
        </p:spPr>
        <p:txBody>
          <a:bodyPr lIns="0" tIns="0" rIns="0" bIns="0" rtlCol="0" anchor="t"/>
          <a:lstStyle/>
          <a:p>
            <a:pPr lvl="0" algn="l">
              <a:lnSpc>
                <a:spcPct val="116199"/>
              </a:lnSpc>
            </a:pPr>
            <a:r>
              <a:rPr lang="en-US" sz="2266" b="0" i="0" u="none" strike="noStrike">
                <a:solidFill>
                  <a:srgbClr val="000000"/>
                </a:solidFill>
                <a:latin typeface="Pretendard Regular"/>
                <a:ea typeface="Pretendard Regular"/>
                <a:cs typeface="Pretendard Regular"/>
              </a:rPr>
              <a:t>보이스피싱</a:t>
            </a:r>
          </a:p>
        </p:txBody>
      </p:sp>
      <p:sp>
        <p:nvSpPr>
          <p:cNvPr id="50" name="TextBox 50"/>
          <p:cNvSpPr txBox="1"/>
          <p:nvPr/>
        </p:nvSpPr>
        <p:spPr>
          <a:xfrm>
            <a:off x="2133600" y="10731500"/>
            <a:ext cx="1397000" cy="406400"/>
          </a:xfrm>
          <a:prstGeom prst="rect">
            <a:avLst/>
          </a:prstGeom>
        </p:spPr>
        <p:txBody>
          <a:bodyPr lIns="0" tIns="0" rIns="0" bIns="0" rtlCol="0" anchor="t"/>
          <a:lstStyle/>
          <a:p>
            <a:pPr lvl="0" algn="l">
              <a:lnSpc>
                <a:spcPct val="116199"/>
              </a:lnSpc>
            </a:pPr>
            <a:r>
              <a:rPr lang="en-US" sz="2266" b="0" i="0" u="none" strike="noStrike">
                <a:solidFill>
                  <a:srgbClr val="000000"/>
                </a:solidFill>
                <a:latin typeface="Pretendard Regular"/>
                <a:ea typeface="Pretendard Regular"/>
                <a:cs typeface="Pretendard Regular"/>
              </a:rPr>
              <a:t>보이스피싱</a:t>
            </a:r>
          </a:p>
        </p:txBody>
      </p:sp>
      <p:sp>
        <p:nvSpPr>
          <p:cNvPr id="51" name="TextBox 51"/>
          <p:cNvSpPr txBox="1"/>
          <p:nvPr/>
        </p:nvSpPr>
        <p:spPr>
          <a:xfrm>
            <a:off x="16903700" y="10668000"/>
            <a:ext cx="1358900" cy="406400"/>
          </a:xfrm>
          <a:prstGeom prst="rect">
            <a:avLst/>
          </a:prstGeom>
        </p:spPr>
        <p:txBody>
          <a:bodyPr lIns="0" tIns="0" rIns="0" bIns="0" rtlCol="0" anchor="t"/>
          <a:lstStyle/>
          <a:p>
            <a:pPr lvl="0" algn="l">
              <a:lnSpc>
                <a:spcPct val="116199"/>
              </a:lnSpc>
            </a:pPr>
            <a:r>
              <a:rPr lang="en-US" sz="2266" b="0" i="0" u="none" strike="noStrike">
                <a:solidFill>
                  <a:srgbClr val="000000"/>
                </a:solidFill>
                <a:latin typeface="Pretendard Regular"/>
                <a:ea typeface="Pretendard Regular"/>
                <a:cs typeface="Pretendard Regular"/>
              </a:rPr>
              <a:t>보이스피싱</a:t>
            </a:r>
          </a:p>
        </p:txBody>
      </p:sp>
      <p:pic>
        <p:nvPicPr>
          <p:cNvPr id="52" name="Picture 52"/>
          <p:cNvPicPr>
            <a:picLocks noChangeAspect="1"/>
          </p:cNvPicPr>
          <p:nvPr/>
        </p:nvPicPr>
        <p:blipFill>
          <a:blip r:embed="rId19">
            <a:alphaModFix amt="85000"/>
          </a:blip>
          <a:stretch>
            <a:fillRect/>
          </a:stretch>
        </p:blipFill>
        <p:spPr>
          <a:xfrm>
            <a:off x="6832600" y="558800"/>
            <a:ext cx="1993900" cy="444500"/>
          </a:xfrm>
          <a:prstGeom prst="rect">
            <a:avLst/>
          </a:prstGeom>
        </p:spPr>
      </p:pic>
      <p:sp>
        <p:nvSpPr>
          <p:cNvPr id="53" name="TextBox 53"/>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dirty="0" err="1">
                <a:solidFill>
                  <a:srgbClr val="000000"/>
                </a:solidFill>
                <a:latin typeface="Pretendard SemiBold"/>
                <a:ea typeface="Pretendard SemiBold"/>
                <a:cs typeface="Pretendard SemiBold"/>
              </a:rPr>
              <a:t>프로젝트</a:t>
            </a:r>
            <a:r>
              <a:rPr lang="en-US" sz="2666" b="0" i="0" u="none" strike="noStrike" spc="-100" dirty="0">
                <a:solidFill>
                  <a:srgbClr val="000000"/>
                </a:solidFill>
                <a:latin typeface="Pretendard SemiBold"/>
                <a:ea typeface="Pretendard SemiBold"/>
                <a:cs typeface="Pretendard SemiBold"/>
              </a:rPr>
              <a:t> </a:t>
            </a:r>
            <a:r>
              <a:rPr lang="en-US" sz="2666" b="0" i="0" u="none" strike="noStrike" spc="-100" dirty="0" err="1">
                <a:solidFill>
                  <a:srgbClr val="000000"/>
                </a:solidFill>
                <a:latin typeface="Pretendard SemiBold"/>
                <a:ea typeface="Pretendard SemiBold"/>
                <a:cs typeface="Pretendard SemiBold"/>
              </a:rPr>
              <a:t>개요</a:t>
            </a:r>
            <a:endParaRPr lang="en-US" sz="2666" b="0" i="0" u="none" strike="noStrike" spc="-100" dirty="0">
              <a:solidFill>
                <a:srgbClr val="000000"/>
              </a:solidFill>
              <a:latin typeface="Pretendard SemiBold"/>
              <a:ea typeface="Pretendard SemiBold"/>
              <a:cs typeface="Pretendard SemiBold"/>
            </a:endParaRPr>
          </a:p>
        </p:txBody>
      </p:sp>
      <p:sp>
        <p:nvSpPr>
          <p:cNvPr id="55" name="TextBox 55"/>
          <p:cNvSpPr txBox="1"/>
          <p:nvPr/>
        </p:nvSpPr>
        <p:spPr>
          <a:xfrm>
            <a:off x="11353800" y="457200"/>
            <a:ext cx="25273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시나리오</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모의해킹</a:t>
            </a:r>
            <a:endParaRPr lang="en-US" sz="2666" b="0" i="0" u="none" strike="noStrike" spc="-100" dirty="0">
              <a:solidFill>
                <a:srgbClr val="C2C2C2"/>
              </a:solidFill>
              <a:latin typeface="Pretendard SemiBold"/>
              <a:ea typeface="Pretendard SemiBold"/>
              <a:cs typeface="Pretendard SemiBold"/>
            </a:endParaRPr>
          </a:p>
        </p:txBody>
      </p:sp>
      <p:sp>
        <p:nvSpPr>
          <p:cNvPr id="56" name="TextBox 56"/>
          <p:cNvSpPr txBox="1"/>
          <p:nvPr/>
        </p:nvSpPr>
        <p:spPr>
          <a:xfrm>
            <a:off x="14097000" y="4699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57" name="TextBox 57"/>
          <p:cNvSpPr txBox="1"/>
          <p:nvPr/>
        </p:nvSpPr>
        <p:spPr>
          <a:xfrm>
            <a:off x="9334500" y="469900"/>
            <a:ext cx="26670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
        <p:nvSpPr>
          <p:cNvPr id="58" name="TextBox 58"/>
          <p:cNvSpPr txBox="1"/>
          <p:nvPr/>
        </p:nvSpPr>
        <p:spPr>
          <a:xfrm>
            <a:off x="9512300" y="5778500"/>
            <a:ext cx="1460500" cy="406400"/>
          </a:xfrm>
          <a:prstGeom prst="rect">
            <a:avLst/>
          </a:prstGeom>
        </p:spPr>
        <p:txBody>
          <a:bodyPr lIns="0" tIns="0" rIns="0" bIns="0" rtlCol="0" anchor="t"/>
          <a:lstStyle/>
          <a:p>
            <a:pPr lvl="0" algn="l">
              <a:lnSpc>
                <a:spcPct val="116199"/>
              </a:lnSpc>
            </a:pPr>
            <a:r>
              <a:rPr lang="en-US" sz="2266" b="0" i="0" u="none" strike="noStrike">
                <a:solidFill>
                  <a:srgbClr val="000000"/>
                </a:solidFill>
                <a:latin typeface="Pretendard Regular"/>
                <a:ea typeface="Pretendard Regular"/>
                <a:cs typeface="Pretendard Regular"/>
              </a:rPr>
              <a:t>공급망 공격</a:t>
            </a:r>
          </a:p>
        </p:txBody>
      </p:sp>
      <p:sp>
        <p:nvSpPr>
          <p:cNvPr id="59" name="TextBox 59"/>
          <p:cNvSpPr txBox="1"/>
          <p:nvPr/>
        </p:nvSpPr>
        <p:spPr>
          <a:xfrm>
            <a:off x="16891000" y="5778500"/>
            <a:ext cx="1460500" cy="406400"/>
          </a:xfrm>
          <a:prstGeom prst="rect">
            <a:avLst/>
          </a:prstGeom>
        </p:spPr>
        <p:txBody>
          <a:bodyPr lIns="0" tIns="0" rIns="0" bIns="0" rtlCol="0" anchor="t"/>
          <a:lstStyle/>
          <a:p>
            <a:pPr lvl="0" algn="l">
              <a:lnSpc>
                <a:spcPct val="116199"/>
              </a:lnSpc>
            </a:pPr>
            <a:r>
              <a:rPr lang="en-US" sz="2266" b="0" i="0" u="none" strike="noStrike">
                <a:solidFill>
                  <a:srgbClr val="000000"/>
                </a:solidFill>
                <a:latin typeface="Pretendard Regular"/>
                <a:ea typeface="Pretendard Regular"/>
                <a:cs typeface="Pretendard Regular"/>
              </a:rPr>
              <a:t>공급망 공격</a:t>
            </a:r>
          </a:p>
        </p:txBody>
      </p:sp>
      <p:sp>
        <p:nvSpPr>
          <p:cNvPr id="60" name="TextBox 14">
            <a:extLst>
              <a:ext uri="{FF2B5EF4-FFF2-40B4-BE49-F238E27FC236}">
                <a16:creationId xmlns:a16="http://schemas.microsoft.com/office/drawing/2014/main" id="{C107941E-26FB-4BBB-9477-6F093632B85B}"/>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61" name="TextBox 17">
            <a:extLst>
              <a:ext uri="{FF2B5EF4-FFF2-40B4-BE49-F238E27FC236}">
                <a16:creationId xmlns:a16="http://schemas.microsoft.com/office/drawing/2014/main" id="{A25BCB1E-0CCA-4819-975C-62CECA6EEDC3}"/>
              </a:ext>
            </a:extLst>
          </p:cNvPr>
          <p:cNvSpPr txBox="1"/>
          <p:nvPr/>
        </p:nvSpPr>
        <p:spPr>
          <a:xfrm>
            <a:off x="3975100" y="647700"/>
            <a:ext cx="2171700" cy="304800"/>
          </a:xfrm>
          <a:prstGeom prst="rect">
            <a:avLst/>
          </a:prstGeom>
        </p:spPr>
        <p:txBody>
          <a:bodyPr lIns="0" tIns="26415" rIns="0" bIns="0" rtlCol="0" anchor="t"/>
          <a:lstStyle/>
          <a:p>
            <a:pPr lvl="0" algn="ctr">
              <a:lnSpc>
                <a:spcPct val="96279"/>
              </a:lnSpc>
            </a:pPr>
            <a:r>
              <a:rPr lang="en-US" sz="1733" b="0" i="0" u="none" strike="noStrike">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29기</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a:extLst>
            <a:ext uri="{FF2B5EF4-FFF2-40B4-BE49-F238E27FC236}">
              <a16:creationId xmlns:a16="http://schemas.microsoft.com/office/drawing/2014/main" id="{E2D2B21F-C023-5239-913F-0307BBC29A5C}"/>
            </a:ext>
          </a:extLst>
        </p:cNvPr>
        <p:cNvGrpSpPr/>
        <p:nvPr/>
      </p:nvGrpSpPr>
      <p:grpSpPr>
        <a:xfrm>
          <a:off x="0" y="0"/>
          <a:ext cx="0" cy="0"/>
          <a:chOff x="0" y="0"/>
          <a:chExt cx="0" cy="0"/>
        </a:xfrm>
      </p:grpSpPr>
      <p:pic>
        <p:nvPicPr>
          <p:cNvPr id="73" name="Picture 2">
            <a:extLst>
              <a:ext uri="{FF2B5EF4-FFF2-40B4-BE49-F238E27FC236}">
                <a16:creationId xmlns:a16="http://schemas.microsoft.com/office/drawing/2014/main" id="{DF88D00D-822D-0769-849A-4A497FFA81E8}"/>
              </a:ext>
            </a:extLst>
          </p:cNvPr>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2" name="Picture 2">
            <a:extLst>
              <a:ext uri="{FF2B5EF4-FFF2-40B4-BE49-F238E27FC236}">
                <a16:creationId xmlns:a16="http://schemas.microsoft.com/office/drawing/2014/main" id="{555FA36D-5049-70AE-A391-E105C0054753}"/>
              </a:ext>
            </a:extLst>
          </p:cNvPr>
          <p:cNvPicPr>
            <a:picLocks noChangeAspect="1"/>
          </p:cNvPicPr>
          <p:nvPr/>
        </p:nvPicPr>
        <p:blipFill>
          <a:blip r:embed="rId3"/>
          <a:stretch>
            <a:fillRect/>
          </a:stretch>
        </p:blipFill>
        <p:spPr>
          <a:xfrm>
            <a:off x="762000" y="1092200"/>
            <a:ext cx="22860000" cy="12700"/>
          </a:xfrm>
          <a:prstGeom prst="rect">
            <a:avLst/>
          </a:prstGeom>
        </p:spPr>
      </p:pic>
      <p:pic>
        <p:nvPicPr>
          <p:cNvPr id="3" name="Picture 3">
            <a:extLst>
              <a:ext uri="{FF2B5EF4-FFF2-40B4-BE49-F238E27FC236}">
                <a16:creationId xmlns:a16="http://schemas.microsoft.com/office/drawing/2014/main" id="{E804D73F-E9A7-E722-2A34-4C6325911D51}"/>
              </a:ext>
            </a:extLst>
          </p:cNvPr>
          <p:cNvPicPr>
            <a:picLocks noChangeAspect="1"/>
          </p:cNvPicPr>
          <p:nvPr/>
        </p:nvPicPr>
        <p:blipFill>
          <a:blip r:embed="rId4"/>
          <a:stretch>
            <a:fillRect/>
          </a:stretch>
        </p:blipFill>
        <p:spPr>
          <a:xfrm rot="5400000">
            <a:off x="3200400" y="787400"/>
            <a:ext cx="635000" cy="12700"/>
          </a:xfrm>
          <a:prstGeom prst="rect">
            <a:avLst/>
          </a:prstGeom>
        </p:spPr>
      </p:pic>
      <p:pic>
        <p:nvPicPr>
          <p:cNvPr id="4" name="Picture 4">
            <a:extLst>
              <a:ext uri="{FF2B5EF4-FFF2-40B4-BE49-F238E27FC236}">
                <a16:creationId xmlns:a16="http://schemas.microsoft.com/office/drawing/2014/main" id="{9EB48576-716D-C9AC-D6B9-702C40209306}"/>
              </a:ext>
            </a:extLst>
          </p:cNvPr>
          <p:cNvPicPr>
            <a:picLocks noChangeAspect="1"/>
          </p:cNvPicPr>
          <p:nvPr/>
        </p:nvPicPr>
        <p:blipFill>
          <a:blip r:embed="rId4"/>
          <a:stretch>
            <a:fillRect/>
          </a:stretch>
        </p:blipFill>
        <p:spPr>
          <a:xfrm rot="5400000">
            <a:off x="22225000" y="787400"/>
            <a:ext cx="635000" cy="12700"/>
          </a:xfrm>
          <a:prstGeom prst="rect">
            <a:avLst/>
          </a:prstGeom>
        </p:spPr>
      </p:pic>
      <p:pic>
        <p:nvPicPr>
          <p:cNvPr id="5" name="Picture 5">
            <a:extLst>
              <a:ext uri="{FF2B5EF4-FFF2-40B4-BE49-F238E27FC236}">
                <a16:creationId xmlns:a16="http://schemas.microsoft.com/office/drawing/2014/main" id="{EF4C670A-35A0-1F27-A950-79E54604740D}"/>
              </a:ext>
            </a:extLst>
          </p:cNvPr>
          <p:cNvPicPr>
            <a:picLocks noChangeAspect="1"/>
          </p:cNvPicPr>
          <p:nvPr/>
        </p:nvPicPr>
        <p:blipFill>
          <a:blip r:embed="rId4"/>
          <a:stretch>
            <a:fillRect/>
          </a:stretch>
        </p:blipFill>
        <p:spPr>
          <a:xfrm rot="5400000">
            <a:off x="6337300" y="787400"/>
            <a:ext cx="635000" cy="12700"/>
          </a:xfrm>
          <a:prstGeom prst="rect">
            <a:avLst/>
          </a:prstGeom>
        </p:spPr>
      </p:pic>
      <p:pic>
        <p:nvPicPr>
          <p:cNvPr id="6" name="Picture 6">
            <a:extLst>
              <a:ext uri="{FF2B5EF4-FFF2-40B4-BE49-F238E27FC236}">
                <a16:creationId xmlns:a16="http://schemas.microsoft.com/office/drawing/2014/main" id="{2B9F4188-9023-0B64-D267-C312B5655925}"/>
              </a:ext>
            </a:extLst>
          </p:cNvPr>
          <p:cNvPicPr>
            <a:picLocks noChangeAspect="1"/>
          </p:cNvPicPr>
          <p:nvPr/>
        </p:nvPicPr>
        <p:blipFill>
          <a:blip r:embed="rId3"/>
          <a:stretch>
            <a:fillRect/>
          </a:stretch>
        </p:blipFill>
        <p:spPr>
          <a:xfrm>
            <a:off x="723900" y="457200"/>
            <a:ext cx="22860000" cy="12700"/>
          </a:xfrm>
          <a:prstGeom prst="rect">
            <a:avLst/>
          </a:prstGeom>
        </p:spPr>
      </p:pic>
      <p:sp>
        <p:nvSpPr>
          <p:cNvPr id="32" name="TextBox 32">
            <a:extLst>
              <a:ext uri="{FF2B5EF4-FFF2-40B4-BE49-F238E27FC236}">
                <a16:creationId xmlns:a16="http://schemas.microsoft.com/office/drawing/2014/main" id="{3EF9F0DB-8D54-1FAF-3A2B-2F39CB58456F}"/>
              </a:ext>
            </a:extLst>
          </p:cNvPr>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4</a:t>
            </a:r>
          </a:p>
        </p:txBody>
      </p:sp>
      <p:pic>
        <p:nvPicPr>
          <p:cNvPr id="52" name="Picture 52">
            <a:extLst>
              <a:ext uri="{FF2B5EF4-FFF2-40B4-BE49-F238E27FC236}">
                <a16:creationId xmlns:a16="http://schemas.microsoft.com/office/drawing/2014/main" id="{4ECFC5CE-E5A1-D80E-EAAE-B96E9268E539}"/>
              </a:ext>
            </a:extLst>
          </p:cNvPr>
          <p:cNvPicPr>
            <a:picLocks noChangeAspect="1"/>
          </p:cNvPicPr>
          <p:nvPr/>
        </p:nvPicPr>
        <p:blipFill>
          <a:blip r:embed="rId5">
            <a:alphaModFix amt="85000"/>
          </a:blip>
          <a:stretch>
            <a:fillRect/>
          </a:stretch>
        </p:blipFill>
        <p:spPr>
          <a:xfrm>
            <a:off x="6832600" y="558800"/>
            <a:ext cx="1993900" cy="444500"/>
          </a:xfrm>
          <a:prstGeom prst="rect">
            <a:avLst/>
          </a:prstGeom>
        </p:spPr>
      </p:pic>
      <p:sp>
        <p:nvSpPr>
          <p:cNvPr id="53" name="TextBox 53">
            <a:extLst>
              <a:ext uri="{FF2B5EF4-FFF2-40B4-BE49-F238E27FC236}">
                <a16:creationId xmlns:a16="http://schemas.microsoft.com/office/drawing/2014/main" id="{E5C2A618-67AC-B274-8C99-F19B10EA79D0}"/>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dirty="0" err="1">
                <a:solidFill>
                  <a:srgbClr val="000000"/>
                </a:solidFill>
                <a:latin typeface="Pretendard SemiBold"/>
                <a:ea typeface="Pretendard SemiBold"/>
                <a:cs typeface="Pretendard SemiBold"/>
              </a:rPr>
              <a:t>프로젝트</a:t>
            </a:r>
            <a:r>
              <a:rPr lang="en-US" sz="2666" b="0" i="0" u="none" strike="noStrike" spc="-100" dirty="0">
                <a:solidFill>
                  <a:srgbClr val="000000"/>
                </a:solidFill>
                <a:latin typeface="Pretendard SemiBold"/>
                <a:ea typeface="Pretendard SemiBold"/>
                <a:cs typeface="Pretendard SemiBold"/>
              </a:rPr>
              <a:t> </a:t>
            </a:r>
            <a:r>
              <a:rPr lang="en-US" sz="2666" b="0" i="0" u="none" strike="noStrike" spc="-100" dirty="0" err="1">
                <a:solidFill>
                  <a:srgbClr val="000000"/>
                </a:solidFill>
                <a:latin typeface="Pretendard SemiBold"/>
                <a:ea typeface="Pretendard SemiBold"/>
                <a:cs typeface="Pretendard SemiBold"/>
              </a:rPr>
              <a:t>개요</a:t>
            </a:r>
            <a:endParaRPr lang="en-US" sz="2666" b="0" i="0" u="none" strike="noStrike" spc="-100" dirty="0">
              <a:solidFill>
                <a:srgbClr val="000000"/>
              </a:solidFill>
              <a:latin typeface="Pretendard SemiBold"/>
              <a:ea typeface="Pretendard SemiBold"/>
              <a:cs typeface="Pretendard SemiBold"/>
            </a:endParaRPr>
          </a:p>
        </p:txBody>
      </p:sp>
      <p:sp>
        <p:nvSpPr>
          <p:cNvPr id="55" name="TextBox 55">
            <a:extLst>
              <a:ext uri="{FF2B5EF4-FFF2-40B4-BE49-F238E27FC236}">
                <a16:creationId xmlns:a16="http://schemas.microsoft.com/office/drawing/2014/main" id="{07580A48-2E9E-1BA4-4597-F14A1CEF07D8}"/>
              </a:ext>
            </a:extLst>
          </p:cNvPr>
          <p:cNvSpPr txBox="1"/>
          <p:nvPr/>
        </p:nvSpPr>
        <p:spPr>
          <a:xfrm>
            <a:off x="11353800" y="457200"/>
            <a:ext cx="25273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시나리오</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모의해킹</a:t>
            </a:r>
            <a:endParaRPr lang="en-US" sz="2666" b="0" i="0" u="none" strike="noStrike" spc="-100" dirty="0">
              <a:solidFill>
                <a:srgbClr val="C2C2C2"/>
              </a:solidFill>
              <a:latin typeface="Pretendard SemiBold"/>
              <a:ea typeface="Pretendard SemiBold"/>
              <a:cs typeface="Pretendard SemiBold"/>
            </a:endParaRPr>
          </a:p>
        </p:txBody>
      </p:sp>
      <p:sp>
        <p:nvSpPr>
          <p:cNvPr id="56" name="TextBox 56">
            <a:extLst>
              <a:ext uri="{FF2B5EF4-FFF2-40B4-BE49-F238E27FC236}">
                <a16:creationId xmlns:a16="http://schemas.microsoft.com/office/drawing/2014/main" id="{4F5BD699-8FA0-1AE8-518D-A359A4AF2A6E}"/>
              </a:ext>
            </a:extLst>
          </p:cNvPr>
          <p:cNvSpPr txBox="1"/>
          <p:nvPr/>
        </p:nvSpPr>
        <p:spPr>
          <a:xfrm>
            <a:off x="14097000" y="4699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57" name="TextBox 57">
            <a:extLst>
              <a:ext uri="{FF2B5EF4-FFF2-40B4-BE49-F238E27FC236}">
                <a16:creationId xmlns:a16="http://schemas.microsoft.com/office/drawing/2014/main" id="{8F16F58A-D5E7-3564-2446-50F22C904536}"/>
              </a:ext>
            </a:extLst>
          </p:cNvPr>
          <p:cNvSpPr txBox="1"/>
          <p:nvPr/>
        </p:nvSpPr>
        <p:spPr>
          <a:xfrm>
            <a:off x="9334500" y="469900"/>
            <a:ext cx="26670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
        <p:nvSpPr>
          <p:cNvPr id="60" name="TextBox 14">
            <a:extLst>
              <a:ext uri="{FF2B5EF4-FFF2-40B4-BE49-F238E27FC236}">
                <a16:creationId xmlns:a16="http://schemas.microsoft.com/office/drawing/2014/main" id="{A83FA0F4-12B7-8685-B6B4-387A1477773A}"/>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61" name="TextBox 17">
            <a:extLst>
              <a:ext uri="{FF2B5EF4-FFF2-40B4-BE49-F238E27FC236}">
                <a16:creationId xmlns:a16="http://schemas.microsoft.com/office/drawing/2014/main" id="{398E4F4D-B5C6-C127-0C99-A8BAD197693A}"/>
              </a:ext>
            </a:extLst>
          </p:cNvPr>
          <p:cNvSpPr txBox="1"/>
          <p:nvPr/>
        </p:nvSpPr>
        <p:spPr>
          <a:xfrm>
            <a:off x="3975100" y="647700"/>
            <a:ext cx="2171700" cy="304800"/>
          </a:xfrm>
          <a:prstGeom prst="rect">
            <a:avLst/>
          </a:prstGeom>
        </p:spPr>
        <p:txBody>
          <a:bodyPr lIns="0" tIns="26415" rIns="0" bIns="0" rtlCol="0" anchor="t"/>
          <a:lstStyle/>
          <a:p>
            <a:pPr lvl="0" algn="ctr">
              <a:lnSpc>
                <a:spcPct val="96279"/>
              </a:lnSpc>
            </a:pPr>
            <a:r>
              <a:rPr lang="en-US" sz="1733" b="0" i="0" u="none" strike="noStrike">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29기</a:t>
            </a:r>
          </a:p>
        </p:txBody>
      </p:sp>
      <p:pic>
        <p:nvPicPr>
          <p:cNvPr id="29" name="Picture 10"/>
          <p:cNvPicPr>
            <a:picLocks noChangeAspect="1"/>
          </p:cNvPicPr>
          <p:nvPr/>
        </p:nvPicPr>
        <p:blipFill>
          <a:blip r:embed="rId6"/>
          <a:stretch>
            <a:fillRect/>
          </a:stretch>
        </p:blipFill>
        <p:spPr>
          <a:xfrm>
            <a:off x="1485900" y="1612900"/>
            <a:ext cx="88900" cy="850900"/>
          </a:xfrm>
          <a:prstGeom prst="rect">
            <a:avLst/>
          </a:prstGeom>
        </p:spPr>
      </p:pic>
      <p:sp>
        <p:nvSpPr>
          <p:cNvPr id="30" name="TextBox 11"/>
          <p:cNvSpPr txBox="1"/>
          <p:nvPr/>
        </p:nvSpPr>
        <p:spPr>
          <a:xfrm>
            <a:off x="1943100" y="1409700"/>
            <a:ext cx="106807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WBS</a:t>
            </a:r>
          </a:p>
        </p:txBody>
      </p:sp>
      <p:graphicFrame>
        <p:nvGraphicFramePr>
          <p:cNvPr id="54" name="Table 12"/>
          <p:cNvGraphicFramePr>
            <a:graphicFrameLocks noGrp="1"/>
          </p:cNvGraphicFramePr>
          <p:nvPr>
            <p:extLst>
              <p:ext uri="{D42A27DB-BD31-4B8C-83A1-F6EECF244321}">
                <p14:modId xmlns:p14="http://schemas.microsoft.com/office/powerpoint/2010/main" val="2566353776"/>
              </p:ext>
            </p:extLst>
          </p:nvPr>
        </p:nvGraphicFramePr>
        <p:xfrm>
          <a:off x="1485900" y="3797300"/>
          <a:ext cx="21209224" cy="8654967"/>
        </p:xfrm>
        <a:graphic>
          <a:graphicData uri="http://schemas.openxmlformats.org/drawingml/2006/table">
            <a:tbl>
              <a:tblPr/>
              <a:tblGrid>
                <a:gridCol w="6165928">
                  <a:extLst>
                    <a:ext uri="{9D8B030D-6E8A-4147-A177-3AD203B41FA5}">
                      <a16:colId xmlns:a16="http://schemas.microsoft.com/office/drawing/2014/main" val="20000"/>
                    </a:ext>
                  </a:extLst>
                </a:gridCol>
                <a:gridCol w="1880412">
                  <a:extLst>
                    <a:ext uri="{9D8B030D-6E8A-4147-A177-3AD203B41FA5}">
                      <a16:colId xmlns:a16="http://schemas.microsoft.com/office/drawing/2014/main" val="20001"/>
                    </a:ext>
                  </a:extLst>
                </a:gridCol>
                <a:gridCol w="1880412">
                  <a:extLst>
                    <a:ext uri="{9D8B030D-6E8A-4147-A177-3AD203B41FA5}">
                      <a16:colId xmlns:a16="http://schemas.microsoft.com/office/drawing/2014/main" val="20002"/>
                    </a:ext>
                  </a:extLst>
                </a:gridCol>
                <a:gridCol w="1880412">
                  <a:extLst>
                    <a:ext uri="{9D8B030D-6E8A-4147-A177-3AD203B41FA5}">
                      <a16:colId xmlns:a16="http://schemas.microsoft.com/office/drawing/2014/main" val="20003"/>
                    </a:ext>
                  </a:extLst>
                </a:gridCol>
                <a:gridCol w="1880412">
                  <a:extLst>
                    <a:ext uri="{9D8B030D-6E8A-4147-A177-3AD203B41FA5}">
                      <a16:colId xmlns:a16="http://schemas.microsoft.com/office/drawing/2014/main" val="20004"/>
                    </a:ext>
                  </a:extLst>
                </a:gridCol>
                <a:gridCol w="1880412">
                  <a:extLst>
                    <a:ext uri="{9D8B030D-6E8A-4147-A177-3AD203B41FA5}">
                      <a16:colId xmlns:a16="http://schemas.microsoft.com/office/drawing/2014/main" val="20005"/>
                    </a:ext>
                  </a:extLst>
                </a:gridCol>
                <a:gridCol w="1880412">
                  <a:extLst>
                    <a:ext uri="{9D8B030D-6E8A-4147-A177-3AD203B41FA5}">
                      <a16:colId xmlns:a16="http://schemas.microsoft.com/office/drawing/2014/main" val="20006"/>
                    </a:ext>
                  </a:extLst>
                </a:gridCol>
                <a:gridCol w="1880412">
                  <a:extLst>
                    <a:ext uri="{9D8B030D-6E8A-4147-A177-3AD203B41FA5}">
                      <a16:colId xmlns:a16="http://schemas.microsoft.com/office/drawing/2014/main" val="20007"/>
                    </a:ext>
                  </a:extLst>
                </a:gridCol>
                <a:gridCol w="1880412">
                  <a:extLst>
                    <a:ext uri="{9D8B030D-6E8A-4147-A177-3AD203B41FA5}">
                      <a16:colId xmlns:a16="http://schemas.microsoft.com/office/drawing/2014/main" val="20008"/>
                    </a:ext>
                  </a:extLst>
                </a:gridCol>
              </a:tblGrid>
              <a:tr h="866877">
                <a:tc>
                  <a:txBody>
                    <a:bodyPr/>
                    <a:lstStyle/>
                    <a:p>
                      <a:pPr lvl="0" algn="l">
                        <a:lnSpc>
                          <a:spcPct val="83000"/>
                        </a:lnSpc>
                        <a:defRPr/>
                      </a:pPr>
                      <a:endParaRPr lang="en-US" sz="1100"/>
                    </a:p>
                  </a:txBody>
                  <a:tcPr marL="25400" marR="25400" marT="25400" marB="25400">
                    <a:lnL cap="flat" cmpd="sng" algn="ctr">
                      <a:solidFill>
                        <a:srgbClr val="000000">
                          <a:alpha val="0"/>
                        </a:srgbClr>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8104F"/>
                    </a:solidFill>
                  </a:tcPr>
                </a:tc>
                <a:tc>
                  <a:txBody>
                    <a:bodyPr/>
                    <a:lstStyle/>
                    <a:p>
                      <a:pPr lvl="0" algn="ctr">
                        <a:lnSpc>
                          <a:spcPct val="99600"/>
                        </a:lnSpc>
                        <a:defRPr/>
                      </a:pPr>
                      <a:r>
                        <a:rPr lang="en-US" sz="2133" b="0" i="0" u="none" strike="noStrike" cap="all">
                          <a:solidFill>
                            <a:srgbClr val="FFFFFF"/>
                          </a:solidFill>
                          <a:latin typeface="Hauora ExtraBold"/>
                          <a:ea typeface="Hauora ExtraBold"/>
                          <a:cs typeface="Hauora ExtraBold"/>
                        </a:rPr>
                        <a:t>W1</a:t>
                      </a:r>
                      <a:endParaRPr lang="en-US" sz="1100"/>
                    </a:p>
                  </a:txBody>
                  <a:tcPr marL="25400" marR="25400" marT="52493" marB="52493" anchor="ctr">
                    <a:lnL w="12700" cap="flat" cmpd="sng" algn="ctr">
                      <a:solidFill>
                        <a:srgbClr val="000000"/>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08104F"/>
                    </a:solidFill>
                  </a:tcPr>
                </a:tc>
                <a:tc>
                  <a:txBody>
                    <a:bodyPr/>
                    <a:lstStyle/>
                    <a:p>
                      <a:pPr lvl="0" algn="ctr">
                        <a:lnSpc>
                          <a:spcPct val="99600"/>
                        </a:lnSpc>
                        <a:defRPr/>
                      </a:pPr>
                      <a:r>
                        <a:rPr lang="en-US" sz="2133" b="0" i="0" u="none" strike="noStrike" cap="all">
                          <a:solidFill>
                            <a:srgbClr val="FFFFFF"/>
                          </a:solidFill>
                          <a:latin typeface="Hauora ExtraBold"/>
                          <a:ea typeface="Hauora ExtraBold"/>
                          <a:cs typeface="Hauora ExtraBold"/>
                        </a:rPr>
                        <a:t>W2</a:t>
                      </a:r>
                      <a:endParaRPr lang="en-US" sz="1100"/>
                    </a:p>
                  </a:txBody>
                  <a:tcPr marL="25400" marR="25400" marT="52493" marB="52493" anchor="ctr">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08104F"/>
                    </a:solidFill>
                  </a:tcPr>
                </a:tc>
                <a:tc>
                  <a:txBody>
                    <a:bodyPr/>
                    <a:lstStyle/>
                    <a:p>
                      <a:pPr lvl="0" algn="ctr">
                        <a:lnSpc>
                          <a:spcPct val="99600"/>
                        </a:lnSpc>
                        <a:defRPr/>
                      </a:pPr>
                      <a:r>
                        <a:rPr lang="en-US" sz="2133" b="0" i="0" u="none" strike="noStrike" cap="all">
                          <a:solidFill>
                            <a:srgbClr val="FFFFFF"/>
                          </a:solidFill>
                          <a:latin typeface="Hauora ExtraBold"/>
                          <a:ea typeface="Hauora ExtraBold"/>
                          <a:cs typeface="Hauora ExtraBold"/>
                        </a:rPr>
                        <a:t>W3</a:t>
                      </a:r>
                      <a:endParaRPr lang="en-US" sz="1100"/>
                    </a:p>
                  </a:txBody>
                  <a:tcPr marL="25400" marR="25400" marT="52493" marB="52493" anchor="ctr">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08104F"/>
                    </a:solidFill>
                  </a:tcPr>
                </a:tc>
                <a:tc>
                  <a:txBody>
                    <a:bodyPr/>
                    <a:lstStyle/>
                    <a:p>
                      <a:pPr lvl="0" algn="ctr">
                        <a:lnSpc>
                          <a:spcPct val="99600"/>
                        </a:lnSpc>
                        <a:defRPr/>
                      </a:pPr>
                      <a:r>
                        <a:rPr lang="en-US" sz="2133" b="0" i="0" u="none" strike="noStrike" cap="all">
                          <a:solidFill>
                            <a:srgbClr val="FFFFFF"/>
                          </a:solidFill>
                          <a:latin typeface="Hauora ExtraBold"/>
                          <a:ea typeface="Hauora ExtraBold"/>
                          <a:cs typeface="Hauora ExtraBold"/>
                        </a:rPr>
                        <a:t>W4</a:t>
                      </a:r>
                      <a:endParaRPr lang="en-US" sz="1100"/>
                    </a:p>
                  </a:txBody>
                  <a:tcPr marL="25400" marR="25400" marT="52493" marB="52493" anchor="ctr">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08104F"/>
                    </a:solidFill>
                  </a:tcPr>
                </a:tc>
                <a:tc>
                  <a:txBody>
                    <a:bodyPr/>
                    <a:lstStyle/>
                    <a:p>
                      <a:pPr lvl="0" algn="ctr">
                        <a:lnSpc>
                          <a:spcPct val="99600"/>
                        </a:lnSpc>
                        <a:defRPr/>
                      </a:pPr>
                      <a:r>
                        <a:rPr lang="en-US" sz="2133" b="0" i="0" u="none" strike="noStrike" cap="all">
                          <a:solidFill>
                            <a:srgbClr val="FFFFFF"/>
                          </a:solidFill>
                          <a:latin typeface="Hauora ExtraBold"/>
                          <a:ea typeface="Hauora ExtraBold"/>
                          <a:cs typeface="Hauora ExtraBold"/>
                        </a:rPr>
                        <a:t>W5</a:t>
                      </a:r>
                      <a:endParaRPr lang="en-US" sz="1100"/>
                    </a:p>
                  </a:txBody>
                  <a:tcPr marL="25400" marR="25400" marT="52493" marB="52493" anchor="ctr">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08104F"/>
                    </a:solidFill>
                  </a:tcPr>
                </a:tc>
                <a:tc>
                  <a:txBody>
                    <a:bodyPr/>
                    <a:lstStyle/>
                    <a:p>
                      <a:pPr lvl="0" algn="ctr">
                        <a:lnSpc>
                          <a:spcPct val="99600"/>
                        </a:lnSpc>
                        <a:defRPr/>
                      </a:pPr>
                      <a:r>
                        <a:rPr lang="en-US" sz="2133" b="0" i="0" u="none" strike="noStrike" cap="all">
                          <a:solidFill>
                            <a:srgbClr val="FFFFFF"/>
                          </a:solidFill>
                          <a:latin typeface="Hauora ExtraBold"/>
                          <a:ea typeface="Hauora ExtraBold"/>
                          <a:cs typeface="Hauora ExtraBold"/>
                        </a:rPr>
                        <a:t>W6</a:t>
                      </a:r>
                      <a:endParaRPr lang="en-US" sz="1100"/>
                    </a:p>
                  </a:txBody>
                  <a:tcPr marL="25400" marR="25400" marT="52493" marB="52493" anchor="ctr">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08104F"/>
                    </a:solidFill>
                  </a:tcPr>
                </a:tc>
                <a:tc>
                  <a:txBody>
                    <a:bodyPr/>
                    <a:lstStyle/>
                    <a:p>
                      <a:pPr lvl="0" algn="ctr">
                        <a:lnSpc>
                          <a:spcPct val="99600"/>
                        </a:lnSpc>
                        <a:defRPr/>
                      </a:pPr>
                      <a:r>
                        <a:rPr lang="en-US" sz="2133" b="0" i="0" u="none" strike="noStrike" cap="all">
                          <a:solidFill>
                            <a:srgbClr val="FFFFFF"/>
                          </a:solidFill>
                          <a:latin typeface="Hauora ExtraBold"/>
                          <a:ea typeface="Hauora ExtraBold"/>
                          <a:cs typeface="Hauora ExtraBold"/>
                        </a:rPr>
                        <a:t>W7</a:t>
                      </a:r>
                      <a:endParaRPr lang="en-US" sz="1100"/>
                    </a:p>
                  </a:txBody>
                  <a:tcPr marL="25400" marR="25400" marT="52493" marB="52493" anchor="ctr">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08104F"/>
                    </a:solidFill>
                  </a:tcPr>
                </a:tc>
                <a:tc>
                  <a:txBody>
                    <a:bodyPr/>
                    <a:lstStyle/>
                    <a:p>
                      <a:pPr lvl="0" algn="ctr">
                        <a:lnSpc>
                          <a:spcPct val="99600"/>
                        </a:lnSpc>
                        <a:defRPr/>
                      </a:pPr>
                      <a:r>
                        <a:rPr lang="en-US" sz="2133" b="0" i="0" u="none" strike="noStrike" cap="all">
                          <a:solidFill>
                            <a:srgbClr val="FFFFFF"/>
                          </a:solidFill>
                          <a:latin typeface="Hauora ExtraBold"/>
                          <a:ea typeface="Hauora ExtraBold"/>
                          <a:cs typeface="Hauora ExtraBold"/>
                        </a:rPr>
                        <a:t>W8</a:t>
                      </a:r>
                      <a:endParaRPr lang="en-US" sz="1100"/>
                    </a:p>
                  </a:txBody>
                  <a:tcPr marL="25400" marR="25400" marT="52493" marB="52493" anchor="ctr">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08104F"/>
                    </a:solidFill>
                  </a:tcPr>
                </a:tc>
                <a:extLst>
                  <a:ext uri="{0D108BD9-81ED-4DB2-BD59-A6C34878D82A}">
                    <a16:rowId xmlns:a16="http://schemas.microsoft.com/office/drawing/2014/main" val="10000"/>
                  </a:ext>
                </a:extLst>
              </a:tr>
              <a:tr h="778809">
                <a:tc>
                  <a:txBody>
                    <a:bodyPr/>
                    <a:lstStyle/>
                    <a:p>
                      <a:pPr lvl="0" algn="ctr">
                        <a:lnSpc>
                          <a:spcPct val="120350"/>
                        </a:lnSpc>
                        <a:defRPr/>
                      </a:pPr>
                      <a:r>
                        <a:rPr lang="en-US" sz="2533" b="0" i="0" u="none" strike="noStrike" dirty="0" err="1">
                          <a:solidFill>
                            <a:schemeClr val="tx1"/>
                          </a:solidFill>
                          <a:latin typeface="Pretendard Medium" panose="02000603000000020004" pitchFamily="50" charset="-127"/>
                          <a:ea typeface="Pretendard Medium" panose="02000603000000020004" pitchFamily="50" charset="-127"/>
                          <a:cs typeface="Pretendard Medium" panose="02000603000000020004" pitchFamily="50" charset="-127"/>
                        </a:rPr>
                        <a:t>현황분석</a:t>
                      </a:r>
                      <a:endParaRPr lang="en-US" sz="1100" dirty="0">
                        <a:solidFill>
                          <a:schemeClr val="tx1"/>
                        </a:solidFill>
                        <a:latin typeface="Pretendard Medium" panose="02000603000000020004" pitchFamily="50" charset="-127"/>
                        <a:ea typeface="Pretendard Medium" panose="02000603000000020004" pitchFamily="50" charset="-127"/>
                        <a:cs typeface="Pretendard Medium" panose="02000603000000020004" pitchFamily="50" charset="-127"/>
                      </a:endParaRPr>
                    </a:p>
                  </a:txBody>
                  <a:tcPr marL="38100" marR="38100" marT="17356" marB="17356" anchor="ctr">
                    <a:lnL cap="flat" cmpd="sng" algn="ctr">
                      <a:solidFill>
                        <a:srgbClr val="000000">
                          <a:alpha val="0"/>
                        </a:srgbClr>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ctr">
                        <a:lnSpc>
                          <a:spcPct val="99600"/>
                        </a:lnSpc>
                        <a:defRPr/>
                      </a:pPr>
                      <a:endParaRPr lang="en-US" sz="1100"/>
                    </a:p>
                  </a:txBody>
                  <a:tcPr marL="25400" marR="25400" marT="50799" marB="50799" anchor="ctr">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8809">
                <a:tc>
                  <a:txBody>
                    <a:bodyPr/>
                    <a:lstStyle/>
                    <a:p>
                      <a:pPr lvl="0" algn="ctr">
                        <a:lnSpc>
                          <a:spcPct val="99600"/>
                        </a:lnSpc>
                        <a:defRPr/>
                      </a:pPr>
                      <a:r>
                        <a:rPr lang="en-US" sz="2533" b="0" i="0" u="none" strike="noStrike" dirty="0" err="1">
                          <a:solidFill>
                            <a:schemeClr val="tx1"/>
                          </a:solidFill>
                          <a:latin typeface="Pretendard Medium" panose="02000603000000020004" pitchFamily="50" charset="-127"/>
                          <a:ea typeface="Pretendard Medium" panose="02000603000000020004" pitchFamily="50" charset="-127"/>
                          <a:cs typeface="Pretendard Medium" panose="02000603000000020004" pitchFamily="50" charset="-127"/>
                        </a:rPr>
                        <a:t>프론트엔드</a:t>
                      </a:r>
                      <a:r>
                        <a:rPr lang="en-US" sz="2533" b="0" i="0" u="none" strike="noStrike" dirty="0">
                          <a:solidFill>
                            <a:schemeClr val="tx1"/>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2533" b="0" i="0" u="none" strike="noStrike" dirty="0" err="1">
                          <a:solidFill>
                            <a:schemeClr val="tx1"/>
                          </a:solidFill>
                          <a:latin typeface="Pretendard Medium" panose="02000603000000020004" pitchFamily="50" charset="-127"/>
                          <a:ea typeface="Pretendard Medium" panose="02000603000000020004" pitchFamily="50" charset="-127"/>
                          <a:cs typeface="Pretendard Medium" panose="02000603000000020004" pitchFamily="50" charset="-127"/>
                        </a:rPr>
                        <a:t>개발</a:t>
                      </a:r>
                      <a:r>
                        <a:rPr lang="en-US" sz="2533" b="0" i="0" u="none" strike="noStrike" dirty="0">
                          <a:solidFill>
                            <a:schemeClr val="tx1"/>
                          </a:solidFill>
                          <a:latin typeface="Pretendard Medium" panose="02000603000000020004" pitchFamily="50" charset="-127"/>
                          <a:ea typeface="Pretendard Medium" panose="02000603000000020004" pitchFamily="50" charset="-127"/>
                          <a:cs typeface="Pretendard Medium" panose="02000603000000020004" pitchFamily="50" charset="-127"/>
                        </a:rPr>
                        <a:t> (웹 / </a:t>
                      </a:r>
                      <a:r>
                        <a:rPr lang="en-US" sz="2533" b="0" i="0" u="none" strike="noStrike" dirty="0" err="1">
                          <a:solidFill>
                            <a:schemeClr val="tx1"/>
                          </a:solidFill>
                          <a:latin typeface="Pretendard Medium" panose="02000603000000020004" pitchFamily="50" charset="-127"/>
                          <a:ea typeface="Pretendard Medium" panose="02000603000000020004" pitchFamily="50" charset="-127"/>
                          <a:cs typeface="Pretendard Medium" panose="02000603000000020004" pitchFamily="50" charset="-127"/>
                        </a:rPr>
                        <a:t>모바일</a:t>
                      </a:r>
                      <a:r>
                        <a:rPr lang="en-US" sz="2533" b="0" i="0" u="none" strike="noStrike" dirty="0">
                          <a:solidFill>
                            <a:schemeClr val="tx1"/>
                          </a:solidFill>
                          <a:latin typeface="Pretendard Medium" panose="02000603000000020004" pitchFamily="50" charset="-127"/>
                          <a:ea typeface="Pretendard Medium" panose="02000603000000020004" pitchFamily="50" charset="-127"/>
                          <a:cs typeface="Pretendard Medium" panose="02000603000000020004" pitchFamily="50" charset="-127"/>
                        </a:rPr>
                        <a:t>)</a:t>
                      </a:r>
                      <a:endParaRPr lang="en-US" sz="1100" dirty="0">
                        <a:solidFill>
                          <a:schemeClr val="tx1"/>
                        </a:solidFill>
                        <a:latin typeface="Pretendard Medium" panose="02000603000000020004" pitchFamily="50" charset="-127"/>
                        <a:ea typeface="Pretendard Medium" panose="02000603000000020004" pitchFamily="50" charset="-127"/>
                        <a:cs typeface="Pretendard Medium" panose="02000603000000020004" pitchFamily="50" charset="-127"/>
                      </a:endParaRPr>
                    </a:p>
                  </a:txBody>
                  <a:tcPr marL="38100" marR="38100" marT="57573" marB="57573" anchor="ctr">
                    <a:lnL cap="flat" cmpd="sng" algn="ctr">
                      <a:solidFill>
                        <a:srgbClr val="000000">
                          <a:alpha val="0"/>
                        </a:srgbClr>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ctr">
                        <a:lnSpc>
                          <a:spcPct val="99600"/>
                        </a:lnSpc>
                        <a:defRPr/>
                      </a:pPr>
                      <a:endParaRPr lang="en-US" sz="1100"/>
                    </a:p>
                  </a:txBody>
                  <a:tcPr marL="25400" marR="25400" marT="52493" marB="52493" anchor="ctr">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8809">
                <a:tc>
                  <a:txBody>
                    <a:bodyPr/>
                    <a:lstStyle/>
                    <a:p>
                      <a:pPr lvl="0" algn="ctr">
                        <a:lnSpc>
                          <a:spcPct val="99600"/>
                        </a:lnSpc>
                        <a:defRPr/>
                      </a:pPr>
                      <a:r>
                        <a:rPr lang="en-US" sz="2533" b="0" i="0" u="none" strike="noStrike">
                          <a:solidFill>
                            <a:schemeClr val="tx1"/>
                          </a:solidFill>
                          <a:latin typeface="Pretendard Medium" panose="02000603000000020004" pitchFamily="50" charset="-127"/>
                          <a:ea typeface="Pretendard Medium" panose="02000603000000020004" pitchFamily="50" charset="-127"/>
                          <a:cs typeface="Pretendard Medium" panose="02000603000000020004" pitchFamily="50" charset="-127"/>
                        </a:rPr>
                        <a:t>백엔드 개발</a:t>
                      </a:r>
                      <a:endParaRPr lang="en-US" sz="1100">
                        <a:solidFill>
                          <a:schemeClr val="tx1"/>
                        </a:solidFill>
                        <a:latin typeface="Pretendard Medium" panose="02000603000000020004" pitchFamily="50" charset="-127"/>
                        <a:ea typeface="Pretendard Medium" panose="02000603000000020004" pitchFamily="50" charset="-127"/>
                        <a:cs typeface="Pretendard Medium" panose="02000603000000020004" pitchFamily="50" charset="-127"/>
                      </a:endParaRPr>
                    </a:p>
                  </a:txBody>
                  <a:tcPr marL="38100" marR="38100" marT="57573" marB="57573" anchor="ctr">
                    <a:lnL cap="flat" cmpd="sng" algn="ctr">
                      <a:solidFill>
                        <a:srgbClr val="000000">
                          <a:alpha val="0"/>
                        </a:srgbClr>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8809">
                <a:tc>
                  <a:txBody>
                    <a:bodyPr/>
                    <a:lstStyle/>
                    <a:p>
                      <a:pPr lvl="0" algn="ctr">
                        <a:lnSpc>
                          <a:spcPct val="99600"/>
                        </a:lnSpc>
                        <a:defRPr/>
                      </a:pPr>
                      <a:r>
                        <a:rPr lang="en-US" sz="2533" b="0" i="0" u="none" strike="noStrike">
                          <a:solidFill>
                            <a:schemeClr val="tx1"/>
                          </a:solidFill>
                          <a:latin typeface="Pretendard Medium" panose="02000603000000020004" pitchFamily="50" charset="-127"/>
                          <a:ea typeface="Pretendard Medium" panose="02000603000000020004" pitchFamily="50" charset="-127"/>
                          <a:cs typeface="Pretendard Medium" panose="02000603000000020004" pitchFamily="50" charset="-127"/>
                        </a:rPr>
                        <a:t>클라우드 구축</a:t>
                      </a:r>
                      <a:endParaRPr lang="en-US" sz="1100">
                        <a:solidFill>
                          <a:schemeClr val="tx1"/>
                        </a:solidFill>
                        <a:latin typeface="Pretendard Medium" panose="02000603000000020004" pitchFamily="50" charset="-127"/>
                        <a:ea typeface="Pretendard Medium" panose="02000603000000020004" pitchFamily="50" charset="-127"/>
                        <a:cs typeface="Pretendard Medium" panose="02000603000000020004" pitchFamily="50" charset="-127"/>
                      </a:endParaRPr>
                    </a:p>
                  </a:txBody>
                  <a:tcPr marL="38100" marR="38100" marT="57573" marB="57573" anchor="ctr">
                    <a:lnL cap="flat" cmpd="sng" algn="ctr">
                      <a:solidFill>
                        <a:srgbClr val="000000">
                          <a:alpha val="0"/>
                        </a:srgbClr>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ctr">
                        <a:lnSpc>
                          <a:spcPct val="99600"/>
                        </a:lnSpc>
                        <a:defRPr/>
                      </a:pPr>
                      <a:endParaRPr lang="en-US" sz="1100"/>
                    </a:p>
                  </a:txBody>
                  <a:tcPr marL="25400" marR="25400" marT="52493" marB="52493" anchor="ctr">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78809">
                <a:tc>
                  <a:txBody>
                    <a:bodyPr/>
                    <a:lstStyle/>
                    <a:p>
                      <a:pPr lvl="0" algn="ctr">
                        <a:lnSpc>
                          <a:spcPct val="99600"/>
                        </a:lnSpc>
                        <a:defRPr/>
                      </a:pPr>
                      <a:r>
                        <a:rPr lang="en-US" sz="2533" b="0" i="0" u="none" strike="noStrike">
                          <a:solidFill>
                            <a:schemeClr val="tx1"/>
                          </a:solidFill>
                          <a:latin typeface="Pretendard Medium" panose="02000603000000020004" pitchFamily="50" charset="-127"/>
                          <a:ea typeface="Pretendard Medium" panose="02000603000000020004" pitchFamily="50" charset="-127"/>
                          <a:cs typeface="Pretendard Medium" panose="02000603000000020004" pitchFamily="50" charset="-127"/>
                        </a:rPr>
                        <a:t>취약점 진단</a:t>
                      </a:r>
                      <a:endParaRPr lang="en-US" sz="1100">
                        <a:solidFill>
                          <a:schemeClr val="tx1"/>
                        </a:solidFill>
                        <a:latin typeface="Pretendard Medium" panose="02000603000000020004" pitchFamily="50" charset="-127"/>
                        <a:ea typeface="Pretendard Medium" panose="02000603000000020004" pitchFamily="50" charset="-127"/>
                        <a:cs typeface="Pretendard Medium" panose="02000603000000020004" pitchFamily="50" charset="-127"/>
                      </a:endParaRPr>
                    </a:p>
                  </a:txBody>
                  <a:tcPr marL="38100" marR="38100" marT="57573" marB="57573" anchor="ctr">
                    <a:lnL cap="flat" cmpd="sng" algn="ctr">
                      <a:solidFill>
                        <a:srgbClr val="000000">
                          <a:alpha val="0"/>
                        </a:srgbClr>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78809">
                <a:tc>
                  <a:txBody>
                    <a:bodyPr/>
                    <a:lstStyle/>
                    <a:p>
                      <a:pPr lvl="0" algn="ctr">
                        <a:lnSpc>
                          <a:spcPct val="99600"/>
                        </a:lnSpc>
                        <a:defRPr/>
                      </a:pPr>
                      <a:r>
                        <a:rPr lang="en-US" sz="2533" b="0" i="0" u="none" strike="noStrike">
                          <a:solidFill>
                            <a:schemeClr val="tx1"/>
                          </a:solidFill>
                          <a:latin typeface="Pretendard Medium" panose="02000603000000020004" pitchFamily="50" charset="-127"/>
                          <a:ea typeface="Pretendard Medium" panose="02000603000000020004" pitchFamily="50" charset="-127"/>
                          <a:cs typeface="Pretendard Medium" panose="02000603000000020004" pitchFamily="50" charset="-127"/>
                        </a:rPr>
                        <a:t>시나리오 기획</a:t>
                      </a:r>
                      <a:endParaRPr lang="en-US" sz="1100">
                        <a:solidFill>
                          <a:schemeClr val="tx1"/>
                        </a:solidFill>
                        <a:latin typeface="Pretendard Medium" panose="02000603000000020004" pitchFamily="50" charset="-127"/>
                        <a:ea typeface="Pretendard Medium" panose="02000603000000020004" pitchFamily="50" charset="-127"/>
                        <a:cs typeface="Pretendard Medium" panose="02000603000000020004" pitchFamily="50" charset="-127"/>
                      </a:endParaRPr>
                    </a:p>
                  </a:txBody>
                  <a:tcPr marL="38100" marR="38100" marT="57573" marB="57573" anchor="ctr">
                    <a:lnL cap="flat" cmpd="sng" algn="ctr">
                      <a:solidFill>
                        <a:srgbClr val="000000">
                          <a:alpha val="0"/>
                        </a:srgbClr>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778809">
                <a:tc>
                  <a:txBody>
                    <a:bodyPr/>
                    <a:lstStyle/>
                    <a:p>
                      <a:pPr lvl="0" algn="ctr">
                        <a:lnSpc>
                          <a:spcPct val="99600"/>
                        </a:lnSpc>
                        <a:defRPr/>
                      </a:pPr>
                      <a:r>
                        <a:rPr lang="en-US" sz="2533" b="0" i="0" u="none" strike="noStrike">
                          <a:solidFill>
                            <a:schemeClr val="tx1"/>
                          </a:solidFill>
                          <a:latin typeface="Pretendard Medium" panose="02000603000000020004" pitchFamily="50" charset="-127"/>
                          <a:ea typeface="Pretendard Medium" panose="02000603000000020004" pitchFamily="50" charset="-127"/>
                          <a:cs typeface="Pretendard Medium" panose="02000603000000020004" pitchFamily="50" charset="-127"/>
                        </a:rPr>
                        <a:t>추가 개발</a:t>
                      </a:r>
                      <a:endParaRPr lang="en-US" sz="1100">
                        <a:solidFill>
                          <a:schemeClr val="tx1"/>
                        </a:solidFill>
                        <a:latin typeface="Pretendard Medium" panose="02000603000000020004" pitchFamily="50" charset="-127"/>
                        <a:ea typeface="Pretendard Medium" panose="02000603000000020004" pitchFamily="50" charset="-127"/>
                        <a:cs typeface="Pretendard Medium" panose="02000603000000020004" pitchFamily="50" charset="-127"/>
                      </a:endParaRPr>
                    </a:p>
                  </a:txBody>
                  <a:tcPr marL="38100" marR="38100" marT="57573" marB="57573" anchor="ctr">
                    <a:lnL cap="flat" cmpd="sng" algn="ctr">
                      <a:solidFill>
                        <a:srgbClr val="000000">
                          <a:alpha val="0"/>
                        </a:srgbClr>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ctr">
                        <a:lnSpc>
                          <a:spcPct val="99600"/>
                        </a:lnSpc>
                        <a:defRPr/>
                      </a:pPr>
                      <a:endParaRPr lang="en-US" sz="1100"/>
                    </a:p>
                  </a:txBody>
                  <a:tcPr marL="25400" marR="25400" marT="52493" marB="52493" anchor="ctr">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778809">
                <a:tc>
                  <a:txBody>
                    <a:bodyPr/>
                    <a:lstStyle/>
                    <a:p>
                      <a:pPr lvl="0" algn="ctr">
                        <a:lnSpc>
                          <a:spcPct val="99600"/>
                        </a:lnSpc>
                        <a:defRPr/>
                      </a:pPr>
                      <a:r>
                        <a:rPr lang="en-US" sz="2533" b="0" i="0" u="none" strike="noStrike">
                          <a:solidFill>
                            <a:schemeClr val="tx1"/>
                          </a:solidFill>
                          <a:latin typeface="Pretendard Medium" panose="02000603000000020004" pitchFamily="50" charset="-127"/>
                          <a:ea typeface="Pretendard Medium" panose="02000603000000020004" pitchFamily="50" charset="-127"/>
                          <a:cs typeface="Pretendard Medium" panose="02000603000000020004" pitchFamily="50" charset="-127"/>
                        </a:rPr>
                        <a:t>시나리오 모의해킹</a:t>
                      </a:r>
                      <a:endParaRPr lang="en-US" sz="1100">
                        <a:solidFill>
                          <a:schemeClr val="tx1"/>
                        </a:solidFill>
                        <a:latin typeface="Pretendard Medium" panose="02000603000000020004" pitchFamily="50" charset="-127"/>
                        <a:ea typeface="Pretendard Medium" panose="02000603000000020004" pitchFamily="50" charset="-127"/>
                        <a:cs typeface="Pretendard Medium" panose="02000603000000020004" pitchFamily="50" charset="-127"/>
                      </a:endParaRPr>
                    </a:p>
                  </a:txBody>
                  <a:tcPr marL="38100" marR="38100" marT="57573" marB="57573" anchor="ctr">
                    <a:lnL cap="flat" cmpd="sng" algn="ctr">
                      <a:solidFill>
                        <a:srgbClr val="000000">
                          <a:alpha val="0"/>
                        </a:srgbClr>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778809">
                <a:tc>
                  <a:txBody>
                    <a:bodyPr/>
                    <a:lstStyle/>
                    <a:p>
                      <a:pPr lvl="0" algn="ctr">
                        <a:lnSpc>
                          <a:spcPct val="99600"/>
                        </a:lnSpc>
                        <a:defRPr/>
                      </a:pPr>
                      <a:r>
                        <a:rPr lang="en-US" sz="2533" b="0" i="0" u="none" strike="noStrike">
                          <a:solidFill>
                            <a:schemeClr val="tx1"/>
                          </a:solidFill>
                          <a:latin typeface="Pretendard Medium" panose="02000603000000020004" pitchFamily="50" charset="-127"/>
                          <a:ea typeface="Pretendard Medium" panose="02000603000000020004" pitchFamily="50" charset="-127"/>
                          <a:cs typeface="Pretendard Medium" panose="02000603000000020004" pitchFamily="50" charset="-127"/>
                        </a:rPr>
                        <a:t>결과 보고서</a:t>
                      </a:r>
                      <a:endParaRPr lang="en-US" sz="1100">
                        <a:solidFill>
                          <a:schemeClr val="tx1"/>
                        </a:solidFill>
                        <a:latin typeface="Pretendard Medium" panose="02000603000000020004" pitchFamily="50" charset="-127"/>
                        <a:ea typeface="Pretendard Medium" panose="02000603000000020004" pitchFamily="50" charset="-127"/>
                        <a:cs typeface="Pretendard Medium" panose="02000603000000020004" pitchFamily="50" charset="-127"/>
                      </a:endParaRPr>
                    </a:p>
                  </a:txBody>
                  <a:tcPr marL="38100" marR="38100" marT="57573" marB="57573" anchor="ctr">
                    <a:lnL cap="flat" cmpd="sng" algn="ctr">
                      <a:solidFill>
                        <a:srgbClr val="000000">
                          <a:alpha val="0"/>
                        </a:srgbClr>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778809">
                <a:tc>
                  <a:txBody>
                    <a:bodyPr/>
                    <a:lstStyle/>
                    <a:p>
                      <a:pPr lvl="0" algn="ctr">
                        <a:lnSpc>
                          <a:spcPct val="99600"/>
                        </a:lnSpc>
                        <a:defRPr/>
                      </a:pPr>
                      <a:r>
                        <a:rPr lang="en-US" sz="2533" b="0" i="0" u="none" strike="noStrike" dirty="0" err="1">
                          <a:solidFill>
                            <a:schemeClr val="tx1"/>
                          </a:solidFill>
                          <a:latin typeface="Pretendard Medium" panose="02000603000000020004" pitchFamily="50" charset="-127"/>
                          <a:ea typeface="Pretendard Medium" panose="02000603000000020004" pitchFamily="50" charset="-127"/>
                          <a:cs typeface="Pretendard Medium" panose="02000603000000020004" pitchFamily="50" charset="-127"/>
                        </a:rPr>
                        <a:t>최종</a:t>
                      </a:r>
                      <a:r>
                        <a:rPr lang="en-US" sz="2533" b="0" i="0" u="none" strike="noStrike" dirty="0">
                          <a:solidFill>
                            <a:schemeClr val="tx1"/>
                          </a:solidFill>
                          <a:latin typeface="Pretendard Medium" panose="02000603000000020004" pitchFamily="50" charset="-127"/>
                          <a:ea typeface="Pretendard Medium" panose="02000603000000020004" pitchFamily="50" charset="-127"/>
                          <a:cs typeface="Pretendard Medium" panose="02000603000000020004" pitchFamily="50" charset="-127"/>
                        </a:rPr>
                        <a:t> PPT </a:t>
                      </a:r>
                      <a:r>
                        <a:rPr lang="en-US" sz="2533" b="0" i="0" u="none" strike="noStrike" dirty="0" err="1">
                          <a:solidFill>
                            <a:schemeClr val="tx1"/>
                          </a:solidFill>
                          <a:latin typeface="Pretendard Medium" panose="02000603000000020004" pitchFamily="50" charset="-127"/>
                          <a:ea typeface="Pretendard Medium" panose="02000603000000020004" pitchFamily="50" charset="-127"/>
                          <a:cs typeface="Pretendard Medium" panose="02000603000000020004" pitchFamily="50" charset="-127"/>
                        </a:rPr>
                        <a:t>작성</a:t>
                      </a:r>
                      <a:endParaRPr lang="en-US" sz="1100" dirty="0">
                        <a:solidFill>
                          <a:schemeClr val="tx1"/>
                        </a:solidFill>
                        <a:latin typeface="Pretendard Medium" panose="02000603000000020004" pitchFamily="50" charset="-127"/>
                        <a:ea typeface="Pretendard Medium" panose="02000603000000020004" pitchFamily="50" charset="-127"/>
                        <a:cs typeface="Pretendard Medium" panose="02000603000000020004" pitchFamily="50" charset="-127"/>
                      </a:endParaRPr>
                    </a:p>
                  </a:txBody>
                  <a:tcPr marL="38100" marR="38100" marT="57573" marB="57573" anchor="ctr">
                    <a:lnL cap="flat" cmpd="sng" algn="ctr">
                      <a:solidFill>
                        <a:srgbClr val="000000">
                          <a:alpha val="0"/>
                        </a:srgbClr>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tc>
                  <a:txBody>
                    <a:bodyPr/>
                    <a:lstStyle/>
                    <a:p>
                      <a:pPr lvl="0" algn="l">
                        <a:lnSpc>
                          <a:spcPct val="83000"/>
                        </a:lnSpc>
                        <a:defRPr/>
                      </a:pPr>
                      <a:endParaRPr lang="en-US" sz="1100" dirty="0"/>
                    </a:p>
                  </a:txBody>
                  <a:tcPr marL="25400" marR="25400" marT="25400" marB="25400">
                    <a:lnL w="12700" cap="flat" cmpd="sng" algn="ctr">
                      <a:solidFill>
                        <a:srgbClr val="BED2FE"/>
                      </a:solidFill>
                      <a:prstDash val="solid"/>
                      <a:round/>
                      <a:headEnd type="none" w="med" len="med"/>
                      <a:tailEnd type="none" w="med" len="med"/>
                    </a:lnL>
                    <a:lnR w="12700" cap="flat" cmpd="sng" algn="ctr">
                      <a:solidFill>
                        <a:srgbClr val="BED2FE"/>
                      </a:solidFill>
                      <a:prstDash val="solid"/>
                      <a:round/>
                      <a:headEnd type="none" w="med" len="med"/>
                      <a:tailEnd type="none" w="med" len="med"/>
                    </a:lnR>
                    <a:lnT w="12700" cap="flat" cmpd="sng" algn="ctr">
                      <a:solidFill>
                        <a:srgbClr val="BED2FE"/>
                      </a:solidFill>
                      <a:prstDash val="solid"/>
                      <a:round/>
                      <a:headEnd type="none" w="med" len="med"/>
                      <a:tailEnd type="none" w="med" len="med"/>
                    </a:lnT>
                    <a:lnB w="12700" cap="flat" cmpd="sng" algn="ctr">
                      <a:solidFill>
                        <a:srgbClr val="BED2FE"/>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pic>
        <p:nvPicPr>
          <p:cNvPr id="62" name="Picture 13"/>
          <p:cNvPicPr>
            <a:picLocks noChangeAspect="1"/>
          </p:cNvPicPr>
          <p:nvPr/>
        </p:nvPicPr>
        <p:blipFill>
          <a:blip r:embed="rId7"/>
          <a:stretch>
            <a:fillRect/>
          </a:stretch>
        </p:blipFill>
        <p:spPr>
          <a:xfrm>
            <a:off x="7810500" y="4838700"/>
            <a:ext cx="1562100" cy="444500"/>
          </a:xfrm>
          <a:prstGeom prst="rect">
            <a:avLst/>
          </a:prstGeom>
        </p:spPr>
      </p:pic>
      <p:pic>
        <p:nvPicPr>
          <p:cNvPr id="63" name="Picture 14"/>
          <p:cNvPicPr>
            <a:picLocks noChangeAspect="1"/>
          </p:cNvPicPr>
          <p:nvPr/>
        </p:nvPicPr>
        <p:blipFill>
          <a:blip r:embed="rId8"/>
          <a:stretch>
            <a:fillRect/>
          </a:stretch>
        </p:blipFill>
        <p:spPr>
          <a:xfrm>
            <a:off x="13385800" y="7924800"/>
            <a:ext cx="1727200" cy="444500"/>
          </a:xfrm>
          <a:prstGeom prst="rect">
            <a:avLst/>
          </a:prstGeom>
        </p:spPr>
      </p:pic>
      <p:pic>
        <p:nvPicPr>
          <p:cNvPr id="64" name="Picture 15"/>
          <p:cNvPicPr>
            <a:picLocks noChangeAspect="1"/>
          </p:cNvPicPr>
          <p:nvPr/>
        </p:nvPicPr>
        <p:blipFill>
          <a:blip r:embed="rId9"/>
          <a:stretch>
            <a:fillRect/>
          </a:stretch>
        </p:blipFill>
        <p:spPr>
          <a:xfrm>
            <a:off x="13398500" y="8661400"/>
            <a:ext cx="2755900" cy="508000"/>
          </a:xfrm>
          <a:prstGeom prst="rect">
            <a:avLst/>
          </a:prstGeom>
        </p:spPr>
      </p:pic>
      <p:pic>
        <p:nvPicPr>
          <p:cNvPr id="65" name="Picture 16"/>
          <p:cNvPicPr>
            <a:picLocks noChangeAspect="1"/>
          </p:cNvPicPr>
          <p:nvPr/>
        </p:nvPicPr>
        <p:blipFill>
          <a:blip r:embed="rId10"/>
          <a:stretch>
            <a:fillRect/>
          </a:stretch>
        </p:blipFill>
        <p:spPr>
          <a:xfrm>
            <a:off x="17221200" y="11023600"/>
            <a:ext cx="5384800" cy="508000"/>
          </a:xfrm>
          <a:prstGeom prst="rect">
            <a:avLst/>
          </a:prstGeom>
        </p:spPr>
      </p:pic>
      <p:pic>
        <p:nvPicPr>
          <p:cNvPr id="66" name="Picture 17"/>
          <p:cNvPicPr>
            <a:picLocks noChangeAspect="1"/>
          </p:cNvPicPr>
          <p:nvPr/>
        </p:nvPicPr>
        <p:blipFill>
          <a:blip r:embed="rId11"/>
          <a:stretch>
            <a:fillRect/>
          </a:stretch>
        </p:blipFill>
        <p:spPr>
          <a:xfrm>
            <a:off x="9664700" y="5613400"/>
            <a:ext cx="4584700" cy="444500"/>
          </a:xfrm>
          <a:prstGeom prst="rect">
            <a:avLst/>
          </a:prstGeom>
        </p:spPr>
      </p:pic>
      <p:pic>
        <p:nvPicPr>
          <p:cNvPr id="67" name="Picture 18"/>
          <p:cNvPicPr>
            <a:picLocks noChangeAspect="1"/>
          </p:cNvPicPr>
          <p:nvPr/>
        </p:nvPicPr>
        <p:blipFill>
          <a:blip r:embed="rId12"/>
          <a:stretch>
            <a:fillRect/>
          </a:stretch>
        </p:blipFill>
        <p:spPr>
          <a:xfrm>
            <a:off x="9664700" y="6388100"/>
            <a:ext cx="4584700" cy="444500"/>
          </a:xfrm>
          <a:prstGeom prst="rect">
            <a:avLst/>
          </a:prstGeom>
        </p:spPr>
      </p:pic>
      <p:pic>
        <p:nvPicPr>
          <p:cNvPr id="68" name="Picture 19"/>
          <p:cNvPicPr>
            <a:picLocks noChangeAspect="1"/>
          </p:cNvPicPr>
          <p:nvPr/>
        </p:nvPicPr>
        <p:blipFill>
          <a:blip r:embed="rId13"/>
          <a:stretch>
            <a:fillRect/>
          </a:stretch>
        </p:blipFill>
        <p:spPr>
          <a:xfrm>
            <a:off x="11493500" y="7175500"/>
            <a:ext cx="3530600" cy="444500"/>
          </a:xfrm>
          <a:prstGeom prst="rect">
            <a:avLst/>
          </a:prstGeom>
        </p:spPr>
      </p:pic>
      <p:pic>
        <p:nvPicPr>
          <p:cNvPr id="69" name="Picture 20"/>
          <p:cNvPicPr>
            <a:picLocks noChangeAspect="1"/>
          </p:cNvPicPr>
          <p:nvPr/>
        </p:nvPicPr>
        <p:blipFill>
          <a:blip r:embed="rId14"/>
          <a:stretch>
            <a:fillRect/>
          </a:stretch>
        </p:blipFill>
        <p:spPr>
          <a:xfrm>
            <a:off x="13398500" y="9474200"/>
            <a:ext cx="1714500" cy="508000"/>
          </a:xfrm>
          <a:prstGeom prst="rect">
            <a:avLst/>
          </a:prstGeom>
        </p:spPr>
      </p:pic>
      <p:pic>
        <p:nvPicPr>
          <p:cNvPr id="70" name="Picture 21"/>
          <p:cNvPicPr>
            <a:picLocks noChangeAspect="1"/>
          </p:cNvPicPr>
          <p:nvPr/>
        </p:nvPicPr>
        <p:blipFill>
          <a:blip r:embed="rId15"/>
          <a:stretch>
            <a:fillRect/>
          </a:stretch>
        </p:blipFill>
        <p:spPr>
          <a:xfrm>
            <a:off x="15354300" y="10210800"/>
            <a:ext cx="3479800" cy="508000"/>
          </a:xfrm>
          <a:prstGeom prst="rect">
            <a:avLst/>
          </a:prstGeom>
        </p:spPr>
      </p:pic>
      <p:pic>
        <p:nvPicPr>
          <p:cNvPr id="71" name="Picture 22"/>
          <p:cNvPicPr>
            <a:picLocks noChangeAspect="1"/>
          </p:cNvPicPr>
          <p:nvPr/>
        </p:nvPicPr>
        <p:blipFill>
          <a:blip r:embed="rId16"/>
          <a:stretch>
            <a:fillRect/>
          </a:stretch>
        </p:blipFill>
        <p:spPr>
          <a:xfrm>
            <a:off x="17221200" y="11772900"/>
            <a:ext cx="5384800" cy="508000"/>
          </a:xfrm>
          <a:prstGeom prst="rect">
            <a:avLst/>
          </a:prstGeom>
        </p:spPr>
      </p:pic>
      <p:pic>
        <p:nvPicPr>
          <p:cNvPr id="72" name="Picture 23"/>
          <p:cNvPicPr>
            <a:picLocks noChangeAspect="1"/>
          </p:cNvPicPr>
          <p:nvPr/>
        </p:nvPicPr>
        <p:blipFill>
          <a:blip r:embed="rId17"/>
          <a:stretch>
            <a:fillRect/>
          </a:stretch>
        </p:blipFill>
        <p:spPr>
          <a:xfrm>
            <a:off x="21615400" y="3035300"/>
            <a:ext cx="1384300" cy="1079500"/>
          </a:xfrm>
          <a:prstGeom prst="rect">
            <a:avLst/>
          </a:prstGeom>
        </p:spPr>
      </p:pic>
    </p:spTree>
    <p:extLst>
      <p:ext uri="{BB962C8B-B14F-4D97-AF65-F5344CB8AC3E}">
        <p14:creationId xmlns:p14="http://schemas.microsoft.com/office/powerpoint/2010/main" val="3723661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5"/>
          <a:stretch>
            <a:fillRect/>
          </a:stretch>
        </p:blipFill>
        <p:spPr>
          <a:xfrm>
            <a:off x="1485900" y="3136900"/>
            <a:ext cx="7150100" cy="9715500"/>
          </a:xfrm>
          <a:prstGeom prst="rect">
            <a:avLst/>
          </a:prstGeom>
          <a:effectLst>
            <a:outerShdw blurRad="178701" dist="164954" dir="2700000">
              <a:srgbClr val="1A7AE1">
                <a:alpha val="15000"/>
              </a:srgbClr>
            </a:outerShdw>
          </a:effectLst>
        </p:spPr>
      </p:pic>
      <p:pic>
        <p:nvPicPr>
          <p:cNvPr id="8" name="Picture 8"/>
          <p:cNvPicPr>
            <a:picLocks noChangeAspect="1"/>
          </p:cNvPicPr>
          <p:nvPr/>
        </p:nvPicPr>
        <p:blipFill>
          <a:blip r:embed="rId5"/>
          <a:stretch>
            <a:fillRect/>
          </a:stretch>
        </p:blipFill>
        <p:spPr>
          <a:xfrm>
            <a:off x="1485900" y="3136900"/>
            <a:ext cx="7150100" cy="9715500"/>
          </a:xfrm>
          <a:prstGeom prst="rect">
            <a:avLst/>
          </a:prstGeom>
          <a:effectLst>
            <a:outerShdw blurRad="178701" dist="164954" dir="2700000">
              <a:srgbClr val="1A7AE1">
                <a:alpha val="15000"/>
              </a:srgbClr>
            </a:outerShdw>
          </a:effectLst>
        </p:spPr>
      </p:pic>
      <p:sp>
        <p:nvSpPr>
          <p:cNvPr id="9" name="TextBox 9"/>
          <p:cNvSpPr txBox="1"/>
          <p:nvPr/>
        </p:nvSpPr>
        <p:spPr>
          <a:xfrm>
            <a:off x="2641600" y="3403600"/>
            <a:ext cx="5003800" cy="660400"/>
          </a:xfrm>
          <a:prstGeom prst="rect">
            <a:avLst/>
          </a:prstGeom>
        </p:spPr>
        <p:txBody>
          <a:bodyPr lIns="0" tIns="23707" rIns="0" bIns="0" rtlCol="0" anchor="t"/>
          <a:lstStyle/>
          <a:p>
            <a:pPr marL="342900" lvl="1" indent="-342900" algn="l">
              <a:lnSpc>
                <a:spcPct val="107899"/>
              </a:lnSpc>
              <a:buAutoNum type="arabicPeriod"/>
            </a:pPr>
            <a:r>
              <a:rPr lang="en-US" sz="3733" b="0" i="0" u="none" strike="noStrike">
                <a:solidFill>
                  <a:srgbClr val="1A7AE1"/>
                </a:solidFill>
                <a:latin typeface="Pretendard SemiBold"/>
                <a:ea typeface="Pretendard SemiBold"/>
                <a:cs typeface="Pretendard SemiBold"/>
              </a:rPr>
              <a:t>인프라 패러다임 전환</a:t>
            </a:r>
          </a:p>
        </p:txBody>
      </p:sp>
      <p:sp>
        <p:nvSpPr>
          <p:cNvPr id="10" name="TextBox 10"/>
          <p:cNvSpPr txBox="1"/>
          <p:nvPr/>
        </p:nvSpPr>
        <p:spPr>
          <a:xfrm>
            <a:off x="2247900" y="5105400"/>
            <a:ext cx="5829300" cy="571500"/>
          </a:xfrm>
          <a:prstGeom prst="rect">
            <a:avLst/>
          </a:prstGeom>
        </p:spPr>
        <p:txBody>
          <a:bodyPr lIns="0" tIns="20320" rIns="0" bIns="0" rtlCol="0" anchor="t"/>
          <a:lstStyle/>
          <a:p>
            <a:pPr lvl="0" algn="ctr">
              <a:lnSpc>
                <a:spcPct val="107899"/>
              </a:lnSpc>
            </a:pPr>
            <a:r>
              <a:rPr lang="en-US" sz="3200" b="0" i="0" u="none" strike="noStrike" spc="-100">
                <a:solidFill>
                  <a:srgbClr val="000000"/>
                </a:solidFill>
                <a:latin typeface="Pretendard SemiBold"/>
                <a:ea typeface="Pretendard SemiBold"/>
                <a:cs typeface="Pretendard SemiBold"/>
              </a:rPr>
              <a:t>망분리 맹신 경계 및 우회 공격 현실화</a:t>
            </a:r>
          </a:p>
        </p:txBody>
      </p:sp>
      <p:sp>
        <p:nvSpPr>
          <p:cNvPr id="11" name="TextBox 11"/>
          <p:cNvSpPr txBox="1"/>
          <p:nvPr/>
        </p:nvSpPr>
        <p:spPr>
          <a:xfrm>
            <a:off x="2006600" y="9080500"/>
            <a:ext cx="6235700" cy="1638300"/>
          </a:xfrm>
          <a:prstGeom prst="rect">
            <a:avLst/>
          </a:prstGeom>
        </p:spPr>
        <p:txBody>
          <a:bodyPr lIns="0" tIns="0" rIns="0" bIns="0" rtlCol="0" anchor="t"/>
          <a:lstStyle/>
          <a:p>
            <a:pPr lvl="0" algn="ctr">
              <a:lnSpc>
                <a:spcPct val="124499"/>
              </a:lnSpc>
            </a:pPr>
            <a:r>
              <a:rPr lang="en-US" sz="2933" b="0" i="0" u="none" strike="noStrike">
                <a:solidFill>
                  <a:srgbClr val="000000">
                    <a:alpha val="70196"/>
                  </a:srgbClr>
                </a:solidFill>
                <a:latin typeface="Pretendard SemiBold"/>
                <a:ea typeface="Pretendard SemiBold"/>
                <a:cs typeface="Pretendard SemiBold"/>
              </a:rPr>
              <a:t>클라우드 연동 구간 및 서드파티 솔루션을 
징검다리로 삼아 내부 핵심망으로 
침투하는 </a:t>
            </a:r>
            <a:r>
              <a:rPr lang="en-US" sz="2933" b="0" i="0" u="none" strike="noStrike">
                <a:solidFill>
                  <a:srgbClr val="1A7AE1">
                    <a:alpha val="70196"/>
                  </a:srgbClr>
                </a:solidFill>
                <a:latin typeface="Pretendard SemiBold"/>
                <a:ea typeface="Pretendard SemiBold"/>
                <a:cs typeface="Pretendard SemiBold"/>
              </a:rPr>
              <a:t>우회 공격 급증</a:t>
            </a:r>
          </a:p>
        </p:txBody>
      </p:sp>
      <p:pic>
        <p:nvPicPr>
          <p:cNvPr id="12" name="Picture 12"/>
          <p:cNvPicPr>
            <a:picLocks noChangeAspect="1"/>
          </p:cNvPicPr>
          <p:nvPr/>
        </p:nvPicPr>
        <p:blipFill>
          <a:blip r:embed="rId5"/>
          <a:stretch>
            <a:fillRect/>
          </a:stretch>
        </p:blipFill>
        <p:spPr>
          <a:xfrm>
            <a:off x="16243300" y="3136900"/>
            <a:ext cx="7150100" cy="9715500"/>
          </a:xfrm>
          <a:prstGeom prst="rect">
            <a:avLst/>
          </a:prstGeom>
          <a:effectLst>
            <a:outerShdw blurRad="178701" dist="164954" dir="2700000">
              <a:srgbClr val="1A7AE1">
                <a:alpha val="15000"/>
              </a:srgbClr>
            </a:outerShdw>
          </a:effectLst>
        </p:spPr>
      </p:pic>
      <p:sp>
        <p:nvSpPr>
          <p:cNvPr id="13" name="TextBox 13"/>
          <p:cNvSpPr txBox="1"/>
          <p:nvPr/>
        </p:nvSpPr>
        <p:spPr>
          <a:xfrm>
            <a:off x="17373600" y="3403600"/>
            <a:ext cx="4826000" cy="660400"/>
          </a:xfrm>
          <a:prstGeom prst="rect">
            <a:avLst/>
          </a:prstGeom>
        </p:spPr>
        <p:txBody>
          <a:bodyPr lIns="0" tIns="23707" rIns="0" bIns="0" rtlCol="0" anchor="t"/>
          <a:lstStyle/>
          <a:p>
            <a:pPr lvl="0" algn="l">
              <a:lnSpc>
                <a:spcPct val="107899"/>
              </a:lnSpc>
            </a:pPr>
            <a:r>
              <a:rPr lang="en-US" sz="3733" b="0" i="0" u="none" strike="noStrike">
                <a:solidFill>
                  <a:srgbClr val="1A7AE1"/>
                </a:solidFill>
                <a:latin typeface="Pretendard SemiBold"/>
                <a:ea typeface="Pretendard SemiBold"/>
                <a:cs typeface="Pretendard SemiBold"/>
              </a:rPr>
              <a:t>3. 공격 표면 확장</a:t>
            </a:r>
          </a:p>
        </p:txBody>
      </p:sp>
      <p:sp>
        <p:nvSpPr>
          <p:cNvPr id="14" name="TextBox 14"/>
          <p:cNvSpPr txBox="1"/>
          <p:nvPr/>
        </p:nvSpPr>
        <p:spPr>
          <a:xfrm>
            <a:off x="17018000" y="5105400"/>
            <a:ext cx="5588000" cy="571500"/>
          </a:xfrm>
          <a:prstGeom prst="rect">
            <a:avLst/>
          </a:prstGeom>
        </p:spPr>
        <p:txBody>
          <a:bodyPr lIns="0" tIns="20320" rIns="0" bIns="0" rtlCol="0" anchor="t"/>
          <a:lstStyle/>
          <a:p>
            <a:pPr lvl="0" algn="ctr">
              <a:lnSpc>
                <a:spcPct val="107899"/>
              </a:lnSpc>
            </a:pPr>
            <a:r>
              <a:rPr lang="en-US" sz="3200" b="0" i="0" u="none" strike="noStrike" spc="-100">
                <a:solidFill>
                  <a:srgbClr val="000000"/>
                </a:solidFill>
                <a:latin typeface="Pretendard SemiBold"/>
                <a:ea typeface="Pretendard SemiBold"/>
                <a:cs typeface="Pretendard SemiBold"/>
              </a:rPr>
              <a:t>오픈 API 및 MSA 공급망 리스크</a:t>
            </a:r>
          </a:p>
        </p:txBody>
      </p:sp>
      <p:sp>
        <p:nvSpPr>
          <p:cNvPr id="15" name="TextBox 15"/>
          <p:cNvSpPr txBox="1"/>
          <p:nvPr/>
        </p:nvSpPr>
        <p:spPr>
          <a:xfrm>
            <a:off x="16662400" y="9321800"/>
            <a:ext cx="6235700" cy="1079500"/>
          </a:xfrm>
          <a:prstGeom prst="rect">
            <a:avLst/>
          </a:prstGeom>
        </p:spPr>
        <p:txBody>
          <a:bodyPr lIns="0" tIns="0" rIns="0" bIns="0" rtlCol="0" anchor="t"/>
          <a:lstStyle/>
          <a:p>
            <a:pPr lvl="0" algn="ctr">
              <a:lnSpc>
                <a:spcPct val="124499"/>
              </a:lnSpc>
            </a:pPr>
            <a:r>
              <a:rPr lang="en-US" sz="2933" b="0" i="0" u="none" strike="noStrike">
                <a:solidFill>
                  <a:srgbClr val="000000">
                    <a:alpha val="70196"/>
                  </a:srgbClr>
                </a:solidFill>
                <a:latin typeface="Pretendard SemiBold"/>
                <a:ea typeface="Pretendard SemiBold"/>
                <a:cs typeface="Pretendard SemiBold"/>
              </a:rPr>
              <a:t>보안이 취약한 제 3자 핀테크 플랫폼이 
대형 금융사 공격의 </a:t>
            </a:r>
            <a:r>
              <a:rPr lang="en-US" sz="2933" b="0" i="0" u="none" strike="noStrike">
                <a:solidFill>
                  <a:srgbClr val="1A7AE1">
                    <a:alpha val="70196"/>
                  </a:srgbClr>
                </a:solidFill>
                <a:latin typeface="Pretendard SemiBold"/>
                <a:ea typeface="Pretendard SemiBold"/>
                <a:cs typeface="Pretendard SemiBold"/>
              </a:rPr>
              <a:t>우회 경로로 악용</a:t>
            </a:r>
          </a:p>
        </p:txBody>
      </p:sp>
      <p:pic>
        <p:nvPicPr>
          <p:cNvPr id="16" name="Picture 16"/>
          <p:cNvPicPr>
            <a:picLocks noChangeAspect="1"/>
          </p:cNvPicPr>
          <p:nvPr/>
        </p:nvPicPr>
        <p:blipFill>
          <a:blip r:embed="rId3"/>
          <a:stretch>
            <a:fillRect/>
          </a:stretch>
        </p:blipFill>
        <p:spPr>
          <a:xfrm>
            <a:off x="723900" y="457200"/>
            <a:ext cx="22860000" cy="12700"/>
          </a:xfrm>
          <a:prstGeom prst="rect">
            <a:avLst/>
          </a:prstGeom>
        </p:spPr>
      </p:pic>
      <p:pic>
        <p:nvPicPr>
          <p:cNvPr id="17" name="Picture 17"/>
          <p:cNvPicPr>
            <a:picLocks noChangeAspect="1"/>
          </p:cNvPicPr>
          <p:nvPr/>
        </p:nvPicPr>
        <p:blipFill>
          <a:blip r:embed="rId5"/>
          <a:stretch>
            <a:fillRect/>
          </a:stretch>
        </p:blipFill>
        <p:spPr>
          <a:xfrm>
            <a:off x="8864600" y="3136900"/>
            <a:ext cx="7150100" cy="9715500"/>
          </a:xfrm>
          <a:prstGeom prst="rect">
            <a:avLst/>
          </a:prstGeom>
          <a:effectLst>
            <a:outerShdw blurRad="178701" dist="164954" dir="2700000">
              <a:srgbClr val="1A7AE1">
                <a:alpha val="23000"/>
              </a:srgbClr>
            </a:outerShdw>
          </a:effectLst>
        </p:spPr>
      </p:pic>
      <p:sp>
        <p:nvSpPr>
          <p:cNvPr id="18" name="TextBox 18"/>
          <p:cNvSpPr txBox="1"/>
          <p:nvPr/>
        </p:nvSpPr>
        <p:spPr>
          <a:xfrm>
            <a:off x="9918700" y="3403600"/>
            <a:ext cx="4838700" cy="660400"/>
          </a:xfrm>
          <a:prstGeom prst="rect">
            <a:avLst/>
          </a:prstGeom>
        </p:spPr>
        <p:txBody>
          <a:bodyPr lIns="0" tIns="23707" rIns="0" bIns="0" rtlCol="0" anchor="t"/>
          <a:lstStyle/>
          <a:p>
            <a:pPr lvl="0" algn="l">
              <a:lnSpc>
                <a:spcPct val="107899"/>
              </a:lnSpc>
            </a:pPr>
            <a:r>
              <a:rPr lang="en-US" sz="3733" b="0" i="0" u="none" strike="noStrike">
                <a:solidFill>
                  <a:srgbClr val="1A7AE1"/>
                </a:solidFill>
                <a:latin typeface="Pretendard SemiBold"/>
                <a:ea typeface="Pretendard SemiBold"/>
                <a:cs typeface="Pretendard SemiBold"/>
              </a:rPr>
              <a:t>2. 금융 타깃 위협 심화</a:t>
            </a:r>
          </a:p>
        </p:txBody>
      </p:sp>
      <p:sp>
        <p:nvSpPr>
          <p:cNvPr id="19" name="TextBox 19"/>
          <p:cNvSpPr txBox="1"/>
          <p:nvPr/>
        </p:nvSpPr>
        <p:spPr>
          <a:xfrm>
            <a:off x="9855200" y="5105400"/>
            <a:ext cx="5207000" cy="571500"/>
          </a:xfrm>
          <a:prstGeom prst="rect">
            <a:avLst/>
          </a:prstGeom>
        </p:spPr>
        <p:txBody>
          <a:bodyPr lIns="0" tIns="20320" rIns="0" bIns="0" rtlCol="0" anchor="t"/>
          <a:lstStyle/>
          <a:p>
            <a:pPr lvl="0" algn="ctr">
              <a:lnSpc>
                <a:spcPct val="107899"/>
              </a:lnSpc>
            </a:pPr>
            <a:r>
              <a:rPr lang="en-US" sz="3200" b="0" i="0" u="none" strike="noStrike" spc="-100">
                <a:solidFill>
                  <a:srgbClr val="000000"/>
                </a:solidFill>
                <a:latin typeface="Pretendard SemiBold"/>
                <a:ea typeface="Pretendard SemiBold"/>
                <a:cs typeface="Pretendard SemiBold"/>
              </a:rPr>
              <a:t>금융 데이터의 치명성과 표적화</a:t>
            </a:r>
          </a:p>
        </p:txBody>
      </p:sp>
      <p:sp>
        <p:nvSpPr>
          <p:cNvPr id="20" name="TextBox 20"/>
          <p:cNvSpPr txBox="1"/>
          <p:nvPr/>
        </p:nvSpPr>
        <p:spPr>
          <a:xfrm>
            <a:off x="9334500" y="9334500"/>
            <a:ext cx="6235700" cy="1079500"/>
          </a:xfrm>
          <a:prstGeom prst="rect">
            <a:avLst/>
          </a:prstGeom>
        </p:spPr>
        <p:txBody>
          <a:bodyPr lIns="0" tIns="0" rIns="0" bIns="0" rtlCol="0" anchor="t"/>
          <a:lstStyle/>
          <a:p>
            <a:pPr lvl="0" algn="ctr">
              <a:lnSpc>
                <a:spcPct val="124499"/>
              </a:lnSpc>
            </a:pPr>
            <a:r>
              <a:rPr lang="en-US" sz="2933" b="0" i="0" u="none" strike="noStrike">
                <a:solidFill>
                  <a:srgbClr val="000000">
                    <a:alpha val="70196"/>
                  </a:srgbClr>
                </a:solidFill>
                <a:latin typeface="Pretendard SemiBold"/>
                <a:ea typeface="Pretendard SemiBold"/>
                <a:cs typeface="Pretendard SemiBold"/>
              </a:rPr>
              <a:t>막대한 피해 규모 발생,</a:t>
            </a:r>
          </a:p>
          <a:p>
            <a:pPr lvl="0" algn="ctr">
              <a:lnSpc>
                <a:spcPct val="124499"/>
              </a:lnSpc>
            </a:pPr>
            <a:r>
              <a:rPr lang="en-US" sz="2933" b="0" i="0" u="none" strike="noStrike">
                <a:solidFill>
                  <a:srgbClr val="1A7AE1">
                    <a:alpha val="70196"/>
                  </a:srgbClr>
                </a:solidFill>
                <a:latin typeface="Pretendard SemiBold"/>
                <a:ea typeface="Pretendard SemiBold"/>
                <a:cs typeface="Pretendard SemiBold"/>
              </a:rPr>
              <a:t>킬체인 기반 실전 모의 해킹</a:t>
            </a:r>
            <a:r>
              <a:rPr lang="en-US" sz="2933" b="0" i="0" u="none" strike="noStrike">
                <a:solidFill>
                  <a:srgbClr val="000000">
                    <a:alpha val="70196"/>
                  </a:srgbClr>
                </a:solidFill>
                <a:latin typeface="Pretendard SemiBold"/>
                <a:ea typeface="Pretendard SemiBold"/>
                <a:cs typeface="Pretendard SemiBold"/>
              </a:rPr>
              <a:t> 필수</a:t>
            </a:r>
          </a:p>
        </p:txBody>
      </p:sp>
      <p:sp>
        <p:nvSpPr>
          <p:cNvPr id="21" name="TextBox 21"/>
          <p:cNvSpPr txBox="1"/>
          <p:nvPr/>
        </p:nvSpPr>
        <p:spPr>
          <a:xfrm>
            <a:off x="1778000" y="12407900"/>
            <a:ext cx="6832600" cy="279400"/>
          </a:xfrm>
          <a:prstGeom prst="rect">
            <a:avLst/>
          </a:prstGeom>
        </p:spPr>
        <p:txBody>
          <a:bodyPr lIns="0" tIns="0" rIns="0" bIns="0" rtlCol="0" anchor="t"/>
          <a:lstStyle/>
          <a:p>
            <a:pPr lvl="0" algn="l">
              <a:lnSpc>
                <a:spcPct val="116199"/>
              </a:lnSpc>
            </a:pPr>
            <a:r>
              <a:rPr lang="en-US" sz="1599" b="0" i="0" u="none" strike="noStrike">
                <a:solidFill>
                  <a:srgbClr val="A0A0A0">
                    <a:alpha val="70196"/>
                  </a:srgbClr>
                </a:solidFill>
                <a:latin typeface="Pretendard Medium"/>
                <a:ea typeface="Pretendard Medium"/>
                <a:cs typeface="Pretendard Medium"/>
              </a:rPr>
              <a:t>출처 : https://www.dailysecu.com/news/articleView.html?idxno=205534</a:t>
            </a:r>
          </a:p>
        </p:txBody>
      </p:sp>
      <p:pic>
        <p:nvPicPr>
          <p:cNvPr id="22" name="Picture 22"/>
          <p:cNvPicPr>
            <a:picLocks noChangeAspect="1"/>
          </p:cNvPicPr>
          <p:nvPr/>
        </p:nvPicPr>
        <p:blipFill>
          <a:blip r:embed="rId6"/>
          <a:stretch>
            <a:fillRect/>
          </a:stretch>
        </p:blipFill>
        <p:spPr>
          <a:xfrm>
            <a:off x="1485900" y="1612900"/>
            <a:ext cx="88900" cy="850900"/>
          </a:xfrm>
          <a:prstGeom prst="rect">
            <a:avLst/>
          </a:prstGeom>
        </p:spPr>
      </p:pic>
      <p:sp>
        <p:nvSpPr>
          <p:cNvPr id="23" name="TextBox 23"/>
          <p:cNvSpPr txBox="1"/>
          <p:nvPr/>
        </p:nvSpPr>
        <p:spPr>
          <a:xfrm>
            <a:off x="1943100" y="1409700"/>
            <a:ext cx="106807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프로젝트 선정 개요</a:t>
            </a:r>
          </a:p>
        </p:txBody>
      </p:sp>
      <p:pic>
        <p:nvPicPr>
          <p:cNvPr id="24" name="Picture 24"/>
          <p:cNvPicPr>
            <a:picLocks noChangeAspect="1"/>
          </p:cNvPicPr>
          <p:nvPr/>
        </p:nvPicPr>
        <p:blipFill>
          <a:blip r:embed="rId7"/>
          <a:stretch>
            <a:fillRect/>
          </a:stretch>
        </p:blipFill>
        <p:spPr>
          <a:xfrm>
            <a:off x="1943100" y="6438900"/>
            <a:ext cx="6248400" cy="1689100"/>
          </a:xfrm>
          <a:prstGeom prst="rect">
            <a:avLst/>
          </a:prstGeom>
          <a:effectLst>
            <a:outerShdw blurRad="67798" dist="156457" dir="2700000">
              <a:srgbClr val="000000">
                <a:alpha val="50000"/>
              </a:srgbClr>
            </a:outerShdw>
          </a:effectLst>
        </p:spPr>
      </p:pic>
      <p:pic>
        <p:nvPicPr>
          <p:cNvPr id="25" name="Picture 25"/>
          <p:cNvPicPr>
            <a:picLocks noChangeAspect="1"/>
          </p:cNvPicPr>
          <p:nvPr/>
        </p:nvPicPr>
        <p:blipFill>
          <a:blip r:embed="rId8"/>
          <a:stretch>
            <a:fillRect/>
          </a:stretch>
        </p:blipFill>
        <p:spPr>
          <a:xfrm>
            <a:off x="16522700" y="6438900"/>
            <a:ext cx="6578600" cy="1689100"/>
          </a:xfrm>
          <a:prstGeom prst="rect">
            <a:avLst/>
          </a:prstGeom>
          <a:effectLst>
            <a:outerShdw blurRad="67518" dist="155812" dir="2700000">
              <a:srgbClr val="000000">
                <a:alpha val="50000"/>
              </a:srgbClr>
            </a:outerShdw>
          </a:effectLst>
        </p:spPr>
      </p:pic>
      <p:pic>
        <p:nvPicPr>
          <p:cNvPr id="26" name="Picture 26"/>
          <p:cNvPicPr>
            <a:picLocks noChangeAspect="1"/>
          </p:cNvPicPr>
          <p:nvPr/>
        </p:nvPicPr>
        <p:blipFill>
          <a:blip r:embed="rId9"/>
          <a:stretch>
            <a:fillRect/>
          </a:stretch>
        </p:blipFill>
        <p:spPr>
          <a:xfrm>
            <a:off x="9118600" y="6438900"/>
            <a:ext cx="6565900" cy="1689100"/>
          </a:xfrm>
          <a:prstGeom prst="rect">
            <a:avLst/>
          </a:prstGeom>
          <a:effectLst>
            <a:outerShdw blurRad="67518" dist="155812" dir="2700000">
              <a:srgbClr val="000000">
                <a:alpha val="50000"/>
              </a:srgbClr>
            </a:outerShdw>
          </a:effectLst>
        </p:spPr>
      </p:pic>
      <p:sp>
        <p:nvSpPr>
          <p:cNvPr id="27" name="TextBox 27"/>
          <p:cNvSpPr txBox="1"/>
          <p:nvPr/>
        </p:nvSpPr>
        <p:spPr>
          <a:xfrm>
            <a:off x="2032000" y="6108700"/>
            <a:ext cx="1663700" cy="355600"/>
          </a:xfrm>
          <a:prstGeom prst="rect">
            <a:avLst/>
          </a:prstGeom>
        </p:spPr>
        <p:txBody>
          <a:bodyPr lIns="0" tIns="0" rIns="0" bIns="0" rtlCol="0" anchor="t"/>
          <a:lstStyle/>
          <a:p>
            <a:pPr lvl="0" algn="ctr">
              <a:lnSpc>
                <a:spcPct val="116199"/>
              </a:lnSpc>
            </a:pPr>
            <a:r>
              <a:rPr lang="en-US" sz="2000" b="0" i="0" u="none" strike="noStrike">
                <a:solidFill>
                  <a:srgbClr val="000000"/>
                </a:solidFill>
                <a:latin typeface="Pretendard Regular"/>
                <a:ea typeface="Pretendard Regular"/>
                <a:cs typeface="Pretendard Regular"/>
              </a:rPr>
              <a:t>2026.03.04</a:t>
            </a:r>
          </a:p>
        </p:txBody>
      </p:sp>
      <p:sp>
        <p:nvSpPr>
          <p:cNvPr id="28" name="TextBox 28"/>
          <p:cNvSpPr txBox="1"/>
          <p:nvPr/>
        </p:nvSpPr>
        <p:spPr>
          <a:xfrm>
            <a:off x="9156700" y="6121400"/>
            <a:ext cx="1485900" cy="355600"/>
          </a:xfrm>
          <a:prstGeom prst="rect">
            <a:avLst/>
          </a:prstGeom>
        </p:spPr>
        <p:txBody>
          <a:bodyPr lIns="0" tIns="0" rIns="0" bIns="0" rtlCol="0" anchor="t"/>
          <a:lstStyle/>
          <a:p>
            <a:pPr lvl="0" algn="ctr">
              <a:lnSpc>
                <a:spcPct val="116199"/>
              </a:lnSpc>
            </a:pPr>
            <a:r>
              <a:rPr lang="en-US" sz="2000" b="0" i="0" u="none" strike="noStrike">
                <a:solidFill>
                  <a:srgbClr val="000000"/>
                </a:solidFill>
                <a:latin typeface="Pretendard Regular"/>
                <a:ea typeface="Pretendard Regular"/>
                <a:cs typeface="Pretendard Regular"/>
              </a:rPr>
              <a:t>2025.10.24</a:t>
            </a:r>
          </a:p>
        </p:txBody>
      </p:sp>
      <p:sp>
        <p:nvSpPr>
          <p:cNvPr id="29" name="TextBox 29"/>
          <p:cNvSpPr txBox="1"/>
          <p:nvPr/>
        </p:nvSpPr>
        <p:spPr>
          <a:xfrm>
            <a:off x="16598900" y="6121400"/>
            <a:ext cx="1358900" cy="355600"/>
          </a:xfrm>
          <a:prstGeom prst="rect">
            <a:avLst/>
          </a:prstGeom>
        </p:spPr>
        <p:txBody>
          <a:bodyPr lIns="0" tIns="0" rIns="0" bIns="0" rtlCol="0" anchor="t"/>
          <a:lstStyle/>
          <a:p>
            <a:pPr lvl="0" algn="ctr">
              <a:lnSpc>
                <a:spcPct val="116199"/>
              </a:lnSpc>
            </a:pPr>
            <a:r>
              <a:rPr lang="en-US" sz="2000" b="0" i="0" u="none" strike="noStrike">
                <a:solidFill>
                  <a:srgbClr val="000000"/>
                </a:solidFill>
                <a:latin typeface="Pretendard Regular"/>
                <a:ea typeface="Pretendard Regular"/>
                <a:cs typeface="Pretendard Regular"/>
              </a:rPr>
              <a:t>2025.11.10</a:t>
            </a:r>
          </a:p>
        </p:txBody>
      </p:sp>
      <p:sp>
        <p:nvSpPr>
          <p:cNvPr id="30" name="TextBox 30"/>
          <p:cNvSpPr txBox="1"/>
          <p:nvPr/>
        </p:nvSpPr>
        <p:spPr>
          <a:xfrm>
            <a:off x="9067800" y="12407900"/>
            <a:ext cx="6896100" cy="279400"/>
          </a:xfrm>
          <a:prstGeom prst="rect">
            <a:avLst/>
          </a:prstGeom>
        </p:spPr>
        <p:txBody>
          <a:bodyPr lIns="0" tIns="0" rIns="0" bIns="0" rtlCol="0" anchor="t"/>
          <a:lstStyle/>
          <a:p>
            <a:pPr lvl="0" algn="l">
              <a:lnSpc>
                <a:spcPct val="116199"/>
              </a:lnSpc>
            </a:pPr>
            <a:r>
              <a:rPr lang="en-US" sz="1599" b="0" i="0" u="none" strike="noStrike">
                <a:solidFill>
                  <a:srgbClr val="A0A0A0">
                    <a:alpha val="70196"/>
                  </a:srgbClr>
                </a:solidFill>
                <a:latin typeface="Pretendard Medium"/>
                <a:ea typeface="Pretendard Medium"/>
                <a:cs typeface="Pretendard Medium"/>
              </a:rPr>
              <a:t>출처 : https://www.dailysecu.com/news/articleView.html?idxno=201714</a:t>
            </a:r>
          </a:p>
        </p:txBody>
      </p:sp>
      <p:sp>
        <p:nvSpPr>
          <p:cNvPr id="31" name="TextBox 31"/>
          <p:cNvSpPr txBox="1"/>
          <p:nvPr/>
        </p:nvSpPr>
        <p:spPr>
          <a:xfrm>
            <a:off x="16522700" y="12395200"/>
            <a:ext cx="7289800" cy="279400"/>
          </a:xfrm>
          <a:prstGeom prst="rect">
            <a:avLst/>
          </a:prstGeom>
        </p:spPr>
        <p:txBody>
          <a:bodyPr lIns="0" tIns="0" rIns="0" bIns="0" rtlCol="0" anchor="t"/>
          <a:lstStyle/>
          <a:p>
            <a:pPr lvl="0" algn="l">
              <a:lnSpc>
                <a:spcPct val="116199"/>
              </a:lnSpc>
            </a:pPr>
            <a:r>
              <a:rPr lang="en-US" sz="1599" b="0" i="0" u="none" strike="noStrike">
                <a:solidFill>
                  <a:srgbClr val="A0A0A0">
                    <a:alpha val="70196"/>
                  </a:srgbClr>
                </a:solidFill>
                <a:latin typeface="Pretendard Medium"/>
                <a:ea typeface="Pretendard Medium"/>
                <a:cs typeface="Pretendard Medium"/>
              </a:rPr>
              <a:t>출처 : https://www.dailysecu.com/news/articleView.html?idxno=202199</a:t>
            </a:r>
          </a:p>
        </p:txBody>
      </p:sp>
      <p:sp>
        <p:nvSpPr>
          <p:cNvPr id="33" name="TextBox 33"/>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a:solidFill>
                  <a:srgbClr val="024EA0"/>
                </a:solidFill>
                <a:latin typeface="Geologica Roman Light"/>
                <a:ea typeface="Geologica Roman Light"/>
                <a:cs typeface="Geologica Roman Light"/>
              </a:rPr>
              <a:t>5</a:t>
            </a:r>
          </a:p>
        </p:txBody>
      </p:sp>
      <p:sp>
        <p:nvSpPr>
          <p:cNvPr id="41" name="TextBox 14">
            <a:extLst>
              <a:ext uri="{FF2B5EF4-FFF2-40B4-BE49-F238E27FC236}">
                <a16:creationId xmlns:a16="http://schemas.microsoft.com/office/drawing/2014/main" id="{8C780E45-3240-3DC8-E2B6-530E904975E2}"/>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42" name="TextBox 14">
            <a:extLst>
              <a:ext uri="{FF2B5EF4-FFF2-40B4-BE49-F238E27FC236}">
                <a16:creationId xmlns:a16="http://schemas.microsoft.com/office/drawing/2014/main" id="{61BB6A62-DD5D-2E0C-2E7A-8240244E6A68}"/>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53" name="Picture 52">
            <a:extLst>
              <a:ext uri="{FF2B5EF4-FFF2-40B4-BE49-F238E27FC236}">
                <a16:creationId xmlns:a16="http://schemas.microsoft.com/office/drawing/2014/main" id="{65E75BAB-A4B3-9A11-D938-8499F000C7E8}"/>
              </a:ext>
            </a:extLst>
          </p:cNvPr>
          <p:cNvPicPr>
            <a:picLocks noChangeAspect="1"/>
          </p:cNvPicPr>
          <p:nvPr/>
        </p:nvPicPr>
        <p:blipFill>
          <a:blip r:embed="rId10">
            <a:alphaModFix amt="85000"/>
          </a:blip>
          <a:stretch>
            <a:fillRect/>
          </a:stretch>
        </p:blipFill>
        <p:spPr>
          <a:xfrm>
            <a:off x="6832600" y="558800"/>
            <a:ext cx="1993900" cy="444500"/>
          </a:xfrm>
          <a:prstGeom prst="rect">
            <a:avLst/>
          </a:prstGeom>
        </p:spPr>
      </p:pic>
      <p:sp>
        <p:nvSpPr>
          <p:cNvPr id="54" name="TextBox 53">
            <a:extLst>
              <a:ext uri="{FF2B5EF4-FFF2-40B4-BE49-F238E27FC236}">
                <a16:creationId xmlns:a16="http://schemas.microsoft.com/office/drawing/2014/main" id="{9B49CCD7-3471-80BB-8F2E-E345A7DBF919}"/>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dirty="0" err="1">
                <a:solidFill>
                  <a:srgbClr val="000000"/>
                </a:solidFill>
                <a:latin typeface="Pretendard SemiBold"/>
                <a:ea typeface="Pretendard SemiBold"/>
                <a:cs typeface="Pretendard SemiBold"/>
              </a:rPr>
              <a:t>프로젝트</a:t>
            </a:r>
            <a:r>
              <a:rPr lang="en-US" sz="2666" b="0" i="0" u="none" strike="noStrike" spc="-100" dirty="0">
                <a:solidFill>
                  <a:srgbClr val="000000"/>
                </a:solidFill>
                <a:latin typeface="Pretendard SemiBold"/>
                <a:ea typeface="Pretendard SemiBold"/>
                <a:cs typeface="Pretendard SemiBold"/>
              </a:rPr>
              <a:t> </a:t>
            </a:r>
            <a:r>
              <a:rPr lang="en-US" sz="2666" b="0" i="0" u="none" strike="noStrike" spc="-100" dirty="0" err="1">
                <a:solidFill>
                  <a:srgbClr val="000000"/>
                </a:solidFill>
                <a:latin typeface="Pretendard SemiBold"/>
                <a:ea typeface="Pretendard SemiBold"/>
                <a:cs typeface="Pretendard SemiBold"/>
              </a:rPr>
              <a:t>개요</a:t>
            </a:r>
            <a:endParaRPr lang="en-US" sz="2666" b="0" i="0" u="none" strike="noStrike" spc="-100" dirty="0">
              <a:solidFill>
                <a:srgbClr val="000000"/>
              </a:solidFill>
              <a:latin typeface="Pretendard SemiBold"/>
              <a:ea typeface="Pretendard SemiBold"/>
              <a:cs typeface="Pretendard SemiBold"/>
            </a:endParaRPr>
          </a:p>
        </p:txBody>
      </p:sp>
      <p:sp>
        <p:nvSpPr>
          <p:cNvPr id="55" name="TextBox 55">
            <a:extLst>
              <a:ext uri="{FF2B5EF4-FFF2-40B4-BE49-F238E27FC236}">
                <a16:creationId xmlns:a16="http://schemas.microsoft.com/office/drawing/2014/main" id="{E08452CA-90C7-304E-597F-C655092A89CA}"/>
              </a:ext>
            </a:extLst>
          </p:cNvPr>
          <p:cNvSpPr txBox="1"/>
          <p:nvPr/>
        </p:nvSpPr>
        <p:spPr>
          <a:xfrm>
            <a:off x="11353800" y="457200"/>
            <a:ext cx="25273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시나리오</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모의해킹</a:t>
            </a:r>
            <a:endParaRPr lang="en-US" sz="2666" b="0" i="0" u="none" strike="noStrike" spc="-100" dirty="0">
              <a:solidFill>
                <a:srgbClr val="C2C2C2"/>
              </a:solidFill>
              <a:latin typeface="Pretendard SemiBold"/>
              <a:ea typeface="Pretendard SemiBold"/>
              <a:cs typeface="Pretendard SemiBold"/>
            </a:endParaRPr>
          </a:p>
        </p:txBody>
      </p:sp>
      <p:sp>
        <p:nvSpPr>
          <p:cNvPr id="56" name="TextBox 56">
            <a:extLst>
              <a:ext uri="{FF2B5EF4-FFF2-40B4-BE49-F238E27FC236}">
                <a16:creationId xmlns:a16="http://schemas.microsoft.com/office/drawing/2014/main" id="{099CDA09-051D-4E5B-D0A5-081DF1A3592A}"/>
              </a:ext>
            </a:extLst>
          </p:cNvPr>
          <p:cNvSpPr txBox="1"/>
          <p:nvPr/>
        </p:nvSpPr>
        <p:spPr>
          <a:xfrm>
            <a:off x="14097000" y="4699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57" name="TextBox 57">
            <a:extLst>
              <a:ext uri="{FF2B5EF4-FFF2-40B4-BE49-F238E27FC236}">
                <a16:creationId xmlns:a16="http://schemas.microsoft.com/office/drawing/2014/main" id="{CB56AC8B-DB01-208F-C9D5-6748D57180CC}"/>
              </a:ext>
            </a:extLst>
          </p:cNvPr>
          <p:cNvSpPr txBox="1"/>
          <p:nvPr/>
        </p:nvSpPr>
        <p:spPr>
          <a:xfrm>
            <a:off x="9334500" y="469900"/>
            <a:ext cx="26670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9" name="Picture 9"/>
          <p:cNvPicPr>
            <a:picLocks noChangeAspect="1"/>
          </p:cNvPicPr>
          <p:nvPr/>
        </p:nvPicPr>
        <p:blipFill>
          <a:blip r:embed="rId5"/>
          <a:stretch>
            <a:fillRect/>
          </a:stretch>
        </p:blipFill>
        <p:spPr>
          <a:xfrm>
            <a:off x="1485900" y="1612900"/>
            <a:ext cx="88900" cy="850900"/>
          </a:xfrm>
          <a:prstGeom prst="rect">
            <a:avLst/>
          </a:prstGeom>
        </p:spPr>
      </p:pic>
      <p:sp>
        <p:nvSpPr>
          <p:cNvPr id="10" name="TextBox 10"/>
          <p:cNvSpPr txBox="1"/>
          <p:nvPr/>
        </p:nvSpPr>
        <p:spPr>
          <a:xfrm>
            <a:off x="1943100" y="1409700"/>
            <a:ext cx="116967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타겟 기업 및 비즈니스 환경 분석</a:t>
            </a:r>
          </a:p>
        </p:txBody>
      </p:sp>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a:solidFill>
                  <a:srgbClr val="024EA0"/>
                </a:solidFill>
                <a:latin typeface="Geologica Roman Light"/>
                <a:ea typeface="Geologica Roman Light"/>
                <a:cs typeface="Geologica Roman Light"/>
              </a:rPr>
              <a:t>6</a:t>
            </a:r>
          </a:p>
        </p:txBody>
      </p:sp>
      <p:pic>
        <p:nvPicPr>
          <p:cNvPr id="12" name="Picture 12"/>
          <p:cNvPicPr>
            <a:picLocks noChangeAspect="1"/>
          </p:cNvPicPr>
          <p:nvPr/>
        </p:nvPicPr>
        <p:blipFill>
          <a:blip r:embed="rId6"/>
          <a:stretch>
            <a:fillRect/>
          </a:stretch>
        </p:blipFill>
        <p:spPr>
          <a:xfrm>
            <a:off x="1689100" y="3810000"/>
            <a:ext cx="9131300" cy="7785100"/>
          </a:xfrm>
          <a:prstGeom prst="rect">
            <a:avLst/>
          </a:prstGeom>
        </p:spPr>
      </p:pic>
      <p:pic>
        <p:nvPicPr>
          <p:cNvPr id="13" name="Picture 13"/>
          <p:cNvPicPr>
            <a:picLocks noChangeAspect="1"/>
          </p:cNvPicPr>
          <p:nvPr/>
        </p:nvPicPr>
        <p:blipFill>
          <a:blip r:embed="rId7"/>
          <a:stretch>
            <a:fillRect/>
          </a:stretch>
        </p:blipFill>
        <p:spPr>
          <a:xfrm>
            <a:off x="11391900" y="9550400"/>
            <a:ext cx="1866900" cy="1866900"/>
          </a:xfrm>
          <a:prstGeom prst="rect">
            <a:avLst/>
          </a:prstGeom>
        </p:spPr>
      </p:pic>
      <p:pic>
        <p:nvPicPr>
          <p:cNvPr id="14" name="Picture 14"/>
          <p:cNvPicPr>
            <a:picLocks noChangeAspect="1"/>
          </p:cNvPicPr>
          <p:nvPr/>
        </p:nvPicPr>
        <p:blipFill>
          <a:blip r:embed="rId8"/>
          <a:stretch>
            <a:fillRect/>
          </a:stretch>
        </p:blipFill>
        <p:spPr>
          <a:xfrm>
            <a:off x="11391900" y="6819900"/>
            <a:ext cx="1866900" cy="1866900"/>
          </a:xfrm>
          <a:prstGeom prst="rect">
            <a:avLst/>
          </a:prstGeom>
        </p:spPr>
      </p:pic>
      <p:pic>
        <p:nvPicPr>
          <p:cNvPr id="15" name="Picture 15"/>
          <p:cNvPicPr>
            <a:picLocks noChangeAspect="1"/>
          </p:cNvPicPr>
          <p:nvPr/>
        </p:nvPicPr>
        <p:blipFill>
          <a:blip r:embed="rId9"/>
          <a:stretch>
            <a:fillRect/>
          </a:stretch>
        </p:blipFill>
        <p:spPr>
          <a:xfrm>
            <a:off x="11391900" y="4076700"/>
            <a:ext cx="1866900" cy="1866900"/>
          </a:xfrm>
          <a:prstGeom prst="rect">
            <a:avLst/>
          </a:prstGeom>
        </p:spPr>
      </p:pic>
      <p:sp>
        <p:nvSpPr>
          <p:cNvPr id="16" name="TextBox 16"/>
          <p:cNvSpPr txBox="1"/>
          <p:nvPr/>
        </p:nvSpPr>
        <p:spPr>
          <a:xfrm>
            <a:off x="13716000" y="10363200"/>
            <a:ext cx="8915400" cy="1473200"/>
          </a:xfrm>
          <a:prstGeom prst="rect">
            <a:avLst/>
          </a:prstGeom>
        </p:spPr>
        <p:txBody>
          <a:bodyPr lIns="0" tIns="0" rIns="0" bIns="0" rtlCol="0" anchor="t"/>
          <a:lstStyle/>
          <a:p>
            <a:pPr lvl="0" algn="l">
              <a:lnSpc>
                <a:spcPct val="125329"/>
              </a:lnSpc>
            </a:pPr>
            <a:r>
              <a:rPr lang="en-US" sz="2616" b="0" i="0" u="none" strike="noStrike" spc="-100">
                <a:solidFill>
                  <a:srgbClr val="2C2C2C"/>
                </a:solidFill>
                <a:latin typeface="Pretendard Medium"/>
                <a:ea typeface="Pretendard Medium"/>
                <a:cs typeface="Pretendard Medium"/>
              </a:rPr>
              <a:t>가입자들에게 편한 비대면 금융 경험을 제공하기 위해, 
실제 앱을 구동하는 Web 및 App 개발자들에게 </a:t>
            </a:r>
          </a:p>
          <a:p>
            <a:pPr lvl="0" algn="l">
              <a:lnSpc>
                <a:spcPct val="125329"/>
              </a:lnSpc>
            </a:pPr>
            <a:r>
              <a:rPr lang="en-US" sz="2616" b="0" i="0" u="none" strike="noStrike" spc="-100">
                <a:solidFill>
                  <a:srgbClr val="2C2C2C"/>
                </a:solidFill>
                <a:latin typeface="Pretendard Medium"/>
                <a:ea typeface="Pretendard Medium"/>
                <a:cs typeface="Pretendard Medium"/>
              </a:rPr>
              <a:t>업무 자율성과 배포 권한을 부여하고 있습니다. </a:t>
            </a:r>
          </a:p>
        </p:txBody>
      </p:sp>
      <p:sp>
        <p:nvSpPr>
          <p:cNvPr id="17" name="TextBox 17"/>
          <p:cNvSpPr txBox="1"/>
          <p:nvPr/>
        </p:nvSpPr>
        <p:spPr>
          <a:xfrm>
            <a:off x="13716000" y="9525000"/>
            <a:ext cx="7124700" cy="723900"/>
          </a:xfrm>
          <a:prstGeom prst="rect">
            <a:avLst/>
          </a:prstGeom>
        </p:spPr>
        <p:txBody>
          <a:bodyPr lIns="0" tIns="28555" rIns="0" bIns="0" rtlCol="0" anchor="t"/>
          <a:lstStyle/>
          <a:p>
            <a:pPr lvl="0" algn="l">
              <a:lnSpc>
                <a:spcPct val="107070"/>
              </a:lnSpc>
            </a:pPr>
            <a:r>
              <a:rPr lang="en-US" sz="4088" b="1" i="0" u="none" strike="noStrike" spc="-200">
                <a:solidFill>
                  <a:srgbClr val="2B7AFF"/>
                </a:solidFill>
                <a:latin typeface="Pretendard SemiBold"/>
                <a:ea typeface="Pretendard SemiBold"/>
                <a:cs typeface="Pretendard SemiBold"/>
              </a:rPr>
              <a:t>사용자 경험 중심의 개발 자율성</a:t>
            </a:r>
          </a:p>
        </p:txBody>
      </p:sp>
      <p:sp>
        <p:nvSpPr>
          <p:cNvPr id="18" name="TextBox 18"/>
          <p:cNvSpPr txBox="1"/>
          <p:nvPr/>
        </p:nvSpPr>
        <p:spPr>
          <a:xfrm>
            <a:off x="13716000" y="7531100"/>
            <a:ext cx="8915400" cy="1473200"/>
          </a:xfrm>
          <a:prstGeom prst="rect">
            <a:avLst/>
          </a:prstGeom>
        </p:spPr>
        <p:txBody>
          <a:bodyPr lIns="0" tIns="0" rIns="0" bIns="0" rtlCol="0" anchor="t"/>
          <a:lstStyle/>
          <a:p>
            <a:pPr lvl="0" algn="l">
              <a:lnSpc>
                <a:spcPct val="125329"/>
              </a:lnSpc>
            </a:pPr>
            <a:r>
              <a:rPr lang="en-US" sz="2616" b="0" i="0" u="none" strike="noStrike" spc="-100">
                <a:solidFill>
                  <a:srgbClr val="2C2C2C"/>
                </a:solidFill>
                <a:latin typeface="Pretendard Medium"/>
                <a:ea typeface="Pretendard Medium"/>
                <a:cs typeface="Pretendard Medium"/>
              </a:rPr>
              <a:t>전체 고객 중 15%에 달하는 전자금융고지 미동의 고객을 위해, 
실물 인쇄 및 우편 발송을 전담하는 외부 대행업체와 본사 DMZ망을 
상시 연동하여 운영하고 있습니다.</a:t>
            </a:r>
          </a:p>
        </p:txBody>
      </p:sp>
      <p:sp>
        <p:nvSpPr>
          <p:cNvPr id="19" name="TextBox 19"/>
          <p:cNvSpPr txBox="1"/>
          <p:nvPr/>
        </p:nvSpPr>
        <p:spPr>
          <a:xfrm>
            <a:off x="13716000" y="6692900"/>
            <a:ext cx="5359400" cy="723900"/>
          </a:xfrm>
          <a:prstGeom prst="rect">
            <a:avLst/>
          </a:prstGeom>
        </p:spPr>
        <p:txBody>
          <a:bodyPr lIns="0" tIns="28555" rIns="0" bIns="0" rtlCol="0" anchor="t"/>
          <a:lstStyle/>
          <a:p>
            <a:pPr lvl="0" algn="l">
              <a:lnSpc>
                <a:spcPct val="107070"/>
              </a:lnSpc>
            </a:pPr>
            <a:r>
              <a:rPr lang="en-US" sz="4088" b="1" i="0" u="none" strike="noStrike" spc="-200">
                <a:solidFill>
                  <a:srgbClr val="2B7AFF"/>
                </a:solidFill>
                <a:latin typeface="Pretendard SemiBold"/>
                <a:ea typeface="Pretendard SemiBold"/>
                <a:cs typeface="Pretendard SemiBold"/>
              </a:rPr>
              <a:t>필수적인 외주 인프라 연동</a:t>
            </a:r>
          </a:p>
        </p:txBody>
      </p:sp>
      <p:sp>
        <p:nvSpPr>
          <p:cNvPr id="20" name="TextBox 20"/>
          <p:cNvSpPr txBox="1"/>
          <p:nvPr/>
        </p:nvSpPr>
        <p:spPr>
          <a:xfrm>
            <a:off x="13716000" y="4699000"/>
            <a:ext cx="8915400" cy="1473200"/>
          </a:xfrm>
          <a:prstGeom prst="rect">
            <a:avLst/>
          </a:prstGeom>
        </p:spPr>
        <p:txBody>
          <a:bodyPr lIns="0" tIns="0" rIns="0" bIns="0" rtlCol="0" anchor="t"/>
          <a:lstStyle/>
          <a:p>
            <a:pPr lvl="0" algn="l">
              <a:lnSpc>
                <a:spcPct val="125329"/>
              </a:lnSpc>
            </a:pPr>
            <a:r>
              <a:rPr lang="en-US" sz="2616" b="0" i="0" u="none" strike="noStrike" spc="-100">
                <a:solidFill>
                  <a:srgbClr val="2C2C2C"/>
                </a:solidFill>
                <a:latin typeface="Pretendard Medium"/>
                <a:ea typeface="Pretendard Medium"/>
                <a:cs typeface="Pretendard Medium"/>
              </a:rPr>
              <a:t>500만 가입자의 대규모 트래픽을 유연하게 처리하기 위해, 
기존 온프레미스 환경에서 벗어나 AWS 퍼블릭 클라우드로 
전면 마이그레이션을 진행하고 있습니다.</a:t>
            </a:r>
          </a:p>
        </p:txBody>
      </p:sp>
      <p:sp>
        <p:nvSpPr>
          <p:cNvPr id="21" name="TextBox 21"/>
          <p:cNvSpPr txBox="1"/>
          <p:nvPr/>
        </p:nvSpPr>
        <p:spPr>
          <a:xfrm>
            <a:off x="13716000" y="3860800"/>
            <a:ext cx="6007100" cy="723900"/>
          </a:xfrm>
          <a:prstGeom prst="rect">
            <a:avLst/>
          </a:prstGeom>
        </p:spPr>
        <p:txBody>
          <a:bodyPr lIns="0" tIns="28555" rIns="0" bIns="0" rtlCol="0" anchor="t"/>
          <a:lstStyle/>
          <a:p>
            <a:pPr lvl="0" algn="l">
              <a:lnSpc>
                <a:spcPct val="107070"/>
              </a:lnSpc>
            </a:pPr>
            <a:r>
              <a:rPr lang="en-US" sz="4088" b="1" i="0" u="none" strike="noStrike" spc="-200">
                <a:solidFill>
                  <a:srgbClr val="2B7AFF"/>
                </a:solidFill>
                <a:latin typeface="Pretendard SemiBold"/>
                <a:ea typeface="Pretendard SemiBold"/>
                <a:cs typeface="Pretendard SemiBold"/>
              </a:rPr>
              <a:t>인프라 전환기</a:t>
            </a:r>
          </a:p>
        </p:txBody>
      </p:sp>
      <p:pic>
        <p:nvPicPr>
          <p:cNvPr id="22" name="Picture 22"/>
          <p:cNvPicPr>
            <a:picLocks noChangeAspect="1"/>
          </p:cNvPicPr>
          <p:nvPr/>
        </p:nvPicPr>
        <p:blipFill>
          <a:blip r:embed="rId10"/>
          <a:stretch>
            <a:fillRect/>
          </a:stretch>
        </p:blipFill>
        <p:spPr>
          <a:xfrm>
            <a:off x="11620500" y="4330700"/>
            <a:ext cx="1397000" cy="1397000"/>
          </a:xfrm>
          <a:prstGeom prst="rect">
            <a:avLst/>
          </a:prstGeom>
        </p:spPr>
      </p:pic>
      <p:pic>
        <p:nvPicPr>
          <p:cNvPr id="23" name="Picture 23"/>
          <p:cNvPicPr>
            <a:picLocks noChangeAspect="1"/>
          </p:cNvPicPr>
          <p:nvPr/>
        </p:nvPicPr>
        <p:blipFill>
          <a:blip r:embed="rId11"/>
          <a:stretch>
            <a:fillRect/>
          </a:stretch>
        </p:blipFill>
        <p:spPr>
          <a:xfrm>
            <a:off x="11747500" y="9906000"/>
            <a:ext cx="1143000" cy="1143000"/>
          </a:xfrm>
          <a:prstGeom prst="rect">
            <a:avLst/>
          </a:prstGeom>
        </p:spPr>
      </p:pic>
      <p:pic>
        <p:nvPicPr>
          <p:cNvPr id="24" name="Picture 24"/>
          <p:cNvPicPr>
            <a:picLocks noChangeAspect="1"/>
          </p:cNvPicPr>
          <p:nvPr/>
        </p:nvPicPr>
        <p:blipFill>
          <a:blip r:embed="rId12"/>
          <a:stretch>
            <a:fillRect/>
          </a:stretch>
        </p:blipFill>
        <p:spPr>
          <a:xfrm>
            <a:off x="11747500" y="7175500"/>
            <a:ext cx="1143000" cy="1143000"/>
          </a:xfrm>
          <a:prstGeom prst="rect">
            <a:avLst/>
          </a:prstGeom>
        </p:spPr>
      </p:pic>
      <p:sp>
        <p:nvSpPr>
          <p:cNvPr id="32" name="TextBox 14">
            <a:extLst>
              <a:ext uri="{FF2B5EF4-FFF2-40B4-BE49-F238E27FC236}">
                <a16:creationId xmlns:a16="http://schemas.microsoft.com/office/drawing/2014/main" id="{DF5207A0-6374-3526-2944-B6CB07A682F1}"/>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33" name="TextBox 14">
            <a:extLst>
              <a:ext uri="{FF2B5EF4-FFF2-40B4-BE49-F238E27FC236}">
                <a16:creationId xmlns:a16="http://schemas.microsoft.com/office/drawing/2014/main" id="{6B4C276F-CF8A-D050-4841-249C2A062778}"/>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39" name="Picture 52">
            <a:extLst>
              <a:ext uri="{FF2B5EF4-FFF2-40B4-BE49-F238E27FC236}">
                <a16:creationId xmlns:a16="http://schemas.microsoft.com/office/drawing/2014/main" id="{8F5DE991-0A83-4AB4-BF21-8424A74B4B74}"/>
              </a:ext>
            </a:extLst>
          </p:cNvPr>
          <p:cNvPicPr>
            <a:picLocks noChangeAspect="1"/>
          </p:cNvPicPr>
          <p:nvPr/>
        </p:nvPicPr>
        <p:blipFill>
          <a:blip r:embed="rId13">
            <a:alphaModFix amt="85000"/>
          </a:blip>
          <a:stretch>
            <a:fillRect/>
          </a:stretch>
        </p:blipFill>
        <p:spPr>
          <a:xfrm>
            <a:off x="6832600" y="558800"/>
            <a:ext cx="1993900" cy="444500"/>
          </a:xfrm>
          <a:prstGeom prst="rect">
            <a:avLst/>
          </a:prstGeom>
        </p:spPr>
      </p:pic>
      <p:sp>
        <p:nvSpPr>
          <p:cNvPr id="40" name="TextBox 53">
            <a:extLst>
              <a:ext uri="{FF2B5EF4-FFF2-40B4-BE49-F238E27FC236}">
                <a16:creationId xmlns:a16="http://schemas.microsoft.com/office/drawing/2014/main" id="{D10511C7-F0DB-1D08-21AB-DC62445291C1}"/>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dirty="0" err="1">
                <a:solidFill>
                  <a:srgbClr val="000000"/>
                </a:solidFill>
                <a:latin typeface="Pretendard SemiBold"/>
                <a:ea typeface="Pretendard SemiBold"/>
                <a:cs typeface="Pretendard SemiBold"/>
              </a:rPr>
              <a:t>프로젝트</a:t>
            </a:r>
            <a:r>
              <a:rPr lang="en-US" sz="2666" b="0" i="0" u="none" strike="noStrike" spc="-100" dirty="0">
                <a:solidFill>
                  <a:srgbClr val="000000"/>
                </a:solidFill>
                <a:latin typeface="Pretendard SemiBold"/>
                <a:ea typeface="Pretendard SemiBold"/>
                <a:cs typeface="Pretendard SemiBold"/>
              </a:rPr>
              <a:t> </a:t>
            </a:r>
            <a:r>
              <a:rPr lang="en-US" sz="2666" b="0" i="0" u="none" strike="noStrike" spc="-100" dirty="0" err="1">
                <a:solidFill>
                  <a:srgbClr val="000000"/>
                </a:solidFill>
                <a:latin typeface="Pretendard SemiBold"/>
                <a:ea typeface="Pretendard SemiBold"/>
                <a:cs typeface="Pretendard SemiBold"/>
              </a:rPr>
              <a:t>개요</a:t>
            </a:r>
            <a:endParaRPr lang="en-US" sz="2666" b="0" i="0" u="none" strike="noStrike" spc="-100" dirty="0">
              <a:solidFill>
                <a:srgbClr val="000000"/>
              </a:solidFill>
              <a:latin typeface="Pretendard SemiBold"/>
              <a:ea typeface="Pretendard SemiBold"/>
              <a:cs typeface="Pretendard SemiBold"/>
            </a:endParaRPr>
          </a:p>
        </p:txBody>
      </p:sp>
      <p:sp>
        <p:nvSpPr>
          <p:cNvPr id="41" name="TextBox 55">
            <a:extLst>
              <a:ext uri="{FF2B5EF4-FFF2-40B4-BE49-F238E27FC236}">
                <a16:creationId xmlns:a16="http://schemas.microsoft.com/office/drawing/2014/main" id="{2D7D8D04-C416-241E-2EB1-868E02EF81E7}"/>
              </a:ext>
            </a:extLst>
          </p:cNvPr>
          <p:cNvSpPr txBox="1"/>
          <p:nvPr/>
        </p:nvSpPr>
        <p:spPr>
          <a:xfrm>
            <a:off x="11353800" y="457200"/>
            <a:ext cx="25273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시나리오</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모의해킹</a:t>
            </a:r>
            <a:endParaRPr lang="en-US" sz="2666" b="0" i="0" u="none" strike="noStrike" spc="-100" dirty="0">
              <a:solidFill>
                <a:srgbClr val="C2C2C2"/>
              </a:solidFill>
              <a:latin typeface="Pretendard SemiBold"/>
              <a:ea typeface="Pretendard SemiBold"/>
              <a:cs typeface="Pretendard SemiBold"/>
            </a:endParaRPr>
          </a:p>
        </p:txBody>
      </p:sp>
      <p:sp>
        <p:nvSpPr>
          <p:cNvPr id="42" name="TextBox 56">
            <a:extLst>
              <a:ext uri="{FF2B5EF4-FFF2-40B4-BE49-F238E27FC236}">
                <a16:creationId xmlns:a16="http://schemas.microsoft.com/office/drawing/2014/main" id="{2A7D2287-1180-3E3D-3DB0-EED9502A3CF7}"/>
              </a:ext>
            </a:extLst>
          </p:cNvPr>
          <p:cNvSpPr txBox="1"/>
          <p:nvPr/>
        </p:nvSpPr>
        <p:spPr>
          <a:xfrm>
            <a:off x="14097000" y="4699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43" name="TextBox 57">
            <a:extLst>
              <a:ext uri="{FF2B5EF4-FFF2-40B4-BE49-F238E27FC236}">
                <a16:creationId xmlns:a16="http://schemas.microsoft.com/office/drawing/2014/main" id="{C4893D81-73CD-3E50-DCA6-D3EDA9AFF579}"/>
              </a:ext>
            </a:extLst>
          </p:cNvPr>
          <p:cNvSpPr txBox="1"/>
          <p:nvPr/>
        </p:nvSpPr>
        <p:spPr>
          <a:xfrm>
            <a:off x="9334500" y="469900"/>
            <a:ext cx="26670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a:extLst>
            <a:ext uri="{FF2B5EF4-FFF2-40B4-BE49-F238E27FC236}">
              <a16:creationId xmlns:a16="http://schemas.microsoft.com/office/drawing/2014/main" id="{5CEEC72F-1960-D578-6892-5A2B224DC78B}"/>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0564FC7B-CCA3-5B15-3F67-8B2314B20C64}"/>
              </a:ext>
            </a:extLst>
          </p:cNvPr>
          <p:cNvPicPr>
            <a:picLocks noChangeAspect="1"/>
          </p:cNvPicPr>
          <p:nvPr/>
        </p:nvPicPr>
        <p:blipFill>
          <a:blip r:embed="rId2">
            <a:alphaModFix amt="80000"/>
          </a:blip>
          <a:stretch>
            <a:fillRect/>
          </a:stretch>
        </p:blipFill>
        <p:spPr>
          <a:xfrm>
            <a:off x="15798800" y="-1803400"/>
            <a:ext cx="11442700" cy="11442700"/>
          </a:xfrm>
          <a:prstGeom prst="rect">
            <a:avLst/>
          </a:prstGeom>
        </p:spPr>
      </p:pic>
      <p:pic>
        <p:nvPicPr>
          <p:cNvPr id="3" name="Picture 3">
            <a:extLst>
              <a:ext uri="{FF2B5EF4-FFF2-40B4-BE49-F238E27FC236}">
                <a16:creationId xmlns:a16="http://schemas.microsoft.com/office/drawing/2014/main" id="{26EDBB6A-7553-EF70-5D4C-AA5DA097F387}"/>
              </a:ext>
            </a:extLst>
          </p:cNvPr>
          <p:cNvPicPr>
            <a:picLocks noChangeAspect="1"/>
          </p:cNvPicPr>
          <p:nvPr/>
        </p:nvPicPr>
        <p:blipFill>
          <a:blip r:embed="rId2">
            <a:alphaModFix amt="40000"/>
          </a:blip>
          <a:stretch>
            <a:fillRect/>
          </a:stretch>
        </p:blipFill>
        <p:spPr>
          <a:xfrm>
            <a:off x="-2806700" y="4838354"/>
            <a:ext cx="11442700" cy="11442700"/>
          </a:xfrm>
          <a:prstGeom prst="rect">
            <a:avLst/>
          </a:prstGeom>
        </p:spPr>
      </p:pic>
      <p:sp>
        <p:nvSpPr>
          <p:cNvPr id="4" name="TextBox 4">
            <a:extLst>
              <a:ext uri="{FF2B5EF4-FFF2-40B4-BE49-F238E27FC236}">
                <a16:creationId xmlns:a16="http://schemas.microsoft.com/office/drawing/2014/main" id="{45560BB9-E6C1-9296-79B3-18F42CCBA6D7}"/>
              </a:ext>
            </a:extLst>
          </p:cNvPr>
          <p:cNvSpPr txBox="1"/>
          <p:nvPr/>
        </p:nvSpPr>
        <p:spPr>
          <a:xfrm>
            <a:off x="6858000" y="4838354"/>
            <a:ext cx="7099300" cy="1778000"/>
          </a:xfrm>
          <a:prstGeom prst="rect">
            <a:avLst/>
          </a:prstGeom>
        </p:spPr>
        <p:txBody>
          <a:bodyPr lIns="0" tIns="0" rIns="0" bIns="0" rtlCol="0" anchor="t"/>
          <a:lstStyle/>
          <a:p>
            <a:pPr>
              <a:lnSpc>
                <a:spcPct val="143590"/>
              </a:lnSpc>
            </a:pPr>
            <a:r>
              <a:rPr lang="ko-KR" altLang="en-US" sz="9600" dirty="0">
                <a:latin typeface="Pretendard SemiBold" panose="02000703000000020004" pitchFamily="2" charset="-127"/>
                <a:ea typeface="Pretendard SemiBold" panose="02000703000000020004" pitchFamily="2" charset="-127"/>
                <a:cs typeface="Pretendard SemiBold" panose="02000703000000020004" pitchFamily="2" charset="-127"/>
              </a:rPr>
              <a:t>개발 및 진단</a:t>
            </a:r>
            <a:endParaRPr lang="en-US" altLang="ko-KR" sz="9600" dirty="0">
              <a:latin typeface="Pretendard SemiBold" panose="02000703000000020004" pitchFamily="2" charset="-127"/>
              <a:ea typeface="Pretendard SemiBold" panose="02000703000000020004" pitchFamily="2" charset="-127"/>
              <a:cs typeface="Pretendard SemiBold" panose="02000703000000020004" pitchFamily="2" charset="-127"/>
            </a:endParaRPr>
          </a:p>
        </p:txBody>
      </p:sp>
      <p:sp>
        <p:nvSpPr>
          <p:cNvPr id="65" name="TextBox 64">
            <a:extLst>
              <a:ext uri="{FF2B5EF4-FFF2-40B4-BE49-F238E27FC236}">
                <a16:creationId xmlns:a16="http://schemas.microsoft.com/office/drawing/2014/main" id="{C307DD52-4BAD-DFAB-2461-D4D2697240EC}"/>
              </a:ext>
            </a:extLst>
          </p:cNvPr>
          <p:cNvSpPr txBox="1"/>
          <p:nvPr/>
        </p:nvSpPr>
        <p:spPr>
          <a:xfrm>
            <a:off x="2114550" y="2057400"/>
            <a:ext cx="4743450" cy="5982087"/>
          </a:xfrm>
          <a:prstGeom prst="rect">
            <a:avLst/>
          </a:prstGeom>
          <a:noFill/>
        </p:spPr>
        <p:txBody>
          <a:bodyPr wrap="square">
            <a:spAutoFit/>
          </a:bodyPr>
          <a:lstStyle/>
          <a:p>
            <a:pPr>
              <a:lnSpc>
                <a:spcPct val="143590"/>
              </a:lnSpc>
            </a:pPr>
            <a:r>
              <a:rPr lang="en-US" altLang="ko-KR" sz="30000" dirty="0">
                <a:solidFill>
                  <a:srgbClr val="1A7AE1"/>
                </a:solidFill>
                <a:latin typeface="Pretendard Regular" panose="02000503000000020004" pitchFamily="2" charset="-127"/>
                <a:ea typeface="Pretendard Regular" panose="02000503000000020004" pitchFamily="2" charset="-127"/>
                <a:cs typeface="Pretendard Regular" panose="02000503000000020004" pitchFamily="2" charset="-127"/>
              </a:rPr>
              <a:t>02</a:t>
            </a:r>
          </a:p>
        </p:txBody>
      </p:sp>
      <p:cxnSp>
        <p:nvCxnSpPr>
          <p:cNvPr id="67" name="직선 연결선 66">
            <a:extLst>
              <a:ext uri="{FF2B5EF4-FFF2-40B4-BE49-F238E27FC236}">
                <a16:creationId xmlns:a16="http://schemas.microsoft.com/office/drawing/2014/main" id="{7BBAC3E0-1841-1EF9-F27D-1A69F3C14878}"/>
              </a:ext>
            </a:extLst>
          </p:cNvPr>
          <p:cNvCxnSpPr>
            <a:cxnSpLocks/>
          </p:cNvCxnSpPr>
          <p:nvPr/>
        </p:nvCxnSpPr>
        <p:spPr>
          <a:xfrm>
            <a:off x="6661150" y="6858000"/>
            <a:ext cx="13760450" cy="0"/>
          </a:xfrm>
          <a:prstGeom prst="line">
            <a:avLst/>
          </a:prstGeom>
          <a:ln w="57150">
            <a:solidFill>
              <a:srgbClr val="1A7AE1"/>
            </a:solidFill>
          </a:ln>
        </p:spPr>
        <p:style>
          <a:lnRef idx="1">
            <a:schemeClr val="accent1"/>
          </a:lnRef>
          <a:fillRef idx="0">
            <a:schemeClr val="accent1"/>
          </a:fillRef>
          <a:effectRef idx="0">
            <a:schemeClr val="accent1"/>
          </a:effectRef>
          <a:fontRef idx="minor">
            <a:schemeClr val="tx1"/>
          </a:fontRef>
        </p:style>
      </p:cxnSp>
      <p:cxnSp>
        <p:nvCxnSpPr>
          <p:cNvPr id="68" name="직선 연결선 67">
            <a:extLst>
              <a:ext uri="{FF2B5EF4-FFF2-40B4-BE49-F238E27FC236}">
                <a16:creationId xmlns:a16="http://schemas.microsoft.com/office/drawing/2014/main" id="{0F564DE1-E051-0633-EEDF-921807161325}"/>
              </a:ext>
            </a:extLst>
          </p:cNvPr>
          <p:cNvCxnSpPr>
            <a:cxnSpLocks/>
          </p:cNvCxnSpPr>
          <p:nvPr/>
        </p:nvCxnSpPr>
        <p:spPr>
          <a:xfrm>
            <a:off x="4857114" y="3191568"/>
            <a:ext cx="781686" cy="0"/>
          </a:xfrm>
          <a:prstGeom prst="line">
            <a:avLst/>
          </a:prstGeom>
          <a:ln w="9525">
            <a:solidFill>
              <a:srgbClr val="1A7AE1"/>
            </a:solidFill>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AB1EDC66-E05A-EEF8-3457-9CD71ACFCCF3}"/>
              </a:ext>
            </a:extLst>
          </p:cNvPr>
          <p:cNvSpPr txBox="1"/>
          <p:nvPr/>
        </p:nvSpPr>
        <p:spPr>
          <a:xfrm>
            <a:off x="2514600" y="2872827"/>
            <a:ext cx="3048000" cy="637482"/>
          </a:xfrm>
          <a:prstGeom prst="rect">
            <a:avLst/>
          </a:prstGeom>
          <a:noFill/>
        </p:spPr>
        <p:txBody>
          <a:bodyPr wrap="square">
            <a:spAutoFit/>
          </a:bodyPr>
          <a:lstStyle/>
          <a:p>
            <a:pPr lvl="0" algn="l">
              <a:lnSpc>
                <a:spcPct val="107899"/>
              </a:lnSpc>
            </a:pPr>
            <a:r>
              <a:rPr lang="en-US" altLang="ko-KR" sz="3500" dirty="0">
                <a:solidFill>
                  <a:srgbClr val="1A7AE1"/>
                </a:solidFill>
                <a:latin typeface="Pretendard Medium"/>
                <a:ea typeface="Pretendard Medium"/>
                <a:cs typeface="Pretendard Medium"/>
              </a:rPr>
              <a:t>CHAPTER</a:t>
            </a:r>
            <a:endParaRPr lang="en-US" altLang="ko-KR" sz="3500" b="0" i="0" u="none" strike="noStrike" dirty="0">
              <a:solidFill>
                <a:srgbClr val="1A7AE1"/>
              </a:solidFill>
              <a:latin typeface="Pretendard Medium"/>
              <a:ea typeface="Pretendard Medium"/>
              <a:cs typeface="Pretendard Medium"/>
            </a:endParaRPr>
          </a:p>
        </p:txBody>
      </p:sp>
      <p:sp>
        <p:nvSpPr>
          <p:cNvPr id="76" name="타원 75">
            <a:extLst>
              <a:ext uri="{FF2B5EF4-FFF2-40B4-BE49-F238E27FC236}">
                <a16:creationId xmlns:a16="http://schemas.microsoft.com/office/drawing/2014/main" id="{F533B4B4-6C92-2CDF-C56D-90BC3DC564CF}"/>
              </a:ext>
            </a:extLst>
          </p:cNvPr>
          <p:cNvSpPr/>
          <p:nvPr/>
        </p:nvSpPr>
        <p:spPr>
          <a:xfrm>
            <a:off x="20246913" y="6704980"/>
            <a:ext cx="303274" cy="304800"/>
          </a:xfrm>
          <a:prstGeom prst="ellipse">
            <a:avLst/>
          </a:prstGeom>
          <a:solidFill>
            <a:srgbClr val="1A7AE1"/>
          </a:solidFill>
          <a:ln>
            <a:solidFill>
              <a:srgbClr val="1A7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7" name="타원 76">
            <a:extLst>
              <a:ext uri="{FF2B5EF4-FFF2-40B4-BE49-F238E27FC236}">
                <a16:creationId xmlns:a16="http://schemas.microsoft.com/office/drawing/2014/main" id="{459E7070-3DE2-50FF-82E4-5E614B9E89B6}"/>
              </a:ext>
            </a:extLst>
          </p:cNvPr>
          <p:cNvSpPr/>
          <p:nvPr/>
        </p:nvSpPr>
        <p:spPr>
          <a:xfrm>
            <a:off x="6934200" y="7620000"/>
            <a:ext cx="152400" cy="137447"/>
          </a:xfrm>
          <a:prstGeom prst="ellipse">
            <a:avLst/>
          </a:prstGeom>
          <a:solidFill>
            <a:srgbClr val="1A7AE1"/>
          </a:solidFill>
          <a:ln>
            <a:solidFill>
              <a:srgbClr val="1A7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8" name="타원 77">
            <a:extLst>
              <a:ext uri="{FF2B5EF4-FFF2-40B4-BE49-F238E27FC236}">
                <a16:creationId xmlns:a16="http://schemas.microsoft.com/office/drawing/2014/main" id="{941169D4-666A-FC7A-15ED-27DE3B233A59}"/>
              </a:ext>
            </a:extLst>
          </p:cNvPr>
          <p:cNvSpPr/>
          <p:nvPr/>
        </p:nvSpPr>
        <p:spPr>
          <a:xfrm>
            <a:off x="6934200" y="8554605"/>
            <a:ext cx="152400" cy="137447"/>
          </a:xfrm>
          <a:prstGeom prst="ellipse">
            <a:avLst/>
          </a:prstGeom>
          <a:solidFill>
            <a:srgbClr val="1A7AE1"/>
          </a:solidFill>
          <a:ln>
            <a:solidFill>
              <a:srgbClr val="1A7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9" name="타원 78">
            <a:extLst>
              <a:ext uri="{FF2B5EF4-FFF2-40B4-BE49-F238E27FC236}">
                <a16:creationId xmlns:a16="http://schemas.microsoft.com/office/drawing/2014/main" id="{FA2B27B0-DF14-117A-6ACB-B224073D19D7}"/>
              </a:ext>
            </a:extLst>
          </p:cNvPr>
          <p:cNvSpPr/>
          <p:nvPr/>
        </p:nvSpPr>
        <p:spPr>
          <a:xfrm>
            <a:off x="6934200" y="9465397"/>
            <a:ext cx="152400" cy="137447"/>
          </a:xfrm>
          <a:prstGeom prst="ellipse">
            <a:avLst/>
          </a:prstGeom>
          <a:solidFill>
            <a:srgbClr val="1A7AE1"/>
          </a:solidFill>
          <a:ln>
            <a:solidFill>
              <a:srgbClr val="1A7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0" name="타원 79">
            <a:extLst>
              <a:ext uri="{FF2B5EF4-FFF2-40B4-BE49-F238E27FC236}">
                <a16:creationId xmlns:a16="http://schemas.microsoft.com/office/drawing/2014/main" id="{A57376D0-C310-26C1-FD12-4556EAFAE2C3}"/>
              </a:ext>
            </a:extLst>
          </p:cNvPr>
          <p:cNvSpPr/>
          <p:nvPr/>
        </p:nvSpPr>
        <p:spPr>
          <a:xfrm>
            <a:off x="6934200" y="10291034"/>
            <a:ext cx="152400" cy="137446"/>
          </a:xfrm>
          <a:prstGeom prst="ellipse">
            <a:avLst/>
          </a:prstGeom>
          <a:solidFill>
            <a:srgbClr val="1A7AE1"/>
          </a:solidFill>
          <a:ln>
            <a:solidFill>
              <a:srgbClr val="1A7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a:extLst>
              <a:ext uri="{FF2B5EF4-FFF2-40B4-BE49-F238E27FC236}">
                <a16:creationId xmlns:a16="http://schemas.microsoft.com/office/drawing/2014/main" id="{1079BC9D-4813-1345-7E07-960C9F60AA3C}"/>
              </a:ext>
            </a:extLst>
          </p:cNvPr>
          <p:cNvSpPr txBox="1"/>
          <p:nvPr/>
        </p:nvSpPr>
        <p:spPr>
          <a:xfrm>
            <a:off x="7389018" y="7338139"/>
            <a:ext cx="2605087" cy="644857"/>
          </a:xfrm>
          <a:prstGeom prst="rect">
            <a:avLst/>
          </a:prstGeom>
          <a:noFill/>
        </p:spPr>
        <p:txBody>
          <a:bodyPr wrap="square">
            <a:spAutoFit/>
          </a:bodyPr>
          <a:lstStyle/>
          <a:p>
            <a:pPr lvl="0">
              <a:lnSpc>
                <a:spcPct val="143590"/>
              </a:lnSpc>
            </a:pPr>
            <a:r>
              <a:rPr lang="ko-KR" altLang="en-US" sz="2800" spc="-100" dirty="0">
                <a:solidFill>
                  <a:srgbClr val="000000">
                    <a:alpha val="70196"/>
                  </a:srgbClr>
                </a:solidFill>
                <a:latin typeface="Pretendard Medium"/>
                <a:ea typeface="Pretendard Medium"/>
                <a:cs typeface="Pretendard Medium"/>
              </a:rPr>
              <a:t>아키텍처</a:t>
            </a:r>
            <a:endParaRPr lang="en-US" altLang="ko-KR" sz="2800" spc="-100" dirty="0">
              <a:solidFill>
                <a:srgbClr val="000000">
                  <a:alpha val="70196"/>
                </a:srgbClr>
              </a:solidFill>
              <a:latin typeface="Pretendard Medium"/>
              <a:ea typeface="Pretendard Medium"/>
              <a:cs typeface="Pretendard Medium"/>
            </a:endParaRPr>
          </a:p>
        </p:txBody>
      </p:sp>
      <p:sp>
        <p:nvSpPr>
          <p:cNvPr id="83" name="TextBox 82">
            <a:extLst>
              <a:ext uri="{FF2B5EF4-FFF2-40B4-BE49-F238E27FC236}">
                <a16:creationId xmlns:a16="http://schemas.microsoft.com/office/drawing/2014/main" id="{4576FE61-5F1E-5D78-A0CF-16ECA01A97EE}"/>
              </a:ext>
            </a:extLst>
          </p:cNvPr>
          <p:cNvSpPr txBox="1"/>
          <p:nvPr/>
        </p:nvSpPr>
        <p:spPr>
          <a:xfrm>
            <a:off x="7377113" y="8271407"/>
            <a:ext cx="2605087" cy="644857"/>
          </a:xfrm>
          <a:prstGeom prst="rect">
            <a:avLst/>
          </a:prstGeom>
          <a:noFill/>
        </p:spPr>
        <p:txBody>
          <a:bodyPr wrap="square">
            <a:spAutoFit/>
          </a:bodyPr>
          <a:lstStyle/>
          <a:p>
            <a:pPr lvl="0">
              <a:lnSpc>
                <a:spcPct val="143590"/>
              </a:lnSpc>
            </a:pPr>
            <a:r>
              <a:rPr lang="ko-KR" altLang="en-US" sz="2800" spc="-100" dirty="0">
                <a:solidFill>
                  <a:srgbClr val="000000">
                    <a:alpha val="70196"/>
                  </a:srgbClr>
                </a:solidFill>
                <a:latin typeface="Pretendard Medium"/>
                <a:ea typeface="Pretendard Medium"/>
                <a:cs typeface="Pretendard Medium"/>
              </a:rPr>
              <a:t>기능 구성</a:t>
            </a:r>
            <a:endParaRPr lang="en-US" altLang="ko-KR" sz="2800" spc="-100" dirty="0">
              <a:solidFill>
                <a:srgbClr val="000000">
                  <a:alpha val="70196"/>
                </a:srgbClr>
              </a:solidFill>
              <a:latin typeface="Pretendard Medium"/>
              <a:ea typeface="Pretendard Medium"/>
              <a:cs typeface="Pretendard Medium"/>
            </a:endParaRPr>
          </a:p>
        </p:txBody>
      </p:sp>
      <p:sp>
        <p:nvSpPr>
          <p:cNvPr id="84" name="TextBox 83">
            <a:extLst>
              <a:ext uri="{FF2B5EF4-FFF2-40B4-BE49-F238E27FC236}">
                <a16:creationId xmlns:a16="http://schemas.microsoft.com/office/drawing/2014/main" id="{5F8FEF84-6F5D-3877-3462-98BBBC55A2D6}"/>
              </a:ext>
            </a:extLst>
          </p:cNvPr>
          <p:cNvSpPr txBox="1"/>
          <p:nvPr/>
        </p:nvSpPr>
        <p:spPr>
          <a:xfrm>
            <a:off x="7333456" y="9147867"/>
            <a:ext cx="3486944" cy="644857"/>
          </a:xfrm>
          <a:prstGeom prst="rect">
            <a:avLst/>
          </a:prstGeom>
          <a:noFill/>
        </p:spPr>
        <p:txBody>
          <a:bodyPr wrap="square">
            <a:spAutoFit/>
          </a:bodyPr>
          <a:lstStyle/>
          <a:p>
            <a:pPr lvl="0">
              <a:lnSpc>
                <a:spcPct val="143590"/>
              </a:lnSpc>
            </a:pPr>
            <a:r>
              <a:rPr lang="ko-KR" altLang="en-US" sz="2800" spc="-100" dirty="0">
                <a:solidFill>
                  <a:srgbClr val="000000">
                    <a:alpha val="70196"/>
                  </a:srgbClr>
                </a:solidFill>
                <a:latin typeface="Pretendard Medium"/>
                <a:ea typeface="Pretendard Medium"/>
                <a:cs typeface="Pretendard Medium"/>
              </a:rPr>
              <a:t>취약점 진단</a:t>
            </a:r>
            <a:endParaRPr lang="en-US" altLang="ko-KR" sz="2800" spc="-100" dirty="0">
              <a:solidFill>
                <a:srgbClr val="000000">
                  <a:alpha val="70196"/>
                </a:srgbClr>
              </a:solidFill>
              <a:latin typeface="Pretendard Medium"/>
              <a:ea typeface="Pretendard Medium"/>
              <a:cs typeface="Pretendard Medium"/>
            </a:endParaRPr>
          </a:p>
        </p:txBody>
      </p:sp>
      <p:sp>
        <p:nvSpPr>
          <p:cNvPr id="85" name="TextBox 84">
            <a:extLst>
              <a:ext uri="{FF2B5EF4-FFF2-40B4-BE49-F238E27FC236}">
                <a16:creationId xmlns:a16="http://schemas.microsoft.com/office/drawing/2014/main" id="{AA713008-ED29-3D83-D01E-114EF00E890B}"/>
              </a:ext>
            </a:extLst>
          </p:cNvPr>
          <p:cNvSpPr txBox="1"/>
          <p:nvPr/>
        </p:nvSpPr>
        <p:spPr>
          <a:xfrm>
            <a:off x="7389019" y="9982200"/>
            <a:ext cx="2605087" cy="644857"/>
          </a:xfrm>
          <a:prstGeom prst="rect">
            <a:avLst/>
          </a:prstGeom>
          <a:noFill/>
        </p:spPr>
        <p:txBody>
          <a:bodyPr wrap="square">
            <a:spAutoFit/>
          </a:bodyPr>
          <a:lstStyle/>
          <a:p>
            <a:pPr lvl="0">
              <a:lnSpc>
                <a:spcPct val="143590"/>
              </a:lnSpc>
            </a:pPr>
            <a:r>
              <a:rPr lang="ko-KR" altLang="en-US" sz="2800" spc="-100" dirty="0">
                <a:solidFill>
                  <a:srgbClr val="000000">
                    <a:alpha val="70196"/>
                  </a:srgbClr>
                </a:solidFill>
                <a:latin typeface="Pretendard Medium"/>
                <a:ea typeface="Pretendard Medium"/>
                <a:cs typeface="Pretendard Medium"/>
              </a:rPr>
              <a:t>진단 결과</a:t>
            </a:r>
            <a:r>
              <a:rPr lang="en-US" altLang="ko-KR" sz="2800" spc="-100" dirty="0">
                <a:solidFill>
                  <a:srgbClr val="000000">
                    <a:alpha val="70196"/>
                  </a:srgbClr>
                </a:solidFill>
                <a:latin typeface="Pretendard Medium"/>
                <a:ea typeface="Pretendard Medium"/>
                <a:cs typeface="Pretendard Medium"/>
              </a:rPr>
              <a:t>(WEB)</a:t>
            </a:r>
          </a:p>
        </p:txBody>
      </p:sp>
      <p:sp>
        <p:nvSpPr>
          <p:cNvPr id="86" name="타원 85">
            <a:extLst>
              <a:ext uri="{FF2B5EF4-FFF2-40B4-BE49-F238E27FC236}">
                <a16:creationId xmlns:a16="http://schemas.microsoft.com/office/drawing/2014/main" id="{42DA01A6-D3ED-F25B-33A5-40B01E98AE98}"/>
              </a:ext>
            </a:extLst>
          </p:cNvPr>
          <p:cNvSpPr/>
          <p:nvPr/>
        </p:nvSpPr>
        <p:spPr>
          <a:xfrm>
            <a:off x="17326031" y="3808760"/>
            <a:ext cx="6219769" cy="6249640"/>
          </a:xfrm>
          <a:prstGeom prst="ellipse">
            <a:avLst/>
          </a:prstGeom>
          <a:noFill/>
          <a:ln w="38100">
            <a:solidFill>
              <a:srgbClr val="1A7AE1">
                <a:alpha val="3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9" name="타원 88">
            <a:extLst>
              <a:ext uri="{FF2B5EF4-FFF2-40B4-BE49-F238E27FC236}">
                <a16:creationId xmlns:a16="http://schemas.microsoft.com/office/drawing/2014/main" id="{7A0EB39A-74C4-F49C-BF68-376B9B7290F1}"/>
              </a:ext>
            </a:extLst>
          </p:cNvPr>
          <p:cNvSpPr/>
          <p:nvPr/>
        </p:nvSpPr>
        <p:spPr>
          <a:xfrm>
            <a:off x="18643481" y="5180421"/>
            <a:ext cx="3584867" cy="3546788"/>
          </a:xfrm>
          <a:prstGeom prst="ellipse">
            <a:avLst/>
          </a:prstGeom>
          <a:solidFill>
            <a:srgbClr val="1A7AE1">
              <a:alpha val="8000"/>
            </a:srgb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0" name="원형: 비어 있음 89">
            <a:extLst>
              <a:ext uri="{FF2B5EF4-FFF2-40B4-BE49-F238E27FC236}">
                <a16:creationId xmlns:a16="http://schemas.microsoft.com/office/drawing/2014/main" id="{8402C208-E6B1-F479-2C9B-9C3A27A10E65}"/>
              </a:ext>
            </a:extLst>
          </p:cNvPr>
          <p:cNvSpPr/>
          <p:nvPr/>
        </p:nvSpPr>
        <p:spPr>
          <a:xfrm>
            <a:off x="17781407" y="4228873"/>
            <a:ext cx="5334000" cy="5415371"/>
          </a:xfrm>
          <a:prstGeom prst="donut">
            <a:avLst>
              <a:gd name="adj" fmla="val 3577"/>
            </a:avLst>
          </a:prstGeom>
          <a:solidFill>
            <a:srgbClr val="1A7AE1">
              <a:alpha val="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5" name="타원 4">
            <a:extLst>
              <a:ext uri="{FF2B5EF4-FFF2-40B4-BE49-F238E27FC236}">
                <a16:creationId xmlns:a16="http://schemas.microsoft.com/office/drawing/2014/main" id="{F0347468-905B-8E7E-30F8-1C15476B3D7B}"/>
              </a:ext>
            </a:extLst>
          </p:cNvPr>
          <p:cNvSpPr/>
          <p:nvPr/>
        </p:nvSpPr>
        <p:spPr>
          <a:xfrm>
            <a:off x="6934200" y="11129234"/>
            <a:ext cx="152400" cy="137446"/>
          </a:xfrm>
          <a:prstGeom prst="ellipse">
            <a:avLst/>
          </a:prstGeom>
          <a:solidFill>
            <a:srgbClr val="1A7AE1"/>
          </a:solidFill>
          <a:ln>
            <a:solidFill>
              <a:srgbClr val="1A7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TextBox 5">
            <a:extLst>
              <a:ext uri="{FF2B5EF4-FFF2-40B4-BE49-F238E27FC236}">
                <a16:creationId xmlns:a16="http://schemas.microsoft.com/office/drawing/2014/main" id="{EB0698C7-4A94-D854-3EB7-C9B0E8E22D53}"/>
              </a:ext>
            </a:extLst>
          </p:cNvPr>
          <p:cNvSpPr txBox="1"/>
          <p:nvPr/>
        </p:nvSpPr>
        <p:spPr>
          <a:xfrm>
            <a:off x="7389019" y="10820400"/>
            <a:ext cx="2605087" cy="644857"/>
          </a:xfrm>
          <a:prstGeom prst="rect">
            <a:avLst/>
          </a:prstGeom>
          <a:noFill/>
        </p:spPr>
        <p:txBody>
          <a:bodyPr wrap="square">
            <a:spAutoFit/>
          </a:bodyPr>
          <a:lstStyle/>
          <a:p>
            <a:pPr lvl="0">
              <a:lnSpc>
                <a:spcPct val="143590"/>
              </a:lnSpc>
            </a:pPr>
            <a:r>
              <a:rPr lang="ko-KR" altLang="en-US" sz="2800" spc="-100" dirty="0">
                <a:solidFill>
                  <a:srgbClr val="000000">
                    <a:alpha val="70196"/>
                  </a:srgbClr>
                </a:solidFill>
                <a:latin typeface="Pretendard Medium"/>
                <a:ea typeface="Pretendard Medium"/>
                <a:cs typeface="Pretendard Medium"/>
              </a:rPr>
              <a:t>진단 결과</a:t>
            </a:r>
            <a:r>
              <a:rPr lang="en-US" altLang="ko-KR" sz="2800" spc="-100" dirty="0">
                <a:solidFill>
                  <a:srgbClr val="000000">
                    <a:alpha val="70196"/>
                  </a:srgbClr>
                </a:solidFill>
                <a:latin typeface="Pretendard Medium"/>
                <a:ea typeface="Pretendard Medium"/>
                <a:cs typeface="Pretendard Medium"/>
              </a:rPr>
              <a:t>(APP)</a:t>
            </a:r>
          </a:p>
        </p:txBody>
      </p:sp>
    </p:spTree>
    <p:extLst>
      <p:ext uri="{BB962C8B-B14F-4D97-AF65-F5344CB8AC3E}">
        <p14:creationId xmlns:p14="http://schemas.microsoft.com/office/powerpoint/2010/main" val="3726329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7693BA8A-6D96-351D-ABF3-24FFEE36F7E1}"/>
              </a:ext>
            </a:extLst>
          </p:cNvPr>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2" name="Picture 2"/>
          <p:cNvPicPr>
            <a:picLocks noChangeAspect="1"/>
          </p:cNvPicPr>
          <p:nvPr/>
        </p:nvPicPr>
        <p:blipFill>
          <a:blip r:embed="rId3"/>
          <a:stretch>
            <a:fillRect/>
          </a:stretch>
        </p:blipFill>
        <p:spPr>
          <a:xfrm>
            <a:off x="3619500" y="3124200"/>
            <a:ext cx="17145000" cy="10007600"/>
          </a:xfrm>
          <a:prstGeom prst="rect">
            <a:avLst/>
          </a:prstGeom>
          <a:effectLst>
            <a:outerShdw blurRad="250284" dist="231031" dir="2700000">
              <a:srgbClr val="1A7AE1">
                <a:alpha val="15000"/>
              </a:srgbClr>
            </a:outerShdw>
          </a:effectLst>
        </p:spPr>
      </p:pic>
      <p:pic>
        <p:nvPicPr>
          <p:cNvPr id="3" name="Picture 3"/>
          <p:cNvPicPr>
            <a:picLocks noChangeAspect="1"/>
          </p:cNvPicPr>
          <p:nvPr/>
        </p:nvPicPr>
        <p:blipFill>
          <a:blip r:embed="rId4"/>
          <a:stretch>
            <a:fillRect/>
          </a:stretch>
        </p:blipFill>
        <p:spPr>
          <a:xfrm>
            <a:off x="762000" y="1092200"/>
            <a:ext cx="22860000" cy="12700"/>
          </a:xfrm>
          <a:prstGeom prst="rect">
            <a:avLst/>
          </a:prstGeom>
        </p:spPr>
      </p:pic>
      <p:pic>
        <p:nvPicPr>
          <p:cNvPr id="4" name="Picture 4"/>
          <p:cNvPicPr>
            <a:picLocks noChangeAspect="1"/>
          </p:cNvPicPr>
          <p:nvPr/>
        </p:nvPicPr>
        <p:blipFill>
          <a:blip r:embed="rId5"/>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5"/>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5"/>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4"/>
          <a:stretch>
            <a:fillRect/>
          </a:stretch>
        </p:blipFill>
        <p:spPr>
          <a:xfrm>
            <a:off x="723900" y="457200"/>
            <a:ext cx="22860000" cy="12700"/>
          </a:xfrm>
          <a:prstGeom prst="rect">
            <a:avLst/>
          </a:prstGeom>
        </p:spPr>
      </p:pic>
      <p:pic>
        <p:nvPicPr>
          <p:cNvPr id="8" name="Picture 8"/>
          <p:cNvPicPr>
            <a:picLocks noChangeAspect="1"/>
          </p:cNvPicPr>
          <p:nvPr/>
        </p:nvPicPr>
        <p:blipFill>
          <a:blip r:embed="rId6"/>
          <a:stretch>
            <a:fillRect/>
          </a:stretch>
        </p:blipFill>
        <p:spPr>
          <a:xfrm>
            <a:off x="1485900" y="1612900"/>
            <a:ext cx="88900" cy="850900"/>
          </a:xfrm>
          <a:prstGeom prst="rect">
            <a:avLst/>
          </a:prstGeom>
        </p:spPr>
      </p:pic>
      <p:sp>
        <p:nvSpPr>
          <p:cNvPr id="9" name="TextBox 9"/>
          <p:cNvSpPr txBox="1"/>
          <p:nvPr/>
        </p:nvSpPr>
        <p:spPr>
          <a:xfrm>
            <a:off x="1943100" y="1409700"/>
            <a:ext cx="106807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아키텍처</a:t>
            </a:r>
          </a:p>
        </p:txBody>
      </p:sp>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a:solidFill>
                  <a:srgbClr val="024EA0"/>
                </a:solidFill>
                <a:latin typeface="Geologica Roman Light"/>
                <a:ea typeface="Geologica Roman Light"/>
                <a:cs typeface="Geologica Roman Light"/>
              </a:rPr>
              <a:t>7</a:t>
            </a:r>
          </a:p>
        </p:txBody>
      </p:sp>
      <p:pic>
        <p:nvPicPr>
          <p:cNvPr id="12" name="Picture 12"/>
          <p:cNvPicPr>
            <a:picLocks noChangeAspect="1"/>
          </p:cNvPicPr>
          <p:nvPr/>
        </p:nvPicPr>
        <p:blipFill>
          <a:blip r:embed="rId7">
            <a:alphaModFix amt="85000"/>
          </a:blip>
          <a:stretch>
            <a:fillRect/>
          </a:stretch>
        </p:blipFill>
        <p:spPr>
          <a:xfrm>
            <a:off x="9118600" y="571500"/>
            <a:ext cx="1993900" cy="444500"/>
          </a:xfrm>
          <a:prstGeom prst="rect">
            <a:avLst/>
          </a:prstGeom>
        </p:spPr>
      </p:pic>
      <p:sp>
        <p:nvSpPr>
          <p:cNvPr id="13" name="TextBox 13"/>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15" name="TextBox 15"/>
          <p:cNvSpPr txBox="1"/>
          <p:nvPr/>
        </p:nvSpPr>
        <p:spPr>
          <a:xfrm>
            <a:off x="11353800" y="457200"/>
            <a:ext cx="25273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시나리오</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모의해킹</a:t>
            </a:r>
            <a:endParaRPr lang="en-US" sz="2666" b="0" i="0" u="none" strike="noStrike" spc="-100" dirty="0">
              <a:solidFill>
                <a:srgbClr val="C2C2C2"/>
              </a:solidFill>
              <a:latin typeface="Pretendard SemiBold"/>
              <a:ea typeface="Pretendard SemiBold"/>
              <a:cs typeface="Pretendard SemiBold"/>
            </a:endParaRPr>
          </a:p>
        </p:txBody>
      </p:sp>
      <p:sp>
        <p:nvSpPr>
          <p:cNvPr id="16" name="TextBox 16"/>
          <p:cNvSpPr txBox="1"/>
          <p:nvPr/>
        </p:nvSpPr>
        <p:spPr>
          <a:xfrm>
            <a:off x="14097000" y="4699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17" name="TextBox 17"/>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개발 및 진단</a:t>
            </a:r>
          </a:p>
        </p:txBody>
      </p:sp>
      <p:pic>
        <p:nvPicPr>
          <p:cNvPr id="18" name="Picture 18"/>
          <p:cNvPicPr>
            <a:picLocks noChangeAspect="1"/>
          </p:cNvPicPr>
          <p:nvPr/>
        </p:nvPicPr>
        <p:blipFill>
          <a:blip r:embed="rId8"/>
          <a:stretch>
            <a:fillRect/>
          </a:stretch>
        </p:blipFill>
        <p:spPr>
          <a:xfrm>
            <a:off x="4356100" y="3213100"/>
            <a:ext cx="15671800" cy="9842500"/>
          </a:xfrm>
          <a:prstGeom prst="rect">
            <a:avLst/>
          </a:prstGeom>
        </p:spPr>
      </p:pic>
      <p:sp>
        <p:nvSpPr>
          <p:cNvPr id="20" name="TextBox 19">
            <a:extLst>
              <a:ext uri="{FF2B5EF4-FFF2-40B4-BE49-F238E27FC236}">
                <a16:creationId xmlns:a16="http://schemas.microsoft.com/office/drawing/2014/main" id="{047D989C-DB6A-ABB9-CABA-401813FA45AB}"/>
              </a:ext>
            </a:extLst>
          </p:cNvPr>
          <p:cNvSpPr txBox="1"/>
          <p:nvPr/>
        </p:nvSpPr>
        <p:spPr>
          <a:xfrm>
            <a:off x="1761893" y="8028878"/>
            <a:ext cx="184731" cy="369332"/>
          </a:xfrm>
          <a:prstGeom prst="rect">
            <a:avLst/>
          </a:prstGeom>
          <a:noFill/>
        </p:spPr>
        <p:txBody>
          <a:bodyPr wrap="none" rtlCol="0">
            <a:spAutoFit/>
          </a:bodyPr>
          <a:lstStyle/>
          <a:p>
            <a:endParaRPr lang="en-KR"/>
          </a:p>
        </p:txBody>
      </p:sp>
      <p:sp>
        <p:nvSpPr>
          <p:cNvPr id="21" name="TextBox 14">
            <a:extLst>
              <a:ext uri="{FF2B5EF4-FFF2-40B4-BE49-F238E27FC236}">
                <a16:creationId xmlns:a16="http://schemas.microsoft.com/office/drawing/2014/main" id="{45302E74-CAD1-B03C-68EF-3E0D898F9F97}"/>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2" name="TextBox 14">
            <a:extLst>
              <a:ext uri="{FF2B5EF4-FFF2-40B4-BE49-F238E27FC236}">
                <a16:creationId xmlns:a16="http://schemas.microsoft.com/office/drawing/2014/main" id="{1410E0B8-0C4A-652F-AE17-981EDAFE31EA}"/>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4" name="Picture 4"/>
          <p:cNvPicPr>
            <a:picLocks noChangeAspect="1"/>
          </p:cNvPicPr>
          <p:nvPr/>
        </p:nvPicPr>
        <p:blipFill>
          <a:blip r:embed="rId3">
            <a:alphaModFix amt="40000"/>
          </a:blip>
          <a:stretch>
            <a:fillRect/>
          </a:stretch>
        </p:blipFill>
        <p:spPr>
          <a:xfrm>
            <a:off x="-457200" y="4826000"/>
            <a:ext cx="11442700" cy="11442700"/>
          </a:xfrm>
          <a:prstGeom prst="rect">
            <a:avLst/>
          </a:prstGeom>
        </p:spPr>
      </p:pic>
      <p:pic>
        <p:nvPicPr>
          <p:cNvPr id="5" name="Picture 5"/>
          <p:cNvPicPr>
            <a:picLocks noChangeAspect="1"/>
          </p:cNvPicPr>
          <p:nvPr/>
        </p:nvPicPr>
        <p:blipFill>
          <a:blip r:embed="rId4">
            <a:alphaModFix amt="70000"/>
          </a:blip>
          <a:stretch>
            <a:fillRect/>
          </a:stretch>
        </p:blipFill>
        <p:spPr>
          <a:xfrm rot="-5400000">
            <a:off x="4140200" y="10528300"/>
            <a:ext cx="2933700" cy="1473200"/>
          </a:xfrm>
          <a:prstGeom prst="rect">
            <a:avLst/>
          </a:prstGeom>
        </p:spPr>
      </p:pic>
      <p:pic>
        <p:nvPicPr>
          <p:cNvPr id="6" name="Picture 6"/>
          <p:cNvPicPr>
            <a:picLocks noChangeAspect="1"/>
          </p:cNvPicPr>
          <p:nvPr/>
        </p:nvPicPr>
        <p:blipFill>
          <a:blip r:embed="rId5"/>
          <a:stretch>
            <a:fillRect/>
          </a:stretch>
        </p:blipFill>
        <p:spPr>
          <a:xfrm>
            <a:off x="762000" y="1092200"/>
            <a:ext cx="22860000" cy="12700"/>
          </a:xfrm>
          <a:prstGeom prst="rect">
            <a:avLst/>
          </a:prstGeom>
        </p:spPr>
      </p:pic>
      <p:pic>
        <p:nvPicPr>
          <p:cNvPr id="7" name="Picture 7"/>
          <p:cNvPicPr>
            <a:picLocks noChangeAspect="1"/>
          </p:cNvPicPr>
          <p:nvPr/>
        </p:nvPicPr>
        <p:blipFill>
          <a:blip r:embed="rId6"/>
          <a:stretch>
            <a:fillRect/>
          </a:stretch>
        </p:blipFill>
        <p:spPr>
          <a:xfrm rot="5400000">
            <a:off x="3200400" y="787400"/>
            <a:ext cx="635000" cy="12700"/>
          </a:xfrm>
          <a:prstGeom prst="rect">
            <a:avLst/>
          </a:prstGeom>
        </p:spPr>
      </p:pic>
      <p:pic>
        <p:nvPicPr>
          <p:cNvPr id="8" name="Picture 8"/>
          <p:cNvPicPr>
            <a:picLocks noChangeAspect="1"/>
          </p:cNvPicPr>
          <p:nvPr/>
        </p:nvPicPr>
        <p:blipFill>
          <a:blip r:embed="rId6"/>
          <a:stretch>
            <a:fillRect/>
          </a:stretch>
        </p:blipFill>
        <p:spPr>
          <a:xfrm rot="5400000">
            <a:off x="22225000" y="787400"/>
            <a:ext cx="635000" cy="12700"/>
          </a:xfrm>
          <a:prstGeom prst="rect">
            <a:avLst/>
          </a:prstGeom>
        </p:spPr>
      </p:pic>
      <p:pic>
        <p:nvPicPr>
          <p:cNvPr id="9" name="Picture 9"/>
          <p:cNvPicPr>
            <a:picLocks noChangeAspect="1"/>
          </p:cNvPicPr>
          <p:nvPr/>
        </p:nvPicPr>
        <p:blipFill>
          <a:blip r:embed="rId6"/>
          <a:stretch>
            <a:fillRect/>
          </a:stretch>
        </p:blipFill>
        <p:spPr>
          <a:xfrm rot="5400000">
            <a:off x="6337300" y="787400"/>
            <a:ext cx="635000" cy="12700"/>
          </a:xfrm>
          <a:prstGeom prst="rect">
            <a:avLst/>
          </a:prstGeom>
        </p:spPr>
      </p:pic>
      <p:pic>
        <p:nvPicPr>
          <p:cNvPr id="10" name="Picture 10"/>
          <p:cNvPicPr>
            <a:picLocks noChangeAspect="1"/>
          </p:cNvPicPr>
          <p:nvPr/>
        </p:nvPicPr>
        <p:blipFill>
          <a:blip r:embed="rId5"/>
          <a:stretch>
            <a:fillRect/>
          </a:stretch>
        </p:blipFill>
        <p:spPr>
          <a:xfrm>
            <a:off x="723900" y="457200"/>
            <a:ext cx="22860000" cy="12700"/>
          </a:xfrm>
          <a:prstGeom prst="rect">
            <a:avLst/>
          </a:prstGeom>
        </p:spPr>
      </p:pic>
      <p:pic>
        <p:nvPicPr>
          <p:cNvPr id="11" name="Picture 11"/>
          <p:cNvPicPr>
            <a:picLocks noChangeAspect="1"/>
          </p:cNvPicPr>
          <p:nvPr/>
        </p:nvPicPr>
        <p:blipFill>
          <a:blip r:embed="rId7">
            <a:alphaModFix amt="70000"/>
          </a:blip>
          <a:stretch>
            <a:fillRect/>
          </a:stretch>
        </p:blipFill>
        <p:spPr>
          <a:xfrm rot="-5400000">
            <a:off x="3606800" y="5486400"/>
            <a:ext cx="3695700" cy="1473200"/>
          </a:xfrm>
          <a:prstGeom prst="rect">
            <a:avLst/>
          </a:prstGeom>
        </p:spPr>
      </p:pic>
      <p:pic>
        <p:nvPicPr>
          <p:cNvPr id="12" name="Picture 12"/>
          <p:cNvPicPr>
            <a:picLocks noChangeAspect="1"/>
          </p:cNvPicPr>
          <p:nvPr/>
        </p:nvPicPr>
        <p:blipFill>
          <a:blip r:embed="rId8">
            <a:alphaModFix amt="70000"/>
          </a:blip>
          <a:stretch>
            <a:fillRect/>
          </a:stretch>
        </p:blipFill>
        <p:spPr>
          <a:xfrm rot="16200000">
            <a:off x="11226800" y="-2578100"/>
            <a:ext cx="6197600" cy="17627600"/>
          </a:xfrm>
          <a:prstGeom prst="rect">
            <a:avLst/>
          </a:prstGeom>
          <a:effectLst>
            <a:outerShdw blurRad="154983" dist="143061" dir="2700000">
              <a:srgbClr val="1A7AE1">
                <a:alpha val="15000"/>
              </a:srgbClr>
            </a:outerShdw>
          </a:effectLst>
        </p:spPr>
      </p:pic>
      <p:pic>
        <p:nvPicPr>
          <p:cNvPr id="13" name="Picture 13"/>
          <p:cNvPicPr>
            <a:picLocks noChangeAspect="1"/>
          </p:cNvPicPr>
          <p:nvPr/>
        </p:nvPicPr>
        <p:blipFill>
          <a:blip r:embed="rId9">
            <a:alphaModFix amt="70000"/>
          </a:blip>
          <a:stretch>
            <a:fillRect/>
          </a:stretch>
        </p:blipFill>
        <p:spPr>
          <a:xfrm rot="16200000">
            <a:off x="11226800" y="-2578100"/>
            <a:ext cx="6197600" cy="17627600"/>
          </a:xfrm>
          <a:prstGeom prst="rect">
            <a:avLst/>
          </a:prstGeom>
          <a:effectLst>
            <a:outerShdw blurRad="154983" dist="143061" dir="2700000">
              <a:srgbClr val="1A7AE1">
                <a:alpha val="15000"/>
              </a:srgbClr>
            </a:outerShdw>
          </a:effectLst>
        </p:spPr>
      </p:pic>
      <p:pic>
        <p:nvPicPr>
          <p:cNvPr id="14" name="Picture 14"/>
          <p:cNvPicPr>
            <a:picLocks noChangeAspect="1"/>
          </p:cNvPicPr>
          <p:nvPr/>
        </p:nvPicPr>
        <p:blipFill>
          <a:blip r:embed="rId10"/>
          <a:stretch>
            <a:fillRect/>
          </a:stretch>
        </p:blipFill>
        <p:spPr>
          <a:xfrm>
            <a:off x="6731000" y="3594100"/>
            <a:ext cx="2514600" cy="2514600"/>
          </a:xfrm>
          <a:prstGeom prst="rect">
            <a:avLst/>
          </a:prstGeom>
          <a:effectLst>
            <a:outerShdw blurRad="125992" dist="58150" dir="2700000">
              <a:srgbClr val="1A7AE1">
                <a:alpha val="15000"/>
              </a:srgbClr>
            </a:outerShdw>
          </a:effectLst>
        </p:spPr>
      </p:pic>
      <p:sp>
        <p:nvSpPr>
          <p:cNvPr id="15" name="TextBox 15"/>
          <p:cNvSpPr txBox="1"/>
          <p:nvPr/>
        </p:nvSpPr>
        <p:spPr>
          <a:xfrm>
            <a:off x="6959600" y="5334000"/>
            <a:ext cx="19812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SemiBold"/>
                <a:ea typeface="Pretendard SemiBold"/>
                <a:cs typeface="Pretendard SemiBold"/>
              </a:rPr>
              <a:t>계좌</a:t>
            </a:r>
          </a:p>
        </p:txBody>
      </p:sp>
      <p:pic>
        <p:nvPicPr>
          <p:cNvPr id="16" name="Picture 16"/>
          <p:cNvPicPr>
            <a:picLocks noChangeAspect="1"/>
          </p:cNvPicPr>
          <p:nvPr/>
        </p:nvPicPr>
        <p:blipFill>
          <a:blip r:embed="rId11"/>
          <a:stretch>
            <a:fillRect/>
          </a:stretch>
        </p:blipFill>
        <p:spPr>
          <a:xfrm>
            <a:off x="7175500" y="3898900"/>
            <a:ext cx="1562100" cy="1333500"/>
          </a:xfrm>
          <a:prstGeom prst="rect">
            <a:avLst/>
          </a:prstGeom>
        </p:spPr>
      </p:pic>
      <p:pic>
        <p:nvPicPr>
          <p:cNvPr id="17" name="Picture 17"/>
          <p:cNvPicPr>
            <a:picLocks noChangeAspect="1"/>
          </p:cNvPicPr>
          <p:nvPr/>
        </p:nvPicPr>
        <p:blipFill>
          <a:blip r:embed="rId12"/>
          <a:stretch>
            <a:fillRect/>
          </a:stretch>
        </p:blipFill>
        <p:spPr>
          <a:xfrm>
            <a:off x="13081000" y="6515100"/>
            <a:ext cx="2514600" cy="2514600"/>
          </a:xfrm>
          <a:prstGeom prst="rect">
            <a:avLst/>
          </a:prstGeom>
          <a:effectLst>
            <a:outerShdw blurRad="125730" dist="58029" dir="2700000">
              <a:srgbClr val="1A7AE1">
                <a:alpha val="15000"/>
              </a:srgbClr>
            </a:outerShdw>
          </a:effectLst>
        </p:spPr>
      </p:pic>
      <p:sp>
        <p:nvSpPr>
          <p:cNvPr id="18" name="TextBox 18"/>
          <p:cNvSpPr txBox="1"/>
          <p:nvPr/>
        </p:nvSpPr>
        <p:spPr>
          <a:xfrm>
            <a:off x="13347700" y="8153400"/>
            <a:ext cx="19939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SemiBold"/>
                <a:ea typeface="Pretendard SemiBold"/>
                <a:cs typeface="Pretendard SemiBold"/>
              </a:rPr>
              <a:t>환율 조회</a:t>
            </a:r>
          </a:p>
        </p:txBody>
      </p:sp>
      <p:pic>
        <p:nvPicPr>
          <p:cNvPr id="19" name="Picture 19"/>
          <p:cNvPicPr>
            <a:picLocks noChangeAspect="1"/>
          </p:cNvPicPr>
          <p:nvPr/>
        </p:nvPicPr>
        <p:blipFill>
          <a:blip r:embed="rId13"/>
          <a:stretch>
            <a:fillRect/>
          </a:stretch>
        </p:blipFill>
        <p:spPr>
          <a:xfrm>
            <a:off x="13512800" y="6565900"/>
            <a:ext cx="1562100" cy="1562100"/>
          </a:xfrm>
          <a:prstGeom prst="rect">
            <a:avLst/>
          </a:prstGeom>
        </p:spPr>
      </p:pic>
      <p:pic>
        <p:nvPicPr>
          <p:cNvPr id="20" name="Picture 20"/>
          <p:cNvPicPr>
            <a:picLocks noChangeAspect="1"/>
          </p:cNvPicPr>
          <p:nvPr/>
        </p:nvPicPr>
        <p:blipFill>
          <a:blip r:embed="rId14"/>
          <a:stretch>
            <a:fillRect/>
          </a:stretch>
        </p:blipFill>
        <p:spPr>
          <a:xfrm>
            <a:off x="1485900" y="1612900"/>
            <a:ext cx="88900" cy="850900"/>
          </a:xfrm>
          <a:prstGeom prst="rect">
            <a:avLst/>
          </a:prstGeom>
        </p:spPr>
      </p:pic>
      <p:sp>
        <p:nvSpPr>
          <p:cNvPr id="21" name="TextBox 21"/>
          <p:cNvSpPr txBox="1"/>
          <p:nvPr/>
        </p:nvSpPr>
        <p:spPr>
          <a:xfrm>
            <a:off x="1943100" y="1409700"/>
            <a:ext cx="106807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기능 구성</a:t>
            </a:r>
          </a:p>
        </p:txBody>
      </p:sp>
      <p:pic>
        <p:nvPicPr>
          <p:cNvPr id="22" name="Picture 22"/>
          <p:cNvPicPr>
            <a:picLocks noChangeAspect="1"/>
          </p:cNvPicPr>
          <p:nvPr/>
        </p:nvPicPr>
        <p:blipFill>
          <a:blip r:embed="rId15"/>
          <a:stretch>
            <a:fillRect/>
          </a:stretch>
        </p:blipFill>
        <p:spPr>
          <a:xfrm>
            <a:off x="2463800" y="5003800"/>
            <a:ext cx="2616200" cy="2616200"/>
          </a:xfrm>
          <a:prstGeom prst="rect">
            <a:avLst/>
          </a:prstGeom>
          <a:effectLst>
            <a:outerShdw blurRad="65495" dist="60457" dir="2700000">
              <a:srgbClr val="1A7AE1">
                <a:alpha val="15000"/>
              </a:srgbClr>
            </a:outerShdw>
          </a:effectLst>
        </p:spPr>
      </p:pic>
      <p:pic>
        <p:nvPicPr>
          <p:cNvPr id="23" name="Picture 23"/>
          <p:cNvPicPr>
            <a:picLocks noChangeAspect="1"/>
          </p:cNvPicPr>
          <p:nvPr/>
        </p:nvPicPr>
        <p:blipFill>
          <a:blip r:embed="rId16"/>
          <a:stretch>
            <a:fillRect/>
          </a:stretch>
        </p:blipFill>
        <p:spPr>
          <a:xfrm>
            <a:off x="3225800" y="6997700"/>
            <a:ext cx="1104900" cy="279400"/>
          </a:xfrm>
          <a:prstGeom prst="rect">
            <a:avLst/>
          </a:prstGeom>
        </p:spPr>
      </p:pic>
      <p:sp>
        <p:nvSpPr>
          <p:cNvPr id="24" name="TextBox 24"/>
          <p:cNvSpPr txBox="1"/>
          <p:nvPr/>
        </p:nvSpPr>
        <p:spPr>
          <a:xfrm>
            <a:off x="3441700" y="7035800"/>
            <a:ext cx="647700" cy="228600"/>
          </a:xfrm>
          <a:prstGeom prst="rect">
            <a:avLst/>
          </a:prstGeom>
        </p:spPr>
        <p:txBody>
          <a:bodyPr lIns="0" tIns="0" rIns="0" bIns="0" rtlCol="0" anchor="t"/>
          <a:lstStyle/>
          <a:p>
            <a:pPr lvl="0" algn="ctr">
              <a:lnSpc>
                <a:spcPct val="116199"/>
              </a:lnSpc>
            </a:pPr>
            <a:r>
              <a:rPr lang="en-US" sz="1261" b="0" i="0" u="none" strike="noStrike">
                <a:solidFill>
                  <a:srgbClr val="1A7AE1"/>
                </a:solidFill>
                <a:latin typeface="Geologica Roman Light"/>
                <a:ea typeface="Geologica Roman Light"/>
                <a:cs typeface="Geologica Roman Light"/>
              </a:rPr>
              <a:t>Admin</a:t>
            </a:r>
          </a:p>
        </p:txBody>
      </p:sp>
      <p:pic>
        <p:nvPicPr>
          <p:cNvPr id="25" name="Picture 25"/>
          <p:cNvPicPr>
            <a:picLocks noChangeAspect="1"/>
          </p:cNvPicPr>
          <p:nvPr/>
        </p:nvPicPr>
        <p:blipFill>
          <a:blip r:embed="rId17"/>
          <a:stretch>
            <a:fillRect/>
          </a:stretch>
        </p:blipFill>
        <p:spPr>
          <a:xfrm>
            <a:off x="2120900" y="4508500"/>
            <a:ext cx="1409700" cy="1409700"/>
          </a:xfrm>
          <a:prstGeom prst="rect">
            <a:avLst/>
          </a:prstGeom>
          <a:effectLst>
            <a:outerShdw blurRad="70211" dist="32405" dir="2700000">
              <a:srgbClr val="1A7AE1">
                <a:alpha val="15000"/>
              </a:srgbClr>
            </a:outerShdw>
          </a:effectLst>
        </p:spPr>
      </p:pic>
      <p:pic>
        <p:nvPicPr>
          <p:cNvPr id="26" name="Picture 26"/>
          <p:cNvPicPr>
            <a:picLocks noChangeAspect="1"/>
          </p:cNvPicPr>
          <p:nvPr/>
        </p:nvPicPr>
        <p:blipFill>
          <a:blip r:embed="rId18"/>
          <a:stretch>
            <a:fillRect/>
          </a:stretch>
        </p:blipFill>
        <p:spPr>
          <a:xfrm>
            <a:off x="2209800" y="4508500"/>
            <a:ext cx="1155700" cy="1422400"/>
          </a:xfrm>
          <a:prstGeom prst="rect">
            <a:avLst/>
          </a:prstGeom>
        </p:spPr>
      </p:pic>
      <p:pic>
        <p:nvPicPr>
          <p:cNvPr id="27" name="Picture 27"/>
          <p:cNvPicPr>
            <a:picLocks noChangeAspect="1"/>
          </p:cNvPicPr>
          <p:nvPr/>
        </p:nvPicPr>
        <p:blipFill>
          <a:blip r:embed="rId16"/>
          <a:stretch>
            <a:fillRect/>
          </a:stretch>
        </p:blipFill>
        <p:spPr>
          <a:xfrm>
            <a:off x="3238500" y="6972300"/>
            <a:ext cx="1104900" cy="279400"/>
          </a:xfrm>
          <a:prstGeom prst="rect">
            <a:avLst/>
          </a:prstGeom>
        </p:spPr>
      </p:pic>
      <p:sp>
        <p:nvSpPr>
          <p:cNvPr id="28" name="TextBox 28"/>
          <p:cNvSpPr txBox="1"/>
          <p:nvPr/>
        </p:nvSpPr>
        <p:spPr>
          <a:xfrm>
            <a:off x="3467100" y="6985000"/>
            <a:ext cx="660400" cy="266700"/>
          </a:xfrm>
          <a:prstGeom prst="rect">
            <a:avLst/>
          </a:prstGeom>
        </p:spPr>
        <p:txBody>
          <a:bodyPr lIns="0" tIns="0" rIns="0" bIns="0" rtlCol="0" anchor="t"/>
          <a:lstStyle/>
          <a:p>
            <a:pPr lvl="0" algn="ctr">
              <a:lnSpc>
                <a:spcPct val="116199"/>
              </a:lnSpc>
            </a:pPr>
            <a:r>
              <a:rPr lang="en-US" sz="1484" b="0" i="0" u="none" strike="noStrike">
                <a:solidFill>
                  <a:srgbClr val="1A7AE1"/>
                </a:solidFill>
                <a:latin typeface="Geologica Roman Light"/>
                <a:ea typeface="Geologica Roman Light"/>
                <a:cs typeface="Geologica Roman Light"/>
              </a:rPr>
              <a:t>User</a:t>
            </a:r>
          </a:p>
        </p:txBody>
      </p:sp>
      <p:pic>
        <p:nvPicPr>
          <p:cNvPr id="29" name="Picture 29"/>
          <p:cNvPicPr>
            <a:picLocks noChangeAspect="1"/>
          </p:cNvPicPr>
          <p:nvPr/>
        </p:nvPicPr>
        <p:blipFill>
          <a:blip r:embed="rId19"/>
          <a:stretch>
            <a:fillRect/>
          </a:stretch>
        </p:blipFill>
        <p:spPr>
          <a:xfrm>
            <a:off x="3086100" y="5511800"/>
            <a:ext cx="1320800" cy="1320800"/>
          </a:xfrm>
          <a:prstGeom prst="rect">
            <a:avLst/>
          </a:prstGeom>
        </p:spPr>
      </p:pic>
      <p:pic>
        <p:nvPicPr>
          <p:cNvPr id="31" name="Picture 31"/>
          <p:cNvPicPr>
            <a:picLocks noChangeAspect="1"/>
          </p:cNvPicPr>
          <p:nvPr/>
        </p:nvPicPr>
        <p:blipFill>
          <a:blip r:embed="rId20"/>
          <a:stretch>
            <a:fillRect/>
          </a:stretch>
        </p:blipFill>
        <p:spPr>
          <a:xfrm>
            <a:off x="19443700" y="6451600"/>
            <a:ext cx="2514600" cy="2514600"/>
          </a:xfrm>
          <a:prstGeom prst="rect">
            <a:avLst/>
          </a:prstGeom>
          <a:effectLst>
            <a:outerShdw blurRad="125730" dist="58029" dir="2700000">
              <a:srgbClr val="1A7AE1">
                <a:alpha val="15000"/>
              </a:srgbClr>
            </a:outerShdw>
          </a:effectLst>
        </p:spPr>
      </p:pic>
      <p:sp>
        <p:nvSpPr>
          <p:cNvPr id="32" name="TextBox 32"/>
          <p:cNvSpPr txBox="1"/>
          <p:nvPr/>
        </p:nvSpPr>
        <p:spPr>
          <a:xfrm>
            <a:off x="19710400" y="8128000"/>
            <a:ext cx="19939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SemiBold"/>
                <a:ea typeface="Pretendard SemiBold"/>
                <a:cs typeface="Pretendard SemiBold"/>
              </a:rPr>
              <a:t>마이페이지</a:t>
            </a:r>
          </a:p>
        </p:txBody>
      </p:sp>
      <p:pic>
        <p:nvPicPr>
          <p:cNvPr id="33" name="Picture 33"/>
          <p:cNvPicPr>
            <a:picLocks noChangeAspect="1"/>
          </p:cNvPicPr>
          <p:nvPr/>
        </p:nvPicPr>
        <p:blipFill>
          <a:blip r:embed="rId21"/>
          <a:stretch>
            <a:fillRect/>
          </a:stretch>
        </p:blipFill>
        <p:spPr>
          <a:xfrm>
            <a:off x="19977100" y="6502400"/>
            <a:ext cx="1562100" cy="1562100"/>
          </a:xfrm>
          <a:prstGeom prst="rect">
            <a:avLst/>
          </a:prstGeom>
        </p:spPr>
      </p:pic>
      <p:pic>
        <p:nvPicPr>
          <p:cNvPr id="34" name="Picture 34"/>
          <p:cNvPicPr>
            <a:picLocks noChangeAspect="1"/>
          </p:cNvPicPr>
          <p:nvPr/>
        </p:nvPicPr>
        <p:blipFill>
          <a:blip r:embed="rId22"/>
          <a:stretch>
            <a:fillRect/>
          </a:stretch>
        </p:blipFill>
        <p:spPr>
          <a:xfrm>
            <a:off x="13055600" y="3594100"/>
            <a:ext cx="2514600" cy="2514600"/>
          </a:xfrm>
          <a:prstGeom prst="rect">
            <a:avLst/>
          </a:prstGeom>
          <a:effectLst>
            <a:outerShdw blurRad="125992" dist="58150" dir="2700000">
              <a:srgbClr val="1A7AE1">
                <a:alpha val="15000"/>
              </a:srgbClr>
            </a:outerShdw>
          </a:effectLst>
        </p:spPr>
      </p:pic>
      <p:sp>
        <p:nvSpPr>
          <p:cNvPr id="35" name="TextBox 35"/>
          <p:cNvSpPr txBox="1"/>
          <p:nvPr/>
        </p:nvSpPr>
        <p:spPr>
          <a:xfrm>
            <a:off x="13296900" y="5334000"/>
            <a:ext cx="19812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SemiBold"/>
                <a:ea typeface="Pretendard SemiBold"/>
                <a:cs typeface="Pretendard SemiBold"/>
              </a:rPr>
              <a:t>카드</a:t>
            </a:r>
          </a:p>
        </p:txBody>
      </p:sp>
      <p:pic>
        <p:nvPicPr>
          <p:cNvPr id="36" name="Picture 36"/>
          <p:cNvPicPr>
            <a:picLocks noChangeAspect="1"/>
          </p:cNvPicPr>
          <p:nvPr/>
        </p:nvPicPr>
        <p:blipFill>
          <a:blip r:embed="rId23"/>
          <a:stretch>
            <a:fillRect/>
          </a:stretch>
        </p:blipFill>
        <p:spPr>
          <a:xfrm>
            <a:off x="13563600" y="3937000"/>
            <a:ext cx="1498600" cy="1384300"/>
          </a:xfrm>
          <a:prstGeom prst="rect">
            <a:avLst/>
          </a:prstGeom>
        </p:spPr>
      </p:pic>
      <p:pic>
        <p:nvPicPr>
          <p:cNvPr id="37" name="Picture 37"/>
          <p:cNvPicPr>
            <a:picLocks noChangeAspect="1"/>
          </p:cNvPicPr>
          <p:nvPr/>
        </p:nvPicPr>
        <p:blipFill>
          <a:blip r:embed="rId24"/>
          <a:stretch>
            <a:fillRect/>
          </a:stretch>
        </p:blipFill>
        <p:spPr>
          <a:xfrm>
            <a:off x="9893300" y="6502400"/>
            <a:ext cx="2514600" cy="2514600"/>
          </a:xfrm>
          <a:prstGeom prst="rect">
            <a:avLst/>
          </a:prstGeom>
          <a:effectLst>
            <a:outerShdw blurRad="125730" dist="58029" dir="2700000">
              <a:srgbClr val="1A7AE1">
                <a:alpha val="15000"/>
              </a:srgbClr>
            </a:outerShdw>
          </a:effectLst>
        </p:spPr>
      </p:pic>
      <p:sp>
        <p:nvSpPr>
          <p:cNvPr id="38" name="TextBox 38"/>
          <p:cNvSpPr txBox="1"/>
          <p:nvPr/>
        </p:nvSpPr>
        <p:spPr>
          <a:xfrm>
            <a:off x="10172700" y="8153400"/>
            <a:ext cx="19939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SemiBold"/>
                <a:ea typeface="Pretendard SemiBold"/>
                <a:cs typeface="Pretendard SemiBold"/>
              </a:rPr>
              <a:t>보안뉴스</a:t>
            </a:r>
          </a:p>
        </p:txBody>
      </p:sp>
      <p:pic>
        <p:nvPicPr>
          <p:cNvPr id="39" name="Picture 39"/>
          <p:cNvPicPr>
            <a:picLocks noChangeAspect="1"/>
          </p:cNvPicPr>
          <p:nvPr/>
        </p:nvPicPr>
        <p:blipFill>
          <a:blip r:embed="rId25"/>
          <a:stretch>
            <a:fillRect/>
          </a:stretch>
        </p:blipFill>
        <p:spPr>
          <a:xfrm>
            <a:off x="10591800" y="6921500"/>
            <a:ext cx="1104900" cy="1104900"/>
          </a:xfrm>
          <a:prstGeom prst="rect">
            <a:avLst/>
          </a:prstGeom>
        </p:spPr>
      </p:pic>
      <p:pic>
        <p:nvPicPr>
          <p:cNvPr id="40" name="Picture 40"/>
          <p:cNvPicPr>
            <a:picLocks noChangeAspect="1"/>
          </p:cNvPicPr>
          <p:nvPr/>
        </p:nvPicPr>
        <p:blipFill>
          <a:blip r:embed="rId26"/>
          <a:stretch>
            <a:fillRect/>
          </a:stretch>
        </p:blipFill>
        <p:spPr>
          <a:xfrm>
            <a:off x="9893300" y="3568700"/>
            <a:ext cx="2514600" cy="2514600"/>
          </a:xfrm>
          <a:prstGeom prst="rect">
            <a:avLst/>
          </a:prstGeom>
          <a:effectLst>
            <a:outerShdw blurRad="125992" dist="58150" dir="2700000">
              <a:srgbClr val="1A7AE1">
                <a:alpha val="15000"/>
              </a:srgbClr>
            </a:outerShdw>
          </a:effectLst>
        </p:spPr>
      </p:pic>
      <p:pic>
        <p:nvPicPr>
          <p:cNvPr id="41" name="Picture 41"/>
          <p:cNvPicPr>
            <a:picLocks noChangeAspect="1"/>
          </p:cNvPicPr>
          <p:nvPr/>
        </p:nvPicPr>
        <p:blipFill>
          <a:blip r:embed="rId27"/>
          <a:stretch>
            <a:fillRect/>
          </a:stretch>
        </p:blipFill>
        <p:spPr>
          <a:xfrm>
            <a:off x="10198100" y="3949700"/>
            <a:ext cx="1879600" cy="1181100"/>
          </a:xfrm>
          <a:prstGeom prst="rect">
            <a:avLst/>
          </a:prstGeom>
        </p:spPr>
      </p:pic>
      <p:sp>
        <p:nvSpPr>
          <p:cNvPr id="42" name="TextBox 42"/>
          <p:cNvSpPr txBox="1"/>
          <p:nvPr/>
        </p:nvSpPr>
        <p:spPr>
          <a:xfrm>
            <a:off x="10121900" y="5308600"/>
            <a:ext cx="19812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SemiBold"/>
                <a:ea typeface="Pretendard SemiBold"/>
                <a:cs typeface="Pretendard SemiBold"/>
              </a:rPr>
              <a:t>이체</a:t>
            </a:r>
          </a:p>
        </p:txBody>
      </p:sp>
      <p:pic>
        <p:nvPicPr>
          <p:cNvPr id="43" name="Picture 43"/>
          <p:cNvPicPr>
            <a:picLocks noChangeAspect="1"/>
          </p:cNvPicPr>
          <p:nvPr/>
        </p:nvPicPr>
        <p:blipFill>
          <a:blip r:embed="rId28"/>
          <a:stretch>
            <a:fillRect/>
          </a:stretch>
        </p:blipFill>
        <p:spPr>
          <a:xfrm>
            <a:off x="16256000" y="6502400"/>
            <a:ext cx="2514600" cy="2514600"/>
          </a:xfrm>
          <a:prstGeom prst="rect">
            <a:avLst/>
          </a:prstGeom>
          <a:effectLst>
            <a:outerShdw blurRad="125730" dist="58029" dir="2700000">
              <a:srgbClr val="1A7AE1">
                <a:alpha val="15000"/>
              </a:srgbClr>
            </a:outerShdw>
          </a:effectLst>
        </p:spPr>
      </p:pic>
      <p:sp>
        <p:nvSpPr>
          <p:cNvPr id="44" name="TextBox 44"/>
          <p:cNvSpPr txBox="1"/>
          <p:nvPr/>
        </p:nvSpPr>
        <p:spPr>
          <a:xfrm>
            <a:off x="16535400" y="8153400"/>
            <a:ext cx="19939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SemiBold"/>
                <a:ea typeface="Pretendard SemiBold"/>
                <a:cs typeface="Pretendard SemiBold"/>
              </a:rPr>
              <a:t>1:1 문의</a:t>
            </a:r>
          </a:p>
        </p:txBody>
      </p:sp>
      <p:pic>
        <p:nvPicPr>
          <p:cNvPr id="45" name="Picture 45"/>
          <p:cNvPicPr>
            <a:picLocks noChangeAspect="1"/>
          </p:cNvPicPr>
          <p:nvPr/>
        </p:nvPicPr>
        <p:blipFill>
          <a:blip r:embed="rId29"/>
          <a:stretch>
            <a:fillRect/>
          </a:stretch>
        </p:blipFill>
        <p:spPr>
          <a:xfrm>
            <a:off x="16814800" y="6667500"/>
            <a:ext cx="1409700" cy="1409700"/>
          </a:xfrm>
          <a:prstGeom prst="rect">
            <a:avLst/>
          </a:prstGeom>
        </p:spPr>
      </p:pic>
      <p:pic>
        <p:nvPicPr>
          <p:cNvPr id="46" name="Picture 46"/>
          <p:cNvPicPr>
            <a:picLocks noChangeAspect="1"/>
          </p:cNvPicPr>
          <p:nvPr/>
        </p:nvPicPr>
        <p:blipFill>
          <a:blip r:embed="rId30"/>
          <a:stretch>
            <a:fillRect/>
          </a:stretch>
        </p:blipFill>
        <p:spPr>
          <a:xfrm>
            <a:off x="16217900" y="3568700"/>
            <a:ext cx="2514600" cy="2514600"/>
          </a:xfrm>
          <a:prstGeom prst="rect">
            <a:avLst/>
          </a:prstGeom>
          <a:effectLst>
            <a:outerShdw blurRad="125996" dist="58152" dir="2700000">
              <a:srgbClr val="1A7AE1">
                <a:alpha val="15000"/>
              </a:srgbClr>
            </a:outerShdw>
          </a:effectLst>
        </p:spPr>
      </p:pic>
      <p:pic>
        <p:nvPicPr>
          <p:cNvPr id="47" name="Picture 47"/>
          <p:cNvPicPr>
            <a:picLocks noChangeAspect="1"/>
          </p:cNvPicPr>
          <p:nvPr/>
        </p:nvPicPr>
        <p:blipFill>
          <a:blip r:embed="rId31"/>
          <a:stretch>
            <a:fillRect/>
          </a:stretch>
        </p:blipFill>
        <p:spPr>
          <a:xfrm>
            <a:off x="16713200" y="3657600"/>
            <a:ext cx="1714500" cy="1625600"/>
          </a:xfrm>
          <a:prstGeom prst="rect">
            <a:avLst/>
          </a:prstGeom>
        </p:spPr>
      </p:pic>
      <p:sp>
        <p:nvSpPr>
          <p:cNvPr id="48" name="TextBox 48"/>
          <p:cNvSpPr txBox="1"/>
          <p:nvPr/>
        </p:nvSpPr>
        <p:spPr>
          <a:xfrm>
            <a:off x="16459200" y="5308600"/>
            <a:ext cx="19812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SemiBold"/>
                <a:ea typeface="Pretendard SemiBold"/>
                <a:cs typeface="Pretendard SemiBold"/>
              </a:rPr>
              <a:t>대출</a:t>
            </a:r>
          </a:p>
        </p:txBody>
      </p:sp>
      <p:pic>
        <p:nvPicPr>
          <p:cNvPr id="49" name="Picture 49"/>
          <p:cNvPicPr>
            <a:picLocks noChangeAspect="1"/>
          </p:cNvPicPr>
          <p:nvPr/>
        </p:nvPicPr>
        <p:blipFill>
          <a:blip r:embed="rId32"/>
          <a:stretch>
            <a:fillRect/>
          </a:stretch>
        </p:blipFill>
        <p:spPr>
          <a:xfrm>
            <a:off x="6718300" y="6375400"/>
            <a:ext cx="2514600" cy="2514600"/>
          </a:xfrm>
          <a:prstGeom prst="rect">
            <a:avLst/>
          </a:prstGeom>
          <a:effectLst>
            <a:outerShdw blurRad="125730" dist="58029" dir="2700000">
              <a:srgbClr val="1A7AE1">
                <a:alpha val="15000"/>
              </a:srgbClr>
            </a:outerShdw>
          </a:effectLst>
        </p:spPr>
      </p:pic>
      <p:pic>
        <p:nvPicPr>
          <p:cNvPr id="50" name="Picture 50"/>
          <p:cNvPicPr>
            <a:picLocks noChangeAspect="1"/>
          </p:cNvPicPr>
          <p:nvPr/>
        </p:nvPicPr>
        <p:blipFill>
          <a:blip r:embed="rId33"/>
          <a:stretch>
            <a:fillRect/>
          </a:stretch>
        </p:blipFill>
        <p:spPr>
          <a:xfrm>
            <a:off x="6972300" y="6667500"/>
            <a:ext cx="1892300" cy="1320800"/>
          </a:xfrm>
          <a:prstGeom prst="rect">
            <a:avLst/>
          </a:prstGeom>
        </p:spPr>
      </p:pic>
      <p:sp>
        <p:nvSpPr>
          <p:cNvPr id="51" name="TextBox 51"/>
          <p:cNvSpPr txBox="1"/>
          <p:nvPr/>
        </p:nvSpPr>
        <p:spPr>
          <a:xfrm>
            <a:off x="6832600" y="8153400"/>
            <a:ext cx="21844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SemiBold"/>
                <a:ea typeface="Pretendard SemiBold"/>
                <a:cs typeface="Pretendard SemiBold"/>
              </a:rPr>
              <a:t>공지사항</a:t>
            </a:r>
          </a:p>
        </p:txBody>
      </p:sp>
      <p:sp>
        <p:nvSpPr>
          <p:cNvPr id="52" name="TextBox 52"/>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a:solidFill>
                  <a:srgbClr val="024EA0"/>
                </a:solidFill>
                <a:latin typeface="Geologica Roman Light"/>
                <a:ea typeface="Geologica Roman Light"/>
                <a:cs typeface="Geologica Roman Light"/>
              </a:rPr>
              <a:t>8</a:t>
            </a:r>
          </a:p>
        </p:txBody>
      </p:sp>
      <p:pic>
        <p:nvPicPr>
          <p:cNvPr id="53" name="Picture 53"/>
          <p:cNvPicPr>
            <a:picLocks noChangeAspect="1"/>
          </p:cNvPicPr>
          <p:nvPr/>
        </p:nvPicPr>
        <p:blipFill>
          <a:blip r:embed="rId34"/>
          <a:stretch>
            <a:fillRect/>
          </a:stretch>
        </p:blipFill>
        <p:spPr>
          <a:xfrm>
            <a:off x="19367500" y="3594100"/>
            <a:ext cx="2514600" cy="2514600"/>
          </a:xfrm>
          <a:prstGeom prst="rect">
            <a:avLst/>
          </a:prstGeom>
          <a:effectLst>
            <a:outerShdw blurRad="125844" dist="58082" dir="2700000">
              <a:srgbClr val="1A7AE1">
                <a:alpha val="15000"/>
              </a:srgbClr>
            </a:outerShdw>
          </a:effectLst>
        </p:spPr>
      </p:pic>
      <p:sp>
        <p:nvSpPr>
          <p:cNvPr id="54" name="TextBox 54"/>
          <p:cNvSpPr txBox="1"/>
          <p:nvPr/>
        </p:nvSpPr>
        <p:spPr>
          <a:xfrm>
            <a:off x="19659600" y="5334000"/>
            <a:ext cx="19812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SemiBold"/>
                <a:ea typeface="Pretendard SemiBold"/>
                <a:cs typeface="Pretendard SemiBold"/>
              </a:rPr>
              <a:t>고객센터</a:t>
            </a:r>
          </a:p>
        </p:txBody>
      </p:sp>
      <p:pic>
        <p:nvPicPr>
          <p:cNvPr id="55" name="Picture 55"/>
          <p:cNvPicPr>
            <a:picLocks noChangeAspect="1"/>
          </p:cNvPicPr>
          <p:nvPr/>
        </p:nvPicPr>
        <p:blipFill>
          <a:blip r:embed="rId35"/>
          <a:stretch>
            <a:fillRect/>
          </a:stretch>
        </p:blipFill>
        <p:spPr>
          <a:xfrm>
            <a:off x="3048000" y="12052300"/>
            <a:ext cx="1206500" cy="304800"/>
          </a:xfrm>
          <a:prstGeom prst="rect">
            <a:avLst/>
          </a:prstGeom>
        </p:spPr>
      </p:pic>
      <p:sp>
        <p:nvSpPr>
          <p:cNvPr id="56" name="TextBox 56"/>
          <p:cNvSpPr txBox="1"/>
          <p:nvPr/>
        </p:nvSpPr>
        <p:spPr>
          <a:xfrm>
            <a:off x="3289300" y="12052300"/>
            <a:ext cx="723900" cy="292100"/>
          </a:xfrm>
          <a:prstGeom prst="rect">
            <a:avLst/>
          </a:prstGeom>
        </p:spPr>
        <p:txBody>
          <a:bodyPr lIns="0" tIns="0" rIns="0" bIns="0" rtlCol="0" anchor="t"/>
          <a:lstStyle/>
          <a:p>
            <a:pPr lvl="0" algn="ctr">
              <a:lnSpc>
                <a:spcPct val="116199"/>
              </a:lnSpc>
            </a:pPr>
            <a:r>
              <a:rPr lang="en-US" sz="1618" b="0" i="0" u="none" strike="noStrike">
                <a:solidFill>
                  <a:srgbClr val="1A7AE1"/>
                </a:solidFill>
                <a:latin typeface="Geologica Roman Light"/>
                <a:ea typeface="Geologica Roman Light"/>
                <a:cs typeface="Geologica Roman Light"/>
              </a:rPr>
              <a:t>Admin</a:t>
            </a:r>
          </a:p>
        </p:txBody>
      </p:sp>
      <p:pic>
        <p:nvPicPr>
          <p:cNvPr id="57" name="Picture 57"/>
          <p:cNvPicPr>
            <a:picLocks noChangeAspect="1"/>
          </p:cNvPicPr>
          <p:nvPr/>
        </p:nvPicPr>
        <p:blipFill>
          <a:blip r:embed="rId36"/>
          <a:stretch>
            <a:fillRect/>
          </a:stretch>
        </p:blipFill>
        <p:spPr>
          <a:xfrm>
            <a:off x="2489200" y="9944100"/>
            <a:ext cx="2781300" cy="2781300"/>
          </a:xfrm>
          <a:prstGeom prst="rect">
            <a:avLst/>
          </a:prstGeom>
          <a:effectLst>
            <a:outerShdw blurRad="69640" dist="64283" dir="2700000">
              <a:srgbClr val="1A7AE1">
                <a:alpha val="15000"/>
              </a:srgbClr>
            </a:outerShdw>
          </a:effectLst>
        </p:spPr>
      </p:pic>
      <p:pic>
        <p:nvPicPr>
          <p:cNvPr id="58" name="Picture 58"/>
          <p:cNvPicPr>
            <a:picLocks noChangeAspect="1"/>
          </p:cNvPicPr>
          <p:nvPr/>
        </p:nvPicPr>
        <p:blipFill>
          <a:blip r:embed="rId37"/>
          <a:stretch>
            <a:fillRect/>
          </a:stretch>
        </p:blipFill>
        <p:spPr>
          <a:xfrm>
            <a:off x="2120900" y="9423400"/>
            <a:ext cx="1498600" cy="1498600"/>
          </a:xfrm>
          <a:prstGeom prst="rect">
            <a:avLst/>
          </a:prstGeom>
          <a:effectLst>
            <a:outerShdw blurRad="74654" dist="34456" dir="2700000">
              <a:srgbClr val="1A7AE1">
                <a:alpha val="15000"/>
              </a:srgbClr>
            </a:outerShdw>
          </a:effectLst>
        </p:spPr>
      </p:pic>
      <p:pic>
        <p:nvPicPr>
          <p:cNvPr id="59" name="Picture 59"/>
          <p:cNvPicPr>
            <a:picLocks noChangeAspect="1"/>
          </p:cNvPicPr>
          <p:nvPr/>
        </p:nvPicPr>
        <p:blipFill>
          <a:blip r:embed="rId38"/>
          <a:stretch>
            <a:fillRect/>
          </a:stretch>
        </p:blipFill>
        <p:spPr>
          <a:xfrm>
            <a:off x="2222500" y="9423400"/>
            <a:ext cx="1231900" cy="1511300"/>
          </a:xfrm>
          <a:prstGeom prst="rect">
            <a:avLst/>
          </a:prstGeom>
        </p:spPr>
      </p:pic>
      <p:pic>
        <p:nvPicPr>
          <p:cNvPr id="60" name="Picture 60"/>
          <p:cNvPicPr>
            <a:picLocks noChangeAspect="1"/>
          </p:cNvPicPr>
          <p:nvPr/>
        </p:nvPicPr>
        <p:blipFill>
          <a:blip r:embed="rId39"/>
          <a:stretch>
            <a:fillRect/>
          </a:stretch>
        </p:blipFill>
        <p:spPr>
          <a:xfrm>
            <a:off x="3225800" y="10490200"/>
            <a:ext cx="1295400" cy="1498600"/>
          </a:xfrm>
          <a:prstGeom prst="rect">
            <a:avLst/>
          </a:prstGeom>
        </p:spPr>
      </p:pic>
      <p:pic>
        <p:nvPicPr>
          <p:cNvPr id="61" name="Picture 61"/>
          <p:cNvPicPr>
            <a:picLocks noChangeAspect="1"/>
          </p:cNvPicPr>
          <p:nvPr/>
        </p:nvPicPr>
        <p:blipFill>
          <a:blip r:embed="rId40"/>
          <a:stretch>
            <a:fillRect/>
          </a:stretch>
        </p:blipFill>
        <p:spPr>
          <a:xfrm>
            <a:off x="2489200" y="9944100"/>
            <a:ext cx="2781300" cy="2781300"/>
          </a:xfrm>
          <a:prstGeom prst="rect">
            <a:avLst/>
          </a:prstGeom>
          <a:effectLst>
            <a:outerShdw blurRad="69640" dist="64283" dir="2700000">
              <a:srgbClr val="1A7AE1">
                <a:alpha val="15000"/>
              </a:srgbClr>
            </a:outerShdw>
          </a:effectLst>
        </p:spPr>
      </p:pic>
      <p:pic>
        <p:nvPicPr>
          <p:cNvPr id="62" name="Picture 62"/>
          <p:cNvPicPr>
            <a:picLocks noChangeAspect="1"/>
          </p:cNvPicPr>
          <p:nvPr/>
        </p:nvPicPr>
        <p:blipFill>
          <a:blip r:embed="rId37"/>
          <a:stretch>
            <a:fillRect/>
          </a:stretch>
        </p:blipFill>
        <p:spPr>
          <a:xfrm>
            <a:off x="2120900" y="9423400"/>
            <a:ext cx="1498600" cy="1498600"/>
          </a:xfrm>
          <a:prstGeom prst="rect">
            <a:avLst/>
          </a:prstGeom>
          <a:effectLst>
            <a:outerShdw blurRad="74654" dist="34456" dir="2700000">
              <a:srgbClr val="1A7AE1">
                <a:alpha val="15000"/>
              </a:srgbClr>
            </a:outerShdw>
          </a:effectLst>
        </p:spPr>
      </p:pic>
      <p:pic>
        <p:nvPicPr>
          <p:cNvPr id="63" name="Picture 63"/>
          <p:cNvPicPr>
            <a:picLocks noChangeAspect="1"/>
          </p:cNvPicPr>
          <p:nvPr/>
        </p:nvPicPr>
        <p:blipFill>
          <a:blip r:embed="rId38"/>
          <a:stretch>
            <a:fillRect/>
          </a:stretch>
        </p:blipFill>
        <p:spPr>
          <a:xfrm>
            <a:off x="2222500" y="9423400"/>
            <a:ext cx="1231900" cy="1511300"/>
          </a:xfrm>
          <a:prstGeom prst="rect">
            <a:avLst/>
          </a:prstGeom>
        </p:spPr>
      </p:pic>
      <p:pic>
        <p:nvPicPr>
          <p:cNvPr id="64" name="Picture 64"/>
          <p:cNvPicPr>
            <a:picLocks noChangeAspect="1"/>
          </p:cNvPicPr>
          <p:nvPr/>
        </p:nvPicPr>
        <p:blipFill>
          <a:blip r:embed="rId39"/>
          <a:stretch>
            <a:fillRect/>
          </a:stretch>
        </p:blipFill>
        <p:spPr>
          <a:xfrm>
            <a:off x="3225800" y="10490200"/>
            <a:ext cx="1295400" cy="1498600"/>
          </a:xfrm>
          <a:prstGeom prst="rect">
            <a:avLst/>
          </a:prstGeom>
        </p:spPr>
      </p:pic>
      <p:pic>
        <p:nvPicPr>
          <p:cNvPr id="65" name="Picture 65"/>
          <p:cNvPicPr>
            <a:picLocks noChangeAspect="1"/>
          </p:cNvPicPr>
          <p:nvPr/>
        </p:nvPicPr>
        <p:blipFill>
          <a:blip r:embed="rId41">
            <a:alphaModFix amt="70000"/>
          </a:blip>
          <a:stretch>
            <a:fillRect/>
          </a:stretch>
        </p:blipFill>
        <p:spPr>
          <a:xfrm rot="16200000">
            <a:off x="12700000" y="2489200"/>
            <a:ext cx="3276600" cy="17627600"/>
          </a:xfrm>
          <a:prstGeom prst="rect">
            <a:avLst/>
          </a:prstGeom>
          <a:effectLst>
            <a:outerShdw blurRad="81843" dist="75547" dir="2700000">
              <a:srgbClr val="1A7AE1">
                <a:alpha val="15000"/>
              </a:srgbClr>
            </a:outerShdw>
          </a:effectLst>
        </p:spPr>
      </p:pic>
      <p:pic>
        <p:nvPicPr>
          <p:cNvPr id="66" name="Picture 66"/>
          <p:cNvPicPr>
            <a:picLocks noChangeAspect="1"/>
          </p:cNvPicPr>
          <p:nvPr/>
        </p:nvPicPr>
        <p:blipFill>
          <a:blip r:embed="rId42"/>
          <a:stretch>
            <a:fillRect/>
          </a:stretch>
        </p:blipFill>
        <p:spPr>
          <a:xfrm>
            <a:off x="6743700" y="9982200"/>
            <a:ext cx="2514600" cy="2514600"/>
          </a:xfrm>
          <a:prstGeom prst="rect">
            <a:avLst/>
          </a:prstGeom>
          <a:effectLst>
            <a:outerShdw blurRad="125730" dist="58029" dir="2700000">
              <a:srgbClr val="1A7AE1">
                <a:alpha val="15000"/>
              </a:srgbClr>
            </a:outerShdw>
          </a:effectLst>
        </p:spPr>
      </p:pic>
      <p:sp>
        <p:nvSpPr>
          <p:cNvPr id="67" name="TextBox 67"/>
          <p:cNvSpPr txBox="1"/>
          <p:nvPr/>
        </p:nvSpPr>
        <p:spPr>
          <a:xfrm>
            <a:off x="6769100" y="11722100"/>
            <a:ext cx="24638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SemiBold"/>
                <a:ea typeface="Pretendard SemiBold"/>
                <a:cs typeface="Pretendard SemiBold"/>
              </a:rPr>
              <a:t>대시보드</a:t>
            </a:r>
          </a:p>
        </p:txBody>
      </p:sp>
      <p:pic>
        <p:nvPicPr>
          <p:cNvPr id="68" name="Picture 68"/>
          <p:cNvPicPr>
            <a:picLocks noChangeAspect="1"/>
          </p:cNvPicPr>
          <p:nvPr/>
        </p:nvPicPr>
        <p:blipFill>
          <a:blip r:embed="rId43"/>
          <a:stretch>
            <a:fillRect/>
          </a:stretch>
        </p:blipFill>
        <p:spPr>
          <a:xfrm>
            <a:off x="7340600" y="10363200"/>
            <a:ext cx="1320800" cy="1117600"/>
          </a:xfrm>
          <a:prstGeom prst="rect">
            <a:avLst/>
          </a:prstGeom>
        </p:spPr>
      </p:pic>
      <p:pic>
        <p:nvPicPr>
          <p:cNvPr id="69" name="Picture 69"/>
          <p:cNvPicPr>
            <a:picLocks noChangeAspect="1"/>
          </p:cNvPicPr>
          <p:nvPr/>
        </p:nvPicPr>
        <p:blipFill>
          <a:blip r:embed="rId44"/>
          <a:stretch>
            <a:fillRect/>
          </a:stretch>
        </p:blipFill>
        <p:spPr>
          <a:xfrm>
            <a:off x="9855200" y="10007600"/>
            <a:ext cx="2514600" cy="2514600"/>
          </a:xfrm>
          <a:prstGeom prst="rect">
            <a:avLst/>
          </a:prstGeom>
          <a:effectLst>
            <a:outerShdw blurRad="125730" dist="58029" dir="2700000">
              <a:srgbClr val="1A7AE1">
                <a:alpha val="15000"/>
              </a:srgbClr>
            </a:outerShdw>
          </a:effectLst>
        </p:spPr>
      </p:pic>
      <p:sp>
        <p:nvSpPr>
          <p:cNvPr id="70" name="TextBox 70"/>
          <p:cNvSpPr txBox="1"/>
          <p:nvPr/>
        </p:nvSpPr>
        <p:spPr>
          <a:xfrm>
            <a:off x="9918700" y="11722100"/>
            <a:ext cx="24638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SemiBold"/>
                <a:ea typeface="Pretendard SemiBold"/>
                <a:cs typeface="Pretendard SemiBold"/>
              </a:rPr>
              <a:t>신청 심사</a:t>
            </a:r>
          </a:p>
        </p:txBody>
      </p:sp>
      <p:pic>
        <p:nvPicPr>
          <p:cNvPr id="71" name="Picture 71"/>
          <p:cNvPicPr>
            <a:picLocks noChangeAspect="1"/>
          </p:cNvPicPr>
          <p:nvPr/>
        </p:nvPicPr>
        <p:blipFill>
          <a:blip r:embed="rId45"/>
          <a:stretch>
            <a:fillRect/>
          </a:stretch>
        </p:blipFill>
        <p:spPr>
          <a:xfrm>
            <a:off x="10566400" y="10274300"/>
            <a:ext cx="1219200" cy="1104900"/>
          </a:xfrm>
          <a:prstGeom prst="rect">
            <a:avLst/>
          </a:prstGeom>
        </p:spPr>
      </p:pic>
      <p:pic>
        <p:nvPicPr>
          <p:cNvPr id="72" name="Picture 72"/>
          <p:cNvPicPr>
            <a:picLocks noChangeAspect="1"/>
          </p:cNvPicPr>
          <p:nvPr/>
        </p:nvPicPr>
        <p:blipFill>
          <a:blip r:embed="rId46"/>
          <a:stretch>
            <a:fillRect/>
          </a:stretch>
        </p:blipFill>
        <p:spPr>
          <a:xfrm>
            <a:off x="13042900" y="10033000"/>
            <a:ext cx="2514600" cy="2514600"/>
          </a:xfrm>
          <a:prstGeom prst="rect">
            <a:avLst/>
          </a:prstGeom>
          <a:effectLst>
            <a:outerShdw blurRad="125730" dist="58029" dir="2700000">
              <a:srgbClr val="1A7AE1">
                <a:alpha val="15000"/>
              </a:srgbClr>
            </a:outerShdw>
          </a:effectLst>
        </p:spPr>
      </p:pic>
      <p:sp>
        <p:nvSpPr>
          <p:cNvPr id="73" name="TextBox 73"/>
          <p:cNvSpPr txBox="1"/>
          <p:nvPr/>
        </p:nvSpPr>
        <p:spPr>
          <a:xfrm>
            <a:off x="13068300" y="11734800"/>
            <a:ext cx="24638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SemiBold"/>
                <a:ea typeface="Pretendard SemiBold"/>
                <a:cs typeface="Pretendard SemiBold"/>
              </a:rPr>
              <a:t>배너 관리</a:t>
            </a:r>
          </a:p>
        </p:txBody>
      </p:sp>
      <p:pic>
        <p:nvPicPr>
          <p:cNvPr id="74" name="Picture 74"/>
          <p:cNvPicPr>
            <a:picLocks noChangeAspect="1"/>
          </p:cNvPicPr>
          <p:nvPr/>
        </p:nvPicPr>
        <p:blipFill>
          <a:blip r:embed="rId47"/>
          <a:stretch>
            <a:fillRect/>
          </a:stretch>
        </p:blipFill>
        <p:spPr>
          <a:xfrm>
            <a:off x="16230600" y="10045700"/>
            <a:ext cx="2514600" cy="2514600"/>
          </a:xfrm>
          <a:prstGeom prst="rect">
            <a:avLst/>
          </a:prstGeom>
          <a:effectLst>
            <a:outerShdw blurRad="125730" dist="58029" dir="2700000">
              <a:srgbClr val="1A7AE1">
                <a:alpha val="15000"/>
              </a:srgbClr>
            </a:outerShdw>
          </a:effectLst>
        </p:spPr>
      </p:pic>
      <p:pic>
        <p:nvPicPr>
          <p:cNvPr id="75" name="Picture 75"/>
          <p:cNvPicPr>
            <a:picLocks noChangeAspect="1"/>
          </p:cNvPicPr>
          <p:nvPr/>
        </p:nvPicPr>
        <p:blipFill>
          <a:blip r:embed="rId48"/>
          <a:stretch>
            <a:fillRect/>
          </a:stretch>
        </p:blipFill>
        <p:spPr>
          <a:xfrm>
            <a:off x="16230600" y="10045700"/>
            <a:ext cx="2514600" cy="2514600"/>
          </a:xfrm>
          <a:prstGeom prst="rect">
            <a:avLst/>
          </a:prstGeom>
          <a:effectLst>
            <a:outerShdw blurRad="125730" dist="58029" dir="2700000">
              <a:srgbClr val="1A7AE1">
                <a:alpha val="15000"/>
              </a:srgbClr>
            </a:outerShdw>
          </a:effectLst>
        </p:spPr>
      </p:pic>
      <p:sp>
        <p:nvSpPr>
          <p:cNvPr id="76" name="TextBox 76"/>
          <p:cNvSpPr txBox="1"/>
          <p:nvPr/>
        </p:nvSpPr>
        <p:spPr>
          <a:xfrm>
            <a:off x="16281400" y="11722100"/>
            <a:ext cx="24638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SemiBold"/>
                <a:ea typeface="Pretendard SemiBold"/>
                <a:cs typeface="Pretendard SemiBold"/>
              </a:rPr>
              <a:t>1:1 문의 관리</a:t>
            </a:r>
          </a:p>
        </p:txBody>
      </p:sp>
      <p:pic>
        <p:nvPicPr>
          <p:cNvPr id="77" name="Picture 77"/>
          <p:cNvPicPr>
            <a:picLocks noChangeAspect="1"/>
          </p:cNvPicPr>
          <p:nvPr/>
        </p:nvPicPr>
        <p:blipFill>
          <a:blip r:embed="rId49"/>
          <a:stretch>
            <a:fillRect/>
          </a:stretch>
        </p:blipFill>
        <p:spPr>
          <a:xfrm>
            <a:off x="17462500" y="10769600"/>
            <a:ext cx="1028700" cy="1028700"/>
          </a:xfrm>
          <a:prstGeom prst="rect">
            <a:avLst/>
          </a:prstGeom>
        </p:spPr>
      </p:pic>
      <p:pic>
        <p:nvPicPr>
          <p:cNvPr id="78" name="Picture 78"/>
          <p:cNvPicPr>
            <a:picLocks noChangeAspect="1"/>
          </p:cNvPicPr>
          <p:nvPr/>
        </p:nvPicPr>
        <p:blipFill>
          <a:blip r:embed="rId50"/>
          <a:stretch>
            <a:fillRect/>
          </a:stretch>
        </p:blipFill>
        <p:spPr>
          <a:xfrm>
            <a:off x="16586200" y="10160000"/>
            <a:ext cx="1397000" cy="1397000"/>
          </a:xfrm>
          <a:prstGeom prst="rect">
            <a:avLst/>
          </a:prstGeom>
        </p:spPr>
      </p:pic>
      <p:pic>
        <p:nvPicPr>
          <p:cNvPr id="79" name="Picture 79"/>
          <p:cNvPicPr>
            <a:picLocks noChangeAspect="1"/>
          </p:cNvPicPr>
          <p:nvPr/>
        </p:nvPicPr>
        <p:blipFill>
          <a:blip r:embed="rId51"/>
          <a:stretch>
            <a:fillRect/>
          </a:stretch>
        </p:blipFill>
        <p:spPr>
          <a:xfrm>
            <a:off x="19329400" y="10058400"/>
            <a:ext cx="2514600" cy="2514600"/>
          </a:xfrm>
          <a:prstGeom prst="rect">
            <a:avLst/>
          </a:prstGeom>
          <a:effectLst>
            <a:outerShdw blurRad="125730" dist="58029" dir="2700000">
              <a:srgbClr val="1A7AE1">
                <a:alpha val="15000"/>
              </a:srgbClr>
            </a:outerShdw>
          </a:effectLst>
        </p:spPr>
      </p:pic>
      <p:sp>
        <p:nvSpPr>
          <p:cNvPr id="80" name="TextBox 80"/>
          <p:cNvSpPr txBox="1"/>
          <p:nvPr/>
        </p:nvSpPr>
        <p:spPr>
          <a:xfrm>
            <a:off x="19316700" y="11722100"/>
            <a:ext cx="24638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SemiBold"/>
                <a:ea typeface="Pretendard SemiBold"/>
                <a:cs typeface="Pretendard SemiBold"/>
              </a:rPr>
              <a:t>보안뉴스 관리</a:t>
            </a:r>
          </a:p>
        </p:txBody>
      </p:sp>
      <p:pic>
        <p:nvPicPr>
          <p:cNvPr id="81" name="Picture 81"/>
          <p:cNvPicPr>
            <a:picLocks noChangeAspect="1"/>
          </p:cNvPicPr>
          <p:nvPr/>
        </p:nvPicPr>
        <p:blipFill>
          <a:blip r:embed="rId52"/>
          <a:stretch>
            <a:fillRect/>
          </a:stretch>
        </p:blipFill>
        <p:spPr>
          <a:xfrm>
            <a:off x="20434300" y="10655300"/>
            <a:ext cx="1079500" cy="1079500"/>
          </a:xfrm>
          <a:prstGeom prst="rect">
            <a:avLst/>
          </a:prstGeom>
        </p:spPr>
      </p:pic>
      <p:pic>
        <p:nvPicPr>
          <p:cNvPr id="82" name="Picture 82"/>
          <p:cNvPicPr>
            <a:picLocks noChangeAspect="1"/>
          </p:cNvPicPr>
          <p:nvPr/>
        </p:nvPicPr>
        <p:blipFill>
          <a:blip r:embed="rId53"/>
          <a:stretch>
            <a:fillRect/>
          </a:stretch>
        </p:blipFill>
        <p:spPr>
          <a:xfrm>
            <a:off x="19964400" y="10325100"/>
            <a:ext cx="1155700" cy="1155700"/>
          </a:xfrm>
          <a:prstGeom prst="rect">
            <a:avLst/>
          </a:prstGeom>
        </p:spPr>
      </p:pic>
      <p:pic>
        <p:nvPicPr>
          <p:cNvPr id="88" name="Picture 88"/>
          <p:cNvPicPr>
            <a:picLocks noChangeAspect="1"/>
          </p:cNvPicPr>
          <p:nvPr/>
        </p:nvPicPr>
        <p:blipFill>
          <a:blip r:embed="rId54"/>
          <a:stretch>
            <a:fillRect/>
          </a:stretch>
        </p:blipFill>
        <p:spPr>
          <a:xfrm>
            <a:off x="13627100" y="10337800"/>
            <a:ext cx="1308100" cy="1282700"/>
          </a:xfrm>
          <a:prstGeom prst="rect">
            <a:avLst/>
          </a:prstGeom>
        </p:spPr>
      </p:pic>
      <p:pic>
        <p:nvPicPr>
          <p:cNvPr id="89" name="Picture 89"/>
          <p:cNvPicPr>
            <a:picLocks noChangeAspect="1"/>
          </p:cNvPicPr>
          <p:nvPr/>
        </p:nvPicPr>
        <p:blipFill>
          <a:blip r:embed="rId55"/>
          <a:stretch>
            <a:fillRect/>
          </a:stretch>
        </p:blipFill>
        <p:spPr>
          <a:xfrm>
            <a:off x="20091400" y="3733800"/>
            <a:ext cx="1104900" cy="1473200"/>
          </a:xfrm>
          <a:prstGeom prst="rect">
            <a:avLst/>
          </a:prstGeom>
        </p:spPr>
      </p:pic>
      <p:pic>
        <p:nvPicPr>
          <p:cNvPr id="90" name="Picture 90"/>
          <p:cNvPicPr>
            <a:picLocks noChangeAspect="1"/>
          </p:cNvPicPr>
          <p:nvPr/>
        </p:nvPicPr>
        <p:blipFill>
          <a:blip r:embed="rId56"/>
          <a:stretch>
            <a:fillRect/>
          </a:stretch>
        </p:blipFill>
        <p:spPr>
          <a:xfrm>
            <a:off x="2019300" y="4483100"/>
            <a:ext cx="1498600" cy="1498600"/>
          </a:xfrm>
          <a:prstGeom prst="rect">
            <a:avLst/>
          </a:prstGeom>
          <a:effectLst>
            <a:outerShdw blurRad="74654" dist="34456" dir="2700000">
              <a:srgbClr val="1A7AE1">
                <a:alpha val="15000"/>
              </a:srgbClr>
            </a:outerShdw>
          </a:effectLst>
        </p:spPr>
      </p:pic>
      <p:pic>
        <p:nvPicPr>
          <p:cNvPr id="91" name="Picture 91"/>
          <p:cNvPicPr>
            <a:picLocks noChangeAspect="1"/>
          </p:cNvPicPr>
          <p:nvPr/>
        </p:nvPicPr>
        <p:blipFill>
          <a:blip r:embed="rId38"/>
          <a:stretch>
            <a:fillRect/>
          </a:stretch>
        </p:blipFill>
        <p:spPr>
          <a:xfrm>
            <a:off x="2120900" y="4470400"/>
            <a:ext cx="1231900" cy="1511300"/>
          </a:xfrm>
          <a:prstGeom prst="rect">
            <a:avLst/>
          </a:prstGeom>
        </p:spPr>
      </p:pic>
      <p:pic>
        <p:nvPicPr>
          <p:cNvPr id="92" name="Picture 92"/>
          <p:cNvPicPr>
            <a:picLocks noChangeAspect="1"/>
          </p:cNvPicPr>
          <p:nvPr/>
        </p:nvPicPr>
        <p:blipFill>
          <a:blip r:embed="rId16"/>
          <a:stretch>
            <a:fillRect/>
          </a:stretch>
        </p:blipFill>
        <p:spPr>
          <a:xfrm>
            <a:off x="3302000" y="12153900"/>
            <a:ext cx="1104900" cy="279400"/>
          </a:xfrm>
          <a:prstGeom prst="rect">
            <a:avLst/>
          </a:prstGeom>
        </p:spPr>
      </p:pic>
      <p:sp>
        <p:nvSpPr>
          <p:cNvPr id="93" name="TextBox 93"/>
          <p:cNvSpPr txBox="1"/>
          <p:nvPr/>
        </p:nvSpPr>
        <p:spPr>
          <a:xfrm>
            <a:off x="3517900" y="12166600"/>
            <a:ext cx="660400" cy="266700"/>
          </a:xfrm>
          <a:prstGeom prst="rect">
            <a:avLst/>
          </a:prstGeom>
        </p:spPr>
        <p:txBody>
          <a:bodyPr lIns="0" tIns="0" rIns="0" bIns="0" rtlCol="0" anchor="t"/>
          <a:lstStyle/>
          <a:p>
            <a:pPr lvl="0" algn="ctr">
              <a:lnSpc>
                <a:spcPct val="116199"/>
              </a:lnSpc>
            </a:pPr>
            <a:r>
              <a:rPr lang="en-US" sz="1484" b="0" i="0" u="none" strike="noStrike">
                <a:solidFill>
                  <a:srgbClr val="1A7AE1"/>
                </a:solidFill>
                <a:latin typeface="Geologica Roman Light"/>
                <a:ea typeface="Geologica Roman Light"/>
                <a:cs typeface="Geologica Roman Light"/>
              </a:rPr>
              <a:t>Admin</a:t>
            </a:r>
          </a:p>
        </p:txBody>
      </p:sp>
      <p:sp>
        <p:nvSpPr>
          <p:cNvPr id="95" name="TextBox 14">
            <a:extLst>
              <a:ext uri="{FF2B5EF4-FFF2-40B4-BE49-F238E27FC236}">
                <a16:creationId xmlns:a16="http://schemas.microsoft.com/office/drawing/2014/main" id="{19DFD100-7C4E-8E7F-F398-37A30427115D}"/>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96" name="TextBox 14">
            <a:extLst>
              <a:ext uri="{FF2B5EF4-FFF2-40B4-BE49-F238E27FC236}">
                <a16:creationId xmlns:a16="http://schemas.microsoft.com/office/drawing/2014/main" id="{D4BD72C0-34E3-34A3-DD88-177F88CAC4A0}"/>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102" name="Picture 12">
            <a:extLst>
              <a:ext uri="{FF2B5EF4-FFF2-40B4-BE49-F238E27FC236}">
                <a16:creationId xmlns:a16="http://schemas.microsoft.com/office/drawing/2014/main" id="{D3E3621A-10B0-EEFA-47C9-07CF8861C2BE}"/>
              </a:ext>
            </a:extLst>
          </p:cNvPr>
          <p:cNvPicPr>
            <a:picLocks noChangeAspect="1"/>
          </p:cNvPicPr>
          <p:nvPr/>
        </p:nvPicPr>
        <p:blipFill>
          <a:blip r:embed="rId57">
            <a:alphaModFix amt="85000"/>
          </a:blip>
          <a:stretch>
            <a:fillRect/>
          </a:stretch>
        </p:blipFill>
        <p:spPr>
          <a:xfrm>
            <a:off x="9118600" y="571500"/>
            <a:ext cx="1993900" cy="444500"/>
          </a:xfrm>
          <a:prstGeom prst="rect">
            <a:avLst/>
          </a:prstGeom>
        </p:spPr>
      </p:pic>
      <p:sp>
        <p:nvSpPr>
          <p:cNvPr id="103" name="TextBox 13">
            <a:extLst>
              <a:ext uri="{FF2B5EF4-FFF2-40B4-BE49-F238E27FC236}">
                <a16:creationId xmlns:a16="http://schemas.microsoft.com/office/drawing/2014/main" id="{1A95B4B1-FE9F-73DF-4DEE-02FB6133CE92}"/>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104" name="TextBox 15">
            <a:extLst>
              <a:ext uri="{FF2B5EF4-FFF2-40B4-BE49-F238E27FC236}">
                <a16:creationId xmlns:a16="http://schemas.microsoft.com/office/drawing/2014/main" id="{C44C5C8B-725F-91BE-37D1-F1CBBFBA7C8A}"/>
              </a:ext>
            </a:extLst>
          </p:cNvPr>
          <p:cNvSpPr txBox="1"/>
          <p:nvPr/>
        </p:nvSpPr>
        <p:spPr>
          <a:xfrm>
            <a:off x="11353800" y="457200"/>
            <a:ext cx="25273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시나리오</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모의해킹</a:t>
            </a:r>
            <a:endParaRPr lang="en-US" sz="2666" b="0" i="0" u="none" strike="noStrike" spc="-100" dirty="0">
              <a:solidFill>
                <a:srgbClr val="C2C2C2"/>
              </a:solidFill>
              <a:latin typeface="Pretendard SemiBold"/>
              <a:ea typeface="Pretendard SemiBold"/>
              <a:cs typeface="Pretendard SemiBold"/>
            </a:endParaRPr>
          </a:p>
        </p:txBody>
      </p:sp>
      <p:sp>
        <p:nvSpPr>
          <p:cNvPr id="105" name="TextBox 16">
            <a:extLst>
              <a:ext uri="{FF2B5EF4-FFF2-40B4-BE49-F238E27FC236}">
                <a16:creationId xmlns:a16="http://schemas.microsoft.com/office/drawing/2014/main" id="{E88D79A3-8D6F-D23F-4A6D-A78BC473FF60}"/>
              </a:ext>
            </a:extLst>
          </p:cNvPr>
          <p:cNvSpPr txBox="1"/>
          <p:nvPr/>
        </p:nvSpPr>
        <p:spPr>
          <a:xfrm>
            <a:off x="14097000" y="4699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106" name="TextBox 17">
            <a:extLst>
              <a:ext uri="{FF2B5EF4-FFF2-40B4-BE49-F238E27FC236}">
                <a16:creationId xmlns:a16="http://schemas.microsoft.com/office/drawing/2014/main" id="{5AF3C860-EFCB-E0CB-56AA-F211DD5F4C81}"/>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개발 및 진단</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12674600" y="10071100"/>
            <a:ext cx="1574800" cy="1155700"/>
          </a:xfrm>
          <a:prstGeom prst="rect">
            <a:avLst/>
          </a:prstGeom>
        </p:spPr>
      </p:pic>
      <p:pic>
        <p:nvPicPr>
          <p:cNvPr id="3" name="Picture 3"/>
          <p:cNvPicPr>
            <a:picLocks noChangeAspect="1"/>
          </p:cNvPicPr>
          <p:nvPr/>
        </p:nvPicPr>
        <p:blipFill>
          <a:blip r:embed="rId3"/>
          <a:stretch>
            <a:fillRect/>
          </a:stretch>
        </p:blipFill>
        <p:spPr>
          <a:xfrm>
            <a:off x="11633200" y="4127500"/>
            <a:ext cx="3937000" cy="3937000"/>
          </a:xfrm>
          <a:prstGeom prst="rect">
            <a:avLst/>
          </a:prstGeom>
          <a:effectLst>
            <a:outerShdw blurRad="98315" dist="151254" dir="2700000">
              <a:srgbClr val="1A7AE1">
                <a:alpha val="15000"/>
              </a:srgbClr>
            </a:outerShdw>
          </a:effectLst>
        </p:spPr>
      </p:pic>
      <p:pic>
        <p:nvPicPr>
          <p:cNvPr id="4" name="Picture 4"/>
          <p:cNvPicPr>
            <a:picLocks noChangeAspect="1"/>
          </p:cNvPicPr>
          <p:nvPr/>
        </p:nvPicPr>
        <p:blipFill>
          <a:blip r:embed="rId4">
            <a:alphaModFix amt="70000"/>
          </a:blip>
          <a:stretch>
            <a:fillRect/>
          </a:stretch>
        </p:blipFill>
        <p:spPr>
          <a:xfrm>
            <a:off x="16230600" y="-2590800"/>
            <a:ext cx="11442700" cy="11442700"/>
          </a:xfrm>
          <a:prstGeom prst="rect">
            <a:avLst/>
          </a:prstGeom>
        </p:spPr>
      </p:pic>
      <p:pic>
        <p:nvPicPr>
          <p:cNvPr id="5" name="Picture 5"/>
          <p:cNvPicPr>
            <a:picLocks noChangeAspect="1"/>
          </p:cNvPicPr>
          <p:nvPr/>
        </p:nvPicPr>
        <p:blipFill>
          <a:blip r:embed="rId5"/>
          <a:stretch>
            <a:fillRect/>
          </a:stretch>
        </p:blipFill>
        <p:spPr>
          <a:xfrm>
            <a:off x="762000" y="1092200"/>
            <a:ext cx="22860000" cy="12700"/>
          </a:xfrm>
          <a:prstGeom prst="rect">
            <a:avLst/>
          </a:prstGeom>
        </p:spPr>
      </p:pic>
      <p:pic>
        <p:nvPicPr>
          <p:cNvPr id="6" name="Picture 6"/>
          <p:cNvPicPr>
            <a:picLocks noChangeAspect="1"/>
          </p:cNvPicPr>
          <p:nvPr/>
        </p:nvPicPr>
        <p:blipFill>
          <a:blip r:embed="rId6"/>
          <a:stretch>
            <a:fillRect/>
          </a:stretch>
        </p:blipFill>
        <p:spPr>
          <a:xfrm rot="5400000">
            <a:off x="3200400" y="787400"/>
            <a:ext cx="635000" cy="12700"/>
          </a:xfrm>
          <a:prstGeom prst="rect">
            <a:avLst/>
          </a:prstGeom>
        </p:spPr>
      </p:pic>
      <p:pic>
        <p:nvPicPr>
          <p:cNvPr id="7" name="Picture 7"/>
          <p:cNvPicPr>
            <a:picLocks noChangeAspect="1"/>
          </p:cNvPicPr>
          <p:nvPr/>
        </p:nvPicPr>
        <p:blipFill>
          <a:blip r:embed="rId6"/>
          <a:stretch>
            <a:fillRect/>
          </a:stretch>
        </p:blipFill>
        <p:spPr>
          <a:xfrm rot="5400000">
            <a:off x="22225000" y="787400"/>
            <a:ext cx="635000" cy="12700"/>
          </a:xfrm>
          <a:prstGeom prst="rect">
            <a:avLst/>
          </a:prstGeom>
        </p:spPr>
      </p:pic>
      <p:pic>
        <p:nvPicPr>
          <p:cNvPr id="8" name="Picture 8"/>
          <p:cNvPicPr>
            <a:picLocks noChangeAspect="1"/>
          </p:cNvPicPr>
          <p:nvPr/>
        </p:nvPicPr>
        <p:blipFill>
          <a:blip r:embed="rId6"/>
          <a:stretch>
            <a:fillRect/>
          </a:stretch>
        </p:blipFill>
        <p:spPr>
          <a:xfrm rot="5400000">
            <a:off x="6337300" y="787400"/>
            <a:ext cx="635000" cy="12700"/>
          </a:xfrm>
          <a:prstGeom prst="rect">
            <a:avLst/>
          </a:prstGeom>
        </p:spPr>
      </p:pic>
      <p:pic>
        <p:nvPicPr>
          <p:cNvPr id="9" name="Picture 9"/>
          <p:cNvPicPr>
            <a:picLocks noChangeAspect="1"/>
          </p:cNvPicPr>
          <p:nvPr/>
        </p:nvPicPr>
        <p:blipFill>
          <a:blip r:embed="rId5"/>
          <a:stretch>
            <a:fillRect/>
          </a:stretch>
        </p:blipFill>
        <p:spPr>
          <a:xfrm>
            <a:off x="723900" y="457200"/>
            <a:ext cx="22860000" cy="12700"/>
          </a:xfrm>
          <a:prstGeom prst="rect">
            <a:avLst/>
          </a:prstGeom>
        </p:spPr>
      </p:pic>
      <p:pic>
        <p:nvPicPr>
          <p:cNvPr id="11" name="Picture 11"/>
          <p:cNvPicPr>
            <a:picLocks noChangeAspect="1"/>
          </p:cNvPicPr>
          <p:nvPr/>
        </p:nvPicPr>
        <p:blipFill>
          <a:blip r:embed="rId7"/>
          <a:stretch>
            <a:fillRect/>
          </a:stretch>
        </p:blipFill>
        <p:spPr>
          <a:xfrm>
            <a:off x="1485900" y="1612900"/>
            <a:ext cx="88900" cy="850900"/>
          </a:xfrm>
          <a:prstGeom prst="rect">
            <a:avLst/>
          </a:prstGeom>
        </p:spPr>
      </p:pic>
      <p:sp>
        <p:nvSpPr>
          <p:cNvPr id="12" name="TextBox 12"/>
          <p:cNvSpPr txBox="1"/>
          <p:nvPr/>
        </p:nvSpPr>
        <p:spPr>
          <a:xfrm>
            <a:off x="1943100" y="1409700"/>
            <a:ext cx="106807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취약점 진단 기준 선정</a:t>
            </a:r>
          </a:p>
        </p:txBody>
      </p:sp>
      <p:pic>
        <p:nvPicPr>
          <p:cNvPr id="13" name="Picture 13"/>
          <p:cNvPicPr>
            <a:picLocks noChangeAspect="1"/>
          </p:cNvPicPr>
          <p:nvPr/>
        </p:nvPicPr>
        <p:blipFill>
          <a:blip r:embed="rId8"/>
          <a:stretch>
            <a:fillRect/>
          </a:stretch>
        </p:blipFill>
        <p:spPr>
          <a:xfrm>
            <a:off x="2120900" y="3721100"/>
            <a:ext cx="4775200" cy="6692900"/>
          </a:xfrm>
          <a:prstGeom prst="rect">
            <a:avLst/>
          </a:prstGeom>
          <a:effectLst>
            <a:outerShdw blurRad="262531" dist="110153" dir="2700000">
              <a:srgbClr val="000000">
                <a:alpha val="23000"/>
              </a:srgbClr>
            </a:outerShdw>
          </a:effectLst>
        </p:spPr>
      </p:pic>
      <p:pic>
        <p:nvPicPr>
          <p:cNvPr id="14" name="Picture 14"/>
          <p:cNvPicPr>
            <a:picLocks noChangeAspect="1"/>
          </p:cNvPicPr>
          <p:nvPr/>
        </p:nvPicPr>
        <p:blipFill>
          <a:blip r:embed="rId9"/>
          <a:stretch>
            <a:fillRect/>
          </a:stretch>
        </p:blipFill>
        <p:spPr>
          <a:xfrm>
            <a:off x="1689100" y="9639300"/>
            <a:ext cx="431800" cy="381000"/>
          </a:xfrm>
          <a:prstGeom prst="rect">
            <a:avLst/>
          </a:prstGeom>
        </p:spPr>
      </p:pic>
      <p:pic>
        <p:nvPicPr>
          <p:cNvPr id="15" name="Picture 15"/>
          <p:cNvPicPr>
            <a:picLocks noChangeAspect="1"/>
          </p:cNvPicPr>
          <p:nvPr/>
        </p:nvPicPr>
        <p:blipFill>
          <a:blip r:embed="rId10"/>
          <a:stretch>
            <a:fillRect/>
          </a:stretch>
        </p:blipFill>
        <p:spPr>
          <a:xfrm>
            <a:off x="1689100" y="9969500"/>
            <a:ext cx="6210300" cy="1625600"/>
          </a:xfrm>
          <a:prstGeom prst="rect">
            <a:avLst/>
          </a:prstGeom>
          <a:effectLst>
            <a:outerShdw blurRad="89447" dist="37530" dir="2700000">
              <a:srgbClr val="000000">
                <a:alpha val="23000"/>
              </a:srgbClr>
            </a:outerShdw>
          </a:effectLst>
        </p:spPr>
      </p:pic>
      <p:sp>
        <p:nvSpPr>
          <p:cNvPr id="16" name="TextBox 16"/>
          <p:cNvSpPr txBox="1"/>
          <p:nvPr/>
        </p:nvSpPr>
        <p:spPr>
          <a:xfrm>
            <a:off x="2374900" y="10109200"/>
            <a:ext cx="2133600" cy="571500"/>
          </a:xfrm>
          <a:prstGeom prst="rect">
            <a:avLst/>
          </a:prstGeom>
        </p:spPr>
        <p:txBody>
          <a:bodyPr lIns="0" tIns="0" rIns="0" bIns="0" rtlCol="0" anchor="t"/>
          <a:lstStyle/>
          <a:p>
            <a:pPr lvl="0" algn="l">
              <a:lnSpc>
                <a:spcPct val="116199"/>
              </a:lnSpc>
            </a:pPr>
            <a:r>
              <a:rPr lang="en-US" sz="3199" b="0" i="0" u="none" strike="noStrike">
                <a:solidFill>
                  <a:srgbClr val="FFFFFF"/>
                </a:solidFill>
                <a:latin typeface="Pretendard SemiBold"/>
                <a:ea typeface="Pretendard SemiBold"/>
                <a:cs typeface="Pretendard SemiBold"/>
              </a:rPr>
              <a:t>금융보안원</a:t>
            </a:r>
          </a:p>
        </p:txBody>
      </p:sp>
      <p:sp>
        <p:nvSpPr>
          <p:cNvPr id="17" name="TextBox 17"/>
          <p:cNvSpPr txBox="1"/>
          <p:nvPr/>
        </p:nvSpPr>
        <p:spPr>
          <a:xfrm>
            <a:off x="2374900" y="10756900"/>
            <a:ext cx="6286500" cy="520700"/>
          </a:xfrm>
          <a:prstGeom prst="rect">
            <a:avLst/>
          </a:prstGeom>
        </p:spPr>
        <p:txBody>
          <a:bodyPr lIns="0" tIns="0" rIns="0" bIns="0" rtlCol="0" anchor="t"/>
          <a:lstStyle/>
          <a:p>
            <a:pPr lvl="0" algn="l">
              <a:lnSpc>
                <a:spcPct val="116199"/>
              </a:lnSpc>
            </a:pPr>
            <a:r>
              <a:rPr lang="en-US" sz="2933" b="0" i="0" u="none" strike="noStrike">
                <a:solidFill>
                  <a:srgbClr val="FFFFFF">
                    <a:alpha val="70196"/>
                  </a:srgbClr>
                </a:solidFill>
                <a:latin typeface="Pretendard Medium"/>
                <a:ea typeface="Pretendard Medium"/>
                <a:cs typeface="Pretendard Medium"/>
              </a:rPr>
              <a:t>「핀테크 서비스 취약점 점검 안내서」</a:t>
            </a:r>
          </a:p>
        </p:txBody>
      </p:sp>
      <p:pic>
        <p:nvPicPr>
          <p:cNvPr id="18" name="Picture 18"/>
          <p:cNvPicPr>
            <a:picLocks noChangeAspect="1"/>
          </p:cNvPicPr>
          <p:nvPr/>
        </p:nvPicPr>
        <p:blipFill>
          <a:blip r:embed="rId11">
            <a:alphaModFix amt="70000"/>
          </a:blip>
          <a:stretch>
            <a:fillRect/>
          </a:stretch>
        </p:blipFill>
        <p:spPr>
          <a:xfrm>
            <a:off x="15557500" y="6083300"/>
            <a:ext cx="558800" cy="12700"/>
          </a:xfrm>
          <a:prstGeom prst="rect">
            <a:avLst/>
          </a:prstGeom>
        </p:spPr>
      </p:pic>
      <p:sp>
        <p:nvSpPr>
          <p:cNvPr id="19" name="TextBox 19"/>
          <p:cNvSpPr txBox="1"/>
          <p:nvPr/>
        </p:nvSpPr>
        <p:spPr>
          <a:xfrm>
            <a:off x="12103100" y="5207000"/>
            <a:ext cx="2959100" cy="571500"/>
          </a:xfrm>
          <a:prstGeom prst="rect">
            <a:avLst/>
          </a:prstGeom>
        </p:spPr>
        <p:txBody>
          <a:bodyPr lIns="0" tIns="0" rIns="0" bIns="0" rtlCol="0" anchor="t"/>
          <a:lstStyle/>
          <a:p>
            <a:pPr lvl="0" algn="ctr">
              <a:lnSpc>
                <a:spcPct val="116199"/>
              </a:lnSpc>
            </a:pPr>
            <a:r>
              <a:rPr lang="en-US" sz="3199" b="0" i="0" u="none" strike="noStrike">
                <a:solidFill>
                  <a:srgbClr val="FFFFFF"/>
                </a:solidFill>
                <a:latin typeface="Pretendard SemiBold"/>
                <a:ea typeface="Pretendard SemiBold"/>
                <a:cs typeface="Pretendard SemiBold"/>
              </a:rPr>
              <a:t>CVSS v3.1</a:t>
            </a:r>
          </a:p>
        </p:txBody>
      </p:sp>
      <p:pic>
        <p:nvPicPr>
          <p:cNvPr id="20" name="Picture 20"/>
          <p:cNvPicPr>
            <a:picLocks noChangeAspect="1"/>
          </p:cNvPicPr>
          <p:nvPr/>
        </p:nvPicPr>
        <p:blipFill>
          <a:blip r:embed="rId12"/>
          <a:stretch>
            <a:fillRect/>
          </a:stretch>
        </p:blipFill>
        <p:spPr>
          <a:xfrm>
            <a:off x="16014700" y="4114800"/>
            <a:ext cx="3937000" cy="3937000"/>
          </a:xfrm>
          <a:prstGeom prst="rect">
            <a:avLst/>
          </a:prstGeom>
          <a:effectLst>
            <a:outerShdw blurRad="98315" dist="151254" dir="2700000">
              <a:srgbClr val="1A7AE1">
                <a:alpha val="15000"/>
              </a:srgbClr>
            </a:outerShdw>
          </a:effectLst>
        </p:spPr>
      </p:pic>
      <p:sp>
        <p:nvSpPr>
          <p:cNvPr id="21" name="TextBox 21"/>
          <p:cNvSpPr txBox="1"/>
          <p:nvPr/>
        </p:nvSpPr>
        <p:spPr>
          <a:xfrm>
            <a:off x="16497300" y="5207000"/>
            <a:ext cx="2959100" cy="571500"/>
          </a:xfrm>
          <a:prstGeom prst="rect">
            <a:avLst/>
          </a:prstGeom>
        </p:spPr>
        <p:txBody>
          <a:bodyPr lIns="0" tIns="0" rIns="0" bIns="0" rtlCol="0" anchor="t"/>
          <a:lstStyle/>
          <a:p>
            <a:pPr lvl="0" algn="ctr">
              <a:lnSpc>
                <a:spcPct val="116199"/>
              </a:lnSpc>
            </a:pPr>
            <a:r>
              <a:rPr lang="en-US" sz="3199" b="0" i="0" u="none" strike="noStrike">
                <a:solidFill>
                  <a:srgbClr val="000000"/>
                </a:solidFill>
                <a:latin typeface="Pretendard SemiBold"/>
                <a:ea typeface="Pretendard SemiBold"/>
                <a:cs typeface="Pretendard SemiBold"/>
              </a:rPr>
              <a:t>금융권 특화 모델</a:t>
            </a:r>
          </a:p>
        </p:txBody>
      </p:sp>
      <p:sp>
        <p:nvSpPr>
          <p:cNvPr id="22" name="TextBox 22"/>
          <p:cNvSpPr txBox="1"/>
          <p:nvPr/>
        </p:nvSpPr>
        <p:spPr>
          <a:xfrm>
            <a:off x="16205200" y="6159500"/>
            <a:ext cx="3556000" cy="1041400"/>
          </a:xfrm>
          <a:prstGeom prst="rect">
            <a:avLst/>
          </a:prstGeom>
        </p:spPr>
        <p:txBody>
          <a:bodyPr lIns="0" tIns="0" rIns="0" bIns="0" rtlCol="0" anchor="t"/>
          <a:lstStyle/>
          <a:p>
            <a:pPr lvl="0" algn="ctr">
              <a:lnSpc>
                <a:spcPct val="116199"/>
              </a:lnSpc>
            </a:pPr>
            <a:r>
              <a:rPr lang="en-US" sz="2933" b="0" i="0" u="none" strike="noStrike">
                <a:solidFill>
                  <a:srgbClr val="000000">
                    <a:alpha val="70196"/>
                  </a:srgbClr>
                </a:solidFill>
                <a:latin typeface="Pretendard Medium"/>
                <a:ea typeface="Pretendard Medium"/>
                <a:cs typeface="Pretendard Medium"/>
              </a:rPr>
              <a:t>금융보안원</a:t>
            </a:r>
          </a:p>
          <a:p>
            <a:pPr lvl="0" algn="ctr">
              <a:lnSpc>
                <a:spcPct val="116199"/>
              </a:lnSpc>
            </a:pPr>
            <a:r>
              <a:rPr lang="en-US" sz="2933" b="0" i="0" u="none" strike="noStrike">
                <a:solidFill>
                  <a:srgbClr val="000000">
                    <a:alpha val="70196"/>
                  </a:srgbClr>
                </a:solidFill>
                <a:latin typeface="Pretendard Medium"/>
                <a:ea typeface="Pretendard Medium"/>
                <a:cs typeface="Pretendard Medium"/>
              </a:rPr>
              <a:t>위협 시나리오</a:t>
            </a:r>
          </a:p>
        </p:txBody>
      </p:sp>
      <p:pic>
        <p:nvPicPr>
          <p:cNvPr id="23" name="Picture 23"/>
          <p:cNvPicPr>
            <a:picLocks noChangeAspect="1"/>
          </p:cNvPicPr>
          <p:nvPr/>
        </p:nvPicPr>
        <p:blipFill>
          <a:blip r:embed="rId13">
            <a:alphaModFix amt="70000"/>
          </a:blip>
          <a:stretch>
            <a:fillRect/>
          </a:stretch>
        </p:blipFill>
        <p:spPr>
          <a:xfrm rot="-5400000">
            <a:off x="14668500" y="4927600"/>
            <a:ext cx="2286000" cy="12700"/>
          </a:xfrm>
          <a:prstGeom prst="rect">
            <a:avLst/>
          </a:prstGeom>
        </p:spPr>
      </p:pic>
      <p:pic>
        <p:nvPicPr>
          <p:cNvPr id="24" name="Picture 24"/>
          <p:cNvPicPr>
            <a:picLocks noChangeAspect="1"/>
          </p:cNvPicPr>
          <p:nvPr/>
        </p:nvPicPr>
        <p:blipFill>
          <a:blip r:embed="rId14">
            <a:alphaModFix amt="90000"/>
          </a:blip>
          <a:stretch>
            <a:fillRect/>
          </a:stretch>
        </p:blipFill>
        <p:spPr>
          <a:xfrm>
            <a:off x="13601700" y="3060700"/>
            <a:ext cx="4660900" cy="749300"/>
          </a:xfrm>
          <a:prstGeom prst="rect">
            <a:avLst/>
          </a:prstGeom>
        </p:spPr>
      </p:pic>
      <p:sp>
        <p:nvSpPr>
          <p:cNvPr id="25" name="TextBox 25"/>
          <p:cNvSpPr txBox="1"/>
          <p:nvPr/>
        </p:nvSpPr>
        <p:spPr>
          <a:xfrm>
            <a:off x="13804900" y="3149600"/>
            <a:ext cx="4394200" cy="571500"/>
          </a:xfrm>
          <a:prstGeom prst="rect">
            <a:avLst/>
          </a:prstGeom>
        </p:spPr>
        <p:txBody>
          <a:bodyPr lIns="0" tIns="0" rIns="0" bIns="0" rtlCol="0" anchor="t"/>
          <a:lstStyle/>
          <a:p>
            <a:pPr lvl="0" algn="ctr">
              <a:lnSpc>
                <a:spcPct val="116199"/>
              </a:lnSpc>
            </a:pPr>
            <a:r>
              <a:rPr lang="en-US" sz="3206" b="0" i="0" u="none" strike="noStrike">
                <a:solidFill>
                  <a:srgbClr val="FFFFFF"/>
                </a:solidFill>
                <a:latin typeface="Pretendard SemiBold"/>
                <a:ea typeface="Pretendard SemiBold"/>
                <a:cs typeface="Pretendard SemiBold"/>
              </a:rPr>
              <a:t>정량/정성 상호 참조 평가</a:t>
            </a:r>
          </a:p>
        </p:txBody>
      </p:sp>
      <p:pic>
        <p:nvPicPr>
          <p:cNvPr id="26" name="Picture 26"/>
          <p:cNvPicPr>
            <a:picLocks noChangeAspect="1"/>
          </p:cNvPicPr>
          <p:nvPr/>
        </p:nvPicPr>
        <p:blipFill>
          <a:blip r:embed="rId15"/>
          <a:stretch>
            <a:fillRect/>
          </a:stretch>
        </p:blipFill>
        <p:spPr>
          <a:xfrm>
            <a:off x="8978900" y="9702800"/>
            <a:ext cx="3695700" cy="1917700"/>
          </a:xfrm>
          <a:prstGeom prst="rect">
            <a:avLst/>
          </a:prstGeom>
          <a:effectLst>
            <a:outerShdw blurRad="47946" dist="44258" dir="2700000">
              <a:srgbClr val="1A7AE1">
                <a:alpha val="15000"/>
              </a:srgbClr>
            </a:outerShdw>
          </a:effectLst>
        </p:spPr>
      </p:pic>
      <p:pic>
        <p:nvPicPr>
          <p:cNvPr id="27" name="Picture 27"/>
          <p:cNvPicPr>
            <a:picLocks noChangeAspect="1"/>
          </p:cNvPicPr>
          <p:nvPr/>
        </p:nvPicPr>
        <p:blipFill>
          <a:blip r:embed="rId16"/>
          <a:stretch>
            <a:fillRect/>
          </a:stretch>
        </p:blipFill>
        <p:spPr>
          <a:xfrm>
            <a:off x="9309100" y="10007600"/>
            <a:ext cx="2273300" cy="508000"/>
          </a:xfrm>
          <a:prstGeom prst="rect">
            <a:avLst/>
          </a:prstGeom>
        </p:spPr>
      </p:pic>
      <p:sp>
        <p:nvSpPr>
          <p:cNvPr id="28" name="TextBox 28"/>
          <p:cNvSpPr txBox="1"/>
          <p:nvPr/>
        </p:nvSpPr>
        <p:spPr>
          <a:xfrm>
            <a:off x="9309100" y="10718800"/>
            <a:ext cx="3378200" cy="469900"/>
          </a:xfrm>
          <a:prstGeom prst="rect">
            <a:avLst/>
          </a:prstGeom>
        </p:spPr>
        <p:txBody>
          <a:bodyPr lIns="0" tIns="0" rIns="0" bIns="0" rtlCol="0" anchor="t"/>
          <a:lstStyle/>
          <a:p>
            <a:pPr lvl="0" algn="l">
              <a:lnSpc>
                <a:spcPct val="116199"/>
              </a:lnSpc>
            </a:pPr>
            <a:r>
              <a:rPr lang="en-US" sz="2666" b="0" i="0" u="none" strike="noStrike">
                <a:solidFill>
                  <a:srgbClr val="000000">
                    <a:alpha val="70196"/>
                  </a:srgbClr>
                </a:solidFill>
                <a:latin typeface="Pretendard Medium"/>
                <a:ea typeface="Pretendard Medium"/>
                <a:cs typeface="Pretendard Medium"/>
              </a:rPr>
              <a:t>기술 난이도 / 필요 권한</a:t>
            </a:r>
          </a:p>
        </p:txBody>
      </p:sp>
      <p:sp>
        <p:nvSpPr>
          <p:cNvPr id="29" name="TextBox 29"/>
          <p:cNvSpPr txBox="1"/>
          <p:nvPr/>
        </p:nvSpPr>
        <p:spPr>
          <a:xfrm>
            <a:off x="9436100" y="10020300"/>
            <a:ext cx="2082800" cy="469900"/>
          </a:xfrm>
          <a:prstGeom prst="rect">
            <a:avLst/>
          </a:prstGeom>
        </p:spPr>
        <p:txBody>
          <a:bodyPr lIns="0" tIns="0" rIns="0" bIns="0" rtlCol="0" anchor="t"/>
          <a:lstStyle/>
          <a:p>
            <a:pPr lvl="0" algn="ctr">
              <a:lnSpc>
                <a:spcPct val="116199"/>
              </a:lnSpc>
            </a:pPr>
            <a:r>
              <a:rPr lang="en-US" sz="2666" b="0" i="0" u="none" strike="noStrike" dirty="0" err="1">
                <a:solidFill>
                  <a:srgbClr val="FFFFFF"/>
                </a:solidFill>
                <a:latin typeface="Pretendard Medium" panose="020B0600000101010101" charset="-127"/>
                <a:ea typeface="Pretendard Medium" panose="020B0600000101010101" charset="-127"/>
                <a:cs typeface="Geologica Roman Light"/>
              </a:rPr>
              <a:t>공격</a:t>
            </a:r>
            <a:r>
              <a:rPr lang="en-US" sz="2666" b="0" i="0" u="none" strike="noStrike" dirty="0">
                <a:solidFill>
                  <a:srgbClr val="FFFFFF"/>
                </a:solidFill>
                <a:latin typeface="Pretendard Medium" panose="020B0600000101010101" charset="-127"/>
                <a:ea typeface="Pretendard Medium" panose="020B0600000101010101" charset="-127"/>
                <a:cs typeface="Geologica Roman Light"/>
              </a:rPr>
              <a:t> </a:t>
            </a:r>
            <a:r>
              <a:rPr lang="en-US" sz="2666" b="0" i="0" u="none" strike="noStrike" dirty="0" err="1">
                <a:solidFill>
                  <a:srgbClr val="FFFFFF"/>
                </a:solidFill>
                <a:latin typeface="Pretendard Medium" panose="020B0600000101010101" charset="-127"/>
                <a:ea typeface="Pretendard Medium" panose="020B0600000101010101" charset="-127"/>
                <a:cs typeface="Geologica Roman Light"/>
              </a:rPr>
              <a:t>용이성</a:t>
            </a:r>
            <a:endParaRPr lang="en-US" sz="2666" b="0" i="0" u="none" strike="noStrike" dirty="0">
              <a:solidFill>
                <a:srgbClr val="FFFFFF"/>
              </a:solidFill>
              <a:latin typeface="Pretendard Medium" panose="020B0600000101010101" charset="-127"/>
              <a:ea typeface="Pretendard Medium" panose="020B0600000101010101" charset="-127"/>
              <a:cs typeface="Geologica Roman Light"/>
            </a:endParaRPr>
          </a:p>
        </p:txBody>
      </p:sp>
      <p:pic>
        <p:nvPicPr>
          <p:cNvPr id="30" name="Picture 30"/>
          <p:cNvPicPr>
            <a:picLocks noChangeAspect="1"/>
          </p:cNvPicPr>
          <p:nvPr/>
        </p:nvPicPr>
        <p:blipFill>
          <a:blip r:embed="rId17"/>
          <a:stretch>
            <a:fillRect/>
          </a:stretch>
        </p:blipFill>
        <p:spPr>
          <a:xfrm>
            <a:off x="13411200" y="9702800"/>
            <a:ext cx="4737100" cy="1917700"/>
          </a:xfrm>
          <a:prstGeom prst="rect">
            <a:avLst/>
          </a:prstGeom>
          <a:effectLst>
            <a:outerShdw blurRad="47946" dist="44258" dir="2700000">
              <a:srgbClr val="1A7AE1">
                <a:alpha val="15000"/>
              </a:srgbClr>
            </a:outerShdw>
          </a:effectLst>
        </p:spPr>
      </p:pic>
      <p:pic>
        <p:nvPicPr>
          <p:cNvPr id="31" name="Picture 31"/>
          <p:cNvPicPr>
            <a:picLocks noChangeAspect="1"/>
          </p:cNvPicPr>
          <p:nvPr/>
        </p:nvPicPr>
        <p:blipFill>
          <a:blip r:embed="rId18"/>
          <a:stretch>
            <a:fillRect/>
          </a:stretch>
        </p:blipFill>
        <p:spPr>
          <a:xfrm>
            <a:off x="13728700" y="10007600"/>
            <a:ext cx="2527300" cy="508000"/>
          </a:xfrm>
          <a:prstGeom prst="rect">
            <a:avLst/>
          </a:prstGeom>
        </p:spPr>
      </p:pic>
      <p:sp>
        <p:nvSpPr>
          <p:cNvPr id="32" name="TextBox 32"/>
          <p:cNvSpPr txBox="1"/>
          <p:nvPr/>
        </p:nvSpPr>
        <p:spPr>
          <a:xfrm>
            <a:off x="13792200" y="10718800"/>
            <a:ext cx="4216400" cy="469900"/>
          </a:xfrm>
          <a:prstGeom prst="rect">
            <a:avLst/>
          </a:prstGeom>
        </p:spPr>
        <p:txBody>
          <a:bodyPr lIns="0" tIns="0" rIns="0" bIns="0" rtlCol="0" anchor="t"/>
          <a:lstStyle/>
          <a:p>
            <a:pPr lvl="0" algn="l">
              <a:lnSpc>
                <a:spcPct val="116199"/>
              </a:lnSpc>
            </a:pPr>
            <a:r>
              <a:rPr lang="en-US" sz="2666" b="0" i="0" u="none" strike="noStrike">
                <a:solidFill>
                  <a:srgbClr val="000000">
                    <a:alpha val="70196"/>
                  </a:srgbClr>
                </a:solidFill>
                <a:latin typeface="Pretendard Medium"/>
                <a:ea typeface="Pretendard Medium"/>
                <a:cs typeface="Pretendard Medium"/>
              </a:rPr>
              <a:t>금전적 손실 / 대외 신뢰도 저하</a:t>
            </a:r>
          </a:p>
        </p:txBody>
      </p:sp>
      <p:sp>
        <p:nvSpPr>
          <p:cNvPr id="33" name="TextBox 33"/>
          <p:cNvSpPr txBox="1"/>
          <p:nvPr/>
        </p:nvSpPr>
        <p:spPr>
          <a:xfrm>
            <a:off x="13868400" y="10020300"/>
            <a:ext cx="2286000" cy="469900"/>
          </a:xfrm>
          <a:prstGeom prst="rect">
            <a:avLst/>
          </a:prstGeom>
        </p:spPr>
        <p:txBody>
          <a:bodyPr lIns="0" tIns="0" rIns="0" bIns="0" rtlCol="0" anchor="t"/>
          <a:lstStyle/>
          <a:p>
            <a:pPr lvl="0" algn="ctr">
              <a:lnSpc>
                <a:spcPct val="116199"/>
              </a:lnSpc>
            </a:pPr>
            <a:r>
              <a:rPr lang="en-US" sz="2666" b="0" i="0" u="none" strike="noStrike" dirty="0" err="1">
                <a:solidFill>
                  <a:srgbClr val="FFFFFF"/>
                </a:solidFill>
                <a:latin typeface="Pretendard Medium" panose="020B0600000101010101" charset="-127"/>
                <a:ea typeface="Pretendard Medium" panose="020B0600000101010101" charset="-127"/>
                <a:cs typeface="Geologica Roman Light"/>
              </a:rPr>
              <a:t>비지니스</a:t>
            </a:r>
            <a:r>
              <a:rPr lang="en-US" sz="2666" b="0" i="0" u="none" strike="noStrike" dirty="0">
                <a:solidFill>
                  <a:srgbClr val="FFFFFF"/>
                </a:solidFill>
                <a:latin typeface="Pretendard Medium" panose="020B0600000101010101" charset="-127"/>
                <a:ea typeface="Pretendard Medium" panose="020B0600000101010101" charset="-127"/>
                <a:cs typeface="Geologica Roman Light"/>
              </a:rPr>
              <a:t> </a:t>
            </a:r>
            <a:r>
              <a:rPr lang="en-US" sz="2666" b="0" i="0" u="none" strike="noStrike" dirty="0" err="1">
                <a:solidFill>
                  <a:srgbClr val="FFFFFF"/>
                </a:solidFill>
                <a:latin typeface="Pretendard Medium" panose="020B0600000101010101" charset="-127"/>
                <a:ea typeface="Pretendard Medium" panose="020B0600000101010101" charset="-127"/>
                <a:cs typeface="Geologica Roman Light"/>
              </a:rPr>
              <a:t>파급력</a:t>
            </a:r>
            <a:endParaRPr lang="en-US" sz="2666" b="0" i="0" u="none" strike="noStrike" dirty="0">
              <a:solidFill>
                <a:srgbClr val="FFFFFF"/>
              </a:solidFill>
              <a:latin typeface="Pretendard Medium" panose="020B0600000101010101" charset="-127"/>
              <a:ea typeface="Pretendard Medium" panose="020B0600000101010101" charset="-127"/>
              <a:cs typeface="Geologica Roman Light"/>
            </a:endParaRPr>
          </a:p>
        </p:txBody>
      </p:sp>
      <p:sp>
        <p:nvSpPr>
          <p:cNvPr id="34" name="TextBox 34"/>
          <p:cNvSpPr txBox="1"/>
          <p:nvPr/>
        </p:nvSpPr>
        <p:spPr>
          <a:xfrm>
            <a:off x="11823700" y="6159500"/>
            <a:ext cx="3556000" cy="1041400"/>
          </a:xfrm>
          <a:prstGeom prst="rect">
            <a:avLst/>
          </a:prstGeom>
        </p:spPr>
        <p:txBody>
          <a:bodyPr lIns="0" tIns="0" rIns="0" bIns="0" rtlCol="0" anchor="t"/>
          <a:lstStyle/>
          <a:p>
            <a:pPr lvl="0" algn="ctr">
              <a:lnSpc>
                <a:spcPct val="116199"/>
              </a:lnSpc>
            </a:pPr>
            <a:r>
              <a:rPr lang="en-US" sz="2933" b="0" i="0" u="none" strike="noStrike">
                <a:solidFill>
                  <a:srgbClr val="FFFFFF">
                    <a:alpha val="70196"/>
                  </a:srgbClr>
                </a:solidFill>
                <a:latin typeface="Pretendard Medium"/>
                <a:ea typeface="Pretendard Medium"/>
                <a:cs typeface="Pretendard Medium"/>
              </a:rPr>
              <a:t>국제 공통</a:t>
            </a:r>
          </a:p>
          <a:p>
            <a:pPr lvl="0" algn="ctr">
              <a:lnSpc>
                <a:spcPct val="116199"/>
              </a:lnSpc>
            </a:pPr>
            <a:r>
              <a:rPr lang="en-US" sz="2933" b="0" i="0" u="none" strike="noStrike">
                <a:solidFill>
                  <a:srgbClr val="FFFFFF">
                    <a:alpha val="70196"/>
                  </a:srgbClr>
                </a:solidFill>
                <a:latin typeface="Pretendard Medium"/>
                <a:ea typeface="Pretendard Medium"/>
                <a:cs typeface="Pretendard Medium"/>
              </a:rPr>
              <a:t>취약점 등급 시스템</a:t>
            </a:r>
          </a:p>
        </p:txBody>
      </p:sp>
      <p:pic>
        <p:nvPicPr>
          <p:cNvPr id="35" name="Picture 35"/>
          <p:cNvPicPr>
            <a:picLocks noChangeAspect="1"/>
          </p:cNvPicPr>
          <p:nvPr/>
        </p:nvPicPr>
        <p:blipFill>
          <a:blip r:embed="rId19"/>
          <a:stretch>
            <a:fillRect/>
          </a:stretch>
        </p:blipFill>
        <p:spPr>
          <a:xfrm>
            <a:off x="18148300" y="10134600"/>
            <a:ext cx="1016000" cy="1155700"/>
          </a:xfrm>
          <a:prstGeom prst="rect">
            <a:avLst/>
          </a:prstGeom>
        </p:spPr>
      </p:pic>
      <p:sp>
        <p:nvSpPr>
          <p:cNvPr id="36" name="TextBox 36"/>
          <p:cNvSpPr txBox="1"/>
          <p:nvPr/>
        </p:nvSpPr>
        <p:spPr>
          <a:xfrm>
            <a:off x="19469100" y="10299700"/>
            <a:ext cx="4102100" cy="711200"/>
          </a:xfrm>
          <a:prstGeom prst="rect">
            <a:avLst/>
          </a:prstGeom>
        </p:spPr>
        <p:txBody>
          <a:bodyPr lIns="0" tIns="0" rIns="0" bIns="0" rtlCol="0" anchor="ctr"/>
          <a:lstStyle/>
          <a:p>
            <a:pPr lvl="0" algn="ctr">
              <a:lnSpc>
                <a:spcPct val="117527"/>
              </a:lnSpc>
            </a:pPr>
            <a:r>
              <a:rPr lang="en-US" sz="3995" b="0" i="0" u="none" strike="noStrike" spc="-300">
                <a:solidFill>
                  <a:srgbClr val="1A7AE1"/>
                </a:solidFill>
                <a:latin typeface="Pretendard Bold"/>
                <a:ea typeface="Pretendard Bold"/>
                <a:cs typeface="Pretendard Bold"/>
              </a:rPr>
              <a:t>" 최종 위험도 결정 "</a:t>
            </a:r>
          </a:p>
        </p:txBody>
      </p:sp>
      <p:sp>
        <p:nvSpPr>
          <p:cNvPr id="37" name="TextBox 37"/>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a:solidFill>
                  <a:srgbClr val="024EA0"/>
                </a:solidFill>
                <a:latin typeface="Geologica Roman Light"/>
                <a:ea typeface="Geologica Roman Light"/>
                <a:cs typeface="Geologica Roman Light"/>
              </a:rPr>
              <a:t>9</a:t>
            </a:r>
          </a:p>
        </p:txBody>
      </p:sp>
      <p:sp>
        <p:nvSpPr>
          <p:cNvPr id="45" name="TextBox 14">
            <a:extLst>
              <a:ext uri="{FF2B5EF4-FFF2-40B4-BE49-F238E27FC236}">
                <a16:creationId xmlns:a16="http://schemas.microsoft.com/office/drawing/2014/main" id="{CDF63C36-FBC9-F556-21C1-FD64B8A9BB09}"/>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46" name="TextBox 14">
            <a:extLst>
              <a:ext uri="{FF2B5EF4-FFF2-40B4-BE49-F238E27FC236}">
                <a16:creationId xmlns:a16="http://schemas.microsoft.com/office/drawing/2014/main" id="{B386E2AD-6074-7CE2-0F05-1F5B8270353A}"/>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52" name="Picture 12">
            <a:extLst>
              <a:ext uri="{FF2B5EF4-FFF2-40B4-BE49-F238E27FC236}">
                <a16:creationId xmlns:a16="http://schemas.microsoft.com/office/drawing/2014/main" id="{86C0D746-AC17-40A1-C1E2-A87C82285935}"/>
              </a:ext>
            </a:extLst>
          </p:cNvPr>
          <p:cNvPicPr>
            <a:picLocks noChangeAspect="1"/>
          </p:cNvPicPr>
          <p:nvPr/>
        </p:nvPicPr>
        <p:blipFill>
          <a:blip r:embed="rId20">
            <a:alphaModFix amt="85000"/>
          </a:blip>
          <a:stretch>
            <a:fillRect/>
          </a:stretch>
        </p:blipFill>
        <p:spPr>
          <a:xfrm>
            <a:off x="9118600" y="571500"/>
            <a:ext cx="1993900" cy="444500"/>
          </a:xfrm>
          <a:prstGeom prst="rect">
            <a:avLst/>
          </a:prstGeom>
        </p:spPr>
      </p:pic>
      <p:sp>
        <p:nvSpPr>
          <p:cNvPr id="53" name="TextBox 13">
            <a:extLst>
              <a:ext uri="{FF2B5EF4-FFF2-40B4-BE49-F238E27FC236}">
                <a16:creationId xmlns:a16="http://schemas.microsoft.com/office/drawing/2014/main" id="{60521769-246C-845E-0B79-8832E0054C59}"/>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54" name="TextBox 15">
            <a:extLst>
              <a:ext uri="{FF2B5EF4-FFF2-40B4-BE49-F238E27FC236}">
                <a16:creationId xmlns:a16="http://schemas.microsoft.com/office/drawing/2014/main" id="{98294D54-1C3F-A505-F148-397149027C6B}"/>
              </a:ext>
            </a:extLst>
          </p:cNvPr>
          <p:cNvSpPr txBox="1"/>
          <p:nvPr/>
        </p:nvSpPr>
        <p:spPr>
          <a:xfrm>
            <a:off x="11353800" y="457200"/>
            <a:ext cx="25273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시나리오</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모의해킹</a:t>
            </a:r>
            <a:endParaRPr lang="en-US" sz="2666" b="0" i="0" u="none" strike="noStrike" spc="-100" dirty="0">
              <a:solidFill>
                <a:srgbClr val="C2C2C2"/>
              </a:solidFill>
              <a:latin typeface="Pretendard SemiBold"/>
              <a:ea typeface="Pretendard SemiBold"/>
              <a:cs typeface="Pretendard SemiBold"/>
            </a:endParaRPr>
          </a:p>
        </p:txBody>
      </p:sp>
      <p:sp>
        <p:nvSpPr>
          <p:cNvPr id="55" name="TextBox 16">
            <a:extLst>
              <a:ext uri="{FF2B5EF4-FFF2-40B4-BE49-F238E27FC236}">
                <a16:creationId xmlns:a16="http://schemas.microsoft.com/office/drawing/2014/main" id="{24746E38-A505-DF97-331C-69C40828F31D}"/>
              </a:ext>
            </a:extLst>
          </p:cNvPr>
          <p:cNvSpPr txBox="1"/>
          <p:nvPr/>
        </p:nvSpPr>
        <p:spPr>
          <a:xfrm>
            <a:off x="14097000" y="4699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56" name="TextBox 17">
            <a:extLst>
              <a:ext uri="{FF2B5EF4-FFF2-40B4-BE49-F238E27FC236}">
                <a16:creationId xmlns:a16="http://schemas.microsoft.com/office/drawing/2014/main" id="{B0E5B732-E9C7-61C8-6D6C-5D5B474B9782}"/>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개발 및 진단</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15430500" y="3009900"/>
            <a:ext cx="7112000" cy="10045700"/>
          </a:xfrm>
          <a:prstGeom prst="rect">
            <a:avLst/>
          </a:prstGeom>
          <a:effectLst>
            <a:outerShdw blurRad="390959" dist="164039" dir="2700000">
              <a:srgbClr val="000000">
                <a:alpha val="23000"/>
              </a:srgbClr>
            </a:outerShdw>
          </a:effectLst>
        </p:spPr>
      </p:pic>
      <p:pic>
        <p:nvPicPr>
          <p:cNvPr id="4" name="Picture 4"/>
          <p:cNvPicPr>
            <a:picLocks noChangeAspect="1"/>
          </p:cNvPicPr>
          <p:nvPr/>
        </p:nvPicPr>
        <p:blipFill>
          <a:blip r:embed="rId4"/>
          <a:stretch>
            <a:fillRect/>
          </a:stretch>
        </p:blipFill>
        <p:spPr>
          <a:xfrm>
            <a:off x="762000" y="1092200"/>
            <a:ext cx="22860000" cy="12700"/>
          </a:xfrm>
          <a:prstGeom prst="rect">
            <a:avLst/>
          </a:prstGeom>
        </p:spPr>
      </p:pic>
      <p:pic>
        <p:nvPicPr>
          <p:cNvPr id="5" name="Picture 5"/>
          <p:cNvPicPr>
            <a:picLocks noChangeAspect="1"/>
          </p:cNvPicPr>
          <p:nvPr/>
        </p:nvPicPr>
        <p:blipFill>
          <a:blip r:embed="rId5"/>
          <a:stretch>
            <a:fillRect/>
          </a:stretch>
        </p:blipFill>
        <p:spPr>
          <a:xfrm rot="5400000">
            <a:off x="3200400" y="787400"/>
            <a:ext cx="635000" cy="12700"/>
          </a:xfrm>
          <a:prstGeom prst="rect">
            <a:avLst/>
          </a:prstGeom>
        </p:spPr>
      </p:pic>
      <p:pic>
        <p:nvPicPr>
          <p:cNvPr id="6" name="Picture 6"/>
          <p:cNvPicPr>
            <a:picLocks noChangeAspect="1"/>
          </p:cNvPicPr>
          <p:nvPr/>
        </p:nvPicPr>
        <p:blipFill>
          <a:blip r:embed="rId5"/>
          <a:stretch>
            <a:fillRect/>
          </a:stretch>
        </p:blipFill>
        <p:spPr>
          <a:xfrm rot="5400000">
            <a:off x="22225000" y="787400"/>
            <a:ext cx="635000" cy="12700"/>
          </a:xfrm>
          <a:prstGeom prst="rect">
            <a:avLst/>
          </a:prstGeom>
        </p:spPr>
      </p:pic>
      <p:pic>
        <p:nvPicPr>
          <p:cNvPr id="7" name="Picture 7"/>
          <p:cNvPicPr>
            <a:picLocks noChangeAspect="1"/>
          </p:cNvPicPr>
          <p:nvPr/>
        </p:nvPicPr>
        <p:blipFill>
          <a:blip r:embed="rId5"/>
          <a:stretch>
            <a:fillRect/>
          </a:stretch>
        </p:blipFill>
        <p:spPr>
          <a:xfrm rot="5400000">
            <a:off x="6337300" y="787400"/>
            <a:ext cx="635000" cy="12700"/>
          </a:xfrm>
          <a:prstGeom prst="rect">
            <a:avLst/>
          </a:prstGeom>
        </p:spPr>
      </p:pic>
      <p:pic>
        <p:nvPicPr>
          <p:cNvPr id="8" name="Picture 8"/>
          <p:cNvPicPr>
            <a:picLocks noChangeAspect="1"/>
          </p:cNvPicPr>
          <p:nvPr/>
        </p:nvPicPr>
        <p:blipFill>
          <a:blip r:embed="rId4"/>
          <a:stretch>
            <a:fillRect/>
          </a:stretch>
        </p:blipFill>
        <p:spPr>
          <a:xfrm>
            <a:off x="723900" y="457200"/>
            <a:ext cx="22860000" cy="12700"/>
          </a:xfrm>
          <a:prstGeom prst="rect">
            <a:avLst/>
          </a:prstGeom>
        </p:spPr>
      </p:pic>
      <p:pic>
        <p:nvPicPr>
          <p:cNvPr id="10" name="Picture 10"/>
          <p:cNvPicPr>
            <a:picLocks noChangeAspect="1"/>
          </p:cNvPicPr>
          <p:nvPr/>
        </p:nvPicPr>
        <p:blipFill>
          <a:blip r:embed="rId6"/>
          <a:stretch>
            <a:fillRect/>
          </a:stretch>
        </p:blipFill>
        <p:spPr>
          <a:xfrm>
            <a:off x="1485900" y="1612900"/>
            <a:ext cx="88900" cy="850900"/>
          </a:xfrm>
          <a:prstGeom prst="rect">
            <a:avLst/>
          </a:prstGeom>
        </p:spPr>
      </p:pic>
      <p:sp>
        <p:nvSpPr>
          <p:cNvPr id="11" name="TextBox 11"/>
          <p:cNvSpPr txBox="1"/>
          <p:nvPr/>
        </p:nvSpPr>
        <p:spPr>
          <a:xfrm>
            <a:off x="1943100" y="1409700"/>
            <a:ext cx="106807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Web 취약점 진단 보고서</a:t>
            </a:r>
          </a:p>
        </p:txBody>
      </p:sp>
      <p:sp>
        <p:nvSpPr>
          <p:cNvPr id="12" name="TextBox 12"/>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a:solidFill>
                  <a:srgbClr val="024EA0"/>
                </a:solidFill>
                <a:latin typeface="Geologica Roman Light"/>
                <a:ea typeface="Geologica Roman Light"/>
                <a:cs typeface="Geologica Roman Light"/>
              </a:rPr>
              <a:t>10</a:t>
            </a:r>
          </a:p>
        </p:txBody>
      </p:sp>
      <p:pic>
        <p:nvPicPr>
          <p:cNvPr id="19" name="Picture 19"/>
          <p:cNvPicPr>
            <a:picLocks noChangeAspect="1"/>
          </p:cNvPicPr>
          <p:nvPr/>
        </p:nvPicPr>
        <p:blipFill>
          <a:blip r:embed="rId7"/>
          <a:stretch>
            <a:fillRect/>
          </a:stretch>
        </p:blipFill>
        <p:spPr>
          <a:xfrm>
            <a:off x="11049000" y="2984500"/>
            <a:ext cx="7124700" cy="10083800"/>
          </a:xfrm>
          <a:prstGeom prst="rect">
            <a:avLst/>
          </a:prstGeom>
          <a:effectLst>
            <a:outerShdw blurRad="391583" dist="164301" dir="2700000">
              <a:srgbClr val="000000">
                <a:alpha val="23000"/>
              </a:srgbClr>
            </a:outerShdw>
          </a:effectLst>
        </p:spPr>
      </p:pic>
      <p:pic>
        <p:nvPicPr>
          <p:cNvPr id="20" name="Picture 20"/>
          <p:cNvPicPr>
            <a:picLocks noChangeAspect="1"/>
          </p:cNvPicPr>
          <p:nvPr/>
        </p:nvPicPr>
        <p:blipFill>
          <a:blip r:embed="rId8"/>
          <a:stretch>
            <a:fillRect/>
          </a:stretch>
        </p:blipFill>
        <p:spPr>
          <a:xfrm>
            <a:off x="6553200" y="2997200"/>
            <a:ext cx="7124700" cy="10071100"/>
          </a:xfrm>
          <a:prstGeom prst="rect">
            <a:avLst/>
          </a:prstGeom>
          <a:effectLst>
            <a:outerShdw blurRad="392198" dist="164559" dir="2700000">
              <a:srgbClr val="000000">
                <a:alpha val="23000"/>
              </a:srgbClr>
            </a:outerShdw>
          </a:effectLst>
        </p:spPr>
      </p:pic>
      <p:pic>
        <p:nvPicPr>
          <p:cNvPr id="21" name="Picture 21"/>
          <p:cNvPicPr>
            <a:picLocks noChangeAspect="1"/>
          </p:cNvPicPr>
          <p:nvPr/>
        </p:nvPicPr>
        <p:blipFill>
          <a:blip r:embed="rId9"/>
          <a:stretch>
            <a:fillRect/>
          </a:stretch>
        </p:blipFill>
        <p:spPr>
          <a:xfrm>
            <a:off x="1739900" y="2997200"/>
            <a:ext cx="7124700" cy="10045700"/>
          </a:xfrm>
          <a:prstGeom prst="rect">
            <a:avLst/>
          </a:prstGeom>
          <a:effectLst>
            <a:outerShdw blurRad="391583" dist="164301" dir="2700000">
              <a:srgbClr val="000000">
                <a:alpha val="23000"/>
              </a:srgbClr>
            </a:outerShdw>
          </a:effectLst>
        </p:spPr>
      </p:pic>
      <p:sp>
        <p:nvSpPr>
          <p:cNvPr id="23" name="TextBox 14">
            <a:extLst>
              <a:ext uri="{FF2B5EF4-FFF2-40B4-BE49-F238E27FC236}">
                <a16:creationId xmlns:a16="http://schemas.microsoft.com/office/drawing/2014/main" id="{AB5CA089-1940-98EE-3868-1C09CC4032AC}"/>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4" name="TextBox 14">
            <a:extLst>
              <a:ext uri="{FF2B5EF4-FFF2-40B4-BE49-F238E27FC236}">
                <a16:creationId xmlns:a16="http://schemas.microsoft.com/office/drawing/2014/main" id="{4CE8A5C5-81C4-7C13-B513-54F220E92065}"/>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35" name="Picture 12">
            <a:extLst>
              <a:ext uri="{FF2B5EF4-FFF2-40B4-BE49-F238E27FC236}">
                <a16:creationId xmlns:a16="http://schemas.microsoft.com/office/drawing/2014/main" id="{DAEE1649-03B4-1DB4-0F66-9DABA6882CA5}"/>
              </a:ext>
            </a:extLst>
          </p:cNvPr>
          <p:cNvPicPr>
            <a:picLocks noChangeAspect="1"/>
          </p:cNvPicPr>
          <p:nvPr/>
        </p:nvPicPr>
        <p:blipFill>
          <a:blip r:embed="rId10">
            <a:alphaModFix amt="85000"/>
          </a:blip>
          <a:stretch>
            <a:fillRect/>
          </a:stretch>
        </p:blipFill>
        <p:spPr>
          <a:xfrm>
            <a:off x="9118600" y="571500"/>
            <a:ext cx="1993900" cy="444500"/>
          </a:xfrm>
          <a:prstGeom prst="rect">
            <a:avLst/>
          </a:prstGeom>
        </p:spPr>
      </p:pic>
      <p:sp>
        <p:nvSpPr>
          <p:cNvPr id="36" name="TextBox 13">
            <a:extLst>
              <a:ext uri="{FF2B5EF4-FFF2-40B4-BE49-F238E27FC236}">
                <a16:creationId xmlns:a16="http://schemas.microsoft.com/office/drawing/2014/main" id="{7D8D6644-916D-0CA8-424C-8B2A17F8CA19}"/>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37" name="TextBox 15">
            <a:extLst>
              <a:ext uri="{FF2B5EF4-FFF2-40B4-BE49-F238E27FC236}">
                <a16:creationId xmlns:a16="http://schemas.microsoft.com/office/drawing/2014/main" id="{4DB5EBD5-1251-8944-8ECC-62610A3F9E2D}"/>
              </a:ext>
            </a:extLst>
          </p:cNvPr>
          <p:cNvSpPr txBox="1"/>
          <p:nvPr/>
        </p:nvSpPr>
        <p:spPr>
          <a:xfrm>
            <a:off x="11353800" y="457200"/>
            <a:ext cx="25273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시나리오</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모의해킹</a:t>
            </a:r>
            <a:endParaRPr lang="en-US" sz="2666" b="0" i="0" u="none" strike="noStrike" spc="-100" dirty="0">
              <a:solidFill>
                <a:srgbClr val="C2C2C2"/>
              </a:solidFill>
              <a:latin typeface="Pretendard SemiBold"/>
              <a:ea typeface="Pretendard SemiBold"/>
              <a:cs typeface="Pretendard SemiBold"/>
            </a:endParaRPr>
          </a:p>
        </p:txBody>
      </p:sp>
      <p:sp>
        <p:nvSpPr>
          <p:cNvPr id="38" name="TextBox 16">
            <a:extLst>
              <a:ext uri="{FF2B5EF4-FFF2-40B4-BE49-F238E27FC236}">
                <a16:creationId xmlns:a16="http://schemas.microsoft.com/office/drawing/2014/main" id="{1FC964C9-1F27-EAB9-76AE-52641BA4492A}"/>
              </a:ext>
            </a:extLst>
          </p:cNvPr>
          <p:cNvSpPr txBox="1"/>
          <p:nvPr/>
        </p:nvSpPr>
        <p:spPr>
          <a:xfrm>
            <a:off x="14097000" y="4699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39" name="TextBox 17">
            <a:extLst>
              <a:ext uri="{FF2B5EF4-FFF2-40B4-BE49-F238E27FC236}">
                <a16:creationId xmlns:a16="http://schemas.microsoft.com/office/drawing/2014/main" id="{5F87CD4C-3BA1-B105-8456-5B3CC03A2319}"/>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개발 및 진단</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9" name="Picture 9"/>
          <p:cNvPicPr>
            <a:picLocks noChangeAspect="1"/>
          </p:cNvPicPr>
          <p:nvPr/>
        </p:nvPicPr>
        <p:blipFill>
          <a:blip r:embed="rId5"/>
          <a:stretch>
            <a:fillRect/>
          </a:stretch>
        </p:blipFill>
        <p:spPr>
          <a:xfrm>
            <a:off x="1485900" y="1612900"/>
            <a:ext cx="88900" cy="850900"/>
          </a:xfrm>
          <a:prstGeom prst="rect">
            <a:avLst/>
          </a:prstGeom>
        </p:spPr>
      </p:pic>
      <p:sp>
        <p:nvSpPr>
          <p:cNvPr id="10" name="TextBox 10"/>
          <p:cNvSpPr txBox="1"/>
          <p:nvPr/>
        </p:nvSpPr>
        <p:spPr>
          <a:xfrm>
            <a:off x="1943100" y="1409700"/>
            <a:ext cx="106807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App 취약점 진단 보고서</a:t>
            </a:r>
          </a:p>
        </p:txBody>
      </p:sp>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a:solidFill>
                  <a:srgbClr val="024EA0"/>
                </a:solidFill>
                <a:latin typeface="Geologica Roman Light"/>
                <a:ea typeface="Geologica Roman Light"/>
                <a:cs typeface="Geologica Roman Light"/>
              </a:rPr>
              <a:t>11</a:t>
            </a:r>
          </a:p>
        </p:txBody>
      </p:sp>
      <p:pic>
        <p:nvPicPr>
          <p:cNvPr id="18" name="Picture 18"/>
          <p:cNvPicPr>
            <a:picLocks noChangeAspect="1"/>
          </p:cNvPicPr>
          <p:nvPr/>
        </p:nvPicPr>
        <p:blipFill>
          <a:blip r:embed="rId6"/>
          <a:stretch>
            <a:fillRect/>
          </a:stretch>
        </p:blipFill>
        <p:spPr>
          <a:xfrm>
            <a:off x="15506700" y="2997200"/>
            <a:ext cx="7035800" cy="9982200"/>
          </a:xfrm>
          <a:prstGeom prst="rect">
            <a:avLst/>
          </a:prstGeom>
          <a:effectLst>
            <a:outerShdw blurRad="387045" dist="162397" dir="2700000">
              <a:srgbClr val="000000">
                <a:alpha val="23000"/>
              </a:srgbClr>
            </a:outerShdw>
          </a:effectLst>
        </p:spPr>
      </p:pic>
      <p:pic>
        <p:nvPicPr>
          <p:cNvPr id="19" name="Picture 19"/>
          <p:cNvPicPr>
            <a:picLocks noChangeAspect="1"/>
          </p:cNvPicPr>
          <p:nvPr/>
        </p:nvPicPr>
        <p:blipFill>
          <a:blip r:embed="rId7"/>
          <a:stretch>
            <a:fillRect/>
          </a:stretch>
        </p:blipFill>
        <p:spPr>
          <a:xfrm>
            <a:off x="11061700" y="2997200"/>
            <a:ext cx="7099300" cy="9994900"/>
          </a:xfrm>
          <a:prstGeom prst="rect">
            <a:avLst/>
          </a:prstGeom>
          <a:effectLst>
            <a:outerShdw blurRad="390535" dist="163861" dir="2700000">
              <a:srgbClr val="000000">
                <a:alpha val="23000"/>
              </a:srgbClr>
            </a:outerShdw>
          </a:effectLst>
        </p:spPr>
      </p:pic>
      <p:pic>
        <p:nvPicPr>
          <p:cNvPr id="20" name="Picture 20"/>
          <p:cNvPicPr>
            <a:picLocks noChangeAspect="1"/>
          </p:cNvPicPr>
          <p:nvPr/>
        </p:nvPicPr>
        <p:blipFill>
          <a:blip r:embed="rId8"/>
          <a:stretch>
            <a:fillRect/>
          </a:stretch>
        </p:blipFill>
        <p:spPr>
          <a:xfrm>
            <a:off x="6337300" y="2997200"/>
            <a:ext cx="7086600" cy="9994900"/>
          </a:xfrm>
          <a:prstGeom prst="rect">
            <a:avLst/>
          </a:prstGeom>
          <a:effectLst>
            <a:outerShdw blurRad="389842" dist="163570" dir="2700000">
              <a:srgbClr val="000000">
                <a:alpha val="23000"/>
              </a:srgbClr>
            </a:outerShdw>
          </a:effectLst>
        </p:spPr>
      </p:pic>
      <p:pic>
        <p:nvPicPr>
          <p:cNvPr id="21" name="Picture 21"/>
          <p:cNvPicPr>
            <a:picLocks noChangeAspect="1"/>
          </p:cNvPicPr>
          <p:nvPr/>
        </p:nvPicPr>
        <p:blipFill>
          <a:blip r:embed="rId9"/>
          <a:stretch>
            <a:fillRect/>
          </a:stretch>
        </p:blipFill>
        <p:spPr>
          <a:xfrm>
            <a:off x="1778000" y="2997200"/>
            <a:ext cx="7073900" cy="9994900"/>
          </a:xfrm>
          <a:prstGeom prst="rect">
            <a:avLst/>
          </a:prstGeom>
          <a:effectLst>
            <a:outerShdw blurRad="389308" dist="163346" dir="2700000">
              <a:srgbClr val="000000">
                <a:alpha val="23000"/>
              </a:srgbClr>
            </a:outerShdw>
          </a:effectLst>
        </p:spPr>
      </p:pic>
      <p:sp>
        <p:nvSpPr>
          <p:cNvPr id="23" name="TextBox 14">
            <a:extLst>
              <a:ext uri="{FF2B5EF4-FFF2-40B4-BE49-F238E27FC236}">
                <a16:creationId xmlns:a16="http://schemas.microsoft.com/office/drawing/2014/main" id="{9D5E4A72-10C1-E746-349E-5D9742F1E95A}"/>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4" name="TextBox 14">
            <a:extLst>
              <a:ext uri="{FF2B5EF4-FFF2-40B4-BE49-F238E27FC236}">
                <a16:creationId xmlns:a16="http://schemas.microsoft.com/office/drawing/2014/main" id="{368BA1B1-7108-F704-F43D-047FDCDC3608}"/>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36" name="Picture 12">
            <a:extLst>
              <a:ext uri="{FF2B5EF4-FFF2-40B4-BE49-F238E27FC236}">
                <a16:creationId xmlns:a16="http://schemas.microsoft.com/office/drawing/2014/main" id="{D7CC5F9F-C697-EAEF-A2F7-52ACE57EB36F}"/>
              </a:ext>
            </a:extLst>
          </p:cNvPr>
          <p:cNvPicPr>
            <a:picLocks noChangeAspect="1"/>
          </p:cNvPicPr>
          <p:nvPr/>
        </p:nvPicPr>
        <p:blipFill>
          <a:blip r:embed="rId10">
            <a:alphaModFix amt="85000"/>
          </a:blip>
          <a:stretch>
            <a:fillRect/>
          </a:stretch>
        </p:blipFill>
        <p:spPr>
          <a:xfrm>
            <a:off x="9118600" y="571500"/>
            <a:ext cx="1993900" cy="444500"/>
          </a:xfrm>
          <a:prstGeom prst="rect">
            <a:avLst/>
          </a:prstGeom>
        </p:spPr>
      </p:pic>
      <p:sp>
        <p:nvSpPr>
          <p:cNvPr id="37" name="TextBox 13">
            <a:extLst>
              <a:ext uri="{FF2B5EF4-FFF2-40B4-BE49-F238E27FC236}">
                <a16:creationId xmlns:a16="http://schemas.microsoft.com/office/drawing/2014/main" id="{51CB8527-EEBE-3849-A994-DEEE9832EFC9}"/>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38" name="TextBox 15">
            <a:extLst>
              <a:ext uri="{FF2B5EF4-FFF2-40B4-BE49-F238E27FC236}">
                <a16:creationId xmlns:a16="http://schemas.microsoft.com/office/drawing/2014/main" id="{73F59013-4A67-2230-59C5-13C1CACCDF46}"/>
              </a:ext>
            </a:extLst>
          </p:cNvPr>
          <p:cNvSpPr txBox="1"/>
          <p:nvPr/>
        </p:nvSpPr>
        <p:spPr>
          <a:xfrm>
            <a:off x="11353800" y="457200"/>
            <a:ext cx="25273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시나리오</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모의해킹</a:t>
            </a:r>
            <a:endParaRPr lang="en-US" sz="2666" b="0" i="0" u="none" strike="noStrike" spc="-100" dirty="0">
              <a:solidFill>
                <a:srgbClr val="C2C2C2"/>
              </a:solidFill>
              <a:latin typeface="Pretendard SemiBold"/>
              <a:ea typeface="Pretendard SemiBold"/>
              <a:cs typeface="Pretendard SemiBold"/>
            </a:endParaRPr>
          </a:p>
        </p:txBody>
      </p:sp>
      <p:sp>
        <p:nvSpPr>
          <p:cNvPr id="39" name="TextBox 16">
            <a:extLst>
              <a:ext uri="{FF2B5EF4-FFF2-40B4-BE49-F238E27FC236}">
                <a16:creationId xmlns:a16="http://schemas.microsoft.com/office/drawing/2014/main" id="{EE7863E6-311F-5920-3E72-E38FA673FA40}"/>
              </a:ext>
            </a:extLst>
          </p:cNvPr>
          <p:cNvSpPr txBox="1"/>
          <p:nvPr/>
        </p:nvSpPr>
        <p:spPr>
          <a:xfrm>
            <a:off x="14097000" y="4699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40" name="TextBox 17">
            <a:extLst>
              <a:ext uri="{FF2B5EF4-FFF2-40B4-BE49-F238E27FC236}">
                <a16:creationId xmlns:a16="http://schemas.microsoft.com/office/drawing/2014/main" id="{C068CD04-1CD2-4CF1-0A99-63CF26E23A58}"/>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개발 및 진단</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sp>
        <p:nvSpPr>
          <p:cNvPr id="9" name="TextBox 9"/>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a:solidFill>
                  <a:srgbClr val="024EA0"/>
                </a:solidFill>
                <a:latin typeface="Geologica Roman Light"/>
                <a:ea typeface="Geologica Roman Light"/>
                <a:cs typeface="Geologica Roman Light"/>
              </a:rPr>
              <a:t>12</a:t>
            </a:r>
          </a:p>
        </p:txBody>
      </p:sp>
      <p:pic>
        <p:nvPicPr>
          <p:cNvPr id="16" name="Picture 16"/>
          <p:cNvPicPr>
            <a:picLocks noChangeAspect="1"/>
          </p:cNvPicPr>
          <p:nvPr/>
        </p:nvPicPr>
        <p:blipFill>
          <a:blip r:embed="rId5"/>
          <a:stretch>
            <a:fillRect/>
          </a:stretch>
        </p:blipFill>
        <p:spPr>
          <a:xfrm>
            <a:off x="5435600" y="11696700"/>
            <a:ext cx="3263900" cy="1143000"/>
          </a:xfrm>
          <a:prstGeom prst="rect">
            <a:avLst/>
          </a:prstGeom>
          <a:effectLst>
            <a:outerShdw blurRad="28428" dist="26242" dir="2700000">
              <a:srgbClr val="1A7AE1">
                <a:alpha val="15000"/>
              </a:srgbClr>
            </a:outerShdw>
          </a:effectLst>
        </p:spPr>
      </p:pic>
      <p:pic>
        <p:nvPicPr>
          <p:cNvPr id="17" name="Picture 17"/>
          <p:cNvPicPr>
            <a:picLocks noChangeAspect="1"/>
          </p:cNvPicPr>
          <p:nvPr/>
        </p:nvPicPr>
        <p:blipFill>
          <a:blip r:embed="rId6"/>
          <a:stretch>
            <a:fillRect/>
          </a:stretch>
        </p:blipFill>
        <p:spPr>
          <a:xfrm>
            <a:off x="1841500" y="11696700"/>
            <a:ext cx="3263900" cy="1143000"/>
          </a:xfrm>
          <a:prstGeom prst="rect">
            <a:avLst/>
          </a:prstGeom>
          <a:effectLst>
            <a:outerShdw blurRad="28428" dist="26242" dir="2700000">
              <a:srgbClr val="1A7AE1">
                <a:alpha val="15000"/>
              </a:srgbClr>
            </a:outerShdw>
          </a:effectLst>
        </p:spPr>
      </p:pic>
      <p:pic>
        <p:nvPicPr>
          <p:cNvPr id="18" name="Picture 18"/>
          <p:cNvPicPr>
            <a:picLocks noChangeAspect="1"/>
          </p:cNvPicPr>
          <p:nvPr/>
        </p:nvPicPr>
        <p:blipFill>
          <a:blip r:embed="rId5"/>
          <a:stretch>
            <a:fillRect/>
          </a:stretch>
        </p:blipFill>
        <p:spPr>
          <a:xfrm>
            <a:off x="9029700" y="11696700"/>
            <a:ext cx="3263900" cy="1143000"/>
          </a:xfrm>
          <a:prstGeom prst="rect">
            <a:avLst/>
          </a:prstGeom>
          <a:effectLst>
            <a:outerShdw blurRad="28428" dist="26242" dir="2700000">
              <a:srgbClr val="1A7AE1">
                <a:alpha val="15000"/>
              </a:srgbClr>
            </a:outerShdw>
          </a:effectLst>
        </p:spPr>
      </p:pic>
      <p:sp>
        <p:nvSpPr>
          <p:cNvPr id="19" name="TextBox 19"/>
          <p:cNvSpPr txBox="1"/>
          <p:nvPr/>
        </p:nvSpPr>
        <p:spPr>
          <a:xfrm>
            <a:off x="2413000" y="12065000"/>
            <a:ext cx="2095500" cy="457200"/>
          </a:xfrm>
          <a:prstGeom prst="rect">
            <a:avLst/>
          </a:prstGeom>
        </p:spPr>
        <p:txBody>
          <a:bodyPr lIns="0" tIns="27370" rIns="0" bIns="0" rtlCol="0" anchor="t"/>
          <a:lstStyle/>
          <a:p>
            <a:pPr lvl="0" algn="ctr">
              <a:lnSpc>
                <a:spcPct val="107899"/>
              </a:lnSpc>
            </a:pPr>
            <a:r>
              <a:rPr lang="en-US" sz="2578" b="0" i="0" u="none" strike="noStrike" spc="-100">
                <a:solidFill>
                  <a:srgbClr val="000000"/>
                </a:solidFill>
                <a:latin typeface="Pretendard SemiBold"/>
                <a:ea typeface="Pretendard SemiBold"/>
                <a:cs typeface="Pretendard SemiBold"/>
              </a:rPr>
              <a:t>진단 항목 35개</a:t>
            </a:r>
          </a:p>
        </p:txBody>
      </p:sp>
      <p:pic>
        <p:nvPicPr>
          <p:cNvPr id="20" name="Picture 20"/>
          <p:cNvPicPr>
            <a:picLocks noChangeAspect="1"/>
          </p:cNvPicPr>
          <p:nvPr/>
        </p:nvPicPr>
        <p:blipFill>
          <a:blip r:embed="rId7"/>
          <a:stretch>
            <a:fillRect/>
          </a:stretch>
        </p:blipFill>
        <p:spPr>
          <a:xfrm>
            <a:off x="5435600" y="11696700"/>
            <a:ext cx="3263900" cy="1143000"/>
          </a:xfrm>
          <a:prstGeom prst="rect">
            <a:avLst/>
          </a:prstGeom>
          <a:effectLst>
            <a:outerShdw blurRad="28428" dist="26242" dir="2700000">
              <a:srgbClr val="1A7AE1">
                <a:alpha val="15000"/>
              </a:srgbClr>
            </a:outerShdw>
          </a:effectLst>
        </p:spPr>
      </p:pic>
      <p:sp>
        <p:nvSpPr>
          <p:cNvPr id="21" name="TextBox 21"/>
          <p:cNvSpPr txBox="1"/>
          <p:nvPr/>
        </p:nvSpPr>
        <p:spPr>
          <a:xfrm>
            <a:off x="9283700" y="12065000"/>
            <a:ext cx="2781300" cy="419100"/>
          </a:xfrm>
          <a:prstGeom prst="rect">
            <a:avLst/>
          </a:prstGeom>
        </p:spPr>
        <p:txBody>
          <a:bodyPr lIns="0" tIns="25166" rIns="0" bIns="0" rtlCol="0" anchor="t"/>
          <a:lstStyle/>
          <a:p>
            <a:pPr lvl="0" algn="ctr">
              <a:lnSpc>
                <a:spcPct val="107899"/>
              </a:lnSpc>
            </a:pPr>
            <a:r>
              <a:rPr lang="en-US" sz="2371" b="0" i="0" u="none" strike="noStrike" spc="-100">
                <a:solidFill>
                  <a:srgbClr val="FFFFFF"/>
                </a:solidFill>
                <a:latin typeface="Pretendard SemiBold"/>
                <a:ea typeface="Pretendard SemiBold"/>
                <a:cs typeface="Pretendard SemiBold"/>
              </a:rPr>
              <a:t>취약 - 15개</a:t>
            </a:r>
          </a:p>
        </p:txBody>
      </p:sp>
      <p:sp>
        <p:nvSpPr>
          <p:cNvPr id="22" name="TextBox 22"/>
          <p:cNvSpPr txBox="1"/>
          <p:nvPr/>
        </p:nvSpPr>
        <p:spPr>
          <a:xfrm>
            <a:off x="5575300" y="12077700"/>
            <a:ext cx="2781300" cy="419100"/>
          </a:xfrm>
          <a:prstGeom prst="rect">
            <a:avLst/>
          </a:prstGeom>
        </p:spPr>
        <p:txBody>
          <a:bodyPr lIns="0" tIns="25166" rIns="0" bIns="0" rtlCol="0" anchor="t"/>
          <a:lstStyle/>
          <a:p>
            <a:pPr lvl="0" algn="ctr">
              <a:lnSpc>
                <a:spcPct val="107899"/>
              </a:lnSpc>
            </a:pPr>
            <a:r>
              <a:rPr lang="en-US" sz="2371" b="0" i="0" u="none" strike="noStrike" spc="-100">
                <a:solidFill>
                  <a:srgbClr val="FFFFFF"/>
                </a:solidFill>
                <a:latin typeface="Pretendard SemiBold"/>
                <a:ea typeface="Pretendard SemiBold"/>
                <a:cs typeface="Pretendard SemiBold"/>
              </a:rPr>
              <a:t>양호 - 20개</a:t>
            </a:r>
          </a:p>
        </p:txBody>
      </p:sp>
      <p:pic>
        <p:nvPicPr>
          <p:cNvPr id="23" name="Picture 23"/>
          <p:cNvPicPr>
            <a:picLocks noChangeAspect="1"/>
          </p:cNvPicPr>
          <p:nvPr/>
        </p:nvPicPr>
        <p:blipFill>
          <a:blip r:embed="rId8"/>
          <a:stretch>
            <a:fillRect/>
          </a:stretch>
        </p:blipFill>
        <p:spPr>
          <a:xfrm>
            <a:off x="1511300" y="1612900"/>
            <a:ext cx="88900" cy="850900"/>
          </a:xfrm>
          <a:prstGeom prst="rect">
            <a:avLst/>
          </a:prstGeom>
        </p:spPr>
      </p:pic>
      <p:sp>
        <p:nvSpPr>
          <p:cNvPr id="24" name="TextBox 24"/>
          <p:cNvSpPr txBox="1"/>
          <p:nvPr/>
        </p:nvSpPr>
        <p:spPr>
          <a:xfrm>
            <a:off x="1955800" y="1409700"/>
            <a:ext cx="106807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Web 진단 결과</a:t>
            </a:r>
          </a:p>
        </p:txBody>
      </p:sp>
      <p:pic>
        <p:nvPicPr>
          <p:cNvPr id="25" name="Picture 25"/>
          <p:cNvPicPr>
            <a:picLocks noChangeAspect="1"/>
          </p:cNvPicPr>
          <p:nvPr/>
        </p:nvPicPr>
        <p:blipFill>
          <a:blip r:embed="rId9">
            <a:alphaModFix amt="27000"/>
          </a:blip>
          <a:stretch>
            <a:fillRect/>
          </a:stretch>
        </p:blipFill>
        <p:spPr>
          <a:xfrm>
            <a:off x="12407900" y="12217400"/>
            <a:ext cx="685800" cy="50800"/>
          </a:xfrm>
          <a:prstGeom prst="rect">
            <a:avLst/>
          </a:prstGeom>
        </p:spPr>
      </p:pic>
      <p:pic>
        <p:nvPicPr>
          <p:cNvPr id="26" name="Picture 26"/>
          <p:cNvPicPr>
            <a:picLocks noChangeAspect="1"/>
          </p:cNvPicPr>
          <p:nvPr/>
        </p:nvPicPr>
        <p:blipFill>
          <a:blip r:embed="rId10">
            <a:alphaModFix amt="27000"/>
          </a:blip>
          <a:stretch>
            <a:fillRect/>
          </a:stretch>
        </p:blipFill>
        <p:spPr>
          <a:xfrm rot="5400000">
            <a:off x="10528300" y="9664700"/>
            <a:ext cx="5219700" cy="50800"/>
          </a:xfrm>
          <a:prstGeom prst="rect">
            <a:avLst/>
          </a:prstGeom>
        </p:spPr>
      </p:pic>
      <p:pic>
        <p:nvPicPr>
          <p:cNvPr id="27" name="Picture 27"/>
          <p:cNvPicPr>
            <a:picLocks noChangeAspect="1"/>
          </p:cNvPicPr>
          <p:nvPr/>
        </p:nvPicPr>
        <p:blipFill>
          <a:blip r:embed="rId11">
            <a:alphaModFix amt="27000"/>
          </a:blip>
          <a:stretch>
            <a:fillRect/>
          </a:stretch>
        </p:blipFill>
        <p:spPr>
          <a:xfrm>
            <a:off x="13106400" y="6946900"/>
            <a:ext cx="660400" cy="50800"/>
          </a:xfrm>
          <a:prstGeom prst="rect">
            <a:avLst/>
          </a:prstGeom>
        </p:spPr>
      </p:pic>
      <p:pic>
        <p:nvPicPr>
          <p:cNvPr id="28" name="Picture 28"/>
          <p:cNvPicPr>
            <a:picLocks noChangeAspect="1"/>
          </p:cNvPicPr>
          <p:nvPr/>
        </p:nvPicPr>
        <p:blipFill>
          <a:blip r:embed="rId12">
            <a:alphaModFix amt="27000"/>
          </a:blip>
          <a:stretch>
            <a:fillRect/>
          </a:stretch>
        </p:blipFill>
        <p:spPr>
          <a:xfrm>
            <a:off x="13817600" y="6896100"/>
            <a:ext cx="114300" cy="139700"/>
          </a:xfrm>
          <a:prstGeom prst="rect">
            <a:avLst/>
          </a:prstGeom>
        </p:spPr>
      </p:pic>
      <p:pic>
        <p:nvPicPr>
          <p:cNvPr id="29" name="Picture 29"/>
          <p:cNvPicPr>
            <a:picLocks noChangeAspect="1"/>
          </p:cNvPicPr>
          <p:nvPr/>
        </p:nvPicPr>
        <p:blipFill>
          <a:blip r:embed="rId13"/>
          <a:stretch>
            <a:fillRect/>
          </a:stretch>
        </p:blipFill>
        <p:spPr>
          <a:xfrm>
            <a:off x="1638300" y="3454400"/>
            <a:ext cx="10998200" cy="8255000"/>
          </a:xfrm>
          <a:prstGeom prst="rect">
            <a:avLst/>
          </a:prstGeom>
        </p:spPr>
      </p:pic>
      <p:graphicFrame>
        <p:nvGraphicFramePr>
          <p:cNvPr id="30" name="Table 30"/>
          <p:cNvGraphicFramePr>
            <a:graphicFrameLocks noGrp="1"/>
          </p:cNvGraphicFramePr>
          <p:nvPr/>
        </p:nvGraphicFramePr>
        <p:xfrm>
          <a:off x="14401800" y="3136900"/>
          <a:ext cx="9179196" cy="9127488"/>
        </p:xfrm>
        <a:graphic>
          <a:graphicData uri="http://schemas.openxmlformats.org/drawingml/2006/table">
            <a:tbl>
              <a:tblPr/>
              <a:tblGrid>
                <a:gridCol w="8002950">
                  <a:extLst>
                    <a:ext uri="{9D8B030D-6E8A-4147-A177-3AD203B41FA5}">
                      <a16:colId xmlns:a16="http://schemas.microsoft.com/office/drawing/2014/main" val="20000"/>
                    </a:ext>
                  </a:extLst>
                </a:gridCol>
                <a:gridCol w="1176246">
                  <a:extLst>
                    <a:ext uri="{9D8B030D-6E8A-4147-A177-3AD203B41FA5}">
                      <a16:colId xmlns:a16="http://schemas.microsoft.com/office/drawing/2014/main" val="20001"/>
                    </a:ext>
                  </a:extLst>
                </a:gridCol>
              </a:tblGrid>
              <a:tr h="570468">
                <a:tc>
                  <a:txBody>
                    <a:bodyPr/>
                    <a:lstStyle/>
                    <a:p>
                      <a:pPr lvl="0" algn="ctr">
                        <a:lnSpc>
                          <a:spcPct val="133630"/>
                        </a:lnSpc>
                        <a:defRPr/>
                      </a:pPr>
                      <a:r>
                        <a:rPr lang="en-US" sz="2666" b="0" i="0" u="none" strike="noStrike">
                          <a:solidFill>
                            <a:srgbClr val="FFFFFF"/>
                          </a:solidFill>
                          <a:latin typeface="Pretendard Medium"/>
                          <a:ea typeface="Pretendard Medium"/>
                          <a:cs typeface="Pretendard Medium"/>
                        </a:rPr>
                        <a:t>진단 항목</a:t>
                      </a:r>
                      <a:endParaRPr lang="en-US" sz="1100"/>
                    </a:p>
                  </a:txBody>
                  <a:tcPr marL="25400" marR="25400" marT="0" marB="0" anchor="ctr">
                    <a:lnL w="25394" cap="flat" cmpd="sng" algn="ctr">
                      <a:solidFill>
                        <a:srgbClr val="FFFFFF"/>
                      </a:solidFill>
                      <a:prstDash val="solid"/>
                      <a:round/>
                      <a:headEnd type="none" w="med" len="med"/>
                      <a:tailEnd type="none" w="med" len="med"/>
                    </a:lnL>
                    <a:lnR w="25394" cap="flat" cmpd="sng" algn="ctr">
                      <a:solidFill>
                        <a:srgbClr val="FFFFFF"/>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4585FB"/>
                    </a:solidFill>
                  </a:tcPr>
                </a:tc>
                <a:tc>
                  <a:txBody>
                    <a:bodyPr/>
                    <a:lstStyle/>
                    <a:p>
                      <a:pPr lvl="0" algn="ctr">
                        <a:lnSpc>
                          <a:spcPct val="133630"/>
                        </a:lnSpc>
                        <a:defRPr/>
                      </a:pPr>
                      <a:r>
                        <a:rPr lang="en-US" sz="2666" b="0" i="0" u="none" strike="noStrike">
                          <a:solidFill>
                            <a:srgbClr val="FFFFFF"/>
                          </a:solidFill>
                          <a:latin typeface="Pretendard Medium"/>
                          <a:ea typeface="Pretendard Medium"/>
                          <a:cs typeface="Pretendard Medium"/>
                        </a:rPr>
                        <a:t>위험도</a:t>
                      </a:r>
                      <a:endParaRPr lang="en-US" sz="1100"/>
                    </a:p>
                  </a:txBody>
                  <a:tcPr marL="25400" marR="25400" marT="0" marB="0" anchor="ctr">
                    <a:lnL w="25394" cap="flat" cmpd="sng" algn="ctr">
                      <a:solidFill>
                        <a:srgbClr val="FFFFFF"/>
                      </a:solidFill>
                      <a:prstDash val="solid"/>
                      <a:round/>
                      <a:headEnd type="none" w="med" len="med"/>
                      <a:tailEnd type="none" w="med" len="med"/>
                    </a:lnL>
                    <a:lnR cap="flat" cmpd="sng" algn="ctr">
                      <a:solidFill>
                        <a:srgbClr val="000000">
                          <a:alpha val="0"/>
                        </a:srgbClr>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4585FB"/>
                    </a:solidFill>
                  </a:tcPr>
                </a:tc>
                <a:extLst>
                  <a:ext uri="{0D108BD9-81ED-4DB2-BD59-A6C34878D82A}">
                    <a16:rowId xmlns:a16="http://schemas.microsoft.com/office/drawing/2014/main" val="10000"/>
                  </a:ext>
                </a:extLst>
              </a:tr>
              <a:tr h="570468">
                <a:tc>
                  <a:txBody>
                    <a:bodyPr/>
                    <a:lstStyle/>
                    <a:p>
                      <a:pPr lvl="0" algn="ctr">
                        <a:lnSpc>
                          <a:spcPct val="133630"/>
                        </a:lnSpc>
                        <a:defRPr/>
                      </a:pPr>
                      <a:r>
                        <a:rPr lang="en-US" sz="2666" b="0" i="0" u="none" strike="noStrike">
                          <a:solidFill>
                            <a:srgbClr val="787878"/>
                          </a:solidFill>
                          <a:latin typeface="Pretendard Medium"/>
                          <a:ea typeface="Pretendard Medium"/>
                          <a:cs typeface="Pretendard Medium"/>
                        </a:rPr>
                        <a:t>메모리 내 노출</a:t>
                      </a:r>
                      <a:endParaRPr lang="en-US" sz="1100"/>
                    </a:p>
                  </a:txBody>
                  <a:tcPr marL="25400" marR="25400" marT="0" marB="0" anchor="ctr">
                    <a:lnL w="12700" cap="flat" cmpd="sng" algn="ctr">
                      <a:solidFill>
                        <a:srgbClr val="4585FB"/>
                      </a:solidFill>
                      <a:prstDash val="solid"/>
                      <a:round/>
                      <a:headEnd type="none" w="med" len="med"/>
                      <a:tailEnd type="none" w="med" len="med"/>
                    </a:lnL>
                    <a:lnR w="12700" cap="flat" cmpd="sng" algn="ctr">
                      <a:solidFill>
                        <a:srgbClr val="4585FB"/>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tc>
                  <a:txBody>
                    <a:bodyPr/>
                    <a:lstStyle/>
                    <a:p>
                      <a:pPr lvl="0" algn="ctr">
                        <a:lnSpc>
                          <a:spcPct val="133630"/>
                        </a:lnSpc>
                        <a:defRPr/>
                      </a:pPr>
                      <a:r>
                        <a:rPr lang="en-US" sz="2666" b="0" i="0" u="none" strike="noStrike">
                          <a:solidFill>
                            <a:srgbClr val="787878"/>
                          </a:solidFill>
                          <a:latin typeface="Pretendard Medium"/>
                          <a:ea typeface="Pretendard Medium"/>
                          <a:cs typeface="Pretendard Medium"/>
                        </a:rPr>
                        <a:t>상</a:t>
                      </a:r>
                      <a:endParaRPr lang="en-US" sz="1100"/>
                    </a:p>
                  </a:txBody>
                  <a:tcPr marL="25400" marR="25400" marT="0" marB="0" anchor="ctr">
                    <a:lnL w="12700" cap="flat" cmpd="sng" algn="ctr">
                      <a:solidFill>
                        <a:srgbClr val="4585FB"/>
                      </a:solidFill>
                      <a:prstDash val="solid"/>
                      <a:round/>
                      <a:headEnd type="none" w="med" len="med"/>
                      <a:tailEnd type="none" w="med" len="med"/>
                    </a:lnL>
                    <a:lnR cap="flat" cmpd="sng" algn="ctr">
                      <a:solidFill>
                        <a:srgbClr val="000000">
                          <a:alpha val="0"/>
                        </a:srgbClr>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0468">
                <a:tc>
                  <a:txBody>
                    <a:bodyPr/>
                    <a:lstStyle/>
                    <a:p>
                      <a:pPr lvl="0" algn="ctr">
                        <a:lnSpc>
                          <a:spcPct val="133630"/>
                        </a:lnSpc>
                        <a:defRPr/>
                      </a:pPr>
                      <a:r>
                        <a:rPr lang="en-US" sz="2666" b="0" i="0" u="none" strike="noStrike">
                          <a:solidFill>
                            <a:srgbClr val="787878"/>
                          </a:solidFill>
                          <a:latin typeface="Pretendard Medium"/>
                          <a:ea typeface="Pretendard Medium"/>
                          <a:cs typeface="Pretendard Medium"/>
                        </a:rPr>
                        <a:t>웹 영역 내 노출</a:t>
                      </a:r>
                      <a:endParaRPr lang="en-US" sz="1100"/>
                    </a:p>
                  </a:txBody>
                  <a:tcPr marL="25400" marR="25400" marT="0" marB="0" anchor="ctr">
                    <a:lnL w="12700" cap="flat" cmpd="sng" algn="ctr">
                      <a:solidFill>
                        <a:srgbClr val="4585FB"/>
                      </a:solidFill>
                      <a:prstDash val="solid"/>
                      <a:round/>
                      <a:headEnd type="none" w="med" len="med"/>
                      <a:tailEnd type="none" w="med" len="med"/>
                    </a:lnL>
                    <a:lnR w="12700" cap="flat" cmpd="sng" algn="ctr">
                      <a:solidFill>
                        <a:srgbClr val="4585FB"/>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tc>
                  <a:txBody>
                    <a:bodyPr/>
                    <a:lstStyle/>
                    <a:p>
                      <a:pPr lvl="0" algn="ctr">
                        <a:lnSpc>
                          <a:spcPct val="133630"/>
                        </a:lnSpc>
                        <a:defRPr/>
                      </a:pPr>
                      <a:r>
                        <a:rPr lang="en-US" sz="2666" b="0" i="0" u="none" strike="noStrike">
                          <a:solidFill>
                            <a:srgbClr val="787878"/>
                          </a:solidFill>
                          <a:latin typeface="Pretendard Medium"/>
                          <a:ea typeface="Pretendard Medium"/>
                          <a:cs typeface="Pretendard Medium"/>
                        </a:rPr>
                        <a:t>상</a:t>
                      </a:r>
                      <a:endParaRPr lang="en-US" sz="1100"/>
                    </a:p>
                  </a:txBody>
                  <a:tcPr marL="25400" marR="25400" marT="0" marB="0" anchor="ctr">
                    <a:lnL w="12700" cap="flat" cmpd="sng" algn="ctr">
                      <a:solidFill>
                        <a:srgbClr val="4585FB"/>
                      </a:solidFill>
                      <a:prstDash val="solid"/>
                      <a:round/>
                      <a:headEnd type="none" w="med" len="med"/>
                      <a:tailEnd type="none" w="med" len="med"/>
                    </a:lnL>
                    <a:lnR cap="flat" cmpd="sng" algn="ctr">
                      <a:solidFill>
                        <a:srgbClr val="000000">
                          <a:alpha val="0"/>
                        </a:srgbClr>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70468">
                <a:tc>
                  <a:txBody>
                    <a:bodyPr/>
                    <a:lstStyle/>
                    <a:p>
                      <a:pPr lvl="0" algn="ctr">
                        <a:lnSpc>
                          <a:spcPct val="133630"/>
                        </a:lnSpc>
                        <a:defRPr/>
                      </a:pPr>
                      <a:r>
                        <a:rPr lang="en-US" sz="2666" b="0" i="0" u="none" strike="noStrike">
                          <a:solidFill>
                            <a:srgbClr val="787878"/>
                          </a:solidFill>
                          <a:latin typeface="Pretendard Medium"/>
                          <a:ea typeface="Pretendard Medium"/>
                          <a:cs typeface="Pretendard Medium"/>
                        </a:rPr>
                        <a:t>파일 내 노출</a:t>
                      </a:r>
                      <a:endParaRPr lang="en-US" sz="1100"/>
                    </a:p>
                  </a:txBody>
                  <a:tcPr marL="25400" marR="25400" marT="0" marB="0" anchor="ctr">
                    <a:lnL w="12700" cap="flat" cmpd="sng" algn="ctr">
                      <a:solidFill>
                        <a:srgbClr val="4585FB"/>
                      </a:solidFill>
                      <a:prstDash val="solid"/>
                      <a:round/>
                      <a:headEnd type="none" w="med" len="med"/>
                      <a:tailEnd type="none" w="med" len="med"/>
                    </a:lnL>
                    <a:lnR w="12700" cap="flat" cmpd="sng" algn="ctr">
                      <a:solidFill>
                        <a:srgbClr val="4585FB"/>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tc>
                  <a:txBody>
                    <a:bodyPr/>
                    <a:lstStyle/>
                    <a:p>
                      <a:pPr lvl="0" algn="ctr">
                        <a:lnSpc>
                          <a:spcPct val="133630"/>
                        </a:lnSpc>
                        <a:defRPr/>
                      </a:pPr>
                      <a:r>
                        <a:rPr lang="en-US" sz="2666" b="0" i="0" u="none" strike="noStrike">
                          <a:solidFill>
                            <a:srgbClr val="787878"/>
                          </a:solidFill>
                          <a:latin typeface="Pretendard Medium"/>
                          <a:ea typeface="Pretendard Medium"/>
                          <a:cs typeface="Pretendard Medium"/>
                        </a:rPr>
                        <a:t>상</a:t>
                      </a:r>
                      <a:endParaRPr lang="en-US" sz="1100"/>
                    </a:p>
                  </a:txBody>
                  <a:tcPr marL="25400" marR="25400" marT="0" marB="0" anchor="ctr">
                    <a:lnL w="12700" cap="flat" cmpd="sng" algn="ctr">
                      <a:solidFill>
                        <a:srgbClr val="4585FB"/>
                      </a:solidFill>
                      <a:prstDash val="solid"/>
                      <a:round/>
                      <a:headEnd type="none" w="med" len="med"/>
                      <a:tailEnd type="none" w="med" len="med"/>
                    </a:lnL>
                    <a:lnR cap="flat" cmpd="sng" algn="ctr">
                      <a:solidFill>
                        <a:srgbClr val="000000">
                          <a:alpha val="0"/>
                        </a:srgbClr>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0468">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화면 내 노출</a:t>
                      </a:r>
                      <a:endParaRPr lang="en-US" sz="1100"/>
                    </a:p>
                  </a:txBody>
                  <a:tcPr marL="25400" marR="25400" marT="0" marB="0" anchor="ctr">
                    <a:lnL w="12700" cap="flat" cmpd="sng" algn="ctr">
                      <a:solidFill>
                        <a:srgbClr val="4585FB"/>
                      </a:solidFill>
                      <a:prstDash val="solid"/>
                      <a:round/>
                      <a:headEnd type="none" w="med" len="med"/>
                      <a:tailEnd type="none" w="med" len="med"/>
                    </a:lnL>
                    <a:lnR w="12700" cap="flat" cmpd="sng" algn="ctr">
                      <a:solidFill>
                        <a:srgbClr val="4585FB"/>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tc>
                  <a:txBody>
                    <a:bodyPr/>
                    <a:lstStyle/>
                    <a:p>
                      <a:pPr lvl="0" algn="ctr">
                        <a:lnSpc>
                          <a:spcPct val="133630"/>
                        </a:lnSpc>
                        <a:defRPr/>
                      </a:pPr>
                      <a:r>
                        <a:rPr lang="en-US" sz="2666" b="0" i="0" u="none" strike="noStrike">
                          <a:solidFill>
                            <a:srgbClr val="787878"/>
                          </a:solidFill>
                          <a:latin typeface="Pretendard Medium"/>
                          <a:ea typeface="Pretendard Medium"/>
                          <a:cs typeface="Pretendard Medium"/>
                        </a:rPr>
                        <a:t>상</a:t>
                      </a:r>
                      <a:endParaRPr lang="en-US" sz="1100"/>
                    </a:p>
                  </a:txBody>
                  <a:tcPr marL="25400" marR="25400" marT="0" marB="0" anchor="ctr">
                    <a:lnL w="12700" cap="flat" cmpd="sng" algn="ctr">
                      <a:solidFill>
                        <a:srgbClr val="4585FB"/>
                      </a:solidFill>
                      <a:prstDash val="solid"/>
                      <a:round/>
                      <a:headEnd type="none" w="med" len="med"/>
                      <a:tailEnd type="none" w="med" len="med"/>
                    </a:lnL>
                    <a:lnR cap="flat" cmpd="sng" algn="ctr">
                      <a:solidFill>
                        <a:srgbClr val="000000">
                          <a:alpha val="0"/>
                        </a:srgbClr>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70468">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금액정보 변조</a:t>
                      </a:r>
                      <a:endParaRPr lang="en-US" sz="1100"/>
                    </a:p>
                  </a:txBody>
                  <a:tcPr marL="25400" marR="25400" marT="0" marB="0" anchor="ctr">
                    <a:lnL w="12700" cap="flat" cmpd="sng" algn="ctr">
                      <a:solidFill>
                        <a:srgbClr val="4585FB"/>
                      </a:solidFill>
                      <a:prstDash val="solid"/>
                      <a:round/>
                      <a:headEnd type="none" w="med" len="med"/>
                      <a:tailEnd type="none" w="med" len="med"/>
                    </a:lnL>
                    <a:lnR w="12700" cap="flat" cmpd="sng" algn="ctr">
                      <a:solidFill>
                        <a:srgbClr val="4585FB"/>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tc>
                  <a:txBody>
                    <a:bodyPr/>
                    <a:lstStyle/>
                    <a:p>
                      <a:pPr lvl="0" algn="ctr">
                        <a:lnSpc>
                          <a:spcPct val="133630"/>
                        </a:lnSpc>
                        <a:defRPr/>
                      </a:pPr>
                      <a:r>
                        <a:rPr lang="en-US" sz="2666" b="0" i="0" u="none" strike="noStrike">
                          <a:solidFill>
                            <a:srgbClr val="787878"/>
                          </a:solidFill>
                          <a:latin typeface="Pretendard Medium"/>
                          <a:ea typeface="Pretendard Medium"/>
                          <a:cs typeface="Pretendard Medium"/>
                        </a:rPr>
                        <a:t>상</a:t>
                      </a:r>
                      <a:endParaRPr lang="en-US" sz="1100"/>
                    </a:p>
                  </a:txBody>
                  <a:tcPr marL="25400" marR="25400" marT="0" marB="0" anchor="ctr">
                    <a:lnL w="12700" cap="flat" cmpd="sng" algn="ctr">
                      <a:solidFill>
                        <a:srgbClr val="4585FB"/>
                      </a:solidFill>
                      <a:prstDash val="solid"/>
                      <a:round/>
                      <a:headEnd type="none" w="med" len="med"/>
                      <a:tailEnd type="none" w="med" len="med"/>
                    </a:lnL>
                    <a:lnR cap="flat" cmpd="sng" algn="ctr">
                      <a:solidFill>
                        <a:srgbClr val="000000">
                          <a:alpha val="0"/>
                        </a:srgbClr>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70468">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거래정보 재사용</a:t>
                      </a:r>
                      <a:endParaRPr lang="en-US" sz="1100"/>
                    </a:p>
                  </a:txBody>
                  <a:tcPr marL="25400" marR="25400" marT="0" marB="0" anchor="ctr">
                    <a:lnL w="12700" cap="flat" cmpd="sng" algn="ctr">
                      <a:solidFill>
                        <a:srgbClr val="4585FB"/>
                      </a:solidFill>
                      <a:prstDash val="solid"/>
                      <a:round/>
                      <a:headEnd type="none" w="med" len="med"/>
                      <a:tailEnd type="none" w="med" len="med"/>
                    </a:lnL>
                    <a:lnR w="12700" cap="flat" cmpd="sng" algn="ctr">
                      <a:solidFill>
                        <a:srgbClr val="4585FB"/>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tc>
                  <a:txBody>
                    <a:bodyPr/>
                    <a:lstStyle/>
                    <a:p>
                      <a:pPr lvl="0" algn="ctr">
                        <a:lnSpc>
                          <a:spcPct val="133630"/>
                        </a:lnSpc>
                        <a:defRPr/>
                      </a:pPr>
                      <a:r>
                        <a:rPr lang="en-US" sz="2666" b="0" i="0" u="none" strike="noStrike">
                          <a:solidFill>
                            <a:srgbClr val="787878"/>
                          </a:solidFill>
                          <a:latin typeface="Pretendard Medium"/>
                          <a:ea typeface="Pretendard Medium"/>
                          <a:cs typeface="Pretendard Medium"/>
                        </a:rPr>
                        <a:t>상</a:t>
                      </a:r>
                      <a:endParaRPr lang="en-US" sz="1100"/>
                    </a:p>
                  </a:txBody>
                  <a:tcPr marL="25400" marR="25400" marT="0" marB="0" anchor="ctr">
                    <a:lnL w="12700" cap="flat" cmpd="sng" algn="ctr">
                      <a:solidFill>
                        <a:srgbClr val="4585FB"/>
                      </a:solidFill>
                      <a:prstDash val="solid"/>
                      <a:round/>
                      <a:headEnd type="none" w="med" len="med"/>
                      <a:tailEnd type="none" w="med" len="med"/>
                    </a:lnL>
                    <a:lnR cap="flat" cmpd="sng" algn="ctr">
                      <a:solidFill>
                        <a:srgbClr val="000000">
                          <a:alpha val="0"/>
                        </a:srgbClr>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70468">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크로스사이트 스크립팅 (XSS)</a:t>
                      </a:r>
                      <a:endParaRPr lang="en-US" sz="1100"/>
                    </a:p>
                  </a:txBody>
                  <a:tcPr marL="25400" marR="25400" marT="0" marB="0" anchor="ctr">
                    <a:lnL w="12700" cap="flat" cmpd="sng" algn="ctr">
                      <a:solidFill>
                        <a:srgbClr val="4585FB"/>
                      </a:solidFill>
                      <a:prstDash val="solid"/>
                      <a:round/>
                      <a:headEnd type="none" w="med" len="med"/>
                      <a:tailEnd type="none" w="med" len="med"/>
                    </a:lnL>
                    <a:lnR w="12700" cap="flat" cmpd="sng" algn="ctr">
                      <a:solidFill>
                        <a:srgbClr val="4585FB"/>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tc>
                  <a:txBody>
                    <a:bodyPr/>
                    <a:lstStyle/>
                    <a:p>
                      <a:pPr lvl="0" algn="ctr">
                        <a:lnSpc>
                          <a:spcPct val="133630"/>
                        </a:lnSpc>
                        <a:defRPr/>
                      </a:pPr>
                      <a:r>
                        <a:rPr lang="en-US" sz="2666" b="0" i="0" u="none" strike="noStrike">
                          <a:solidFill>
                            <a:srgbClr val="787878"/>
                          </a:solidFill>
                          <a:latin typeface="Pretendard Medium"/>
                          <a:ea typeface="Pretendard Medium"/>
                          <a:cs typeface="Pretendard Medium"/>
                        </a:rPr>
                        <a:t>상</a:t>
                      </a:r>
                      <a:endParaRPr lang="en-US" sz="1100"/>
                    </a:p>
                  </a:txBody>
                  <a:tcPr marL="25400" marR="25400" marT="0" marB="0" anchor="ctr">
                    <a:lnL w="12700" cap="flat" cmpd="sng" algn="ctr">
                      <a:solidFill>
                        <a:srgbClr val="4585FB"/>
                      </a:solidFill>
                      <a:prstDash val="solid"/>
                      <a:round/>
                      <a:headEnd type="none" w="med" len="med"/>
                      <a:tailEnd type="none" w="med" len="med"/>
                    </a:lnL>
                    <a:lnR cap="flat" cmpd="sng" algn="ctr">
                      <a:solidFill>
                        <a:srgbClr val="000000">
                          <a:alpha val="0"/>
                        </a:srgbClr>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70468">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크로스사이트 요청 변조 (CSRF)</a:t>
                      </a:r>
                      <a:endParaRPr lang="en-US" sz="1100"/>
                    </a:p>
                  </a:txBody>
                  <a:tcPr marL="25400" marR="25400" marT="0" marB="0" anchor="ctr">
                    <a:lnL w="12700" cap="flat" cmpd="sng" algn="ctr">
                      <a:solidFill>
                        <a:srgbClr val="4585FB"/>
                      </a:solidFill>
                      <a:prstDash val="solid"/>
                      <a:round/>
                      <a:headEnd type="none" w="med" len="med"/>
                      <a:tailEnd type="none" w="med" len="med"/>
                    </a:lnL>
                    <a:lnR w="12700" cap="flat" cmpd="sng" algn="ctr">
                      <a:solidFill>
                        <a:srgbClr val="4585FB"/>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tc>
                  <a:txBody>
                    <a:bodyPr/>
                    <a:lstStyle/>
                    <a:p>
                      <a:pPr lvl="0" algn="ctr">
                        <a:lnSpc>
                          <a:spcPct val="133630"/>
                        </a:lnSpc>
                        <a:defRPr/>
                      </a:pPr>
                      <a:r>
                        <a:rPr lang="en-US" sz="2666" b="0" i="0" u="none" strike="noStrike">
                          <a:solidFill>
                            <a:srgbClr val="787878"/>
                          </a:solidFill>
                          <a:latin typeface="Pretendard Medium"/>
                          <a:ea typeface="Pretendard Medium"/>
                          <a:cs typeface="Pretendard Medium"/>
                        </a:rPr>
                        <a:t>상</a:t>
                      </a:r>
                      <a:endParaRPr lang="en-US" sz="1100"/>
                    </a:p>
                  </a:txBody>
                  <a:tcPr marL="25400" marR="25400" marT="0" marB="0" anchor="ctr">
                    <a:lnL w="12700" cap="flat" cmpd="sng" algn="ctr">
                      <a:solidFill>
                        <a:srgbClr val="4585FB"/>
                      </a:solidFill>
                      <a:prstDash val="solid"/>
                      <a:round/>
                      <a:headEnd type="none" w="med" len="med"/>
                      <a:tailEnd type="none" w="med" len="med"/>
                    </a:lnL>
                    <a:lnR cap="flat" cmpd="sng" algn="ctr">
                      <a:solidFill>
                        <a:srgbClr val="000000">
                          <a:alpha val="0"/>
                        </a:srgbClr>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570468">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서버사이드 요청 변조 (SSRF)</a:t>
                      </a:r>
                      <a:endParaRPr lang="en-US" sz="1100"/>
                    </a:p>
                  </a:txBody>
                  <a:tcPr marL="25400" marR="25400" marT="0" marB="0" anchor="ctr">
                    <a:lnL w="12700" cap="flat" cmpd="sng" algn="ctr">
                      <a:solidFill>
                        <a:srgbClr val="4585FB"/>
                      </a:solidFill>
                      <a:prstDash val="solid"/>
                      <a:round/>
                      <a:headEnd type="none" w="med" len="med"/>
                      <a:tailEnd type="none" w="med" len="med"/>
                    </a:lnL>
                    <a:lnR w="12700" cap="flat" cmpd="sng" algn="ctr">
                      <a:solidFill>
                        <a:srgbClr val="4585FB"/>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tc>
                  <a:txBody>
                    <a:bodyPr/>
                    <a:lstStyle/>
                    <a:p>
                      <a:pPr lvl="0" algn="ctr">
                        <a:lnSpc>
                          <a:spcPct val="133630"/>
                        </a:lnSpc>
                        <a:defRPr/>
                      </a:pPr>
                      <a:r>
                        <a:rPr lang="en-US" sz="2666" b="0" i="0" u="none" strike="noStrike">
                          <a:solidFill>
                            <a:srgbClr val="787878"/>
                          </a:solidFill>
                          <a:latin typeface="Pretendard Medium"/>
                          <a:ea typeface="Pretendard Medium"/>
                          <a:cs typeface="Pretendard Medium"/>
                        </a:rPr>
                        <a:t>상</a:t>
                      </a:r>
                      <a:endParaRPr lang="en-US" sz="1100"/>
                    </a:p>
                  </a:txBody>
                  <a:tcPr marL="25400" marR="25400" marT="0" marB="0" anchor="ctr">
                    <a:lnL w="12700" cap="flat" cmpd="sng" algn="ctr">
                      <a:solidFill>
                        <a:srgbClr val="4585FB"/>
                      </a:solidFill>
                      <a:prstDash val="solid"/>
                      <a:round/>
                      <a:headEnd type="none" w="med" len="med"/>
                      <a:tailEnd type="none" w="med" len="med"/>
                    </a:lnL>
                    <a:lnR cap="flat" cmpd="sng" algn="ctr">
                      <a:solidFill>
                        <a:srgbClr val="000000">
                          <a:alpha val="0"/>
                        </a:srgbClr>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570468">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파일 업로드 취약점</a:t>
                      </a:r>
                      <a:endParaRPr lang="en-US" sz="1100"/>
                    </a:p>
                  </a:txBody>
                  <a:tcPr marL="25400" marR="25400" marT="0" marB="0" anchor="ctr">
                    <a:lnL w="12700" cap="flat" cmpd="sng" algn="ctr">
                      <a:solidFill>
                        <a:srgbClr val="4585FB"/>
                      </a:solidFill>
                      <a:prstDash val="solid"/>
                      <a:round/>
                      <a:headEnd type="none" w="med" len="med"/>
                      <a:tailEnd type="none" w="med" len="med"/>
                    </a:lnL>
                    <a:lnR w="12700" cap="flat" cmpd="sng" algn="ctr">
                      <a:solidFill>
                        <a:srgbClr val="4585FB"/>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tc>
                  <a:txBody>
                    <a:bodyPr/>
                    <a:lstStyle/>
                    <a:p>
                      <a:pPr lvl="0" algn="ctr">
                        <a:lnSpc>
                          <a:spcPct val="133630"/>
                        </a:lnSpc>
                        <a:defRPr/>
                      </a:pPr>
                      <a:r>
                        <a:rPr lang="en-US" sz="2666" b="0" i="0" u="none" strike="noStrike">
                          <a:solidFill>
                            <a:srgbClr val="787878"/>
                          </a:solidFill>
                          <a:latin typeface="Pretendard Medium"/>
                          <a:ea typeface="Pretendard Medium"/>
                          <a:cs typeface="Pretendard Medium"/>
                        </a:rPr>
                        <a:t>상</a:t>
                      </a:r>
                      <a:endParaRPr lang="en-US" sz="1100"/>
                    </a:p>
                  </a:txBody>
                  <a:tcPr marL="25400" marR="25400" marT="0" marB="0" anchor="ctr">
                    <a:lnL w="12700" cap="flat" cmpd="sng" algn="ctr">
                      <a:solidFill>
                        <a:srgbClr val="4585FB"/>
                      </a:solidFill>
                      <a:prstDash val="solid"/>
                      <a:round/>
                      <a:headEnd type="none" w="med" len="med"/>
                      <a:tailEnd type="none" w="med" len="med"/>
                    </a:lnL>
                    <a:lnR cap="flat" cmpd="sng" algn="ctr">
                      <a:solidFill>
                        <a:srgbClr val="000000">
                          <a:alpha val="0"/>
                        </a:srgbClr>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570468">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리다이렉트 기능을 이용한 피싱 가능성</a:t>
                      </a:r>
                      <a:endParaRPr lang="en-US" sz="1100"/>
                    </a:p>
                  </a:txBody>
                  <a:tcPr marL="25400" marR="25400" marT="0" marB="0" anchor="ctr">
                    <a:lnL w="12700" cap="flat" cmpd="sng" algn="ctr">
                      <a:solidFill>
                        <a:srgbClr val="4585FB"/>
                      </a:solidFill>
                      <a:prstDash val="solid"/>
                      <a:round/>
                      <a:headEnd type="none" w="med" len="med"/>
                      <a:tailEnd type="none" w="med" len="med"/>
                    </a:lnL>
                    <a:lnR w="12700" cap="flat" cmpd="sng" algn="ctr">
                      <a:solidFill>
                        <a:srgbClr val="4585FB"/>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tc>
                  <a:txBody>
                    <a:bodyPr/>
                    <a:lstStyle/>
                    <a:p>
                      <a:pPr lvl="0" algn="ctr">
                        <a:lnSpc>
                          <a:spcPct val="133630"/>
                        </a:lnSpc>
                        <a:defRPr/>
                      </a:pPr>
                      <a:r>
                        <a:rPr lang="en-US" sz="2666" b="0" i="0" u="none" strike="noStrike">
                          <a:solidFill>
                            <a:srgbClr val="787878"/>
                          </a:solidFill>
                          <a:latin typeface="Pretendard Medium"/>
                          <a:ea typeface="Pretendard Medium"/>
                          <a:cs typeface="Pretendard Medium"/>
                        </a:rPr>
                        <a:t>상</a:t>
                      </a:r>
                      <a:endParaRPr lang="en-US" sz="1100"/>
                    </a:p>
                  </a:txBody>
                  <a:tcPr marL="25400" marR="25400" marT="0" marB="0" anchor="ctr">
                    <a:lnL w="12700" cap="flat" cmpd="sng" algn="ctr">
                      <a:solidFill>
                        <a:srgbClr val="4585FB"/>
                      </a:solidFill>
                      <a:prstDash val="solid"/>
                      <a:round/>
                      <a:headEnd type="none" w="med" len="med"/>
                      <a:tailEnd type="none" w="med" len="med"/>
                    </a:lnL>
                    <a:lnR cap="flat" cmpd="sng" algn="ctr">
                      <a:solidFill>
                        <a:srgbClr val="000000">
                          <a:alpha val="0"/>
                        </a:srgbClr>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570468">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서버 운영정보 노출</a:t>
                      </a:r>
                      <a:endParaRPr lang="en-US" sz="1100"/>
                    </a:p>
                  </a:txBody>
                  <a:tcPr marL="25400" marR="25400" marT="0" marB="0" anchor="ctr">
                    <a:lnL w="12700" cap="flat" cmpd="sng" algn="ctr">
                      <a:solidFill>
                        <a:srgbClr val="4585FB"/>
                      </a:solidFill>
                      <a:prstDash val="solid"/>
                      <a:round/>
                      <a:headEnd type="none" w="med" len="med"/>
                      <a:tailEnd type="none" w="med" len="med"/>
                    </a:lnL>
                    <a:lnR w="12700" cap="flat" cmpd="sng" algn="ctr">
                      <a:solidFill>
                        <a:srgbClr val="4585FB"/>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tc>
                  <a:txBody>
                    <a:bodyPr/>
                    <a:lstStyle/>
                    <a:p>
                      <a:pPr lvl="0" algn="ctr">
                        <a:lnSpc>
                          <a:spcPct val="133630"/>
                        </a:lnSpc>
                        <a:defRPr/>
                      </a:pPr>
                      <a:r>
                        <a:rPr lang="en-US" sz="2666" b="0" i="0" u="none" strike="noStrike">
                          <a:solidFill>
                            <a:srgbClr val="787878"/>
                          </a:solidFill>
                          <a:latin typeface="Pretendard Medium"/>
                          <a:ea typeface="Pretendard Medium"/>
                          <a:cs typeface="Pretendard Medium"/>
                        </a:rPr>
                        <a:t>상</a:t>
                      </a:r>
                      <a:endParaRPr lang="en-US" sz="1100"/>
                    </a:p>
                  </a:txBody>
                  <a:tcPr marL="25400" marR="25400" marT="0" marB="0" anchor="ctr">
                    <a:lnL w="12700" cap="flat" cmpd="sng" algn="ctr">
                      <a:solidFill>
                        <a:srgbClr val="4585FB"/>
                      </a:solidFill>
                      <a:prstDash val="solid"/>
                      <a:round/>
                      <a:headEnd type="none" w="med" len="med"/>
                      <a:tailEnd type="none" w="med" len="med"/>
                    </a:lnL>
                    <a:lnR cap="flat" cmpd="sng" algn="ctr">
                      <a:solidFill>
                        <a:srgbClr val="000000">
                          <a:alpha val="0"/>
                        </a:srgbClr>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570468">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비밀번호 복잡도 검증</a:t>
                      </a:r>
                      <a:endParaRPr lang="en-US" sz="1100"/>
                    </a:p>
                  </a:txBody>
                  <a:tcPr marL="25400" marR="25400" marT="0" marB="0" anchor="ctr">
                    <a:lnL w="12700" cap="flat" cmpd="sng" algn="ctr">
                      <a:solidFill>
                        <a:srgbClr val="4585FB"/>
                      </a:solidFill>
                      <a:prstDash val="solid"/>
                      <a:round/>
                      <a:headEnd type="none" w="med" len="med"/>
                      <a:tailEnd type="none" w="med" len="med"/>
                    </a:lnL>
                    <a:lnR w="12700" cap="flat" cmpd="sng" algn="ctr">
                      <a:solidFill>
                        <a:srgbClr val="4585FB"/>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tc>
                  <a:txBody>
                    <a:bodyPr/>
                    <a:lstStyle/>
                    <a:p>
                      <a:pPr lvl="0" algn="ctr">
                        <a:lnSpc>
                          <a:spcPct val="133630"/>
                        </a:lnSpc>
                        <a:defRPr/>
                      </a:pPr>
                      <a:r>
                        <a:rPr lang="en-US" sz="2666" b="0" i="0" u="none" strike="noStrike">
                          <a:solidFill>
                            <a:srgbClr val="787878"/>
                          </a:solidFill>
                          <a:latin typeface="Pretendard Medium"/>
                          <a:ea typeface="Pretendard Medium"/>
                          <a:cs typeface="Pretendard Medium"/>
                        </a:rPr>
                        <a:t>상</a:t>
                      </a:r>
                      <a:endParaRPr lang="en-US" sz="1100"/>
                    </a:p>
                  </a:txBody>
                  <a:tcPr marL="25400" marR="25400" marT="0" marB="0" anchor="ctr">
                    <a:lnL w="12700" cap="flat" cmpd="sng" algn="ctr">
                      <a:solidFill>
                        <a:srgbClr val="4585FB"/>
                      </a:solidFill>
                      <a:prstDash val="solid"/>
                      <a:round/>
                      <a:headEnd type="none" w="med" len="med"/>
                      <a:tailEnd type="none" w="med" len="med"/>
                    </a:lnL>
                    <a:lnR cap="flat" cmpd="sng" algn="ctr">
                      <a:solidFill>
                        <a:srgbClr val="000000">
                          <a:alpha val="0"/>
                        </a:srgbClr>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570468">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쿠기정보 변조</a:t>
                      </a:r>
                      <a:endParaRPr lang="en-US" sz="1100"/>
                    </a:p>
                  </a:txBody>
                  <a:tcPr marL="25400" marR="25400" marT="0" marB="0" anchor="ctr">
                    <a:lnL w="12700" cap="flat" cmpd="sng" algn="ctr">
                      <a:solidFill>
                        <a:srgbClr val="4585FB"/>
                      </a:solidFill>
                      <a:prstDash val="solid"/>
                      <a:round/>
                      <a:headEnd type="none" w="med" len="med"/>
                      <a:tailEnd type="none" w="med" len="med"/>
                    </a:lnL>
                    <a:lnR w="12700" cap="flat" cmpd="sng" algn="ctr">
                      <a:solidFill>
                        <a:srgbClr val="4585FB"/>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tc>
                  <a:txBody>
                    <a:bodyPr/>
                    <a:lstStyle/>
                    <a:p>
                      <a:pPr lvl="0" algn="ctr">
                        <a:lnSpc>
                          <a:spcPct val="133630"/>
                        </a:lnSpc>
                        <a:defRPr/>
                      </a:pPr>
                      <a:r>
                        <a:rPr lang="en-US" sz="2666" b="0" i="0" u="none" strike="noStrike">
                          <a:solidFill>
                            <a:srgbClr val="787878"/>
                          </a:solidFill>
                          <a:latin typeface="Pretendard Medium"/>
                          <a:ea typeface="Pretendard Medium"/>
                          <a:cs typeface="Pretendard Medium"/>
                        </a:rPr>
                        <a:t>상</a:t>
                      </a:r>
                      <a:endParaRPr lang="en-US" sz="1100"/>
                    </a:p>
                  </a:txBody>
                  <a:tcPr marL="25400" marR="25400" marT="0" marB="0" anchor="ctr">
                    <a:lnL w="12700" cap="flat" cmpd="sng" algn="ctr">
                      <a:solidFill>
                        <a:srgbClr val="4585FB"/>
                      </a:solidFill>
                      <a:prstDash val="solid"/>
                      <a:round/>
                      <a:headEnd type="none" w="med" len="med"/>
                      <a:tailEnd type="none" w="med" len="med"/>
                    </a:lnL>
                    <a:lnR cap="flat" cmpd="sng" algn="ctr">
                      <a:solidFill>
                        <a:srgbClr val="000000">
                          <a:alpha val="0"/>
                        </a:srgbClr>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r h="570468">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비밀번호 오류 횟수 제한</a:t>
                      </a:r>
                      <a:endParaRPr lang="en-US" sz="1100"/>
                    </a:p>
                  </a:txBody>
                  <a:tcPr marL="25400" marR="25400" marT="0" marB="0" anchor="ctr">
                    <a:lnL w="12700" cap="flat" cmpd="sng" algn="ctr">
                      <a:solidFill>
                        <a:srgbClr val="4585FB"/>
                      </a:solidFill>
                      <a:prstDash val="solid"/>
                      <a:round/>
                      <a:headEnd type="none" w="med" len="med"/>
                      <a:tailEnd type="none" w="med" len="med"/>
                    </a:lnL>
                    <a:lnR w="12700" cap="flat" cmpd="sng" algn="ctr">
                      <a:solidFill>
                        <a:srgbClr val="4585FB"/>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상</a:t>
                      </a:r>
                      <a:endParaRPr lang="en-US" sz="1100"/>
                    </a:p>
                  </a:txBody>
                  <a:tcPr marL="25400" marR="25400" marT="0" marB="0" anchor="ctr">
                    <a:lnL w="12700" cap="flat" cmpd="sng" algn="ctr">
                      <a:solidFill>
                        <a:srgbClr val="4585FB"/>
                      </a:solidFill>
                      <a:prstDash val="solid"/>
                      <a:round/>
                      <a:headEnd type="none" w="med" len="med"/>
                      <a:tailEnd type="none" w="med" len="med"/>
                    </a:lnL>
                    <a:lnR cap="flat" cmpd="sng" algn="ctr">
                      <a:solidFill>
                        <a:srgbClr val="000000">
                          <a:alpha val="0"/>
                        </a:srgbClr>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bl>
          </a:graphicData>
        </a:graphic>
      </p:graphicFrame>
      <p:sp>
        <p:nvSpPr>
          <p:cNvPr id="32" name="TextBox 14">
            <a:extLst>
              <a:ext uri="{FF2B5EF4-FFF2-40B4-BE49-F238E27FC236}">
                <a16:creationId xmlns:a16="http://schemas.microsoft.com/office/drawing/2014/main" id="{18E23082-BFD0-45AF-31FD-08181488C9C9}"/>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33" name="TextBox 14">
            <a:extLst>
              <a:ext uri="{FF2B5EF4-FFF2-40B4-BE49-F238E27FC236}">
                <a16:creationId xmlns:a16="http://schemas.microsoft.com/office/drawing/2014/main" id="{567BAEE1-F7CE-DA14-B0FD-C89C54477188}"/>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40" name="Picture 12">
            <a:extLst>
              <a:ext uri="{FF2B5EF4-FFF2-40B4-BE49-F238E27FC236}">
                <a16:creationId xmlns:a16="http://schemas.microsoft.com/office/drawing/2014/main" id="{A6280805-CE9D-54D3-FA9F-38AD1E01D56E}"/>
              </a:ext>
            </a:extLst>
          </p:cNvPr>
          <p:cNvPicPr>
            <a:picLocks noChangeAspect="1"/>
          </p:cNvPicPr>
          <p:nvPr/>
        </p:nvPicPr>
        <p:blipFill>
          <a:blip r:embed="rId14">
            <a:alphaModFix amt="85000"/>
          </a:blip>
          <a:stretch>
            <a:fillRect/>
          </a:stretch>
        </p:blipFill>
        <p:spPr>
          <a:xfrm>
            <a:off x="9118600" y="571500"/>
            <a:ext cx="1993900" cy="444500"/>
          </a:xfrm>
          <a:prstGeom prst="rect">
            <a:avLst/>
          </a:prstGeom>
        </p:spPr>
      </p:pic>
      <p:sp>
        <p:nvSpPr>
          <p:cNvPr id="41" name="TextBox 13">
            <a:extLst>
              <a:ext uri="{FF2B5EF4-FFF2-40B4-BE49-F238E27FC236}">
                <a16:creationId xmlns:a16="http://schemas.microsoft.com/office/drawing/2014/main" id="{E5D2E574-FB43-49A1-8ED6-662E8CAE8561}"/>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42" name="TextBox 15">
            <a:extLst>
              <a:ext uri="{FF2B5EF4-FFF2-40B4-BE49-F238E27FC236}">
                <a16:creationId xmlns:a16="http://schemas.microsoft.com/office/drawing/2014/main" id="{F68B6FE4-CA96-223D-6346-9B07CB476157}"/>
              </a:ext>
            </a:extLst>
          </p:cNvPr>
          <p:cNvSpPr txBox="1"/>
          <p:nvPr/>
        </p:nvSpPr>
        <p:spPr>
          <a:xfrm>
            <a:off x="11353800" y="457200"/>
            <a:ext cx="25273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시나리오</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모의해킹</a:t>
            </a:r>
            <a:endParaRPr lang="en-US" sz="2666" b="0" i="0" u="none" strike="noStrike" spc="-100" dirty="0">
              <a:solidFill>
                <a:srgbClr val="C2C2C2"/>
              </a:solidFill>
              <a:latin typeface="Pretendard SemiBold"/>
              <a:ea typeface="Pretendard SemiBold"/>
              <a:cs typeface="Pretendard SemiBold"/>
            </a:endParaRPr>
          </a:p>
        </p:txBody>
      </p:sp>
      <p:sp>
        <p:nvSpPr>
          <p:cNvPr id="43" name="TextBox 16">
            <a:extLst>
              <a:ext uri="{FF2B5EF4-FFF2-40B4-BE49-F238E27FC236}">
                <a16:creationId xmlns:a16="http://schemas.microsoft.com/office/drawing/2014/main" id="{DB301D7F-167A-1654-E530-090CE45FA97B}"/>
              </a:ext>
            </a:extLst>
          </p:cNvPr>
          <p:cNvSpPr txBox="1"/>
          <p:nvPr/>
        </p:nvSpPr>
        <p:spPr>
          <a:xfrm>
            <a:off x="14097000" y="4699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44" name="TextBox 17">
            <a:extLst>
              <a:ext uri="{FF2B5EF4-FFF2-40B4-BE49-F238E27FC236}">
                <a16:creationId xmlns:a16="http://schemas.microsoft.com/office/drawing/2014/main" id="{C00A61BE-5B29-B1DA-81C9-A749B3E8AB77}"/>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개발 및 진단</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5435600" y="11696700"/>
            <a:ext cx="3263900" cy="1143000"/>
          </a:xfrm>
          <a:prstGeom prst="rect">
            <a:avLst/>
          </a:prstGeom>
          <a:effectLst>
            <a:outerShdw blurRad="28428" dist="26242" dir="2700000">
              <a:srgbClr val="1A7AE1">
                <a:alpha val="15000"/>
              </a:srgbClr>
            </a:outerShdw>
          </a:effectLst>
        </p:spPr>
      </p:pic>
      <p:pic>
        <p:nvPicPr>
          <p:cNvPr id="3" name="Picture 3"/>
          <p:cNvPicPr>
            <a:picLocks noChangeAspect="1"/>
          </p:cNvPicPr>
          <p:nvPr/>
        </p:nvPicPr>
        <p:blipFill>
          <a:blip r:embed="rId3">
            <a:alphaModFix amt="70000"/>
          </a:blip>
          <a:stretch>
            <a:fillRect/>
          </a:stretch>
        </p:blipFill>
        <p:spPr>
          <a:xfrm>
            <a:off x="16230600" y="-2590800"/>
            <a:ext cx="11442700" cy="11442700"/>
          </a:xfrm>
          <a:prstGeom prst="rect">
            <a:avLst/>
          </a:prstGeom>
        </p:spPr>
      </p:pic>
      <p:pic>
        <p:nvPicPr>
          <p:cNvPr id="4" name="Picture 4"/>
          <p:cNvPicPr>
            <a:picLocks noChangeAspect="1"/>
          </p:cNvPicPr>
          <p:nvPr/>
        </p:nvPicPr>
        <p:blipFill>
          <a:blip r:embed="rId4"/>
          <a:stretch>
            <a:fillRect/>
          </a:stretch>
        </p:blipFill>
        <p:spPr>
          <a:xfrm>
            <a:off x="762000" y="1092200"/>
            <a:ext cx="22860000" cy="12700"/>
          </a:xfrm>
          <a:prstGeom prst="rect">
            <a:avLst/>
          </a:prstGeom>
        </p:spPr>
      </p:pic>
      <p:pic>
        <p:nvPicPr>
          <p:cNvPr id="5" name="Picture 5"/>
          <p:cNvPicPr>
            <a:picLocks noChangeAspect="1"/>
          </p:cNvPicPr>
          <p:nvPr/>
        </p:nvPicPr>
        <p:blipFill>
          <a:blip r:embed="rId5"/>
          <a:stretch>
            <a:fillRect/>
          </a:stretch>
        </p:blipFill>
        <p:spPr>
          <a:xfrm rot="5400000">
            <a:off x="3200400" y="787400"/>
            <a:ext cx="635000" cy="12700"/>
          </a:xfrm>
          <a:prstGeom prst="rect">
            <a:avLst/>
          </a:prstGeom>
        </p:spPr>
      </p:pic>
      <p:pic>
        <p:nvPicPr>
          <p:cNvPr id="6" name="Picture 6"/>
          <p:cNvPicPr>
            <a:picLocks noChangeAspect="1"/>
          </p:cNvPicPr>
          <p:nvPr/>
        </p:nvPicPr>
        <p:blipFill>
          <a:blip r:embed="rId6"/>
          <a:stretch>
            <a:fillRect/>
          </a:stretch>
        </p:blipFill>
        <p:spPr>
          <a:xfrm rot="5400000">
            <a:off x="22225000" y="787400"/>
            <a:ext cx="635000" cy="12700"/>
          </a:xfrm>
          <a:prstGeom prst="rect">
            <a:avLst/>
          </a:prstGeom>
        </p:spPr>
      </p:pic>
      <p:pic>
        <p:nvPicPr>
          <p:cNvPr id="7" name="Picture 7"/>
          <p:cNvPicPr>
            <a:picLocks noChangeAspect="1"/>
          </p:cNvPicPr>
          <p:nvPr/>
        </p:nvPicPr>
        <p:blipFill>
          <a:blip r:embed="rId6"/>
          <a:stretch>
            <a:fillRect/>
          </a:stretch>
        </p:blipFill>
        <p:spPr>
          <a:xfrm rot="5400000">
            <a:off x="6337300" y="787400"/>
            <a:ext cx="635000" cy="12700"/>
          </a:xfrm>
          <a:prstGeom prst="rect">
            <a:avLst/>
          </a:prstGeom>
        </p:spPr>
      </p:pic>
      <p:pic>
        <p:nvPicPr>
          <p:cNvPr id="8" name="Picture 8"/>
          <p:cNvPicPr>
            <a:picLocks noChangeAspect="1"/>
          </p:cNvPicPr>
          <p:nvPr/>
        </p:nvPicPr>
        <p:blipFill>
          <a:blip r:embed="rId4"/>
          <a:stretch>
            <a:fillRect/>
          </a:stretch>
        </p:blipFill>
        <p:spPr>
          <a:xfrm>
            <a:off x="723900" y="457200"/>
            <a:ext cx="22860000" cy="12700"/>
          </a:xfrm>
          <a:prstGeom prst="rect">
            <a:avLst/>
          </a:prstGeom>
        </p:spPr>
      </p:pic>
      <p:pic>
        <p:nvPicPr>
          <p:cNvPr id="10" name="Picture 10"/>
          <p:cNvPicPr>
            <a:picLocks noChangeAspect="1"/>
          </p:cNvPicPr>
          <p:nvPr/>
        </p:nvPicPr>
        <p:blipFill>
          <a:blip r:embed="rId7"/>
          <a:stretch>
            <a:fillRect/>
          </a:stretch>
        </p:blipFill>
        <p:spPr>
          <a:xfrm>
            <a:off x="1485900" y="1612900"/>
            <a:ext cx="88900" cy="850900"/>
          </a:xfrm>
          <a:prstGeom prst="rect">
            <a:avLst/>
          </a:prstGeom>
        </p:spPr>
      </p:pic>
      <p:sp>
        <p:nvSpPr>
          <p:cNvPr id="11" name="TextBox 11"/>
          <p:cNvSpPr txBox="1"/>
          <p:nvPr/>
        </p:nvSpPr>
        <p:spPr>
          <a:xfrm>
            <a:off x="1943100" y="1409700"/>
            <a:ext cx="106807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App 진단 결과</a:t>
            </a:r>
          </a:p>
        </p:txBody>
      </p:sp>
      <p:sp>
        <p:nvSpPr>
          <p:cNvPr id="12" name="TextBox 12"/>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a:solidFill>
                  <a:srgbClr val="024EA0"/>
                </a:solidFill>
                <a:latin typeface="Geologica Roman Light"/>
                <a:ea typeface="Geologica Roman Light"/>
                <a:cs typeface="Geologica Roman Light"/>
              </a:rPr>
              <a:t>13</a:t>
            </a:r>
          </a:p>
        </p:txBody>
      </p:sp>
      <p:pic>
        <p:nvPicPr>
          <p:cNvPr id="19" name="Picture 19"/>
          <p:cNvPicPr>
            <a:picLocks noChangeAspect="1"/>
          </p:cNvPicPr>
          <p:nvPr/>
        </p:nvPicPr>
        <p:blipFill>
          <a:blip r:embed="rId8"/>
          <a:stretch>
            <a:fillRect/>
          </a:stretch>
        </p:blipFill>
        <p:spPr>
          <a:xfrm>
            <a:off x="1841500" y="11696700"/>
            <a:ext cx="3263900" cy="1143000"/>
          </a:xfrm>
          <a:prstGeom prst="rect">
            <a:avLst/>
          </a:prstGeom>
          <a:effectLst>
            <a:outerShdw blurRad="28428" dist="26242" dir="2700000">
              <a:srgbClr val="1A7AE1">
                <a:alpha val="15000"/>
              </a:srgbClr>
            </a:outerShdw>
          </a:effectLst>
        </p:spPr>
      </p:pic>
      <p:pic>
        <p:nvPicPr>
          <p:cNvPr id="20" name="Picture 20"/>
          <p:cNvPicPr>
            <a:picLocks noChangeAspect="1"/>
          </p:cNvPicPr>
          <p:nvPr/>
        </p:nvPicPr>
        <p:blipFill>
          <a:blip r:embed="rId2"/>
          <a:stretch>
            <a:fillRect/>
          </a:stretch>
        </p:blipFill>
        <p:spPr>
          <a:xfrm>
            <a:off x="9029700" y="11696700"/>
            <a:ext cx="3263900" cy="1143000"/>
          </a:xfrm>
          <a:prstGeom prst="rect">
            <a:avLst/>
          </a:prstGeom>
          <a:effectLst>
            <a:outerShdw blurRad="28428" dist="26242" dir="2700000">
              <a:srgbClr val="1A7AE1">
                <a:alpha val="15000"/>
              </a:srgbClr>
            </a:outerShdw>
          </a:effectLst>
        </p:spPr>
      </p:pic>
      <p:sp>
        <p:nvSpPr>
          <p:cNvPr id="21" name="TextBox 21"/>
          <p:cNvSpPr txBox="1"/>
          <p:nvPr/>
        </p:nvSpPr>
        <p:spPr>
          <a:xfrm>
            <a:off x="2425700" y="12065000"/>
            <a:ext cx="2095500" cy="457200"/>
          </a:xfrm>
          <a:prstGeom prst="rect">
            <a:avLst/>
          </a:prstGeom>
        </p:spPr>
        <p:txBody>
          <a:bodyPr lIns="0" tIns="27370" rIns="0" bIns="0" rtlCol="0" anchor="t"/>
          <a:lstStyle/>
          <a:p>
            <a:pPr lvl="0" algn="ctr">
              <a:lnSpc>
                <a:spcPct val="107899"/>
              </a:lnSpc>
            </a:pPr>
            <a:r>
              <a:rPr lang="en-US" sz="2578" b="0" i="0" u="none" strike="noStrike" spc="-100">
                <a:solidFill>
                  <a:srgbClr val="000000"/>
                </a:solidFill>
                <a:latin typeface="Pretendard SemiBold"/>
                <a:ea typeface="Pretendard SemiBold"/>
                <a:cs typeface="Pretendard SemiBold"/>
              </a:rPr>
              <a:t>진단 항목 44개</a:t>
            </a:r>
          </a:p>
        </p:txBody>
      </p:sp>
      <p:pic>
        <p:nvPicPr>
          <p:cNvPr id="22" name="Picture 22"/>
          <p:cNvPicPr>
            <a:picLocks noChangeAspect="1"/>
          </p:cNvPicPr>
          <p:nvPr/>
        </p:nvPicPr>
        <p:blipFill>
          <a:blip r:embed="rId9"/>
          <a:stretch>
            <a:fillRect/>
          </a:stretch>
        </p:blipFill>
        <p:spPr>
          <a:xfrm>
            <a:off x="5435600" y="11696700"/>
            <a:ext cx="3263900" cy="1143000"/>
          </a:xfrm>
          <a:prstGeom prst="rect">
            <a:avLst/>
          </a:prstGeom>
          <a:effectLst>
            <a:outerShdw blurRad="28428" dist="26242" dir="2700000">
              <a:srgbClr val="1A7AE1">
                <a:alpha val="15000"/>
              </a:srgbClr>
            </a:outerShdw>
          </a:effectLst>
        </p:spPr>
      </p:pic>
      <p:sp>
        <p:nvSpPr>
          <p:cNvPr id="23" name="TextBox 23"/>
          <p:cNvSpPr txBox="1"/>
          <p:nvPr/>
        </p:nvSpPr>
        <p:spPr>
          <a:xfrm>
            <a:off x="9283700" y="12065000"/>
            <a:ext cx="2781300" cy="419100"/>
          </a:xfrm>
          <a:prstGeom prst="rect">
            <a:avLst/>
          </a:prstGeom>
        </p:spPr>
        <p:txBody>
          <a:bodyPr lIns="0" tIns="25166" rIns="0" bIns="0" rtlCol="0" anchor="t"/>
          <a:lstStyle/>
          <a:p>
            <a:pPr lvl="0" algn="ctr">
              <a:lnSpc>
                <a:spcPct val="107899"/>
              </a:lnSpc>
            </a:pPr>
            <a:r>
              <a:rPr lang="en-US" sz="2371" b="0" i="0" u="none" strike="noStrike" spc="-100">
                <a:solidFill>
                  <a:srgbClr val="FFFFFF"/>
                </a:solidFill>
                <a:latin typeface="Pretendard SemiBold"/>
                <a:ea typeface="Pretendard SemiBold"/>
                <a:cs typeface="Pretendard SemiBold"/>
              </a:rPr>
              <a:t>취약 - 15개</a:t>
            </a:r>
          </a:p>
        </p:txBody>
      </p:sp>
      <p:sp>
        <p:nvSpPr>
          <p:cNvPr id="24" name="TextBox 24"/>
          <p:cNvSpPr txBox="1"/>
          <p:nvPr/>
        </p:nvSpPr>
        <p:spPr>
          <a:xfrm>
            <a:off x="5588000" y="12077700"/>
            <a:ext cx="2781300" cy="419100"/>
          </a:xfrm>
          <a:prstGeom prst="rect">
            <a:avLst/>
          </a:prstGeom>
        </p:spPr>
        <p:txBody>
          <a:bodyPr lIns="0" tIns="25166" rIns="0" bIns="0" rtlCol="0" anchor="t"/>
          <a:lstStyle/>
          <a:p>
            <a:pPr lvl="0" algn="ctr">
              <a:lnSpc>
                <a:spcPct val="107899"/>
              </a:lnSpc>
            </a:pPr>
            <a:r>
              <a:rPr lang="en-US" sz="2371" b="0" i="0" u="none" strike="noStrike" spc="-100">
                <a:solidFill>
                  <a:srgbClr val="FFFFFF"/>
                </a:solidFill>
                <a:latin typeface="Pretendard SemiBold"/>
                <a:ea typeface="Pretendard SemiBold"/>
                <a:cs typeface="Pretendard SemiBold"/>
              </a:rPr>
              <a:t>양호 - 27개</a:t>
            </a:r>
          </a:p>
        </p:txBody>
      </p:sp>
      <p:pic>
        <p:nvPicPr>
          <p:cNvPr id="25" name="Picture 25"/>
          <p:cNvPicPr>
            <a:picLocks noChangeAspect="1"/>
          </p:cNvPicPr>
          <p:nvPr/>
        </p:nvPicPr>
        <p:blipFill>
          <a:blip r:embed="rId10">
            <a:alphaModFix amt="27000"/>
          </a:blip>
          <a:stretch>
            <a:fillRect/>
          </a:stretch>
        </p:blipFill>
        <p:spPr>
          <a:xfrm>
            <a:off x="12407900" y="12217400"/>
            <a:ext cx="685800" cy="50800"/>
          </a:xfrm>
          <a:prstGeom prst="rect">
            <a:avLst/>
          </a:prstGeom>
        </p:spPr>
      </p:pic>
      <p:pic>
        <p:nvPicPr>
          <p:cNvPr id="26" name="Picture 26"/>
          <p:cNvPicPr>
            <a:picLocks noChangeAspect="1"/>
          </p:cNvPicPr>
          <p:nvPr/>
        </p:nvPicPr>
        <p:blipFill>
          <a:blip r:embed="rId11">
            <a:alphaModFix amt="27000"/>
          </a:blip>
          <a:stretch>
            <a:fillRect/>
          </a:stretch>
        </p:blipFill>
        <p:spPr>
          <a:xfrm rot="5400000">
            <a:off x="10528300" y="9664700"/>
            <a:ext cx="5219700" cy="50800"/>
          </a:xfrm>
          <a:prstGeom prst="rect">
            <a:avLst/>
          </a:prstGeom>
        </p:spPr>
      </p:pic>
      <p:pic>
        <p:nvPicPr>
          <p:cNvPr id="27" name="Picture 27"/>
          <p:cNvPicPr>
            <a:picLocks noChangeAspect="1"/>
          </p:cNvPicPr>
          <p:nvPr/>
        </p:nvPicPr>
        <p:blipFill>
          <a:blip r:embed="rId12">
            <a:alphaModFix amt="27000"/>
          </a:blip>
          <a:stretch>
            <a:fillRect/>
          </a:stretch>
        </p:blipFill>
        <p:spPr>
          <a:xfrm>
            <a:off x="13106400" y="6946900"/>
            <a:ext cx="660400" cy="50800"/>
          </a:xfrm>
          <a:prstGeom prst="rect">
            <a:avLst/>
          </a:prstGeom>
        </p:spPr>
      </p:pic>
      <p:pic>
        <p:nvPicPr>
          <p:cNvPr id="28" name="Picture 28"/>
          <p:cNvPicPr>
            <a:picLocks noChangeAspect="1"/>
          </p:cNvPicPr>
          <p:nvPr/>
        </p:nvPicPr>
        <p:blipFill>
          <a:blip r:embed="rId13">
            <a:alphaModFix amt="27000"/>
          </a:blip>
          <a:stretch>
            <a:fillRect/>
          </a:stretch>
        </p:blipFill>
        <p:spPr>
          <a:xfrm>
            <a:off x="13817600" y="6896100"/>
            <a:ext cx="114300" cy="139700"/>
          </a:xfrm>
          <a:prstGeom prst="rect">
            <a:avLst/>
          </a:prstGeom>
        </p:spPr>
      </p:pic>
      <p:pic>
        <p:nvPicPr>
          <p:cNvPr id="29" name="Picture 29"/>
          <p:cNvPicPr>
            <a:picLocks noChangeAspect="1"/>
          </p:cNvPicPr>
          <p:nvPr/>
        </p:nvPicPr>
        <p:blipFill>
          <a:blip r:embed="rId14"/>
          <a:stretch>
            <a:fillRect/>
          </a:stretch>
        </p:blipFill>
        <p:spPr>
          <a:xfrm>
            <a:off x="1638300" y="3454400"/>
            <a:ext cx="10998200" cy="8255000"/>
          </a:xfrm>
          <a:prstGeom prst="rect">
            <a:avLst/>
          </a:prstGeom>
        </p:spPr>
      </p:pic>
      <p:graphicFrame>
        <p:nvGraphicFramePr>
          <p:cNvPr id="30" name="Table 30"/>
          <p:cNvGraphicFramePr>
            <a:graphicFrameLocks noGrp="1"/>
          </p:cNvGraphicFramePr>
          <p:nvPr/>
        </p:nvGraphicFramePr>
        <p:xfrm>
          <a:off x="14401800" y="3136900"/>
          <a:ext cx="9179196" cy="9136464"/>
        </p:xfrm>
        <a:graphic>
          <a:graphicData uri="http://schemas.openxmlformats.org/drawingml/2006/table">
            <a:tbl>
              <a:tblPr/>
              <a:tblGrid>
                <a:gridCol w="8002950">
                  <a:extLst>
                    <a:ext uri="{9D8B030D-6E8A-4147-A177-3AD203B41FA5}">
                      <a16:colId xmlns:a16="http://schemas.microsoft.com/office/drawing/2014/main" val="20000"/>
                    </a:ext>
                  </a:extLst>
                </a:gridCol>
                <a:gridCol w="1176246">
                  <a:extLst>
                    <a:ext uri="{9D8B030D-6E8A-4147-A177-3AD203B41FA5}">
                      <a16:colId xmlns:a16="http://schemas.microsoft.com/office/drawing/2014/main" val="20001"/>
                    </a:ext>
                  </a:extLst>
                </a:gridCol>
              </a:tblGrid>
              <a:tr h="571029">
                <a:tc>
                  <a:txBody>
                    <a:bodyPr/>
                    <a:lstStyle/>
                    <a:p>
                      <a:pPr lvl="0" algn="ctr">
                        <a:lnSpc>
                          <a:spcPct val="133630"/>
                        </a:lnSpc>
                        <a:defRPr/>
                      </a:pPr>
                      <a:r>
                        <a:rPr lang="en-US" sz="2666" b="0" i="0" u="none" strike="noStrike">
                          <a:solidFill>
                            <a:srgbClr val="FFFFFF"/>
                          </a:solidFill>
                          <a:latin typeface="Pretendard Medium"/>
                          <a:ea typeface="Pretendard Medium"/>
                          <a:cs typeface="Pretendard Medium"/>
                        </a:rPr>
                        <a:t>진단 항목</a:t>
                      </a:r>
                      <a:endParaRPr lang="en-US" sz="1100"/>
                    </a:p>
                  </a:txBody>
                  <a:tcPr marL="25400" marR="25400" marT="0" marB="0" anchor="ctr">
                    <a:lnL w="25394" cap="flat" cmpd="sng" algn="ctr">
                      <a:solidFill>
                        <a:srgbClr val="FFFFFF"/>
                      </a:solidFill>
                      <a:prstDash val="solid"/>
                      <a:round/>
                      <a:headEnd type="none" w="med" len="med"/>
                      <a:tailEnd type="none" w="med" len="med"/>
                    </a:lnL>
                    <a:lnR w="25394" cap="flat" cmpd="sng" algn="ctr">
                      <a:solidFill>
                        <a:srgbClr val="FFFFFF"/>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4585FB"/>
                    </a:solidFill>
                  </a:tcPr>
                </a:tc>
                <a:tc>
                  <a:txBody>
                    <a:bodyPr/>
                    <a:lstStyle/>
                    <a:p>
                      <a:pPr lvl="0" algn="ctr">
                        <a:lnSpc>
                          <a:spcPct val="133630"/>
                        </a:lnSpc>
                        <a:defRPr/>
                      </a:pPr>
                      <a:r>
                        <a:rPr lang="en-US" sz="2666" b="0" i="0" u="none" strike="noStrike">
                          <a:solidFill>
                            <a:srgbClr val="FFFFFF"/>
                          </a:solidFill>
                          <a:latin typeface="Pretendard Medium"/>
                          <a:ea typeface="Pretendard Medium"/>
                          <a:cs typeface="Pretendard Medium"/>
                        </a:rPr>
                        <a:t>위험도</a:t>
                      </a:r>
                      <a:endParaRPr lang="en-US" sz="1100"/>
                    </a:p>
                  </a:txBody>
                  <a:tcPr marL="25400" marR="25400" marT="0" marB="0" anchor="ctr">
                    <a:lnL w="25394" cap="flat" cmpd="sng" algn="ctr">
                      <a:solidFill>
                        <a:srgbClr val="FFFFFF"/>
                      </a:solidFill>
                      <a:prstDash val="solid"/>
                      <a:round/>
                      <a:headEnd type="none" w="med" len="med"/>
                      <a:tailEnd type="none" w="med" len="med"/>
                    </a:lnL>
                    <a:lnR cap="flat" cmpd="sng" algn="ctr">
                      <a:solidFill>
                        <a:srgbClr val="000000">
                          <a:alpha val="0"/>
                        </a:srgbClr>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4585FB"/>
                    </a:solidFill>
                  </a:tcPr>
                </a:tc>
                <a:extLst>
                  <a:ext uri="{0D108BD9-81ED-4DB2-BD59-A6C34878D82A}">
                    <a16:rowId xmlns:a16="http://schemas.microsoft.com/office/drawing/2014/main" val="10000"/>
                  </a:ext>
                </a:extLst>
              </a:tr>
              <a:tr h="571029">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디버그 로그 내 노출</a:t>
                      </a:r>
                      <a:endParaRPr lang="en-US" sz="1100"/>
                    </a:p>
                  </a:txBody>
                  <a:tcPr marL="25400" marR="25400" marT="0" marB="0" anchor="ctr">
                    <a:lnL w="12700" cap="flat" cmpd="sng" algn="ctr">
                      <a:solidFill>
                        <a:srgbClr val="4585FB"/>
                      </a:solidFill>
                      <a:prstDash val="solid"/>
                      <a:round/>
                      <a:headEnd type="none" w="med" len="med"/>
                      <a:tailEnd type="none" w="med" len="med"/>
                    </a:lnL>
                    <a:lnR w="12700" cap="flat" cmpd="sng" algn="ctr">
                      <a:solidFill>
                        <a:srgbClr val="4585FB"/>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상</a:t>
                      </a:r>
                      <a:endParaRPr lang="en-US" sz="1100"/>
                    </a:p>
                  </a:txBody>
                  <a:tcPr marL="25400" marR="25400" marT="0" marB="0" anchor="ctr">
                    <a:lnL w="12700" cap="flat" cmpd="sng" algn="ctr">
                      <a:solidFill>
                        <a:srgbClr val="4585FB"/>
                      </a:solidFill>
                      <a:prstDash val="solid"/>
                      <a:round/>
                      <a:headEnd type="none" w="med" len="med"/>
                      <a:tailEnd type="none" w="med" len="med"/>
                    </a:lnL>
                    <a:lnR cap="flat" cmpd="sng" algn="ctr">
                      <a:solidFill>
                        <a:srgbClr val="000000">
                          <a:alpha val="0"/>
                        </a:srgbClr>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1029">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 금액 정보 변조 </a:t>
                      </a:r>
                      <a:endParaRPr lang="en-US" sz="1100"/>
                    </a:p>
                  </a:txBody>
                  <a:tcPr marL="25400" marR="25400" marT="0" marB="0" anchor="ctr">
                    <a:lnL w="12700" cap="flat" cmpd="sng" algn="ctr">
                      <a:solidFill>
                        <a:srgbClr val="4585FB"/>
                      </a:solidFill>
                      <a:prstDash val="solid"/>
                      <a:round/>
                      <a:headEnd type="none" w="med" len="med"/>
                      <a:tailEnd type="none" w="med" len="med"/>
                    </a:lnL>
                    <a:lnR w="12700" cap="flat" cmpd="sng" algn="ctr">
                      <a:solidFill>
                        <a:srgbClr val="4585FB"/>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상</a:t>
                      </a:r>
                      <a:endParaRPr lang="en-US" sz="1100"/>
                    </a:p>
                  </a:txBody>
                  <a:tcPr marL="25400" marR="25400" marT="0" marB="0" anchor="ctr">
                    <a:lnL w="12700" cap="flat" cmpd="sng" algn="ctr">
                      <a:solidFill>
                        <a:srgbClr val="4585FB"/>
                      </a:solidFill>
                      <a:prstDash val="solid"/>
                      <a:round/>
                      <a:headEnd type="none" w="med" len="med"/>
                      <a:tailEnd type="none" w="med" len="med"/>
                    </a:lnL>
                    <a:lnR cap="flat" cmpd="sng" algn="ctr">
                      <a:solidFill>
                        <a:srgbClr val="000000">
                          <a:alpha val="0"/>
                        </a:srgbClr>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71029">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크로스사이트 스크립팅(XSS)</a:t>
                      </a:r>
                      <a:endParaRPr lang="en-US" sz="1100"/>
                    </a:p>
                  </a:txBody>
                  <a:tcPr marL="25400" marR="25400" marT="0" marB="0" anchor="ctr">
                    <a:lnL w="12700" cap="flat" cmpd="sng" algn="ctr">
                      <a:solidFill>
                        <a:srgbClr val="4585FB"/>
                      </a:solidFill>
                      <a:prstDash val="solid"/>
                      <a:round/>
                      <a:headEnd type="none" w="med" len="med"/>
                      <a:tailEnd type="none" w="med" len="med"/>
                    </a:lnL>
                    <a:lnR w="12700" cap="flat" cmpd="sng" algn="ctr">
                      <a:solidFill>
                        <a:srgbClr val="4585FB"/>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상</a:t>
                      </a:r>
                      <a:endParaRPr lang="en-US" sz="1100"/>
                    </a:p>
                  </a:txBody>
                  <a:tcPr marL="25400" marR="25400" marT="0" marB="0" anchor="ctr">
                    <a:lnL w="12700" cap="flat" cmpd="sng" algn="ctr">
                      <a:solidFill>
                        <a:srgbClr val="4585FB"/>
                      </a:solidFill>
                      <a:prstDash val="solid"/>
                      <a:round/>
                      <a:headEnd type="none" w="med" len="med"/>
                      <a:tailEnd type="none" w="med" len="med"/>
                    </a:lnL>
                    <a:lnR cap="flat" cmpd="sng" algn="ctr">
                      <a:solidFill>
                        <a:srgbClr val="000000">
                          <a:alpha val="0"/>
                        </a:srgbClr>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1029">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크로스사이트 요청 변조(CSRF) </a:t>
                      </a:r>
                      <a:endParaRPr lang="en-US" sz="1100"/>
                    </a:p>
                  </a:txBody>
                  <a:tcPr marL="25400" marR="25400" marT="0" marB="0" anchor="ctr">
                    <a:lnL w="12700" cap="flat" cmpd="sng" algn="ctr">
                      <a:solidFill>
                        <a:srgbClr val="4585FB"/>
                      </a:solidFill>
                      <a:prstDash val="solid"/>
                      <a:round/>
                      <a:headEnd type="none" w="med" len="med"/>
                      <a:tailEnd type="none" w="med" len="med"/>
                    </a:lnL>
                    <a:lnR w="12700" cap="flat" cmpd="sng" algn="ctr">
                      <a:solidFill>
                        <a:srgbClr val="4585FB"/>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상</a:t>
                      </a:r>
                      <a:endParaRPr lang="en-US" sz="1100"/>
                    </a:p>
                  </a:txBody>
                  <a:tcPr marL="25400" marR="25400" marT="0" marB="0" anchor="ctr">
                    <a:lnL w="12700" cap="flat" cmpd="sng" algn="ctr">
                      <a:solidFill>
                        <a:srgbClr val="4585FB"/>
                      </a:solidFill>
                      <a:prstDash val="solid"/>
                      <a:round/>
                      <a:headEnd type="none" w="med" len="med"/>
                      <a:tailEnd type="none" w="med" len="med"/>
                    </a:lnL>
                    <a:lnR cap="flat" cmpd="sng" algn="ctr">
                      <a:solidFill>
                        <a:srgbClr val="000000">
                          <a:alpha val="0"/>
                        </a:srgbClr>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71029">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서버사이드 요청 변조(SSRF)</a:t>
                      </a:r>
                      <a:endParaRPr lang="en-US" sz="1100"/>
                    </a:p>
                  </a:txBody>
                  <a:tcPr marL="25400" marR="25400" marT="0" marB="0" anchor="ctr">
                    <a:lnL w="12700" cap="flat" cmpd="sng" algn="ctr">
                      <a:solidFill>
                        <a:srgbClr val="4585FB"/>
                      </a:solidFill>
                      <a:prstDash val="solid"/>
                      <a:round/>
                      <a:headEnd type="none" w="med" len="med"/>
                      <a:tailEnd type="none" w="med" len="med"/>
                    </a:lnL>
                    <a:lnR w="12700" cap="flat" cmpd="sng" algn="ctr">
                      <a:solidFill>
                        <a:srgbClr val="4585FB"/>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상</a:t>
                      </a:r>
                      <a:endParaRPr lang="en-US" sz="1100"/>
                    </a:p>
                  </a:txBody>
                  <a:tcPr marL="25400" marR="25400" marT="0" marB="0" anchor="ctr">
                    <a:lnL w="12700" cap="flat" cmpd="sng" algn="ctr">
                      <a:solidFill>
                        <a:srgbClr val="4585FB"/>
                      </a:solidFill>
                      <a:prstDash val="solid"/>
                      <a:round/>
                      <a:headEnd type="none" w="med" len="med"/>
                      <a:tailEnd type="none" w="med" len="med"/>
                    </a:lnL>
                    <a:lnR cap="flat" cmpd="sng" algn="ctr">
                      <a:solidFill>
                        <a:srgbClr val="000000">
                          <a:alpha val="0"/>
                        </a:srgbClr>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71029">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비밀번호 복잡도 검증</a:t>
                      </a:r>
                      <a:endParaRPr lang="en-US" sz="1100"/>
                    </a:p>
                  </a:txBody>
                  <a:tcPr marL="25400" marR="25400" marT="0" marB="0" anchor="ctr">
                    <a:lnL w="12700" cap="flat" cmpd="sng" algn="ctr">
                      <a:solidFill>
                        <a:srgbClr val="4585FB"/>
                      </a:solidFill>
                      <a:prstDash val="solid"/>
                      <a:round/>
                      <a:headEnd type="none" w="med" len="med"/>
                      <a:tailEnd type="none" w="med" len="med"/>
                    </a:lnL>
                    <a:lnR w="12700" cap="flat" cmpd="sng" algn="ctr">
                      <a:solidFill>
                        <a:srgbClr val="4585FB"/>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상</a:t>
                      </a:r>
                      <a:endParaRPr lang="en-US" sz="1100"/>
                    </a:p>
                  </a:txBody>
                  <a:tcPr marL="25400" marR="25400" marT="0" marB="0" anchor="ctr">
                    <a:lnL w="12700" cap="flat" cmpd="sng" algn="ctr">
                      <a:solidFill>
                        <a:srgbClr val="4585FB"/>
                      </a:solidFill>
                      <a:prstDash val="solid"/>
                      <a:round/>
                      <a:headEnd type="none" w="med" len="med"/>
                      <a:tailEnd type="none" w="med" len="med"/>
                    </a:lnL>
                    <a:lnR cap="flat" cmpd="sng" algn="ctr">
                      <a:solidFill>
                        <a:srgbClr val="000000">
                          <a:alpha val="0"/>
                        </a:srgbClr>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71029">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비밀번호 오류 횟수 제한</a:t>
                      </a:r>
                      <a:endParaRPr lang="en-US" sz="1100"/>
                    </a:p>
                  </a:txBody>
                  <a:tcPr marL="25400" marR="25400" marT="0" marB="0" anchor="ctr">
                    <a:lnL w="12700" cap="flat" cmpd="sng" algn="ctr">
                      <a:solidFill>
                        <a:srgbClr val="4585FB"/>
                      </a:solidFill>
                      <a:prstDash val="solid"/>
                      <a:round/>
                      <a:headEnd type="none" w="med" len="med"/>
                      <a:tailEnd type="none" w="med" len="med"/>
                    </a:lnL>
                    <a:lnR w="12700" cap="flat" cmpd="sng" algn="ctr">
                      <a:solidFill>
                        <a:srgbClr val="4585FB"/>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상</a:t>
                      </a:r>
                      <a:endParaRPr lang="en-US" sz="1100"/>
                    </a:p>
                  </a:txBody>
                  <a:tcPr marL="25400" marR="25400" marT="0" marB="0" anchor="ctr">
                    <a:lnL w="12700" cap="flat" cmpd="sng" algn="ctr">
                      <a:solidFill>
                        <a:srgbClr val="4585FB"/>
                      </a:solidFill>
                      <a:prstDash val="solid"/>
                      <a:round/>
                      <a:headEnd type="none" w="med" len="med"/>
                      <a:tailEnd type="none" w="med" len="med"/>
                    </a:lnL>
                    <a:lnR cap="flat" cmpd="sng" algn="ctr">
                      <a:solidFill>
                        <a:srgbClr val="000000">
                          <a:alpha val="0"/>
                        </a:srgbClr>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71029">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인증파일 변조</a:t>
                      </a:r>
                      <a:endParaRPr lang="en-US" sz="1100"/>
                    </a:p>
                  </a:txBody>
                  <a:tcPr marL="25400" marR="25400" marT="0" marB="0" anchor="ctr">
                    <a:lnL w="12700" cap="flat" cmpd="sng" algn="ctr">
                      <a:solidFill>
                        <a:srgbClr val="4585FB"/>
                      </a:solidFill>
                      <a:prstDash val="solid"/>
                      <a:round/>
                      <a:headEnd type="none" w="med" len="med"/>
                      <a:tailEnd type="none" w="med" len="med"/>
                    </a:lnL>
                    <a:lnR w="12700" cap="flat" cmpd="sng" algn="ctr">
                      <a:solidFill>
                        <a:srgbClr val="4585FB"/>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상</a:t>
                      </a:r>
                      <a:endParaRPr lang="en-US" sz="1100"/>
                    </a:p>
                  </a:txBody>
                  <a:tcPr marL="25400" marR="25400" marT="0" marB="0" anchor="ctr">
                    <a:lnL w="12700" cap="flat" cmpd="sng" algn="ctr">
                      <a:solidFill>
                        <a:srgbClr val="4585FB"/>
                      </a:solidFill>
                      <a:prstDash val="solid"/>
                      <a:round/>
                      <a:headEnd type="none" w="med" len="med"/>
                      <a:tailEnd type="none" w="med" len="med"/>
                    </a:lnL>
                    <a:lnR cap="flat" cmpd="sng" algn="ctr">
                      <a:solidFill>
                        <a:srgbClr val="000000">
                          <a:alpha val="0"/>
                        </a:srgbClr>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571029">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앱 위/변조 탐지 적용</a:t>
                      </a:r>
                      <a:endParaRPr lang="en-US" sz="1100"/>
                    </a:p>
                  </a:txBody>
                  <a:tcPr marL="25400" marR="25400" marT="0" marB="0" anchor="ctr">
                    <a:lnL w="12700" cap="flat" cmpd="sng" algn="ctr">
                      <a:solidFill>
                        <a:srgbClr val="4585FB"/>
                      </a:solidFill>
                      <a:prstDash val="solid"/>
                      <a:round/>
                      <a:headEnd type="none" w="med" len="med"/>
                      <a:tailEnd type="none" w="med" len="med"/>
                    </a:lnL>
                    <a:lnR w="12700" cap="flat" cmpd="sng" algn="ctr">
                      <a:solidFill>
                        <a:srgbClr val="4585FB"/>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상</a:t>
                      </a:r>
                      <a:endParaRPr lang="en-US" sz="1100"/>
                    </a:p>
                  </a:txBody>
                  <a:tcPr marL="25400" marR="25400" marT="0" marB="0" anchor="ctr">
                    <a:lnL w="12700" cap="flat" cmpd="sng" algn="ctr">
                      <a:solidFill>
                        <a:srgbClr val="4585FB"/>
                      </a:solidFill>
                      <a:prstDash val="solid"/>
                      <a:round/>
                      <a:headEnd type="none" w="med" len="med"/>
                      <a:tailEnd type="none" w="med" len="med"/>
                    </a:lnL>
                    <a:lnR cap="flat" cmpd="sng" algn="ctr">
                      <a:solidFill>
                        <a:srgbClr val="000000">
                          <a:alpha val="0"/>
                        </a:srgbClr>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571029">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해킹 OS 탐지 적용</a:t>
                      </a:r>
                      <a:endParaRPr lang="en-US" sz="1100"/>
                    </a:p>
                  </a:txBody>
                  <a:tcPr marL="25400" marR="25400" marT="0" marB="0" anchor="ctr">
                    <a:lnL w="12700" cap="flat" cmpd="sng" algn="ctr">
                      <a:solidFill>
                        <a:srgbClr val="4585FB"/>
                      </a:solidFill>
                      <a:prstDash val="solid"/>
                      <a:round/>
                      <a:headEnd type="none" w="med" len="med"/>
                      <a:tailEnd type="none" w="med" len="med"/>
                    </a:lnL>
                    <a:lnR w="12700" cap="flat" cmpd="sng" algn="ctr">
                      <a:solidFill>
                        <a:srgbClr val="4585FB"/>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상</a:t>
                      </a:r>
                      <a:endParaRPr lang="en-US" sz="1100"/>
                    </a:p>
                  </a:txBody>
                  <a:tcPr marL="25400" marR="25400" marT="0" marB="0" anchor="ctr">
                    <a:lnL w="12700" cap="flat" cmpd="sng" algn="ctr">
                      <a:solidFill>
                        <a:srgbClr val="4585FB"/>
                      </a:solidFill>
                      <a:prstDash val="solid"/>
                      <a:round/>
                      <a:headEnd type="none" w="med" len="med"/>
                      <a:tailEnd type="none" w="med" len="med"/>
                    </a:lnL>
                    <a:lnR cap="flat" cmpd="sng" algn="ctr">
                      <a:solidFill>
                        <a:srgbClr val="000000">
                          <a:alpha val="0"/>
                        </a:srgbClr>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571029">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안티디버깅 적용</a:t>
                      </a:r>
                      <a:endParaRPr lang="en-US" sz="1100"/>
                    </a:p>
                  </a:txBody>
                  <a:tcPr marL="25400" marR="25400" marT="0" marB="0" anchor="ctr">
                    <a:lnL w="12700" cap="flat" cmpd="sng" algn="ctr">
                      <a:solidFill>
                        <a:srgbClr val="4585FB"/>
                      </a:solidFill>
                      <a:prstDash val="solid"/>
                      <a:round/>
                      <a:headEnd type="none" w="med" len="med"/>
                      <a:tailEnd type="none" w="med" len="med"/>
                    </a:lnL>
                    <a:lnR w="12700" cap="flat" cmpd="sng" algn="ctr">
                      <a:solidFill>
                        <a:srgbClr val="4585FB"/>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상</a:t>
                      </a:r>
                      <a:endParaRPr lang="en-US" sz="1100"/>
                    </a:p>
                  </a:txBody>
                  <a:tcPr marL="25400" marR="25400" marT="0" marB="0" anchor="ctr">
                    <a:lnL w="12700" cap="flat" cmpd="sng" algn="ctr">
                      <a:solidFill>
                        <a:srgbClr val="4585FB"/>
                      </a:solidFill>
                      <a:prstDash val="solid"/>
                      <a:round/>
                      <a:headEnd type="none" w="med" len="med"/>
                      <a:tailEnd type="none" w="med" len="med"/>
                    </a:lnL>
                    <a:lnR cap="flat" cmpd="sng" algn="ctr">
                      <a:solidFill>
                        <a:srgbClr val="000000">
                          <a:alpha val="0"/>
                        </a:srgbClr>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571029">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코드 난독화 적용</a:t>
                      </a:r>
                      <a:endParaRPr lang="en-US" sz="1100"/>
                    </a:p>
                  </a:txBody>
                  <a:tcPr marL="25400" marR="25400" marT="0" marB="0" anchor="ctr">
                    <a:lnL w="12700" cap="flat" cmpd="sng" algn="ctr">
                      <a:solidFill>
                        <a:srgbClr val="4585FB"/>
                      </a:solidFill>
                      <a:prstDash val="solid"/>
                      <a:round/>
                      <a:headEnd type="none" w="med" len="med"/>
                      <a:tailEnd type="none" w="med" len="med"/>
                    </a:lnL>
                    <a:lnR w="12700" cap="flat" cmpd="sng" algn="ctr">
                      <a:solidFill>
                        <a:srgbClr val="4585FB"/>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상</a:t>
                      </a:r>
                      <a:endParaRPr lang="en-US" sz="1100"/>
                    </a:p>
                  </a:txBody>
                  <a:tcPr marL="25400" marR="25400" marT="0" marB="0" anchor="ctr">
                    <a:lnL w="12700" cap="flat" cmpd="sng" algn="ctr">
                      <a:solidFill>
                        <a:srgbClr val="4585FB"/>
                      </a:solidFill>
                      <a:prstDash val="solid"/>
                      <a:round/>
                      <a:headEnd type="none" w="med" len="med"/>
                      <a:tailEnd type="none" w="med" len="med"/>
                    </a:lnL>
                    <a:lnR cap="flat" cmpd="sng" algn="ctr">
                      <a:solidFill>
                        <a:srgbClr val="000000">
                          <a:alpha val="0"/>
                        </a:srgbClr>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571029">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안티바이러스 적용</a:t>
                      </a:r>
                      <a:endParaRPr lang="en-US" sz="1100"/>
                    </a:p>
                  </a:txBody>
                  <a:tcPr marL="25400" marR="25400" marT="0" marB="0" anchor="ctr">
                    <a:lnL w="12700" cap="flat" cmpd="sng" algn="ctr">
                      <a:solidFill>
                        <a:srgbClr val="4585FB"/>
                      </a:solidFill>
                      <a:prstDash val="solid"/>
                      <a:round/>
                      <a:headEnd type="none" w="med" len="med"/>
                      <a:tailEnd type="none" w="med" len="med"/>
                    </a:lnL>
                    <a:lnR w="12700" cap="flat" cmpd="sng" algn="ctr">
                      <a:solidFill>
                        <a:srgbClr val="4585FB"/>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상</a:t>
                      </a:r>
                      <a:endParaRPr lang="en-US" sz="1100"/>
                    </a:p>
                  </a:txBody>
                  <a:tcPr marL="25400" marR="25400" marT="0" marB="0" anchor="ctr">
                    <a:lnL w="12700" cap="flat" cmpd="sng" algn="ctr">
                      <a:solidFill>
                        <a:srgbClr val="4585FB"/>
                      </a:solidFill>
                      <a:prstDash val="solid"/>
                      <a:round/>
                      <a:headEnd type="none" w="med" len="med"/>
                      <a:tailEnd type="none" w="med" len="med"/>
                    </a:lnL>
                    <a:lnR cap="flat" cmpd="sng" algn="ctr">
                      <a:solidFill>
                        <a:srgbClr val="000000">
                          <a:alpha val="0"/>
                        </a:srgbClr>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571029">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이벤트 기반 생체 인증 API 서버 검증</a:t>
                      </a:r>
                      <a:endParaRPr lang="en-US" sz="1100"/>
                    </a:p>
                  </a:txBody>
                  <a:tcPr marL="25400" marR="25400" marT="0" marB="0" anchor="ctr">
                    <a:lnL w="12700" cap="flat" cmpd="sng" algn="ctr">
                      <a:solidFill>
                        <a:srgbClr val="4585FB"/>
                      </a:solidFill>
                      <a:prstDash val="solid"/>
                      <a:round/>
                      <a:headEnd type="none" w="med" len="med"/>
                      <a:tailEnd type="none" w="med" len="med"/>
                    </a:lnL>
                    <a:lnR w="12700" cap="flat" cmpd="sng" algn="ctr">
                      <a:solidFill>
                        <a:srgbClr val="4585FB"/>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상</a:t>
                      </a:r>
                      <a:endParaRPr lang="en-US" sz="1100"/>
                    </a:p>
                  </a:txBody>
                  <a:tcPr marL="25400" marR="25400" marT="0" marB="0" anchor="ctr">
                    <a:lnL w="12700" cap="flat" cmpd="sng" algn="ctr">
                      <a:solidFill>
                        <a:srgbClr val="4585FB"/>
                      </a:solidFill>
                      <a:prstDash val="solid"/>
                      <a:round/>
                      <a:headEnd type="none" w="med" len="med"/>
                      <a:tailEnd type="none" w="med" len="med"/>
                    </a:lnL>
                    <a:lnR cap="flat" cmpd="sng" algn="ctr">
                      <a:solidFill>
                        <a:srgbClr val="000000">
                          <a:alpha val="0"/>
                        </a:srgbClr>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r h="571029">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네트워크 트래픽 내 인증서 핀닝 적용 여부</a:t>
                      </a:r>
                      <a:endParaRPr lang="en-US" sz="1100"/>
                    </a:p>
                  </a:txBody>
                  <a:tcPr marL="25400" marR="25400" marT="0" marB="0" anchor="ctr">
                    <a:lnL w="12700" cap="flat" cmpd="sng" algn="ctr">
                      <a:solidFill>
                        <a:srgbClr val="4585FB"/>
                      </a:solidFill>
                      <a:prstDash val="solid"/>
                      <a:round/>
                      <a:headEnd type="none" w="med" len="med"/>
                      <a:tailEnd type="none" w="med" len="med"/>
                    </a:lnL>
                    <a:lnR w="12700" cap="flat" cmpd="sng" algn="ctr">
                      <a:solidFill>
                        <a:srgbClr val="4585FB"/>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tc>
                  <a:txBody>
                    <a:bodyPr/>
                    <a:lstStyle/>
                    <a:p>
                      <a:pPr lvl="0" algn="ctr">
                        <a:lnSpc>
                          <a:spcPct val="133630"/>
                        </a:lnSpc>
                        <a:defRPr/>
                      </a:pPr>
                      <a:r>
                        <a:rPr lang="en-US" sz="2666" b="0" i="0" u="none" strike="noStrike">
                          <a:solidFill>
                            <a:srgbClr val="787870"/>
                          </a:solidFill>
                          <a:latin typeface="Pretendard Medium"/>
                          <a:ea typeface="Pretendard Medium"/>
                          <a:cs typeface="Pretendard Medium"/>
                        </a:rPr>
                        <a:t>상</a:t>
                      </a:r>
                      <a:endParaRPr lang="en-US" sz="1100"/>
                    </a:p>
                  </a:txBody>
                  <a:tcPr marL="25400" marR="25400" marT="0" marB="0" anchor="ctr">
                    <a:lnL w="12700" cap="flat" cmpd="sng" algn="ctr">
                      <a:solidFill>
                        <a:srgbClr val="4585FB"/>
                      </a:solidFill>
                      <a:prstDash val="solid"/>
                      <a:round/>
                      <a:headEnd type="none" w="med" len="med"/>
                      <a:tailEnd type="none" w="med" len="med"/>
                    </a:lnL>
                    <a:lnR cap="flat" cmpd="sng" algn="ctr">
                      <a:solidFill>
                        <a:srgbClr val="000000">
                          <a:alpha val="0"/>
                        </a:srgbClr>
                      </a:solidFill>
                      <a:prstDash val="solid"/>
                      <a:round/>
                      <a:headEnd type="none" w="med" len="med"/>
                      <a:tailEnd type="none" w="med" len="med"/>
                    </a:lnR>
                    <a:lnT w="12700" cap="flat" cmpd="sng" algn="ctr">
                      <a:solidFill>
                        <a:srgbClr val="4585FB"/>
                      </a:solidFill>
                      <a:prstDash val="solid"/>
                      <a:round/>
                      <a:headEnd type="none" w="med" len="med"/>
                      <a:tailEnd type="none" w="med" len="med"/>
                    </a:lnT>
                    <a:lnB w="12700" cap="flat" cmpd="sng" algn="ctr">
                      <a:solidFill>
                        <a:srgbClr val="4585FB"/>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bl>
          </a:graphicData>
        </a:graphic>
      </p:graphicFrame>
      <p:sp>
        <p:nvSpPr>
          <p:cNvPr id="32" name="TextBox 14">
            <a:extLst>
              <a:ext uri="{FF2B5EF4-FFF2-40B4-BE49-F238E27FC236}">
                <a16:creationId xmlns:a16="http://schemas.microsoft.com/office/drawing/2014/main" id="{C23E9380-4E69-CD4D-4CD3-24B283192784}"/>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33" name="TextBox 14">
            <a:extLst>
              <a:ext uri="{FF2B5EF4-FFF2-40B4-BE49-F238E27FC236}">
                <a16:creationId xmlns:a16="http://schemas.microsoft.com/office/drawing/2014/main" id="{7047E127-E856-B447-B0A6-7891E9F66099}"/>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40" name="Picture 12">
            <a:extLst>
              <a:ext uri="{FF2B5EF4-FFF2-40B4-BE49-F238E27FC236}">
                <a16:creationId xmlns:a16="http://schemas.microsoft.com/office/drawing/2014/main" id="{7135249B-7922-AA99-B3E3-00434CAD694B}"/>
              </a:ext>
            </a:extLst>
          </p:cNvPr>
          <p:cNvPicPr>
            <a:picLocks noChangeAspect="1"/>
          </p:cNvPicPr>
          <p:nvPr/>
        </p:nvPicPr>
        <p:blipFill>
          <a:blip r:embed="rId15">
            <a:alphaModFix amt="85000"/>
          </a:blip>
          <a:stretch>
            <a:fillRect/>
          </a:stretch>
        </p:blipFill>
        <p:spPr>
          <a:xfrm>
            <a:off x="9118600" y="571500"/>
            <a:ext cx="1993900" cy="444500"/>
          </a:xfrm>
          <a:prstGeom prst="rect">
            <a:avLst/>
          </a:prstGeom>
        </p:spPr>
      </p:pic>
      <p:sp>
        <p:nvSpPr>
          <p:cNvPr id="41" name="TextBox 13">
            <a:extLst>
              <a:ext uri="{FF2B5EF4-FFF2-40B4-BE49-F238E27FC236}">
                <a16:creationId xmlns:a16="http://schemas.microsoft.com/office/drawing/2014/main" id="{33A2BE1D-CDC1-0A6E-B857-27AE54FA1000}"/>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42" name="TextBox 15">
            <a:extLst>
              <a:ext uri="{FF2B5EF4-FFF2-40B4-BE49-F238E27FC236}">
                <a16:creationId xmlns:a16="http://schemas.microsoft.com/office/drawing/2014/main" id="{1BFD2300-B86D-739A-8B3B-8BE455DE3228}"/>
              </a:ext>
            </a:extLst>
          </p:cNvPr>
          <p:cNvSpPr txBox="1"/>
          <p:nvPr/>
        </p:nvSpPr>
        <p:spPr>
          <a:xfrm>
            <a:off x="11353800" y="457200"/>
            <a:ext cx="25273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시나리오</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모의해킹</a:t>
            </a:r>
            <a:endParaRPr lang="en-US" sz="2666" b="0" i="0" u="none" strike="noStrike" spc="-100" dirty="0">
              <a:solidFill>
                <a:srgbClr val="C2C2C2"/>
              </a:solidFill>
              <a:latin typeface="Pretendard SemiBold"/>
              <a:ea typeface="Pretendard SemiBold"/>
              <a:cs typeface="Pretendard SemiBold"/>
            </a:endParaRPr>
          </a:p>
        </p:txBody>
      </p:sp>
      <p:sp>
        <p:nvSpPr>
          <p:cNvPr id="43" name="TextBox 16">
            <a:extLst>
              <a:ext uri="{FF2B5EF4-FFF2-40B4-BE49-F238E27FC236}">
                <a16:creationId xmlns:a16="http://schemas.microsoft.com/office/drawing/2014/main" id="{BA6BFE33-7CB2-75E1-37C9-D1A784C21679}"/>
              </a:ext>
            </a:extLst>
          </p:cNvPr>
          <p:cNvSpPr txBox="1"/>
          <p:nvPr/>
        </p:nvSpPr>
        <p:spPr>
          <a:xfrm>
            <a:off x="14097000" y="4699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44" name="TextBox 17">
            <a:extLst>
              <a:ext uri="{FF2B5EF4-FFF2-40B4-BE49-F238E27FC236}">
                <a16:creationId xmlns:a16="http://schemas.microsoft.com/office/drawing/2014/main" id="{86BC3D97-9D4C-205B-CAA0-8E4F0B91FFA0}"/>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개발 및 진단</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4"/>
          <a:stretch>
            <a:fillRect/>
          </a:stretch>
        </p:blipFill>
        <p:spPr>
          <a:xfrm>
            <a:off x="762000" y="1092200"/>
            <a:ext cx="22860000" cy="12700"/>
          </a:xfrm>
          <a:prstGeom prst="rect">
            <a:avLst/>
          </a:prstGeom>
        </p:spPr>
      </p:pic>
      <p:pic>
        <p:nvPicPr>
          <p:cNvPr id="4" name="Picture 4"/>
          <p:cNvPicPr>
            <a:picLocks noChangeAspect="1"/>
          </p:cNvPicPr>
          <p:nvPr/>
        </p:nvPicPr>
        <p:blipFill>
          <a:blip r:embed="rId5"/>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5"/>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5"/>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4"/>
          <a:stretch>
            <a:fillRect/>
          </a:stretch>
        </p:blipFill>
        <p:spPr>
          <a:xfrm>
            <a:off x="723900" y="457200"/>
            <a:ext cx="22860000" cy="12700"/>
          </a:xfrm>
          <a:prstGeom prst="rect">
            <a:avLst/>
          </a:prstGeom>
        </p:spPr>
      </p:pic>
      <p:pic>
        <p:nvPicPr>
          <p:cNvPr id="9" name="Picture 9"/>
          <p:cNvPicPr>
            <a:picLocks noChangeAspect="1"/>
          </p:cNvPicPr>
          <p:nvPr/>
        </p:nvPicPr>
        <p:blipFill>
          <a:blip r:embed="rId6"/>
          <a:stretch>
            <a:fillRect/>
          </a:stretch>
        </p:blipFill>
        <p:spPr>
          <a:xfrm>
            <a:off x="1485900" y="1612900"/>
            <a:ext cx="88900" cy="850900"/>
          </a:xfrm>
          <a:prstGeom prst="rect">
            <a:avLst/>
          </a:prstGeom>
        </p:spPr>
      </p:pic>
      <p:sp>
        <p:nvSpPr>
          <p:cNvPr id="10" name="TextBox 10"/>
          <p:cNvSpPr txBox="1"/>
          <p:nvPr/>
        </p:nvSpPr>
        <p:spPr>
          <a:xfrm>
            <a:off x="1943100" y="1409700"/>
            <a:ext cx="106807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Web 진단 방법 - CSRF</a:t>
            </a:r>
          </a:p>
        </p:txBody>
      </p:sp>
      <p:pic>
        <p:nvPicPr>
          <p:cNvPr id="12" name="Picture 12"/>
          <p:cNvPicPr>
            <a:picLocks noChangeAspect="1"/>
          </p:cNvPicPr>
          <p:nvPr/>
        </p:nvPicPr>
        <p:blipFill>
          <a:blip r:embed="rId7"/>
          <a:stretch>
            <a:fillRect/>
          </a:stretch>
        </p:blipFill>
        <p:spPr>
          <a:xfrm>
            <a:off x="12560300" y="3124200"/>
            <a:ext cx="9982200" cy="2032000"/>
          </a:xfrm>
          <a:prstGeom prst="rect">
            <a:avLst/>
          </a:prstGeom>
          <a:effectLst>
            <a:outerShdw blurRad="50918" dist="47002" dir="2700000">
              <a:srgbClr val="1A7AE1">
                <a:alpha val="15000"/>
              </a:srgbClr>
            </a:outerShdw>
          </a:effectLst>
        </p:spPr>
      </p:pic>
      <p:pic>
        <p:nvPicPr>
          <p:cNvPr id="13" name="Picture 13"/>
          <p:cNvPicPr>
            <a:picLocks noChangeAspect="1"/>
          </p:cNvPicPr>
          <p:nvPr/>
        </p:nvPicPr>
        <p:blipFill>
          <a:blip r:embed="rId8"/>
          <a:stretch>
            <a:fillRect/>
          </a:stretch>
        </p:blipFill>
        <p:spPr>
          <a:xfrm>
            <a:off x="12954000" y="3429000"/>
            <a:ext cx="1308100" cy="508000"/>
          </a:xfrm>
          <a:prstGeom prst="rect">
            <a:avLst/>
          </a:prstGeom>
        </p:spPr>
      </p:pic>
      <p:sp>
        <p:nvSpPr>
          <p:cNvPr id="14" name="TextBox 14"/>
          <p:cNvSpPr txBox="1"/>
          <p:nvPr/>
        </p:nvSpPr>
        <p:spPr>
          <a:xfrm>
            <a:off x="14478000" y="3429000"/>
            <a:ext cx="4775200" cy="520700"/>
          </a:xfrm>
          <a:prstGeom prst="rect">
            <a:avLst/>
          </a:prstGeom>
        </p:spPr>
        <p:txBody>
          <a:bodyPr lIns="0" tIns="0" rIns="0" bIns="0" rtlCol="0" anchor="t"/>
          <a:lstStyle/>
          <a:p>
            <a:pPr lvl="0" algn="l">
              <a:lnSpc>
                <a:spcPct val="116199"/>
              </a:lnSpc>
            </a:pPr>
            <a:r>
              <a:rPr lang="en-US" sz="2933" b="0" i="0" u="none" strike="noStrike">
                <a:solidFill>
                  <a:srgbClr val="FFFFFF"/>
                </a:solidFill>
                <a:latin typeface="Pretendard SemiBold"/>
                <a:ea typeface="Pretendard SemiBold"/>
                <a:cs typeface="Pretendard SemiBold"/>
              </a:rPr>
              <a:t>대출 신청 및 타겟 식별 </a:t>
            </a:r>
          </a:p>
        </p:txBody>
      </p:sp>
      <p:sp>
        <p:nvSpPr>
          <p:cNvPr id="15" name="TextBox 15"/>
          <p:cNvSpPr txBox="1"/>
          <p:nvPr/>
        </p:nvSpPr>
        <p:spPr>
          <a:xfrm>
            <a:off x="14389100" y="3975100"/>
            <a:ext cx="6972300" cy="469900"/>
          </a:xfrm>
          <a:prstGeom prst="rect">
            <a:avLst/>
          </a:prstGeom>
        </p:spPr>
        <p:txBody>
          <a:bodyPr lIns="0" tIns="0" rIns="0" bIns="0" rtlCol="0" anchor="t"/>
          <a:lstStyle/>
          <a:p>
            <a:pPr lvl="0" algn="l">
              <a:lnSpc>
                <a:spcPct val="116199"/>
              </a:lnSpc>
            </a:pPr>
            <a:r>
              <a:rPr lang="en-US" sz="2666" b="0" i="0" u="none" strike="noStrike" dirty="0">
                <a:solidFill>
                  <a:srgbClr val="FFFFFF"/>
                </a:solidFill>
                <a:latin typeface="Pretendard Medium"/>
                <a:ea typeface="Pretendard Medium"/>
                <a:cs typeface="Pretendard Medium"/>
              </a:rPr>
              <a:t> </a:t>
            </a:r>
            <a:r>
              <a:rPr lang="en-US" sz="2666" b="0" i="0" u="none" strike="noStrike" dirty="0" err="1">
                <a:solidFill>
                  <a:srgbClr val="FFFFFF"/>
                </a:solidFill>
                <a:latin typeface="Pretendard Medium"/>
                <a:ea typeface="Pretendard Medium"/>
                <a:cs typeface="Pretendard Medium"/>
              </a:rPr>
              <a:t>일반</a:t>
            </a:r>
            <a:r>
              <a:rPr lang="en-US" sz="2666" b="0" i="0" u="none" strike="noStrike" dirty="0">
                <a:solidFill>
                  <a:srgbClr val="FFFFFF"/>
                </a:solidFill>
                <a:latin typeface="Pretendard Medium"/>
                <a:ea typeface="Pretendard Medium"/>
                <a:cs typeface="Pretendard Medium"/>
              </a:rPr>
              <a:t> </a:t>
            </a:r>
            <a:r>
              <a:rPr lang="en-US" sz="2666" b="0" i="0" u="none" strike="noStrike" dirty="0" err="1">
                <a:solidFill>
                  <a:srgbClr val="FFFFFF"/>
                </a:solidFill>
                <a:latin typeface="Pretendard Medium"/>
                <a:ea typeface="Pretendard Medium"/>
                <a:cs typeface="Pretendard Medium"/>
              </a:rPr>
              <a:t>사용자</a:t>
            </a:r>
            <a:r>
              <a:rPr lang="en-US" sz="2666" b="0" i="0" u="none" strike="noStrike" dirty="0">
                <a:solidFill>
                  <a:srgbClr val="FFFFFF"/>
                </a:solidFill>
                <a:latin typeface="Pretendard Medium"/>
                <a:ea typeface="Pretendard Medium"/>
                <a:cs typeface="Pretendard Medium"/>
              </a:rPr>
              <a:t> </a:t>
            </a:r>
            <a:r>
              <a:rPr lang="en-US" sz="2666" b="0" i="0" u="none" strike="noStrike" dirty="0" err="1">
                <a:solidFill>
                  <a:srgbClr val="FFFFFF"/>
                </a:solidFill>
                <a:latin typeface="Pretendard Medium"/>
                <a:ea typeface="Pretendard Medium"/>
                <a:cs typeface="Pretendard Medium"/>
              </a:rPr>
              <a:t>계정으로</a:t>
            </a:r>
            <a:r>
              <a:rPr lang="en-US" sz="2666" b="0" i="0" u="none" strike="noStrike" dirty="0">
                <a:solidFill>
                  <a:srgbClr val="FFFFFF"/>
                </a:solidFill>
                <a:latin typeface="Pretendard Medium"/>
                <a:ea typeface="Pretendard Medium"/>
                <a:cs typeface="Pretendard Medium"/>
              </a:rPr>
              <a:t> </a:t>
            </a:r>
            <a:r>
              <a:rPr lang="en-US" sz="2666" b="0" i="0" u="none" strike="noStrike" dirty="0" err="1">
                <a:solidFill>
                  <a:srgbClr val="FFFFFF"/>
                </a:solidFill>
                <a:latin typeface="Pretendard Medium"/>
                <a:ea typeface="Pretendard Medium"/>
                <a:cs typeface="Pretendard Medium"/>
              </a:rPr>
              <a:t>대출을</a:t>
            </a:r>
            <a:r>
              <a:rPr lang="en-US" sz="2666" b="0" i="0" u="none" strike="noStrike" dirty="0">
                <a:solidFill>
                  <a:srgbClr val="FFFFFF"/>
                </a:solidFill>
                <a:latin typeface="Pretendard Medium"/>
                <a:ea typeface="Pretendard Medium"/>
                <a:cs typeface="Pretendard Medium"/>
              </a:rPr>
              <a:t> </a:t>
            </a:r>
            <a:r>
              <a:rPr lang="en-US" sz="2666" b="0" i="0" u="none" strike="noStrike" dirty="0" err="1">
                <a:solidFill>
                  <a:srgbClr val="FFFFFF"/>
                </a:solidFill>
                <a:latin typeface="Pretendard Medium"/>
                <a:ea typeface="Pretendard Medium"/>
                <a:cs typeface="Pretendard Medium"/>
              </a:rPr>
              <a:t>신청</a:t>
            </a:r>
            <a:endParaRPr lang="en-US" sz="2666" b="0" i="0" u="none" strike="noStrike" dirty="0">
              <a:solidFill>
                <a:srgbClr val="FFFFFF"/>
              </a:solidFill>
              <a:latin typeface="Pretendard Medium"/>
              <a:ea typeface="Pretendard Medium"/>
              <a:cs typeface="Pretendard Medium"/>
            </a:endParaRPr>
          </a:p>
        </p:txBody>
      </p:sp>
      <p:sp>
        <p:nvSpPr>
          <p:cNvPr id="16" name="TextBox 16"/>
          <p:cNvSpPr txBox="1"/>
          <p:nvPr/>
        </p:nvSpPr>
        <p:spPr>
          <a:xfrm>
            <a:off x="13131800" y="3505200"/>
            <a:ext cx="939800" cy="355600"/>
          </a:xfrm>
          <a:prstGeom prst="rect">
            <a:avLst/>
          </a:prstGeom>
        </p:spPr>
        <p:txBody>
          <a:bodyPr lIns="0" tIns="0" rIns="0" bIns="0" rtlCol="0" anchor="t"/>
          <a:lstStyle/>
          <a:p>
            <a:pPr lvl="0" algn="ctr">
              <a:lnSpc>
                <a:spcPct val="116199"/>
              </a:lnSpc>
            </a:pPr>
            <a:r>
              <a:rPr lang="en-US" sz="2000" b="0" i="0" u="none" strike="noStrike" dirty="0">
                <a:solidFill>
                  <a:srgbClr val="1A7AE1"/>
                </a:solidFill>
                <a:latin typeface="Geologica Roman Light"/>
                <a:ea typeface="Geologica Roman Light"/>
                <a:cs typeface="Geologica Roman Light"/>
              </a:rPr>
              <a:t>Step 1</a:t>
            </a:r>
          </a:p>
        </p:txBody>
      </p:sp>
      <p:sp>
        <p:nvSpPr>
          <p:cNvPr id="18" name="TextBox 18"/>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a:solidFill>
                  <a:srgbClr val="024EA0"/>
                </a:solidFill>
                <a:latin typeface="Geologica Roman Light"/>
                <a:ea typeface="Geologica Roman Light"/>
                <a:cs typeface="Geologica Roman Light"/>
              </a:rPr>
              <a:t>14</a:t>
            </a:r>
          </a:p>
        </p:txBody>
      </p:sp>
      <p:sp>
        <p:nvSpPr>
          <p:cNvPr id="30" name="TextBox 14">
            <a:extLst>
              <a:ext uri="{FF2B5EF4-FFF2-40B4-BE49-F238E27FC236}">
                <a16:creationId xmlns:a16="http://schemas.microsoft.com/office/drawing/2014/main" id="{24F6AA63-04FF-B028-54FE-ECA13C1E5479}"/>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31" name="TextBox 14">
            <a:extLst>
              <a:ext uri="{FF2B5EF4-FFF2-40B4-BE49-F238E27FC236}">
                <a16:creationId xmlns:a16="http://schemas.microsoft.com/office/drawing/2014/main" id="{A611AFF5-8F32-A55F-BDD6-52BDCCBEDCAC}"/>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38" name="Picture 12">
            <a:extLst>
              <a:ext uri="{FF2B5EF4-FFF2-40B4-BE49-F238E27FC236}">
                <a16:creationId xmlns:a16="http://schemas.microsoft.com/office/drawing/2014/main" id="{045BC4F3-5E2B-8E5C-1D3D-6B753FB040D9}"/>
              </a:ext>
            </a:extLst>
          </p:cNvPr>
          <p:cNvPicPr>
            <a:picLocks noChangeAspect="1"/>
          </p:cNvPicPr>
          <p:nvPr/>
        </p:nvPicPr>
        <p:blipFill>
          <a:blip r:embed="rId9">
            <a:alphaModFix amt="85000"/>
          </a:blip>
          <a:stretch>
            <a:fillRect/>
          </a:stretch>
        </p:blipFill>
        <p:spPr>
          <a:xfrm>
            <a:off x="9118600" y="571500"/>
            <a:ext cx="1993900" cy="444500"/>
          </a:xfrm>
          <a:prstGeom prst="rect">
            <a:avLst/>
          </a:prstGeom>
        </p:spPr>
      </p:pic>
      <p:sp>
        <p:nvSpPr>
          <p:cNvPr id="39" name="TextBox 13">
            <a:extLst>
              <a:ext uri="{FF2B5EF4-FFF2-40B4-BE49-F238E27FC236}">
                <a16:creationId xmlns:a16="http://schemas.microsoft.com/office/drawing/2014/main" id="{66DF5A73-02C9-D017-BBB0-2E1CBBE04CEB}"/>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40" name="TextBox 15">
            <a:extLst>
              <a:ext uri="{FF2B5EF4-FFF2-40B4-BE49-F238E27FC236}">
                <a16:creationId xmlns:a16="http://schemas.microsoft.com/office/drawing/2014/main" id="{6878EEC6-FD21-8C8F-E1AF-7F04D9C12203}"/>
              </a:ext>
            </a:extLst>
          </p:cNvPr>
          <p:cNvSpPr txBox="1"/>
          <p:nvPr/>
        </p:nvSpPr>
        <p:spPr>
          <a:xfrm>
            <a:off x="11353800" y="457200"/>
            <a:ext cx="25273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시나리오</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모의해킹</a:t>
            </a:r>
            <a:endParaRPr lang="en-US" sz="2666" b="0" i="0" u="none" strike="noStrike" spc="-100" dirty="0">
              <a:solidFill>
                <a:srgbClr val="C2C2C2"/>
              </a:solidFill>
              <a:latin typeface="Pretendard SemiBold"/>
              <a:ea typeface="Pretendard SemiBold"/>
              <a:cs typeface="Pretendard SemiBold"/>
            </a:endParaRPr>
          </a:p>
        </p:txBody>
      </p:sp>
      <p:sp>
        <p:nvSpPr>
          <p:cNvPr id="41" name="TextBox 16">
            <a:extLst>
              <a:ext uri="{FF2B5EF4-FFF2-40B4-BE49-F238E27FC236}">
                <a16:creationId xmlns:a16="http://schemas.microsoft.com/office/drawing/2014/main" id="{27A1E0FC-9889-80CB-856D-23D0C69EF27D}"/>
              </a:ext>
            </a:extLst>
          </p:cNvPr>
          <p:cNvSpPr txBox="1"/>
          <p:nvPr/>
        </p:nvSpPr>
        <p:spPr>
          <a:xfrm>
            <a:off x="14097000" y="4699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42" name="TextBox 17">
            <a:extLst>
              <a:ext uri="{FF2B5EF4-FFF2-40B4-BE49-F238E27FC236}">
                <a16:creationId xmlns:a16="http://schemas.microsoft.com/office/drawing/2014/main" id="{AD59682C-5582-7D38-F08F-402F8FBE5521}"/>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개발 및 진단</a:t>
            </a:r>
          </a:p>
        </p:txBody>
      </p:sp>
      <p:grpSp>
        <p:nvGrpSpPr>
          <p:cNvPr id="47" name="그룹 46">
            <a:extLst>
              <a:ext uri="{FF2B5EF4-FFF2-40B4-BE49-F238E27FC236}">
                <a16:creationId xmlns:a16="http://schemas.microsoft.com/office/drawing/2014/main" id="{5F8AA25E-C3A0-8FFF-1640-5EF674F76659}"/>
              </a:ext>
            </a:extLst>
          </p:cNvPr>
          <p:cNvGrpSpPr/>
          <p:nvPr/>
        </p:nvGrpSpPr>
        <p:grpSpPr>
          <a:xfrm>
            <a:off x="1981200" y="3124200"/>
            <a:ext cx="9347200" cy="9906000"/>
            <a:chOff x="1981200" y="3124200"/>
            <a:chExt cx="9347200" cy="9906000"/>
          </a:xfrm>
        </p:grpSpPr>
        <p:pic>
          <p:nvPicPr>
            <p:cNvPr id="11" name="Picture 11"/>
            <p:cNvPicPr>
              <a:picLocks noChangeAspect="1"/>
            </p:cNvPicPr>
            <p:nvPr/>
          </p:nvPicPr>
          <p:blipFill>
            <a:blip r:embed="rId10"/>
            <a:stretch>
              <a:fillRect/>
            </a:stretch>
          </p:blipFill>
          <p:spPr>
            <a:xfrm>
              <a:off x="8610600" y="9156700"/>
              <a:ext cx="304800" cy="342900"/>
            </a:xfrm>
            <a:prstGeom prst="rect">
              <a:avLst/>
            </a:prstGeom>
          </p:spPr>
        </p:pic>
        <p:pic>
          <p:nvPicPr>
            <p:cNvPr id="17" name="Picture 17"/>
            <p:cNvPicPr>
              <a:picLocks noChangeAspect="1"/>
            </p:cNvPicPr>
            <p:nvPr/>
          </p:nvPicPr>
          <p:blipFill>
            <a:blip r:embed="rId11"/>
            <a:stretch>
              <a:fillRect/>
            </a:stretch>
          </p:blipFill>
          <p:spPr>
            <a:xfrm>
              <a:off x="1981200" y="3124200"/>
              <a:ext cx="9347200" cy="9906000"/>
            </a:xfrm>
            <a:prstGeom prst="rect">
              <a:avLst/>
            </a:prstGeom>
            <a:effectLst>
              <a:outerShdw blurRad="514018" dist="215672" dir="2700000">
                <a:srgbClr val="000000">
                  <a:alpha val="23000"/>
                </a:srgbClr>
              </a:outerShdw>
            </a:effectLst>
          </p:spPr>
        </p:pic>
        <p:pic>
          <p:nvPicPr>
            <p:cNvPr id="19" name="Picture 19"/>
            <p:cNvPicPr>
              <a:picLocks noChangeAspect="1"/>
            </p:cNvPicPr>
            <p:nvPr/>
          </p:nvPicPr>
          <p:blipFill>
            <a:blip r:embed="rId12"/>
            <a:stretch>
              <a:fillRect/>
            </a:stretch>
          </p:blipFill>
          <p:spPr>
            <a:xfrm>
              <a:off x="8255000" y="9855200"/>
              <a:ext cx="673100" cy="304800"/>
            </a:xfrm>
            <a:prstGeom prst="rect">
              <a:avLst/>
            </a:prstGeom>
          </p:spPr>
        </p:pic>
        <p:pic>
          <p:nvPicPr>
            <p:cNvPr id="21" name="Picture 21"/>
            <p:cNvPicPr>
              <a:picLocks noChangeAspect="1"/>
            </p:cNvPicPr>
            <p:nvPr/>
          </p:nvPicPr>
          <p:blipFill>
            <a:blip r:embed="rId13"/>
            <a:stretch>
              <a:fillRect/>
            </a:stretch>
          </p:blipFill>
          <p:spPr>
            <a:xfrm>
              <a:off x="7937500" y="10274300"/>
              <a:ext cx="914400" cy="304800"/>
            </a:xfrm>
            <a:prstGeom prst="rect">
              <a:avLst/>
            </a:prstGeom>
          </p:spPr>
        </p:pic>
        <p:pic>
          <p:nvPicPr>
            <p:cNvPr id="22" name="Picture 22"/>
            <p:cNvPicPr>
              <a:picLocks noChangeAspect="1"/>
            </p:cNvPicPr>
            <p:nvPr/>
          </p:nvPicPr>
          <p:blipFill>
            <a:blip r:embed="rId14"/>
            <a:stretch>
              <a:fillRect/>
            </a:stretch>
          </p:blipFill>
          <p:spPr>
            <a:xfrm>
              <a:off x="8051800" y="10312400"/>
              <a:ext cx="825500" cy="228600"/>
            </a:xfrm>
            <a:prstGeom prst="rect">
              <a:avLst/>
            </a:prstGeom>
          </p:spPr>
        </p:pic>
        <p:pic>
          <p:nvPicPr>
            <p:cNvPr id="46" name="그림 45">
              <a:extLst>
                <a:ext uri="{FF2B5EF4-FFF2-40B4-BE49-F238E27FC236}">
                  <a16:creationId xmlns:a16="http://schemas.microsoft.com/office/drawing/2014/main" id="{78D49FE0-F20A-4102-793D-DA5AC9225506}"/>
                </a:ext>
              </a:extLst>
            </p:cNvPr>
            <p:cNvPicPr>
              <a:picLocks noChangeAspect="1"/>
            </p:cNvPicPr>
            <p:nvPr/>
          </p:nvPicPr>
          <p:blipFill>
            <a:blip r:embed="rId15">
              <a:extLst>
                <a:ext uri="{28A0092B-C50C-407E-A947-70E740481C1C}">
                  <a14:useLocalDpi xmlns:a14="http://schemas.microsoft.com/office/drawing/2010/main" val="0"/>
                </a:ext>
              </a:extLst>
            </a:blip>
            <a:srcRect t="73651"/>
            <a:stretch>
              <a:fillRect/>
            </a:stretch>
          </p:blipFill>
          <p:spPr>
            <a:xfrm>
              <a:off x="3172661" y="9855200"/>
              <a:ext cx="6976978" cy="2127829"/>
            </a:xfrm>
            <a:prstGeom prst="rect">
              <a:avLst/>
            </a:prstGeom>
          </p:spPr>
        </p:pic>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3" name="Picture 3"/>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4" name="Picture 4"/>
          <p:cNvPicPr>
            <a:picLocks noChangeAspect="1"/>
          </p:cNvPicPr>
          <p:nvPr/>
        </p:nvPicPr>
        <p:blipFill>
          <a:blip r:embed="rId3"/>
          <a:stretch>
            <a:fillRect/>
          </a:stretch>
        </p:blipFill>
        <p:spPr>
          <a:xfrm>
            <a:off x="762000" y="1092200"/>
            <a:ext cx="22860000" cy="12700"/>
          </a:xfrm>
          <a:prstGeom prst="rect">
            <a:avLst/>
          </a:prstGeom>
        </p:spPr>
      </p:pic>
      <p:pic>
        <p:nvPicPr>
          <p:cNvPr id="5" name="Picture 5"/>
          <p:cNvPicPr>
            <a:picLocks noChangeAspect="1"/>
          </p:cNvPicPr>
          <p:nvPr/>
        </p:nvPicPr>
        <p:blipFill>
          <a:blip r:embed="rId4"/>
          <a:stretch>
            <a:fillRect/>
          </a:stretch>
        </p:blipFill>
        <p:spPr>
          <a:xfrm rot="5400000">
            <a:off x="32004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22225000" y="787400"/>
            <a:ext cx="635000" cy="12700"/>
          </a:xfrm>
          <a:prstGeom prst="rect">
            <a:avLst/>
          </a:prstGeom>
        </p:spPr>
      </p:pic>
      <p:pic>
        <p:nvPicPr>
          <p:cNvPr id="7" name="Picture 7"/>
          <p:cNvPicPr>
            <a:picLocks noChangeAspect="1"/>
          </p:cNvPicPr>
          <p:nvPr/>
        </p:nvPicPr>
        <p:blipFill>
          <a:blip r:embed="rId4"/>
          <a:stretch>
            <a:fillRect/>
          </a:stretch>
        </p:blipFill>
        <p:spPr>
          <a:xfrm rot="5400000">
            <a:off x="6337300" y="787400"/>
            <a:ext cx="635000" cy="12700"/>
          </a:xfrm>
          <a:prstGeom prst="rect">
            <a:avLst/>
          </a:prstGeom>
        </p:spPr>
      </p:pic>
      <p:pic>
        <p:nvPicPr>
          <p:cNvPr id="8" name="Picture 8"/>
          <p:cNvPicPr>
            <a:picLocks noChangeAspect="1"/>
          </p:cNvPicPr>
          <p:nvPr/>
        </p:nvPicPr>
        <p:blipFill>
          <a:blip r:embed="rId3"/>
          <a:stretch>
            <a:fillRect/>
          </a:stretch>
        </p:blipFill>
        <p:spPr>
          <a:xfrm>
            <a:off x="723900" y="457200"/>
            <a:ext cx="22860000" cy="12700"/>
          </a:xfrm>
          <a:prstGeom prst="rect">
            <a:avLst/>
          </a:prstGeom>
        </p:spPr>
      </p:pic>
      <p:pic>
        <p:nvPicPr>
          <p:cNvPr id="14" name="Picture 14"/>
          <p:cNvPicPr>
            <a:picLocks noChangeAspect="1"/>
          </p:cNvPicPr>
          <p:nvPr/>
        </p:nvPicPr>
        <p:blipFill>
          <a:blip r:embed="rId5"/>
          <a:stretch>
            <a:fillRect/>
          </a:stretch>
        </p:blipFill>
        <p:spPr>
          <a:xfrm>
            <a:off x="1485900" y="1612900"/>
            <a:ext cx="88900" cy="850900"/>
          </a:xfrm>
          <a:prstGeom prst="rect">
            <a:avLst/>
          </a:prstGeom>
        </p:spPr>
      </p:pic>
      <p:pic>
        <p:nvPicPr>
          <p:cNvPr id="15" name="Picture 15"/>
          <p:cNvPicPr>
            <a:picLocks noChangeAspect="1"/>
          </p:cNvPicPr>
          <p:nvPr/>
        </p:nvPicPr>
        <p:blipFill>
          <a:blip r:embed="rId6"/>
          <a:stretch>
            <a:fillRect/>
          </a:stretch>
        </p:blipFill>
        <p:spPr>
          <a:xfrm>
            <a:off x="8610600" y="9156700"/>
            <a:ext cx="304800" cy="342900"/>
          </a:xfrm>
          <a:prstGeom prst="rect">
            <a:avLst/>
          </a:prstGeom>
        </p:spPr>
      </p:pic>
      <p:pic>
        <p:nvPicPr>
          <p:cNvPr id="16" name="Picture 16"/>
          <p:cNvPicPr>
            <a:picLocks noChangeAspect="1"/>
          </p:cNvPicPr>
          <p:nvPr/>
        </p:nvPicPr>
        <p:blipFill>
          <a:blip r:embed="rId7"/>
          <a:stretch>
            <a:fillRect/>
          </a:stretch>
        </p:blipFill>
        <p:spPr>
          <a:xfrm>
            <a:off x="12560300" y="3124200"/>
            <a:ext cx="9982200" cy="2032000"/>
          </a:xfrm>
          <a:prstGeom prst="rect">
            <a:avLst/>
          </a:prstGeom>
          <a:effectLst>
            <a:outerShdw blurRad="50918" dist="47002" dir="2700000">
              <a:srgbClr val="1A7AE1">
                <a:alpha val="15000"/>
              </a:srgbClr>
            </a:outerShdw>
          </a:effectLst>
        </p:spPr>
      </p:pic>
      <p:pic>
        <p:nvPicPr>
          <p:cNvPr id="17" name="Picture 17"/>
          <p:cNvPicPr>
            <a:picLocks noChangeAspect="1"/>
          </p:cNvPicPr>
          <p:nvPr/>
        </p:nvPicPr>
        <p:blipFill>
          <a:blip r:embed="rId8"/>
          <a:stretch>
            <a:fillRect/>
          </a:stretch>
        </p:blipFill>
        <p:spPr>
          <a:xfrm>
            <a:off x="12954000" y="3429000"/>
            <a:ext cx="1308100" cy="508000"/>
          </a:xfrm>
          <a:prstGeom prst="rect">
            <a:avLst/>
          </a:prstGeom>
        </p:spPr>
      </p:pic>
      <p:sp>
        <p:nvSpPr>
          <p:cNvPr id="18" name="TextBox 18"/>
          <p:cNvSpPr txBox="1"/>
          <p:nvPr/>
        </p:nvSpPr>
        <p:spPr>
          <a:xfrm>
            <a:off x="13131800" y="3505200"/>
            <a:ext cx="939800" cy="355600"/>
          </a:xfrm>
          <a:prstGeom prst="rect">
            <a:avLst/>
          </a:prstGeom>
        </p:spPr>
        <p:txBody>
          <a:bodyPr lIns="0" tIns="0" rIns="0" bIns="0" rtlCol="0" anchor="t"/>
          <a:lstStyle/>
          <a:p>
            <a:pPr lvl="0" algn="ctr">
              <a:lnSpc>
                <a:spcPct val="116199"/>
              </a:lnSpc>
            </a:pPr>
            <a:r>
              <a:rPr lang="en-US" sz="2000" b="0" i="0" u="none" strike="noStrike">
                <a:solidFill>
                  <a:srgbClr val="1A7AE1"/>
                </a:solidFill>
                <a:latin typeface="Geologica Roman Light"/>
                <a:ea typeface="Geologica Roman Light"/>
                <a:cs typeface="Geologica Roman Light"/>
              </a:rPr>
              <a:t>Step 1</a:t>
            </a:r>
          </a:p>
        </p:txBody>
      </p:sp>
      <p:pic>
        <p:nvPicPr>
          <p:cNvPr id="19" name="Picture 19"/>
          <p:cNvPicPr>
            <a:picLocks noChangeAspect="1"/>
          </p:cNvPicPr>
          <p:nvPr/>
        </p:nvPicPr>
        <p:blipFill>
          <a:blip r:embed="rId9"/>
          <a:stretch>
            <a:fillRect/>
          </a:stretch>
        </p:blipFill>
        <p:spPr>
          <a:xfrm>
            <a:off x="1981200" y="3136900"/>
            <a:ext cx="9347200" cy="10020300"/>
          </a:xfrm>
          <a:prstGeom prst="rect">
            <a:avLst/>
          </a:prstGeom>
          <a:effectLst>
            <a:outerShdw blurRad="514096" dist="215705" dir="2700000">
              <a:srgbClr val="000000">
                <a:alpha val="23000"/>
              </a:srgbClr>
            </a:outerShdw>
          </a:effectLst>
        </p:spPr>
      </p:pic>
      <p:sp>
        <p:nvSpPr>
          <p:cNvPr id="20" name="TextBox 20"/>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a:solidFill>
                  <a:srgbClr val="024EA0"/>
                </a:solidFill>
                <a:latin typeface="Geologica Roman Light"/>
                <a:ea typeface="Geologica Roman Light"/>
                <a:cs typeface="Geologica Roman Light"/>
              </a:rPr>
              <a:t>15</a:t>
            </a:r>
          </a:p>
        </p:txBody>
      </p:sp>
      <p:sp>
        <p:nvSpPr>
          <p:cNvPr id="21" name="TextBox 21"/>
          <p:cNvSpPr txBox="1"/>
          <p:nvPr/>
        </p:nvSpPr>
        <p:spPr>
          <a:xfrm>
            <a:off x="14478000" y="3429000"/>
            <a:ext cx="4318000" cy="520700"/>
          </a:xfrm>
          <a:prstGeom prst="rect">
            <a:avLst/>
          </a:prstGeom>
        </p:spPr>
        <p:txBody>
          <a:bodyPr lIns="0" tIns="0" rIns="0" bIns="0" rtlCol="0" anchor="t"/>
          <a:lstStyle/>
          <a:p>
            <a:pPr lvl="0" algn="l">
              <a:lnSpc>
                <a:spcPct val="116199"/>
              </a:lnSpc>
            </a:pPr>
            <a:r>
              <a:rPr lang="en-US" sz="2933" b="0" i="0" u="none" strike="noStrike">
                <a:solidFill>
                  <a:srgbClr val="FFFFFF"/>
                </a:solidFill>
                <a:latin typeface="Pretendard SemiBold"/>
                <a:ea typeface="Pretendard SemiBold"/>
                <a:cs typeface="Pretendard SemiBold"/>
              </a:rPr>
              <a:t>대출 신청 및 타겟 식별 </a:t>
            </a:r>
          </a:p>
        </p:txBody>
      </p:sp>
      <p:sp>
        <p:nvSpPr>
          <p:cNvPr id="22" name="TextBox 22"/>
          <p:cNvSpPr txBox="1"/>
          <p:nvPr/>
        </p:nvSpPr>
        <p:spPr>
          <a:xfrm>
            <a:off x="14389100" y="3975100"/>
            <a:ext cx="6972300" cy="952500"/>
          </a:xfrm>
          <a:prstGeom prst="rect">
            <a:avLst/>
          </a:prstGeom>
        </p:spPr>
        <p:txBody>
          <a:bodyPr lIns="0" tIns="0" rIns="0" bIns="0" rtlCol="0" anchor="t"/>
          <a:lstStyle/>
          <a:p>
            <a:pPr lvl="0" algn="l">
              <a:lnSpc>
                <a:spcPct val="116199"/>
              </a:lnSpc>
            </a:pPr>
            <a:r>
              <a:rPr lang="en-US" sz="2666" b="0" i="0" u="none" strike="noStrike" dirty="0">
                <a:solidFill>
                  <a:srgbClr val="FFFFFF"/>
                </a:solidFill>
                <a:latin typeface="Pretendard Medium"/>
                <a:ea typeface="Pretendard Medium"/>
                <a:cs typeface="Pretendard Medium"/>
              </a:rPr>
              <a:t> </a:t>
            </a:r>
            <a:r>
              <a:rPr lang="en-US" sz="2666" b="0" i="0" u="none" strike="noStrike" dirty="0" err="1">
                <a:solidFill>
                  <a:srgbClr val="FFFFFF"/>
                </a:solidFill>
                <a:latin typeface="Pretendard Medium"/>
                <a:ea typeface="Pretendard Medium"/>
                <a:cs typeface="Pretendard Medium"/>
              </a:rPr>
              <a:t>대출</a:t>
            </a:r>
            <a:r>
              <a:rPr lang="en-US" sz="2666" b="0" i="0" u="none" strike="noStrike" dirty="0">
                <a:solidFill>
                  <a:srgbClr val="FFFFFF"/>
                </a:solidFill>
                <a:latin typeface="Pretendard Medium"/>
                <a:ea typeface="Pretendard Medium"/>
                <a:cs typeface="Pretendard Medium"/>
              </a:rPr>
              <a:t> </a:t>
            </a:r>
            <a:r>
              <a:rPr lang="en-US" sz="2666" b="0" i="0" u="none" strike="noStrike" dirty="0" err="1">
                <a:solidFill>
                  <a:srgbClr val="FFFFFF"/>
                </a:solidFill>
                <a:latin typeface="Pretendard Medium"/>
                <a:ea typeface="Pretendard Medium"/>
                <a:cs typeface="Pretendard Medium"/>
              </a:rPr>
              <a:t>신청</a:t>
            </a:r>
            <a:r>
              <a:rPr lang="en-US" sz="2666" b="0" i="0" u="none" strike="noStrike" dirty="0">
                <a:solidFill>
                  <a:srgbClr val="FFFFFF"/>
                </a:solidFill>
                <a:latin typeface="Pretendard Medium"/>
                <a:ea typeface="Pretendard Medium"/>
                <a:cs typeface="Pretendard Medium"/>
              </a:rPr>
              <a:t> 후 Devtool에서 </a:t>
            </a:r>
            <a:r>
              <a:rPr lang="en-US" sz="2666" b="0" i="0" u="none" strike="noStrike" dirty="0" err="1">
                <a:solidFill>
                  <a:srgbClr val="FFFFFF"/>
                </a:solidFill>
                <a:latin typeface="Pretendard Medium"/>
                <a:ea typeface="Pretendard Medium"/>
                <a:cs typeface="Pretendard Medium"/>
              </a:rPr>
              <a:t>네트워크를</a:t>
            </a:r>
            <a:r>
              <a:rPr lang="en-US" sz="2666" b="0" i="0" u="none" strike="noStrike" dirty="0">
                <a:solidFill>
                  <a:srgbClr val="FFFFFF"/>
                </a:solidFill>
                <a:latin typeface="Pretendard Medium"/>
                <a:ea typeface="Pretendard Medium"/>
                <a:cs typeface="Pretendard Medium"/>
              </a:rPr>
              <a:t> </a:t>
            </a:r>
            <a:r>
              <a:rPr lang="en-US" sz="2666" b="0" i="0" u="none" strike="noStrike" dirty="0" err="1">
                <a:solidFill>
                  <a:srgbClr val="FFFFFF"/>
                </a:solidFill>
                <a:latin typeface="Pretendard Medium"/>
                <a:ea typeface="Pretendard Medium"/>
                <a:cs typeface="Pretendard Medium"/>
              </a:rPr>
              <a:t>확인하여</a:t>
            </a:r>
            <a:r>
              <a:rPr lang="en-US" sz="2666" b="0" i="0" u="none" strike="noStrike" dirty="0">
                <a:solidFill>
                  <a:srgbClr val="FFFFFF"/>
                </a:solidFill>
                <a:latin typeface="Pretendard Medium"/>
                <a:ea typeface="Pretendard Medium"/>
                <a:cs typeface="Pretendard Medium"/>
              </a:rPr>
              <a:t> 
 </a:t>
            </a:r>
            <a:r>
              <a:rPr lang="en-US" sz="2666" b="0" i="0" u="none" strike="noStrike" dirty="0" err="1">
                <a:solidFill>
                  <a:srgbClr val="FFFFFF"/>
                </a:solidFill>
                <a:latin typeface="Pretendard Medium"/>
                <a:ea typeface="Pretendard Medium"/>
                <a:cs typeface="Pretendard Medium"/>
              </a:rPr>
              <a:t>대출</a:t>
            </a:r>
            <a:r>
              <a:rPr lang="en-US" sz="2666" b="0" i="0" u="none" strike="noStrike" dirty="0">
                <a:solidFill>
                  <a:srgbClr val="FFFFFF"/>
                </a:solidFill>
                <a:latin typeface="Pretendard Medium"/>
                <a:ea typeface="Pretendard Medium"/>
                <a:cs typeface="Pretendard Medium"/>
              </a:rPr>
              <a:t> </a:t>
            </a:r>
            <a:r>
              <a:rPr lang="en-US" sz="2666" b="0" i="0" u="none" strike="noStrike" dirty="0" err="1">
                <a:solidFill>
                  <a:srgbClr val="FFFFFF"/>
                </a:solidFill>
                <a:latin typeface="Pretendard Medium"/>
                <a:ea typeface="Pretendard Medium"/>
                <a:cs typeface="Pretendard Medium"/>
              </a:rPr>
              <a:t>인덱스</a:t>
            </a:r>
            <a:r>
              <a:rPr lang="en-US" sz="2666" b="0" i="0" u="none" strike="noStrike" dirty="0">
                <a:solidFill>
                  <a:srgbClr val="FFFFFF"/>
                </a:solidFill>
                <a:latin typeface="Pretendard Medium"/>
                <a:ea typeface="Pretendard Medium"/>
                <a:cs typeface="Pretendard Medium"/>
              </a:rPr>
              <a:t> </a:t>
            </a:r>
            <a:r>
              <a:rPr lang="en-US" sz="2666" b="0" i="0" u="none" strike="noStrike" dirty="0" err="1">
                <a:solidFill>
                  <a:srgbClr val="FFFFFF"/>
                </a:solidFill>
                <a:latin typeface="Pretendard Medium"/>
                <a:ea typeface="Pretendard Medium"/>
                <a:cs typeface="Pretendard Medium"/>
              </a:rPr>
              <a:t>번호</a:t>
            </a:r>
            <a:r>
              <a:rPr lang="en-US" sz="2666" b="0" i="0" u="none" strike="noStrike" dirty="0">
                <a:solidFill>
                  <a:srgbClr val="FFFFFF"/>
                </a:solidFill>
                <a:latin typeface="Pretendard Medium"/>
                <a:ea typeface="Pretendard Medium"/>
                <a:cs typeface="Pretendard Medium"/>
              </a:rPr>
              <a:t> </a:t>
            </a:r>
            <a:r>
              <a:rPr lang="en-US" sz="2666" b="0" i="0" u="none" strike="noStrike" dirty="0" err="1">
                <a:solidFill>
                  <a:srgbClr val="FFFFFF"/>
                </a:solidFill>
                <a:latin typeface="Pretendard Medium"/>
                <a:ea typeface="Pretendard Medium"/>
                <a:cs typeface="Pretendard Medium"/>
              </a:rPr>
              <a:t>획득</a:t>
            </a:r>
            <a:endParaRPr lang="en-US" sz="2666" b="0" i="0" u="none" strike="noStrike" dirty="0">
              <a:solidFill>
                <a:srgbClr val="FFFFFF"/>
              </a:solidFill>
              <a:latin typeface="Pretendard Medium"/>
              <a:ea typeface="Pretendard Medium"/>
              <a:cs typeface="Pretendard Medium"/>
            </a:endParaRPr>
          </a:p>
        </p:txBody>
      </p:sp>
      <p:pic>
        <p:nvPicPr>
          <p:cNvPr id="23" name="Picture 23"/>
          <p:cNvPicPr>
            <a:picLocks noChangeAspect="1"/>
          </p:cNvPicPr>
          <p:nvPr/>
        </p:nvPicPr>
        <p:blipFill>
          <a:blip r:embed="rId10"/>
          <a:stretch>
            <a:fillRect/>
          </a:stretch>
        </p:blipFill>
        <p:spPr>
          <a:xfrm>
            <a:off x="5054600" y="7099300"/>
            <a:ext cx="1435100" cy="317500"/>
          </a:xfrm>
          <a:prstGeom prst="rect">
            <a:avLst/>
          </a:prstGeom>
        </p:spPr>
      </p:pic>
      <p:pic>
        <p:nvPicPr>
          <p:cNvPr id="24" name="Picture 24"/>
          <p:cNvPicPr>
            <a:picLocks noChangeAspect="1"/>
          </p:cNvPicPr>
          <p:nvPr/>
        </p:nvPicPr>
        <p:blipFill>
          <a:blip r:embed="rId11"/>
          <a:stretch>
            <a:fillRect/>
          </a:stretch>
        </p:blipFill>
        <p:spPr>
          <a:xfrm>
            <a:off x="1485900" y="1612900"/>
            <a:ext cx="88900" cy="850900"/>
          </a:xfrm>
          <a:prstGeom prst="rect">
            <a:avLst/>
          </a:prstGeom>
        </p:spPr>
      </p:pic>
      <p:sp>
        <p:nvSpPr>
          <p:cNvPr id="25" name="TextBox 25"/>
          <p:cNvSpPr txBox="1"/>
          <p:nvPr/>
        </p:nvSpPr>
        <p:spPr>
          <a:xfrm>
            <a:off x="1943100" y="1409700"/>
            <a:ext cx="106807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Web 진단 방법 - CSRF</a:t>
            </a:r>
          </a:p>
        </p:txBody>
      </p:sp>
      <p:sp>
        <p:nvSpPr>
          <p:cNvPr id="27" name="TextBox 14">
            <a:extLst>
              <a:ext uri="{FF2B5EF4-FFF2-40B4-BE49-F238E27FC236}">
                <a16:creationId xmlns:a16="http://schemas.microsoft.com/office/drawing/2014/main" id="{FECAA1ED-4A90-8A95-AF2F-3A005B5EE407}"/>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8" name="TextBox 14">
            <a:extLst>
              <a:ext uri="{FF2B5EF4-FFF2-40B4-BE49-F238E27FC236}">
                <a16:creationId xmlns:a16="http://schemas.microsoft.com/office/drawing/2014/main" id="{80785D29-71CA-E3DB-7A4B-30AAB932EEB4}"/>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35" name="Picture 12">
            <a:extLst>
              <a:ext uri="{FF2B5EF4-FFF2-40B4-BE49-F238E27FC236}">
                <a16:creationId xmlns:a16="http://schemas.microsoft.com/office/drawing/2014/main" id="{2B7B8A49-0B36-B36C-AA18-B62FDF8D7DE6}"/>
              </a:ext>
            </a:extLst>
          </p:cNvPr>
          <p:cNvPicPr>
            <a:picLocks noChangeAspect="1"/>
          </p:cNvPicPr>
          <p:nvPr/>
        </p:nvPicPr>
        <p:blipFill>
          <a:blip r:embed="rId12">
            <a:alphaModFix amt="85000"/>
          </a:blip>
          <a:stretch>
            <a:fillRect/>
          </a:stretch>
        </p:blipFill>
        <p:spPr>
          <a:xfrm>
            <a:off x="9118600" y="571500"/>
            <a:ext cx="1993900" cy="444500"/>
          </a:xfrm>
          <a:prstGeom prst="rect">
            <a:avLst/>
          </a:prstGeom>
        </p:spPr>
      </p:pic>
      <p:sp>
        <p:nvSpPr>
          <p:cNvPr id="36" name="TextBox 13">
            <a:extLst>
              <a:ext uri="{FF2B5EF4-FFF2-40B4-BE49-F238E27FC236}">
                <a16:creationId xmlns:a16="http://schemas.microsoft.com/office/drawing/2014/main" id="{56DDBFA7-4987-8A7B-C0D6-8399C783D27E}"/>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37" name="TextBox 15">
            <a:extLst>
              <a:ext uri="{FF2B5EF4-FFF2-40B4-BE49-F238E27FC236}">
                <a16:creationId xmlns:a16="http://schemas.microsoft.com/office/drawing/2014/main" id="{A49C5155-4C26-6F63-C747-877D21946CF1}"/>
              </a:ext>
            </a:extLst>
          </p:cNvPr>
          <p:cNvSpPr txBox="1"/>
          <p:nvPr/>
        </p:nvSpPr>
        <p:spPr>
          <a:xfrm>
            <a:off x="11353800" y="457200"/>
            <a:ext cx="25273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시나리오</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모의해킹</a:t>
            </a:r>
            <a:endParaRPr lang="en-US" sz="2666" b="0" i="0" u="none" strike="noStrike" spc="-100" dirty="0">
              <a:solidFill>
                <a:srgbClr val="C2C2C2"/>
              </a:solidFill>
              <a:latin typeface="Pretendard SemiBold"/>
              <a:ea typeface="Pretendard SemiBold"/>
              <a:cs typeface="Pretendard SemiBold"/>
            </a:endParaRPr>
          </a:p>
        </p:txBody>
      </p:sp>
      <p:sp>
        <p:nvSpPr>
          <p:cNvPr id="38" name="TextBox 16">
            <a:extLst>
              <a:ext uri="{FF2B5EF4-FFF2-40B4-BE49-F238E27FC236}">
                <a16:creationId xmlns:a16="http://schemas.microsoft.com/office/drawing/2014/main" id="{1CAE572B-80D9-6EB3-566B-14DBA3704A14}"/>
              </a:ext>
            </a:extLst>
          </p:cNvPr>
          <p:cNvSpPr txBox="1"/>
          <p:nvPr/>
        </p:nvSpPr>
        <p:spPr>
          <a:xfrm>
            <a:off x="14097000" y="4699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39" name="TextBox 17">
            <a:extLst>
              <a:ext uri="{FF2B5EF4-FFF2-40B4-BE49-F238E27FC236}">
                <a16:creationId xmlns:a16="http://schemas.microsoft.com/office/drawing/2014/main" id="{D3A6D072-E85A-189A-D440-A468E1CDC80D}"/>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개발 및 진단</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4"/>
          <a:stretch>
            <a:fillRect/>
          </a:stretch>
        </p:blipFill>
        <p:spPr>
          <a:xfrm>
            <a:off x="762000" y="1092200"/>
            <a:ext cx="22860000" cy="12700"/>
          </a:xfrm>
          <a:prstGeom prst="rect">
            <a:avLst/>
          </a:prstGeom>
        </p:spPr>
      </p:pic>
      <p:pic>
        <p:nvPicPr>
          <p:cNvPr id="4" name="Picture 4"/>
          <p:cNvPicPr>
            <a:picLocks noChangeAspect="1"/>
          </p:cNvPicPr>
          <p:nvPr/>
        </p:nvPicPr>
        <p:blipFill>
          <a:blip r:embed="rId5"/>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5"/>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5"/>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4"/>
          <a:stretch>
            <a:fillRect/>
          </a:stretch>
        </p:blipFill>
        <p:spPr>
          <a:xfrm>
            <a:off x="723900" y="457200"/>
            <a:ext cx="22860000" cy="12700"/>
          </a:xfrm>
          <a:prstGeom prst="rect">
            <a:avLst/>
          </a:prstGeom>
        </p:spPr>
      </p:pic>
      <p:pic>
        <p:nvPicPr>
          <p:cNvPr id="9" name="Picture 9"/>
          <p:cNvPicPr>
            <a:picLocks noChangeAspect="1"/>
          </p:cNvPicPr>
          <p:nvPr/>
        </p:nvPicPr>
        <p:blipFill>
          <a:blip r:embed="rId6"/>
          <a:stretch>
            <a:fillRect/>
          </a:stretch>
        </p:blipFill>
        <p:spPr>
          <a:xfrm>
            <a:off x="1485900" y="1612900"/>
            <a:ext cx="88900" cy="850900"/>
          </a:xfrm>
          <a:prstGeom prst="rect">
            <a:avLst/>
          </a:prstGeom>
        </p:spPr>
      </p:pic>
      <p:pic>
        <p:nvPicPr>
          <p:cNvPr id="10" name="Picture 10"/>
          <p:cNvPicPr>
            <a:picLocks noChangeAspect="1"/>
          </p:cNvPicPr>
          <p:nvPr/>
        </p:nvPicPr>
        <p:blipFill>
          <a:blip r:embed="rId7"/>
          <a:stretch>
            <a:fillRect/>
          </a:stretch>
        </p:blipFill>
        <p:spPr>
          <a:xfrm>
            <a:off x="8610600" y="9156700"/>
            <a:ext cx="304800" cy="342900"/>
          </a:xfrm>
          <a:prstGeom prst="rect">
            <a:avLst/>
          </a:prstGeom>
        </p:spPr>
      </p:pic>
      <p:pic>
        <p:nvPicPr>
          <p:cNvPr id="11" name="Picture 11"/>
          <p:cNvPicPr>
            <a:picLocks noChangeAspect="1"/>
          </p:cNvPicPr>
          <p:nvPr/>
        </p:nvPicPr>
        <p:blipFill>
          <a:blip r:embed="rId8"/>
          <a:stretch>
            <a:fillRect/>
          </a:stretch>
        </p:blipFill>
        <p:spPr>
          <a:xfrm>
            <a:off x="12560300" y="3124200"/>
            <a:ext cx="9982200" cy="2032000"/>
          </a:xfrm>
          <a:prstGeom prst="rect">
            <a:avLst/>
          </a:prstGeom>
          <a:effectLst>
            <a:outerShdw blurRad="50918" dist="47002" dir="2700000">
              <a:srgbClr val="1A7AE1">
                <a:alpha val="15000"/>
              </a:srgbClr>
            </a:outerShdw>
          </a:effectLst>
        </p:spPr>
      </p:pic>
      <p:pic>
        <p:nvPicPr>
          <p:cNvPr id="12" name="Picture 12"/>
          <p:cNvPicPr>
            <a:picLocks noChangeAspect="1"/>
          </p:cNvPicPr>
          <p:nvPr/>
        </p:nvPicPr>
        <p:blipFill>
          <a:blip r:embed="rId9"/>
          <a:stretch>
            <a:fillRect/>
          </a:stretch>
        </p:blipFill>
        <p:spPr>
          <a:xfrm>
            <a:off x="12954000" y="3429000"/>
            <a:ext cx="1308100" cy="508000"/>
          </a:xfrm>
          <a:prstGeom prst="rect">
            <a:avLst/>
          </a:prstGeom>
        </p:spPr>
      </p:pic>
      <p:sp>
        <p:nvSpPr>
          <p:cNvPr id="13" name="TextBox 13"/>
          <p:cNvSpPr txBox="1"/>
          <p:nvPr/>
        </p:nvSpPr>
        <p:spPr>
          <a:xfrm>
            <a:off x="14478000" y="3429000"/>
            <a:ext cx="4318000" cy="520700"/>
          </a:xfrm>
          <a:prstGeom prst="rect">
            <a:avLst/>
          </a:prstGeom>
        </p:spPr>
        <p:txBody>
          <a:bodyPr lIns="0" tIns="0" rIns="0" bIns="0" rtlCol="0" anchor="t"/>
          <a:lstStyle/>
          <a:p>
            <a:pPr lvl="0" algn="l">
              <a:lnSpc>
                <a:spcPct val="116199"/>
              </a:lnSpc>
            </a:pPr>
            <a:r>
              <a:rPr lang="en-US" sz="2933" b="0" i="0" u="none" strike="noStrike">
                <a:solidFill>
                  <a:srgbClr val="000000"/>
                </a:solidFill>
                <a:latin typeface="Pretendard SemiBold"/>
                <a:ea typeface="Pretendard SemiBold"/>
                <a:cs typeface="Pretendard SemiBold"/>
              </a:rPr>
              <a:t>대출 신청 및 타겟 식별 </a:t>
            </a:r>
          </a:p>
        </p:txBody>
      </p:sp>
      <p:sp>
        <p:nvSpPr>
          <p:cNvPr id="14" name="TextBox 14"/>
          <p:cNvSpPr txBox="1"/>
          <p:nvPr/>
        </p:nvSpPr>
        <p:spPr>
          <a:xfrm>
            <a:off x="14389100" y="3975100"/>
            <a:ext cx="6972300" cy="952500"/>
          </a:xfrm>
          <a:prstGeom prst="rect">
            <a:avLst/>
          </a:prstGeom>
        </p:spPr>
        <p:txBody>
          <a:bodyPr lIns="0" tIns="0" rIns="0" bIns="0" rtlCol="0" anchor="t"/>
          <a:lstStyle/>
          <a:p>
            <a:pPr lvl="0" algn="l">
              <a:lnSpc>
                <a:spcPct val="116199"/>
              </a:lnSpc>
            </a:pPr>
            <a:r>
              <a:rPr lang="en-US" sz="2666" b="0" i="0" u="none" strike="noStrike">
                <a:solidFill>
                  <a:srgbClr val="000000"/>
                </a:solidFill>
                <a:latin typeface="Pretendard Medium"/>
                <a:ea typeface="Pretendard Medium"/>
                <a:cs typeface="Pretendard Medium"/>
              </a:rPr>
              <a:t> 대출 신청 후 Devtool에서 네트워크를 확인하여 
 대출 인덱스 번호 획득</a:t>
            </a:r>
          </a:p>
        </p:txBody>
      </p:sp>
      <p:sp>
        <p:nvSpPr>
          <p:cNvPr id="15" name="TextBox 15"/>
          <p:cNvSpPr txBox="1"/>
          <p:nvPr/>
        </p:nvSpPr>
        <p:spPr>
          <a:xfrm>
            <a:off x="13131800" y="3505200"/>
            <a:ext cx="939800" cy="355600"/>
          </a:xfrm>
          <a:prstGeom prst="rect">
            <a:avLst/>
          </a:prstGeom>
        </p:spPr>
        <p:txBody>
          <a:bodyPr lIns="0" tIns="0" rIns="0" bIns="0" rtlCol="0" anchor="t"/>
          <a:lstStyle/>
          <a:p>
            <a:pPr lvl="0" algn="ctr">
              <a:lnSpc>
                <a:spcPct val="116199"/>
              </a:lnSpc>
            </a:pPr>
            <a:r>
              <a:rPr lang="en-US" sz="2000" b="0" i="0" u="none" strike="noStrike">
                <a:solidFill>
                  <a:srgbClr val="FFFFFF"/>
                </a:solidFill>
                <a:latin typeface="Geologica Roman Light"/>
                <a:ea typeface="Geologica Roman Light"/>
                <a:cs typeface="Geologica Roman Light"/>
              </a:rPr>
              <a:t>Step 1</a:t>
            </a:r>
          </a:p>
        </p:txBody>
      </p:sp>
      <p:sp>
        <p:nvSpPr>
          <p:cNvPr id="16" name="TextBox 16"/>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a:solidFill>
                  <a:srgbClr val="024EA0"/>
                </a:solidFill>
                <a:latin typeface="Geologica Roman Light"/>
                <a:ea typeface="Geologica Roman Light"/>
                <a:cs typeface="Geologica Roman Light"/>
              </a:rPr>
              <a:t>16</a:t>
            </a:r>
          </a:p>
        </p:txBody>
      </p:sp>
      <p:pic>
        <p:nvPicPr>
          <p:cNvPr id="17" name="Picture 17"/>
          <p:cNvPicPr>
            <a:picLocks noChangeAspect="1"/>
          </p:cNvPicPr>
          <p:nvPr/>
        </p:nvPicPr>
        <p:blipFill>
          <a:blip r:embed="rId10"/>
          <a:stretch>
            <a:fillRect/>
          </a:stretch>
        </p:blipFill>
        <p:spPr>
          <a:xfrm>
            <a:off x="2019300" y="3136900"/>
            <a:ext cx="9321800" cy="9906000"/>
          </a:xfrm>
          <a:prstGeom prst="rect">
            <a:avLst/>
          </a:prstGeom>
          <a:effectLst>
            <a:outerShdw blurRad="512687" dist="215113" dir="2700000">
              <a:srgbClr val="000000">
                <a:alpha val="23000"/>
              </a:srgbClr>
            </a:outerShdw>
          </a:effectLst>
        </p:spPr>
      </p:pic>
      <p:pic>
        <p:nvPicPr>
          <p:cNvPr id="18" name="Picture 18"/>
          <p:cNvPicPr>
            <a:picLocks noChangeAspect="1"/>
          </p:cNvPicPr>
          <p:nvPr/>
        </p:nvPicPr>
        <p:blipFill>
          <a:blip r:embed="rId11"/>
          <a:stretch>
            <a:fillRect/>
          </a:stretch>
        </p:blipFill>
        <p:spPr>
          <a:xfrm>
            <a:off x="2400300" y="7937500"/>
            <a:ext cx="8166100" cy="317500"/>
          </a:xfrm>
          <a:prstGeom prst="rect">
            <a:avLst/>
          </a:prstGeom>
        </p:spPr>
      </p:pic>
      <p:pic>
        <p:nvPicPr>
          <p:cNvPr id="19" name="Picture 19"/>
          <p:cNvPicPr>
            <a:picLocks noChangeAspect="1"/>
          </p:cNvPicPr>
          <p:nvPr/>
        </p:nvPicPr>
        <p:blipFill>
          <a:blip r:embed="rId12"/>
          <a:stretch>
            <a:fillRect/>
          </a:stretch>
        </p:blipFill>
        <p:spPr>
          <a:xfrm>
            <a:off x="12560300" y="5486400"/>
            <a:ext cx="9982200" cy="2032000"/>
          </a:xfrm>
          <a:prstGeom prst="rect">
            <a:avLst/>
          </a:prstGeom>
          <a:effectLst>
            <a:outerShdw blurRad="50918" dist="47002" dir="2700000">
              <a:srgbClr val="1A7AE1">
                <a:alpha val="15000"/>
              </a:srgbClr>
            </a:outerShdw>
          </a:effectLst>
        </p:spPr>
      </p:pic>
      <p:pic>
        <p:nvPicPr>
          <p:cNvPr id="20" name="Picture 20"/>
          <p:cNvPicPr>
            <a:picLocks noChangeAspect="1"/>
          </p:cNvPicPr>
          <p:nvPr/>
        </p:nvPicPr>
        <p:blipFill>
          <a:blip r:embed="rId13"/>
          <a:stretch>
            <a:fillRect/>
          </a:stretch>
        </p:blipFill>
        <p:spPr>
          <a:xfrm>
            <a:off x="13042900" y="5867400"/>
            <a:ext cx="1308100" cy="508000"/>
          </a:xfrm>
          <a:prstGeom prst="rect">
            <a:avLst/>
          </a:prstGeom>
        </p:spPr>
      </p:pic>
      <p:sp>
        <p:nvSpPr>
          <p:cNvPr id="21" name="TextBox 21"/>
          <p:cNvSpPr txBox="1"/>
          <p:nvPr/>
        </p:nvSpPr>
        <p:spPr>
          <a:xfrm>
            <a:off x="14478000" y="5867400"/>
            <a:ext cx="3594100" cy="520700"/>
          </a:xfrm>
          <a:prstGeom prst="rect">
            <a:avLst/>
          </a:prstGeom>
        </p:spPr>
        <p:txBody>
          <a:bodyPr lIns="0" tIns="0" rIns="0" bIns="0" rtlCol="0" anchor="t"/>
          <a:lstStyle/>
          <a:p>
            <a:pPr lvl="0" algn="l">
              <a:lnSpc>
                <a:spcPct val="116199"/>
              </a:lnSpc>
            </a:pPr>
            <a:r>
              <a:rPr lang="en-US" sz="2933" b="0" i="0" u="none" strike="noStrike">
                <a:solidFill>
                  <a:srgbClr val="FFFFFF"/>
                </a:solidFill>
                <a:latin typeface="Pretendard SemiBold"/>
                <a:ea typeface="Pretendard SemiBold"/>
                <a:cs typeface="Pretendard SemiBold"/>
              </a:rPr>
              <a:t>악성 페이로드 삽입</a:t>
            </a:r>
          </a:p>
        </p:txBody>
      </p:sp>
      <p:sp>
        <p:nvSpPr>
          <p:cNvPr id="22" name="TextBox 22"/>
          <p:cNvSpPr txBox="1"/>
          <p:nvPr/>
        </p:nvSpPr>
        <p:spPr>
          <a:xfrm>
            <a:off x="13220700" y="5930900"/>
            <a:ext cx="939800" cy="355600"/>
          </a:xfrm>
          <a:prstGeom prst="rect">
            <a:avLst/>
          </a:prstGeom>
        </p:spPr>
        <p:txBody>
          <a:bodyPr lIns="0" tIns="0" rIns="0" bIns="0" rtlCol="0" anchor="t"/>
          <a:lstStyle/>
          <a:p>
            <a:pPr lvl="0" algn="ctr">
              <a:lnSpc>
                <a:spcPct val="116199"/>
              </a:lnSpc>
            </a:pPr>
            <a:r>
              <a:rPr lang="en-US" sz="2000" b="0" i="0" u="none" strike="noStrike">
                <a:solidFill>
                  <a:srgbClr val="1A7AE1"/>
                </a:solidFill>
                <a:latin typeface="Geologica Roman Light"/>
                <a:ea typeface="Geologica Roman Light"/>
                <a:cs typeface="Geologica Roman Light"/>
              </a:rPr>
              <a:t>Step 2</a:t>
            </a:r>
          </a:p>
        </p:txBody>
      </p:sp>
      <p:sp>
        <p:nvSpPr>
          <p:cNvPr id="29" name="TextBox 29"/>
          <p:cNvSpPr txBox="1"/>
          <p:nvPr/>
        </p:nvSpPr>
        <p:spPr>
          <a:xfrm>
            <a:off x="14389100" y="6413500"/>
            <a:ext cx="7124700" cy="469900"/>
          </a:xfrm>
          <a:prstGeom prst="rect">
            <a:avLst/>
          </a:prstGeom>
        </p:spPr>
        <p:txBody>
          <a:bodyPr lIns="0" tIns="0" rIns="0" bIns="0" rtlCol="0" anchor="t"/>
          <a:lstStyle/>
          <a:p>
            <a:pPr lvl="0" algn="l">
              <a:lnSpc>
                <a:spcPct val="116199"/>
              </a:lnSpc>
            </a:pPr>
            <a:r>
              <a:rPr lang="en-US" sz="2666" b="0" i="0" u="none" strike="noStrike">
                <a:solidFill>
                  <a:srgbClr val="FFFFFF"/>
                </a:solidFill>
                <a:latin typeface="Pretendard Medium"/>
                <a:ea typeface="Pretendard Medium"/>
                <a:cs typeface="Pretendard Medium"/>
              </a:rPr>
              <a:t> 1 대 1 문의글에 대출 승인을 요청하는 페이로드 삽입</a:t>
            </a:r>
          </a:p>
        </p:txBody>
      </p:sp>
      <p:pic>
        <p:nvPicPr>
          <p:cNvPr id="30" name="Picture 30"/>
          <p:cNvPicPr>
            <a:picLocks noChangeAspect="1"/>
          </p:cNvPicPr>
          <p:nvPr/>
        </p:nvPicPr>
        <p:blipFill>
          <a:blip r:embed="rId14"/>
          <a:stretch>
            <a:fillRect/>
          </a:stretch>
        </p:blipFill>
        <p:spPr>
          <a:xfrm>
            <a:off x="1485900" y="1612900"/>
            <a:ext cx="88900" cy="850900"/>
          </a:xfrm>
          <a:prstGeom prst="rect">
            <a:avLst/>
          </a:prstGeom>
        </p:spPr>
      </p:pic>
      <p:sp>
        <p:nvSpPr>
          <p:cNvPr id="31" name="TextBox 31"/>
          <p:cNvSpPr txBox="1"/>
          <p:nvPr/>
        </p:nvSpPr>
        <p:spPr>
          <a:xfrm>
            <a:off x="1943100" y="1409700"/>
            <a:ext cx="106807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Web 진단 방법 - CSRF</a:t>
            </a:r>
          </a:p>
        </p:txBody>
      </p:sp>
      <p:sp>
        <p:nvSpPr>
          <p:cNvPr id="33" name="TextBox 14">
            <a:extLst>
              <a:ext uri="{FF2B5EF4-FFF2-40B4-BE49-F238E27FC236}">
                <a16:creationId xmlns:a16="http://schemas.microsoft.com/office/drawing/2014/main" id="{A144EBE8-9BC1-F407-E52C-BC3658B2C945}"/>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34" name="TextBox 14">
            <a:extLst>
              <a:ext uri="{FF2B5EF4-FFF2-40B4-BE49-F238E27FC236}">
                <a16:creationId xmlns:a16="http://schemas.microsoft.com/office/drawing/2014/main" id="{014F461C-8535-E35D-ECBE-4205C2BE8D36}"/>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41" name="Picture 12">
            <a:extLst>
              <a:ext uri="{FF2B5EF4-FFF2-40B4-BE49-F238E27FC236}">
                <a16:creationId xmlns:a16="http://schemas.microsoft.com/office/drawing/2014/main" id="{2A10841D-CDC1-EC06-D38F-7A4CD6283093}"/>
              </a:ext>
            </a:extLst>
          </p:cNvPr>
          <p:cNvPicPr>
            <a:picLocks noChangeAspect="1"/>
          </p:cNvPicPr>
          <p:nvPr/>
        </p:nvPicPr>
        <p:blipFill>
          <a:blip r:embed="rId15">
            <a:alphaModFix amt="85000"/>
          </a:blip>
          <a:stretch>
            <a:fillRect/>
          </a:stretch>
        </p:blipFill>
        <p:spPr>
          <a:xfrm>
            <a:off x="9118600" y="571500"/>
            <a:ext cx="1993900" cy="444500"/>
          </a:xfrm>
          <a:prstGeom prst="rect">
            <a:avLst/>
          </a:prstGeom>
        </p:spPr>
      </p:pic>
      <p:sp>
        <p:nvSpPr>
          <p:cNvPr id="42" name="TextBox 13">
            <a:extLst>
              <a:ext uri="{FF2B5EF4-FFF2-40B4-BE49-F238E27FC236}">
                <a16:creationId xmlns:a16="http://schemas.microsoft.com/office/drawing/2014/main" id="{7E6EA2EC-77CF-7933-1D18-DCDE796560FD}"/>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43" name="TextBox 15">
            <a:extLst>
              <a:ext uri="{FF2B5EF4-FFF2-40B4-BE49-F238E27FC236}">
                <a16:creationId xmlns:a16="http://schemas.microsoft.com/office/drawing/2014/main" id="{5D06C572-E6D0-890C-68C8-98394E513727}"/>
              </a:ext>
            </a:extLst>
          </p:cNvPr>
          <p:cNvSpPr txBox="1"/>
          <p:nvPr/>
        </p:nvSpPr>
        <p:spPr>
          <a:xfrm>
            <a:off x="11353800" y="457200"/>
            <a:ext cx="25273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시나리오</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모의해킹</a:t>
            </a:r>
            <a:endParaRPr lang="en-US" sz="2666" b="0" i="0" u="none" strike="noStrike" spc="-100" dirty="0">
              <a:solidFill>
                <a:srgbClr val="C2C2C2"/>
              </a:solidFill>
              <a:latin typeface="Pretendard SemiBold"/>
              <a:ea typeface="Pretendard SemiBold"/>
              <a:cs typeface="Pretendard SemiBold"/>
            </a:endParaRPr>
          </a:p>
        </p:txBody>
      </p:sp>
      <p:sp>
        <p:nvSpPr>
          <p:cNvPr id="44" name="TextBox 16">
            <a:extLst>
              <a:ext uri="{FF2B5EF4-FFF2-40B4-BE49-F238E27FC236}">
                <a16:creationId xmlns:a16="http://schemas.microsoft.com/office/drawing/2014/main" id="{3CA24CF4-D946-24B4-8BAB-1DF3A79315D2}"/>
              </a:ext>
            </a:extLst>
          </p:cNvPr>
          <p:cNvSpPr txBox="1"/>
          <p:nvPr/>
        </p:nvSpPr>
        <p:spPr>
          <a:xfrm>
            <a:off x="14097000" y="4699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45" name="TextBox 17">
            <a:extLst>
              <a:ext uri="{FF2B5EF4-FFF2-40B4-BE49-F238E27FC236}">
                <a16:creationId xmlns:a16="http://schemas.microsoft.com/office/drawing/2014/main" id="{87FAF706-7E96-3F32-5D37-CCB944FA8655}"/>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개발 및 진단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9" name="Picture 9"/>
          <p:cNvPicPr>
            <a:picLocks noChangeAspect="1"/>
          </p:cNvPicPr>
          <p:nvPr/>
        </p:nvPicPr>
        <p:blipFill>
          <a:blip r:embed="rId5"/>
          <a:stretch>
            <a:fillRect/>
          </a:stretch>
        </p:blipFill>
        <p:spPr>
          <a:xfrm>
            <a:off x="1485900" y="1612900"/>
            <a:ext cx="88900" cy="850900"/>
          </a:xfrm>
          <a:prstGeom prst="rect">
            <a:avLst/>
          </a:prstGeom>
        </p:spPr>
      </p:pic>
      <p:pic>
        <p:nvPicPr>
          <p:cNvPr id="10" name="Picture 10"/>
          <p:cNvPicPr>
            <a:picLocks noChangeAspect="1"/>
          </p:cNvPicPr>
          <p:nvPr/>
        </p:nvPicPr>
        <p:blipFill>
          <a:blip r:embed="rId6"/>
          <a:stretch>
            <a:fillRect/>
          </a:stretch>
        </p:blipFill>
        <p:spPr>
          <a:xfrm>
            <a:off x="8610600" y="9156700"/>
            <a:ext cx="304800" cy="342900"/>
          </a:xfrm>
          <a:prstGeom prst="rect">
            <a:avLst/>
          </a:prstGeom>
        </p:spPr>
      </p:pic>
      <p:pic>
        <p:nvPicPr>
          <p:cNvPr id="11" name="Picture 11"/>
          <p:cNvPicPr>
            <a:picLocks noChangeAspect="1"/>
          </p:cNvPicPr>
          <p:nvPr/>
        </p:nvPicPr>
        <p:blipFill>
          <a:blip r:embed="rId7"/>
          <a:stretch>
            <a:fillRect/>
          </a:stretch>
        </p:blipFill>
        <p:spPr>
          <a:xfrm>
            <a:off x="12560300" y="3124200"/>
            <a:ext cx="9982200" cy="2032000"/>
          </a:xfrm>
          <a:prstGeom prst="rect">
            <a:avLst/>
          </a:prstGeom>
          <a:effectLst>
            <a:outerShdw blurRad="50918" dist="47002" dir="2700000">
              <a:srgbClr val="1A7AE1">
                <a:alpha val="15000"/>
              </a:srgbClr>
            </a:outerShdw>
          </a:effectLst>
        </p:spPr>
      </p:pic>
      <p:pic>
        <p:nvPicPr>
          <p:cNvPr id="12" name="Picture 12"/>
          <p:cNvPicPr>
            <a:picLocks noChangeAspect="1"/>
          </p:cNvPicPr>
          <p:nvPr/>
        </p:nvPicPr>
        <p:blipFill>
          <a:blip r:embed="rId8"/>
          <a:stretch>
            <a:fillRect/>
          </a:stretch>
        </p:blipFill>
        <p:spPr>
          <a:xfrm>
            <a:off x="12954000" y="3429000"/>
            <a:ext cx="1308100" cy="508000"/>
          </a:xfrm>
          <a:prstGeom prst="rect">
            <a:avLst/>
          </a:prstGeom>
        </p:spPr>
      </p:pic>
      <p:sp>
        <p:nvSpPr>
          <p:cNvPr id="13" name="TextBox 13"/>
          <p:cNvSpPr txBox="1"/>
          <p:nvPr/>
        </p:nvSpPr>
        <p:spPr>
          <a:xfrm>
            <a:off x="14478000" y="3429000"/>
            <a:ext cx="4699000" cy="520700"/>
          </a:xfrm>
          <a:prstGeom prst="rect">
            <a:avLst/>
          </a:prstGeom>
        </p:spPr>
        <p:txBody>
          <a:bodyPr lIns="0" tIns="0" rIns="0" bIns="0" rtlCol="0" anchor="t"/>
          <a:lstStyle/>
          <a:p>
            <a:pPr lvl="0" algn="l">
              <a:lnSpc>
                <a:spcPct val="116199"/>
              </a:lnSpc>
            </a:pPr>
            <a:r>
              <a:rPr lang="en-US" sz="2933" b="0" i="0" u="none" strike="noStrike">
                <a:solidFill>
                  <a:srgbClr val="000000"/>
                </a:solidFill>
                <a:latin typeface="Pretendard SemiBold"/>
                <a:ea typeface="Pretendard SemiBold"/>
                <a:cs typeface="Pretendard SemiBold"/>
              </a:rPr>
              <a:t>대출 신청 및 타겟 식별 </a:t>
            </a:r>
          </a:p>
        </p:txBody>
      </p:sp>
      <p:sp>
        <p:nvSpPr>
          <p:cNvPr id="14" name="TextBox 14"/>
          <p:cNvSpPr txBox="1"/>
          <p:nvPr/>
        </p:nvSpPr>
        <p:spPr>
          <a:xfrm>
            <a:off x="14389100" y="3975100"/>
            <a:ext cx="6972300" cy="952500"/>
          </a:xfrm>
          <a:prstGeom prst="rect">
            <a:avLst/>
          </a:prstGeom>
        </p:spPr>
        <p:txBody>
          <a:bodyPr lIns="0" tIns="0" rIns="0" bIns="0" rtlCol="0" anchor="t"/>
          <a:lstStyle/>
          <a:p>
            <a:pPr lvl="0" algn="l">
              <a:lnSpc>
                <a:spcPct val="116199"/>
              </a:lnSpc>
            </a:pPr>
            <a:r>
              <a:rPr lang="en-US" sz="2666" b="0" i="0" u="none" strike="noStrike">
                <a:solidFill>
                  <a:srgbClr val="000000"/>
                </a:solidFill>
                <a:latin typeface="Pretendard Medium"/>
                <a:ea typeface="Pretendard Medium"/>
                <a:cs typeface="Pretendard Medium"/>
              </a:rPr>
              <a:t> 대출 신청 후 Devtool에서 네트워크를 확인하여 
 대출 인덱스 번호 획득</a:t>
            </a:r>
          </a:p>
        </p:txBody>
      </p:sp>
      <p:sp>
        <p:nvSpPr>
          <p:cNvPr id="15" name="TextBox 15"/>
          <p:cNvSpPr txBox="1"/>
          <p:nvPr/>
        </p:nvSpPr>
        <p:spPr>
          <a:xfrm>
            <a:off x="13131800" y="3505200"/>
            <a:ext cx="939800" cy="355600"/>
          </a:xfrm>
          <a:prstGeom prst="rect">
            <a:avLst/>
          </a:prstGeom>
        </p:spPr>
        <p:txBody>
          <a:bodyPr lIns="0" tIns="0" rIns="0" bIns="0" rtlCol="0" anchor="t"/>
          <a:lstStyle/>
          <a:p>
            <a:pPr lvl="0" algn="ctr">
              <a:lnSpc>
                <a:spcPct val="116199"/>
              </a:lnSpc>
            </a:pPr>
            <a:r>
              <a:rPr lang="en-US" sz="2000" b="0" i="0" u="none" strike="noStrike">
                <a:solidFill>
                  <a:srgbClr val="FFFFFF"/>
                </a:solidFill>
                <a:latin typeface="Geologica Roman Light"/>
                <a:ea typeface="Geologica Roman Light"/>
                <a:cs typeface="Geologica Roman Light"/>
              </a:rPr>
              <a:t>Step 1</a:t>
            </a:r>
          </a:p>
        </p:txBody>
      </p:sp>
      <p:sp>
        <p:nvSpPr>
          <p:cNvPr id="16" name="TextBox 16"/>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a:solidFill>
                  <a:srgbClr val="024EA0"/>
                </a:solidFill>
                <a:latin typeface="Geologica Roman Light"/>
                <a:ea typeface="Geologica Roman Light"/>
                <a:cs typeface="Geologica Roman Light"/>
              </a:rPr>
              <a:t>17</a:t>
            </a:r>
          </a:p>
        </p:txBody>
      </p:sp>
      <p:pic>
        <p:nvPicPr>
          <p:cNvPr id="17" name="Picture 17"/>
          <p:cNvPicPr>
            <a:picLocks noChangeAspect="1"/>
          </p:cNvPicPr>
          <p:nvPr/>
        </p:nvPicPr>
        <p:blipFill>
          <a:blip r:embed="rId7"/>
          <a:stretch>
            <a:fillRect/>
          </a:stretch>
        </p:blipFill>
        <p:spPr>
          <a:xfrm>
            <a:off x="12560300" y="5486400"/>
            <a:ext cx="9982200" cy="2032000"/>
          </a:xfrm>
          <a:prstGeom prst="rect">
            <a:avLst/>
          </a:prstGeom>
          <a:effectLst>
            <a:outerShdw blurRad="50918" dist="47002" dir="2700000">
              <a:srgbClr val="1A7AE1">
                <a:alpha val="15000"/>
              </a:srgbClr>
            </a:outerShdw>
          </a:effectLst>
        </p:spPr>
      </p:pic>
      <p:pic>
        <p:nvPicPr>
          <p:cNvPr id="18" name="Picture 18"/>
          <p:cNvPicPr>
            <a:picLocks noChangeAspect="1"/>
          </p:cNvPicPr>
          <p:nvPr/>
        </p:nvPicPr>
        <p:blipFill>
          <a:blip r:embed="rId9"/>
          <a:stretch>
            <a:fillRect/>
          </a:stretch>
        </p:blipFill>
        <p:spPr>
          <a:xfrm>
            <a:off x="13042900" y="5867400"/>
            <a:ext cx="1308100" cy="508000"/>
          </a:xfrm>
          <a:prstGeom prst="rect">
            <a:avLst/>
          </a:prstGeom>
        </p:spPr>
      </p:pic>
      <p:sp>
        <p:nvSpPr>
          <p:cNvPr id="19" name="TextBox 19"/>
          <p:cNvSpPr txBox="1"/>
          <p:nvPr/>
        </p:nvSpPr>
        <p:spPr>
          <a:xfrm>
            <a:off x="14478000" y="5867400"/>
            <a:ext cx="3175000" cy="520700"/>
          </a:xfrm>
          <a:prstGeom prst="rect">
            <a:avLst/>
          </a:prstGeom>
        </p:spPr>
        <p:txBody>
          <a:bodyPr lIns="0" tIns="0" rIns="0" bIns="0" rtlCol="0" anchor="t"/>
          <a:lstStyle/>
          <a:p>
            <a:pPr lvl="0" algn="l">
              <a:lnSpc>
                <a:spcPct val="116199"/>
              </a:lnSpc>
            </a:pPr>
            <a:r>
              <a:rPr lang="en-US" sz="2933" b="0" i="0" u="none" strike="noStrike">
                <a:solidFill>
                  <a:srgbClr val="000000"/>
                </a:solidFill>
                <a:latin typeface="Pretendard SemiBold"/>
                <a:ea typeface="Pretendard SemiBold"/>
                <a:cs typeface="Pretendard SemiBold"/>
              </a:rPr>
              <a:t>악성 페이로드 삽입</a:t>
            </a:r>
          </a:p>
        </p:txBody>
      </p:sp>
      <p:sp>
        <p:nvSpPr>
          <p:cNvPr id="20" name="TextBox 20"/>
          <p:cNvSpPr txBox="1"/>
          <p:nvPr/>
        </p:nvSpPr>
        <p:spPr>
          <a:xfrm>
            <a:off x="13220700" y="5930900"/>
            <a:ext cx="939800" cy="355600"/>
          </a:xfrm>
          <a:prstGeom prst="rect">
            <a:avLst/>
          </a:prstGeom>
        </p:spPr>
        <p:txBody>
          <a:bodyPr lIns="0" tIns="0" rIns="0" bIns="0" rtlCol="0" anchor="t"/>
          <a:lstStyle/>
          <a:p>
            <a:pPr lvl="0" algn="ctr">
              <a:lnSpc>
                <a:spcPct val="116199"/>
              </a:lnSpc>
            </a:pPr>
            <a:r>
              <a:rPr lang="en-US" sz="2000" b="0" i="0" u="none" strike="noStrike">
                <a:solidFill>
                  <a:srgbClr val="FFFFFF"/>
                </a:solidFill>
                <a:latin typeface="Geologica Roman Light"/>
                <a:ea typeface="Geologica Roman Light"/>
                <a:cs typeface="Geologica Roman Light"/>
              </a:rPr>
              <a:t>Step 2</a:t>
            </a:r>
          </a:p>
        </p:txBody>
      </p:sp>
      <p:pic>
        <p:nvPicPr>
          <p:cNvPr id="21" name="Picture 21"/>
          <p:cNvPicPr>
            <a:picLocks noChangeAspect="1"/>
          </p:cNvPicPr>
          <p:nvPr/>
        </p:nvPicPr>
        <p:blipFill>
          <a:blip r:embed="rId10"/>
          <a:stretch>
            <a:fillRect/>
          </a:stretch>
        </p:blipFill>
        <p:spPr>
          <a:xfrm>
            <a:off x="1981200" y="3124200"/>
            <a:ext cx="9347200" cy="9906000"/>
          </a:xfrm>
          <a:prstGeom prst="rect">
            <a:avLst/>
          </a:prstGeom>
          <a:effectLst>
            <a:outerShdw blurRad="513758" dist="215563" dir="2700000">
              <a:srgbClr val="000000">
                <a:alpha val="23000"/>
              </a:srgbClr>
            </a:outerShdw>
          </a:effectLst>
        </p:spPr>
      </p:pic>
      <p:pic>
        <p:nvPicPr>
          <p:cNvPr id="22" name="Picture 22"/>
          <p:cNvPicPr>
            <a:picLocks noChangeAspect="1"/>
          </p:cNvPicPr>
          <p:nvPr/>
        </p:nvPicPr>
        <p:blipFill>
          <a:blip r:embed="rId11"/>
          <a:stretch>
            <a:fillRect/>
          </a:stretch>
        </p:blipFill>
        <p:spPr>
          <a:xfrm>
            <a:off x="12560300" y="7861300"/>
            <a:ext cx="9982200" cy="2032000"/>
          </a:xfrm>
          <a:prstGeom prst="rect">
            <a:avLst/>
          </a:prstGeom>
          <a:effectLst>
            <a:outerShdw blurRad="50918" dist="47002" dir="2700000">
              <a:srgbClr val="1A7AE1">
                <a:alpha val="15000"/>
              </a:srgbClr>
            </a:outerShdw>
          </a:effectLst>
        </p:spPr>
      </p:pic>
      <p:pic>
        <p:nvPicPr>
          <p:cNvPr id="23" name="Picture 23"/>
          <p:cNvPicPr>
            <a:picLocks noChangeAspect="1"/>
          </p:cNvPicPr>
          <p:nvPr/>
        </p:nvPicPr>
        <p:blipFill>
          <a:blip r:embed="rId12"/>
          <a:stretch>
            <a:fillRect/>
          </a:stretch>
        </p:blipFill>
        <p:spPr>
          <a:xfrm>
            <a:off x="13042900" y="8229600"/>
            <a:ext cx="1308100" cy="508000"/>
          </a:xfrm>
          <a:prstGeom prst="rect">
            <a:avLst/>
          </a:prstGeom>
        </p:spPr>
      </p:pic>
      <p:sp>
        <p:nvSpPr>
          <p:cNvPr id="24" name="TextBox 24"/>
          <p:cNvSpPr txBox="1"/>
          <p:nvPr/>
        </p:nvSpPr>
        <p:spPr>
          <a:xfrm>
            <a:off x="14478000" y="8229600"/>
            <a:ext cx="6896100" cy="520700"/>
          </a:xfrm>
          <a:prstGeom prst="rect">
            <a:avLst/>
          </a:prstGeom>
        </p:spPr>
        <p:txBody>
          <a:bodyPr lIns="0" tIns="0" rIns="0" bIns="0" rtlCol="0" anchor="t"/>
          <a:lstStyle/>
          <a:p>
            <a:pPr lvl="0" algn="l">
              <a:lnSpc>
                <a:spcPct val="116199"/>
              </a:lnSpc>
            </a:pPr>
            <a:r>
              <a:rPr lang="en-US" sz="2933" b="0" i="0" u="none" strike="noStrike">
                <a:solidFill>
                  <a:srgbClr val="FFFFFF"/>
                </a:solidFill>
                <a:latin typeface="Pretendard SemiBold"/>
                <a:ea typeface="Pretendard SemiBold"/>
                <a:cs typeface="Pretendard SemiBold"/>
              </a:rPr>
              <a:t>관리자 게시글 열람 및 강제 대출 승인</a:t>
            </a:r>
          </a:p>
        </p:txBody>
      </p:sp>
      <p:sp>
        <p:nvSpPr>
          <p:cNvPr id="25" name="TextBox 25"/>
          <p:cNvSpPr txBox="1"/>
          <p:nvPr/>
        </p:nvSpPr>
        <p:spPr>
          <a:xfrm>
            <a:off x="13220700" y="8305800"/>
            <a:ext cx="939800" cy="355600"/>
          </a:xfrm>
          <a:prstGeom prst="rect">
            <a:avLst/>
          </a:prstGeom>
        </p:spPr>
        <p:txBody>
          <a:bodyPr lIns="0" tIns="0" rIns="0" bIns="0" rtlCol="0" anchor="t"/>
          <a:lstStyle/>
          <a:p>
            <a:pPr lvl="0" algn="ctr">
              <a:lnSpc>
                <a:spcPct val="116199"/>
              </a:lnSpc>
            </a:pPr>
            <a:r>
              <a:rPr lang="en-US" sz="2000" b="0" i="0" u="none" strike="noStrike" dirty="0">
                <a:solidFill>
                  <a:srgbClr val="1A7AE1"/>
                </a:solidFill>
                <a:latin typeface="Geologica Roman Light"/>
                <a:ea typeface="Geologica Roman Light"/>
                <a:cs typeface="Geologica Roman Light"/>
              </a:rPr>
              <a:t>Step 3</a:t>
            </a:r>
          </a:p>
        </p:txBody>
      </p:sp>
      <p:sp>
        <p:nvSpPr>
          <p:cNvPr id="26" name="TextBox 26"/>
          <p:cNvSpPr txBox="1"/>
          <p:nvPr/>
        </p:nvSpPr>
        <p:spPr>
          <a:xfrm>
            <a:off x="14478000" y="8788400"/>
            <a:ext cx="7467600" cy="952500"/>
          </a:xfrm>
          <a:prstGeom prst="rect">
            <a:avLst/>
          </a:prstGeom>
        </p:spPr>
        <p:txBody>
          <a:bodyPr lIns="0" tIns="0" rIns="0" bIns="0" rtlCol="0" anchor="t"/>
          <a:lstStyle/>
          <a:p>
            <a:pPr lvl="0" algn="l">
              <a:lnSpc>
                <a:spcPct val="116199"/>
              </a:lnSpc>
            </a:pPr>
            <a:r>
              <a:rPr lang="en-US" sz="2666" b="0" i="0" u="none" strike="noStrike">
                <a:solidFill>
                  <a:srgbClr val="FFFFFF"/>
                </a:solidFill>
                <a:latin typeface="Pretendard Medium"/>
                <a:ea typeface="Pretendard Medium"/>
                <a:cs typeface="Pretendard Medium"/>
              </a:rPr>
              <a:t>관리자가 문의글 확인 위해 열람 시,
관리자의 브라우저에서 스크립트 실행되며 대출이 승인</a:t>
            </a:r>
          </a:p>
        </p:txBody>
      </p:sp>
      <p:pic>
        <p:nvPicPr>
          <p:cNvPr id="27" name="Picture 27"/>
          <p:cNvPicPr>
            <a:picLocks noChangeAspect="1"/>
          </p:cNvPicPr>
          <p:nvPr/>
        </p:nvPicPr>
        <p:blipFill>
          <a:blip r:embed="rId13"/>
          <a:stretch>
            <a:fillRect/>
          </a:stretch>
        </p:blipFill>
        <p:spPr>
          <a:xfrm>
            <a:off x="3594100" y="8153400"/>
            <a:ext cx="520700" cy="495300"/>
          </a:xfrm>
          <a:prstGeom prst="rect">
            <a:avLst/>
          </a:prstGeom>
        </p:spPr>
      </p:pic>
      <p:sp>
        <p:nvSpPr>
          <p:cNvPr id="34" name="TextBox 34"/>
          <p:cNvSpPr txBox="1"/>
          <p:nvPr/>
        </p:nvSpPr>
        <p:spPr>
          <a:xfrm>
            <a:off x="14389100" y="6413500"/>
            <a:ext cx="7124700" cy="469900"/>
          </a:xfrm>
          <a:prstGeom prst="rect">
            <a:avLst/>
          </a:prstGeom>
        </p:spPr>
        <p:txBody>
          <a:bodyPr lIns="0" tIns="0" rIns="0" bIns="0" rtlCol="0" anchor="t"/>
          <a:lstStyle/>
          <a:p>
            <a:pPr lvl="0" algn="l">
              <a:lnSpc>
                <a:spcPct val="116199"/>
              </a:lnSpc>
            </a:pPr>
            <a:r>
              <a:rPr lang="en-US" sz="2666" b="0" i="0" u="none" strike="noStrike">
                <a:solidFill>
                  <a:srgbClr val="000000"/>
                </a:solidFill>
                <a:latin typeface="Pretendard Medium"/>
                <a:ea typeface="Pretendard Medium"/>
                <a:cs typeface="Pretendard Medium"/>
              </a:rPr>
              <a:t> 1 대 1 문의글에 대출 승인을 요청하는 페이로드 삽입</a:t>
            </a:r>
          </a:p>
        </p:txBody>
      </p:sp>
      <p:pic>
        <p:nvPicPr>
          <p:cNvPr id="35" name="Picture 35"/>
          <p:cNvPicPr>
            <a:picLocks noChangeAspect="1"/>
          </p:cNvPicPr>
          <p:nvPr/>
        </p:nvPicPr>
        <p:blipFill>
          <a:blip r:embed="rId14"/>
          <a:stretch>
            <a:fillRect/>
          </a:stretch>
        </p:blipFill>
        <p:spPr>
          <a:xfrm>
            <a:off x="1485900" y="1612900"/>
            <a:ext cx="88900" cy="850900"/>
          </a:xfrm>
          <a:prstGeom prst="rect">
            <a:avLst/>
          </a:prstGeom>
        </p:spPr>
      </p:pic>
      <p:sp>
        <p:nvSpPr>
          <p:cNvPr id="36" name="TextBox 36"/>
          <p:cNvSpPr txBox="1"/>
          <p:nvPr/>
        </p:nvSpPr>
        <p:spPr>
          <a:xfrm>
            <a:off x="1943100" y="1409700"/>
            <a:ext cx="106807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Web 진단 방법 - CSRF</a:t>
            </a:r>
          </a:p>
        </p:txBody>
      </p:sp>
      <p:sp>
        <p:nvSpPr>
          <p:cNvPr id="38" name="TextBox 14">
            <a:extLst>
              <a:ext uri="{FF2B5EF4-FFF2-40B4-BE49-F238E27FC236}">
                <a16:creationId xmlns:a16="http://schemas.microsoft.com/office/drawing/2014/main" id="{239084E2-235A-0991-E653-02A5076BE7F0}"/>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39" name="TextBox 14">
            <a:extLst>
              <a:ext uri="{FF2B5EF4-FFF2-40B4-BE49-F238E27FC236}">
                <a16:creationId xmlns:a16="http://schemas.microsoft.com/office/drawing/2014/main" id="{3FCD72A5-7B8E-6CC5-9402-ED705514AEB7}"/>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46" name="Picture 12">
            <a:extLst>
              <a:ext uri="{FF2B5EF4-FFF2-40B4-BE49-F238E27FC236}">
                <a16:creationId xmlns:a16="http://schemas.microsoft.com/office/drawing/2014/main" id="{81A24C7E-E868-67DC-0A86-E68F77F466DE}"/>
              </a:ext>
            </a:extLst>
          </p:cNvPr>
          <p:cNvPicPr>
            <a:picLocks noChangeAspect="1"/>
          </p:cNvPicPr>
          <p:nvPr/>
        </p:nvPicPr>
        <p:blipFill>
          <a:blip r:embed="rId15">
            <a:alphaModFix amt="85000"/>
          </a:blip>
          <a:stretch>
            <a:fillRect/>
          </a:stretch>
        </p:blipFill>
        <p:spPr>
          <a:xfrm>
            <a:off x="9118600" y="571500"/>
            <a:ext cx="1993900" cy="444500"/>
          </a:xfrm>
          <a:prstGeom prst="rect">
            <a:avLst/>
          </a:prstGeom>
        </p:spPr>
      </p:pic>
      <p:sp>
        <p:nvSpPr>
          <p:cNvPr id="47" name="TextBox 13">
            <a:extLst>
              <a:ext uri="{FF2B5EF4-FFF2-40B4-BE49-F238E27FC236}">
                <a16:creationId xmlns:a16="http://schemas.microsoft.com/office/drawing/2014/main" id="{E3E61E81-44F7-432B-8B23-7BF14913D6DF}"/>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48" name="TextBox 15">
            <a:extLst>
              <a:ext uri="{FF2B5EF4-FFF2-40B4-BE49-F238E27FC236}">
                <a16:creationId xmlns:a16="http://schemas.microsoft.com/office/drawing/2014/main" id="{3CF51D9B-E89F-D10C-8A53-01A08834D766}"/>
              </a:ext>
            </a:extLst>
          </p:cNvPr>
          <p:cNvSpPr txBox="1"/>
          <p:nvPr/>
        </p:nvSpPr>
        <p:spPr>
          <a:xfrm>
            <a:off x="11353800" y="457200"/>
            <a:ext cx="25273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시나리오</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모의해킹</a:t>
            </a:r>
            <a:endParaRPr lang="en-US" sz="2666" b="0" i="0" u="none" strike="noStrike" spc="-100" dirty="0">
              <a:solidFill>
                <a:srgbClr val="C2C2C2"/>
              </a:solidFill>
              <a:latin typeface="Pretendard SemiBold"/>
              <a:ea typeface="Pretendard SemiBold"/>
              <a:cs typeface="Pretendard SemiBold"/>
            </a:endParaRPr>
          </a:p>
        </p:txBody>
      </p:sp>
      <p:sp>
        <p:nvSpPr>
          <p:cNvPr id="49" name="TextBox 16">
            <a:extLst>
              <a:ext uri="{FF2B5EF4-FFF2-40B4-BE49-F238E27FC236}">
                <a16:creationId xmlns:a16="http://schemas.microsoft.com/office/drawing/2014/main" id="{27DA4375-D0F3-9833-1E0F-789384AC3854}"/>
              </a:ext>
            </a:extLst>
          </p:cNvPr>
          <p:cNvSpPr txBox="1"/>
          <p:nvPr/>
        </p:nvSpPr>
        <p:spPr>
          <a:xfrm>
            <a:off x="14097000" y="4699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50" name="TextBox 17">
            <a:extLst>
              <a:ext uri="{FF2B5EF4-FFF2-40B4-BE49-F238E27FC236}">
                <a16:creationId xmlns:a16="http://schemas.microsoft.com/office/drawing/2014/main" id="{221575D3-0B4A-5F36-CEC0-2778A72462F7}"/>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개발 및 진단</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9" name="Picture 9"/>
          <p:cNvPicPr>
            <a:picLocks noChangeAspect="1"/>
          </p:cNvPicPr>
          <p:nvPr/>
        </p:nvPicPr>
        <p:blipFill>
          <a:blip r:embed="rId5"/>
          <a:stretch>
            <a:fillRect/>
          </a:stretch>
        </p:blipFill>
        <p:spPr>
          <a:xfrm>
            <a:off x="1485900" y="1612900"/>
            <a:ext cx="88900" cy="850900"/>
          </a:xfrm>
          <a:prstGeom prst="rect">
            <a:avLst/>
          </a:prstGeom>
        </p:spPr>
      </p:pic>
      <p:pic>
        <p:nvPicPr>
          <p:cNvPr id="11" name="Picture 11"/>
          <p:cNvPicPr>
            <a:picLocks noChangeAspect="1"/>
          </p:cNvPicPr>
          <p:nvPr/>
        </p:nvPicPr>
        <p:blipFill>
          <a:blip r:embed="rId6"/>
          <a:stretch>
            <a:fillRect/>
          </a:stretch>
        </p:blipFill>
        <p:spPr>
          <a:xfrm>
            <a:off x="12560300" y="3124200"/>
            <a:ext cx="9982200" cy="2032000"/>
          </a:xfrm>
          <a:prstGeom prst="rect">
            <a:avLst/>
          </a:prstGeom>
          <a:effectLst>
            <a:outerShdw blurRad="50918" dist="47002" dir="2700000">
              <a:srgbClr val="1A7AE1">
                <a:alpha val="15000"/>
              </a:srgbClr>
            </a:outerShdw>
          </a:effectLst>
        </p:spPr>
      </p:pic>
      <p:pic>
        <p:nvPicPr>
          <p:cNvPr id="12" name="Picture 12"/>
          <p:cNvPicPr>
            <a:picLocks noChangeAspect="1"/>
          </p:cNvPicPr>
          <p:nvPr/>
        </p:nvPicPr>
        <p:blipFill>
          <a:blip r:embed="rId7"/>
          <a:stretch>
            <a:fillRect/>
          </a:stretch>
        </p:blipFill>
        <p:spPr>
          <a:xfrm>
            <a:off x="12954000" y="3429000"/>
            <a:ext cx="1308100" cy="508000"/>
          </a:xfrm>
          <a:prstGeom prst="rect">
            <a:avLst/>
          </a:prstGeom>
        </p:spPr>
      </p:pic>
      <p:sp>
        <p:nvSpPr>
          <p:cNvPr id="13" name="TextBox 13"/>
          <p:cNvSpPr txBox="1"/>
          <p:nvPr/>
        </p:nvSpPr>
        <p:spPr>
          <a:xfrm>
            <a:off x="14478000" y="3429000"/>
            <a:ext cx="3810000" cy="520700"/>
          </a:xfrm>
          <a:prstGeom prst="rect">
            <a:avLst/>
          </a:prstGeom>
        </p:spPr>
        <p:txBody>
          <a:bodyPr lIns="0" tIns="0" rIns="0" bIns="0" rtlCol="0" anchor="t"/>
          <a:lstStyle/>
          <a:p>
            <a:pPr lvl="0" algn="l">
              <a:lnSpc>
                <a:spcPct val="116199"/>
              </a:lnSpc>
            </a:pPr>
            <a:r>
              <a:rPr lang="en-US" sz="2933" b="0" i="0" u="none" strike="noStrike">
                <a:solidFill>
                  <a:srgbClr val="000000"/>
                </a:solidFill>
                <a:latin typeface="Pretendard SemiBold"/>
                <a:ea typeface="Pretendard SemiBold"/>
                <a:cs typeface="Pretendard SemiBold"/>
              </a:rPr>
              <a:t>대출 신청 및 타겟 식별 </a:t>
            </a:r>
          </a:p>
        </p:txBody>
      </p:sp>
      <p:sp>
        <p:nvSpPr>
          <p:cNvPr id="14" name="TextBox 14"/>
          <p:cNvSpPr txBox="1"/>
          <p:nvPr/>
        </p:nvSpPr>
        <p:spPr>
          <a:xfrm>
            <a:off x="14389100" y="3975100"/>
            <a:ext cx="6972300" cy="952500"/>
          </a:xfrm>
          <a:prstGeom prst="rect">
            <a:avLst/>
          </a:prstGeom>
        </p:spPr>
        <p:txBody>
          <a:bodyPr lIns="0" tIns="0" rIns="0" bIns="0" rtlCol="0" anchor="t"/>
          <a:lstStyle/>
          <a:p>
            <a:pPr lvl="0" algn="l">
              <a:lnSpc>
                <a:spcPct val="116199"/>
              </a:lnSpc>
            </a:pPr>
            <a:r>
              <a:rPr lang="en-US" sz="2666" b="0" i="0" u="none" strike="noStrike">
                <a:solidFill>
                  <a:srgbClr val="000000"/>
                </a:solidFill>
                <a:latin typeface="Pretendard Medium"/>
                <a:ea typeface="Pretendard Medium"/>
                <a:cs typeface="Pretendard Medium"/>
              </a:rPr>
              <a:t> 대출 신청 후 Devtool에서 네트워크를 확인하여 
 대출 인덱스 번호 획득</a:t>
            </a:r>
          </a:p>
        </p:txBody>
      </p:sp>
      <p:sp>
        <p:nvSpPr>
          <p:cNvPr id="15" name="TextBox 15"/>
          <p:cNvSpPr txBox="1"/>
          <p:nvPr/>
        </p:nvSpPr>
        <p:spPr>
          <a:xfrm>
            <a:off x="13131800" y="3505200"/>
            <a:ext cx="939800" cy="355600"/>
          </a:xfrm>
          <a:prstGeom prst="rect">
            <a:avLst/>
          </a:prstGeom>
        </p:spPr>
        <p:txBody>
          <a:bodyPr lIns="0" tIns="0" rIns="0" bIns="0" rtlCol="0" anchor="t"/>
          <a:lstStyle/>
          <a:p>
            <a:pPr lvl="0" algn="ctr">
              <a:lnSpc>
                <a:spcPct val="116199"/>
              </a:lnSpc>
            </a:pPr>
            <a:r>
              <a:rPr lang="en-US" sz="2000" b="0" i="0" u="none" strike="noStrike">
                <a:solidFill>
                  <a:srgbClr val="FFFFFF"/>
                </a:solidFill>
                <a:latin typeface="Geologica Roman Light"/>
                <a:ea typeface="Geologica Roman Light"/>
                <a:cs typeface="Geologica Roman Light"/>
              </a:rPr>
              <a:t>Step 1</a:t>
            </a:r>
          </a:p>
        </p:txBody>
      </p:sp>
      <p:sp>
        <p:nvSpPr>
          <p:cNvPr id="16" name="TextBox 16"/>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a:solidFill>
                  <a:srgbClr val="024EA0"/>
                </a:solidFill>
                <a:latin typeface="Geologica Roman Light"/>
                <a:ea typeface="Geologica Roman Light"/>
                <a:cs typeface="Geologica Roman Light"/>
              </a:rPr>
              <a:t>18</a:t>
            </a:r>
          </a:p>
        </p:txBody>
      </p:sp>
      <p:pic>
        <p:nvPicPr>
          <p:cNvPr id="17" name="Picture 17"/>
          <p:cNvPicPr>
            <a:picLocks noChangeAspect="1"/>
          </p:cNvPicPr>
          <p:nvPr/>
        </p:nvPicPr>
        <p:blipFill>
          <a:blip r:embed="rId8"/>
          <a:stretch>
            <a:fillRect/>
          </a:stretch>
        </p:blipFill>
        <p:spPr>
          <a:xfrm>
            <a:off x="12560300" y="5486400"/>
            <a:ext cx="9982200" cy="2032000"/>
          </a:xfrm>
          <a:prstGeom prst="rect">
            <a:avLst/>
          </a:prstGeom>
          <a:effectLst>
            <a:outerShdw blurRad="50918" dist="47002" dir="2700000">
              <a:srgbClr val="1A7AE1">
                <a:alpha val="15000"/>
              </a:srgbClr>
            </a:outerShdw>
          </a:effectLst>
        </p:spPr>
      </p:pic>
      <p:pic>
        <p:nvPicPr>
          <p:cNvPr id="18" name="Picture 18"/>
          <p:cNvPicPr>
            <a:picLocks noChangeAspect="1"/>
          </p:cNvPicPr>
          <p:nvPr/>
        </p:nvPicPr>
        <p:blipFill>
          <a:blip r:embed="rId9"/>
          <a:stretch>
            <a:fillRect/>
          </a:stretch>
        </p:blipFill>
        <p:spPr>
          <a:xfrm>
            <a:off x="13042900" y="5867400"/>
            <a:ext cx="1308100" cy="508000"/>
          </a:xfrm>
          <a:prstGeom prst="rect">
            <a:avLst/>
          </a:prstGeom>
        </p:spPr>
      </p:pic>
      <p:sp>
        <p:nvSpPr>
          <p:cNvPr id="19" name="TextBox 19"/>
          <p:cNvSpPr txBox="1"/>
          <p:nvPr/>
        </p:nvSpPr>
        <p:spPr>
          <a:xfrm>
            <a:off x="14478000" y="5867400"/>
            <a:ext cx="3175000" cy="520700"/>
          </a:xfrm>
          <a:prstGeom prst="rect">
            <a:avLst/>
          </a:prstGeom>
        </p:spPr>
        <p:txBody>
          <a:bodyPr lIns="0" tIns="0" rIns="0" bIns="0" rtlCol="0" anchor="t"/>
          <a:lstStyle/>
          <a:p>
            <a:pPr lvl="0" algn="l">
              <a:lnSpc>
                <a:spcPct val="116199"/>
              </a:lnSpc>
            </a:pPr>
            <a:r>
              <a:rPr lang="en-US" sz="2933" b="0" i="0" u="none" strike="noStrike">
                <a:solidFill>
                  <a:srgbClr val="000000"/>
                </a:solidFill>
                <a:latin typeface="Pretendard SemiBold"/>
                <a:ea typeface="Pretendard SemiBold"/>
                <a:cs typeface="Pretendard SemiBold"/>
              </a:rPr>
              <a:t>악성 페이로드 삽입</a:t>
            </a:r>
          </a:p>
        </p:txBody>
      </p:sp>
      <p:sp>
        <p:nvSpPr>
          <p:cNvPr id="20" name="TextBox 20"/>
          <p:cNvSpPr txBox="1"/>
          <p:nvPr/>
        </p:nvSpPr>
        <p:spPr>
          <a:xfrm>
            <a:off x="13220700" y="5930900"/>
            <a:ext cx="939800" cy="355600"/>
          </a:xfrm>
          <a:prstGeom prst="rect">
            <a:avLst/>
          </a:prstGeom>
        </p:spPr>
        <p:txBody>
          <a:bodyPr lIns="0" tIns="0" rIns="0" bIns="0" rtlCol="0" anchor="t"/>
          <a:lstStyle/>
          <a:p>
            <a:pPr lvl="0" algn="ctr">
              <a:lnSpc>
                <a:spcPct val="116199"/>
              </a:lnSpc>
            </a:pPr>
            <a:r>
              <a:rPr lang="en-US" sz="2000" b="0" i="0" u="none" strike="noStrike">
                <a:solidFill>
                  <a:srgbClr val="FFFFFF"/>
                </a:solidFill>
                <a:latin typeface="Geologica Roman Light"/>
                <a:ea typeface="Geologica Roman Light"/>
                <a:cs typeface="Geologica Roman Light"/>
              </a:rPr>
              <a:t>Step 2</a:t>
            </a:r>
          </a:p>
        </p:txBody>
      </p:sp>
      <p:sp>
        <p:nvSpPr>
          <p:cNvPr id="21" name="TextBox 21"/>
          <p:cNvSpPr txBox="1"/>
          <p:nvPr/>
        </p:nvSpPr>
        <p:spPr>
          <a:xfrm>
            <a:off x="14389100" y="6413500"/>
            <a:ext cx="7124700" cy="469900"/>
          </a:xfrm>
          <a:prstGeom prst="rect">
            <a:avLst/>
          </a:prstGeom>
        </p:spPr>
        <p:txBody>
          <a:bodyPr lIns="0" tIns="0" rIns="0" bIns="0" rtlCol="0" anchor="t"/>
          <a:lstStyle/>
          <a:p>
            <a:pPr lvl="0" algn="l">
              <a:lnSpc>
                <a:spcPct val="116199"/>
              </a:lnSpc>
            </a:pPr>
            <a:r>
              <a:rPr lang="en-US" sz="2666" b="0" i="0" u="none" strike="noStrike">
                <a:solidFill>
                  <a:srgbClr val="000000"/>
                </a:solidFill>
                <a:latin typeface="Pretendard Medium"/>
                <a:ea typeface="Pretendard Medium"/>
                <a:cs typeface="Pretendard Medium"/>
              </a:rPr>
              <a:t> 1 대 1 문의글에 대출 승인을 요청하는 페이로드 삽입</a:t>
            </a:r>
          </a:p>
        </p:txBody>
      </p:sp>
      <p:pic>
        <p:nvPicPr>
          <p:cNvPr id="22" name="Picture 22"/>
          <p:cNvPicPr>
            <a:picLocks noChangeAspect="1"/>
          </p:cNvPicPr>
          <p:nvPr/>
        </p:nvPicPr>
        <p:blipFill>
          <a:blip r:embed="rId10"/>
          <a:stretch>
            <a:fillRect/>
          </a:stretch>
        </p:blipFill>
        <p:spPr>
          <a:xfrm>
            <a:off x="12560300" y="7861300"/>
            <a:ext cx="9982200" cy="2032000"/>
          </a:xfrm>
          <a:prstGeom prst="rect">
            <a:avLst/>
          </a:prstGeom>
          <a:effectLst>
            <a:outerShdw blurRad="50918" dist="47002" dir="2700000">
              <a:srgbClr val="1A7AE1">
                <a:alpha val="15000"/>
              </a:srgbClr>
            </a:outerShdw>
          </a:effectLst>
        </p:spPr>
      </p:pic>
      <p:pic>
        <p:nvPicPr>
          <p:cNvPr id="23" name="Picture 23"/>
          <p:cNvPicPr>
            <a:picLocks noChangeAspect="1"/>
          </p:cNvPicPr>
          <p:nvPr/>
        </p:nvPicPr>
        <p:blipFill>
          <a:blip r:embed="rId11"/>
          <a:stretch>
            <a:fillRect/>
          </a:stretch>
        </p:blipFill>
        <p:spPr>
          <a:xfrm>
            <a:off x="13042900" y="8229600"/>
            <a:ext cx="1308100" cy="508000"/>
          </a:xfrm>
          <a:prstGeom prst="rect">
            <a:avLst/>
          </a:prstGeom>
        </p:spPr>
      </p:pic>
      <p:sp>
        <p:nvSpPr>
          <p:cNvPr id="24" name="TextBox 24"/>
          <p:cNvSpPr txBox="1"/>
          <p:nvPr/>
        </p:nvSpPr>
        <p:spPr>
          <a:xfrm>
            <a:off x="14478000" y="8229600"/>
            <a:ext cx="6896100" cy="520700"/>
          </a:xfrm>
          <a:prstGeom prst="rect">
            <a:avLst/>
          </a:prstGeom>
        </p:spPr>
        <p:txBody>
          <a:bodyPr lIns="0" tIns="0" rIns="0" bIns="0" rtlCol="0" anchor="t"/>
          <a:lstStyle/>
          <a:p>
            <a:pPr lvl="0" algn="l">
              <a:lnSpc>
                <a:spcPct val="116199"/>
              </a:lnSpc>
            </a:pPr>
            <a:r>
              <a:rPr lang="en-US" sz="2933" b="0" i="0" u="none" strike="noStrike">
                <a:solidFill>
                  <a:srgbClr val="FFFFFF"/>
                </a:solidFill>
                <a:latin typeface="Pretendard SemiBold"/>
                <a:ea typeface="Pretendard SemiBold"/>
                <a:cs typeface="Pretendard SemiBold"/>
              </a:rPr>
              <a:t>관리자 게시글 열람 및 강제 대출 승인</a:t>
            </a:r>
          </a:p>
        </p:txBody>
      </p:sp>
      <p:sp>
        <p:nvSpPr>
          <p:cNvPr id="25" name="TextBox 25"/>
          <p:cNvSpPr txBox="1"/>
          <p:nvPr/>
        </p:nvSpPr>
        <p:spPr>
          <a:xfrm>
            <a:off x="13220700" y="8305800"/>
            <a:ext cx="939800" cy="355600"/>
          </a:xfrm>
          <a:prstGeom prst="rect">
            <a:avLst/>
          </a:prstGeom>
        </p:spPr>
        <p:txBody>
          <a:bodyPr lIns="0" tIns="0" rIns="0" bIns="0" rtlCol="0" anchor="t"/>
          <a:lstStyle/>
          <a:p>
            <a:pPr lvl="0" algn="ctr">
              <a:lnSpc>
                <a:spcPct val="116199"/>
              </a:lnSpc>
            </a:pPr>
            <a:r>
              <a:rPr lang="en-US" sz="2000" b="0" i="0" u="none" strike="noStrike">
                <a:solidFill>
                  <a:srgbClr val="1A7AE1"/>
                </a:solidFill>
                <a:latin typeface="Geologica Roman Light"/>
                <a:ea typeface="Geologica Roman Light"/>
                <a:cs typeface="Geologica Roman Light"/>
              </a:rPr>
              <a:t>Step 3</a:t>
            </a:r>
          </a:p>
        </p:txBody>
      </p:sp>
      <p:sp>
        <p:nvSpPr>
          <p:cNvPr id="27" name="TextBox 27"/>
          <p:cNvSpPr txBox="1"/>
          <p:nvPr/>
        </p:nvSpPr>
        <p:spPr>
          <a:xfrm>
            <a:off x="14478000" y="8788400"/>
            <a:ext cx="7467600" cy="952500"/>
          </a:xfrm>
          <a:prstGeom prst="rect">
            <a:avLst/>
          </a:prstGeom>
        </p:spPr>
        <p:txBody>
          <a:bodyPr lIns="0" tIns="0" rIns="0" bIns="0" rtlCol="0" anchor="t"/>
          <a:lstStyle/>
          <a:p>
            <a:pPr lvl="0" algn="l">
              <a:lnSpc>
                <a:spcPct val="116199"/>
              </a:lnSpc>
            </a:pPr>
            <a:r>
              <a:rPr lang="en-US" sz="2666" b="0" i="0" u="none" strike="noStrike">
                <a:solidFill>
                  <a:srgbClr val="FFFFFF"/>
                </a:solidFill>
                <a:latin typeface="Pretendard Medium"/>
                <a:ea typeface="Pretendard Medium"/>
                <a:cs typeface="Pretendard Medium"/>
              </a:rPr>
              <a:t>관리자가 문의글 확인 위해 열람 시,
관리자의 브라우저에서 스크립트 실행되며 대출이 승인</a:t>
            </a:r>
          </a:p>
        </p:txBody>
      </p:sp>
      <p:pic>
        <p:nvPicPr>
          <p:cNvPr id="37" name="Picture 37"/>
          <p:cNvPicPr>
            <a:picLocks noChangeAspect="1"/>
          </p:cNvPicPr>
          <p:nvPr/>
        </p:nvPicPr>
        <p:blipFill>
          <a:blip r:embed="rId12"/>
          <a:stretch>
            <a:fillRect/>
          </a:stretch>
        </p:blipFill>
        <p:spPr>
          <a:xfrm>
            <a:off x="1485900" y="1612900"/>
            <a:ext cx="88900" cy="850900"/>
          </a:xfrm>
          <a:prstGeom prst="rect">
            <a:avLst/>
          </a:prstGeom>
        </p:spPr>
      </p:pic>
      <p:sp>
        <p:nvSpPr>
          <p:cNvPr id="38" name="TextBox 38"/>
          <p:cNvSpPr txBox="1"/>
          <p:nvPr/>
        </p:nvSpPr>
        <p:spPr>
          <a:xfrm>
            <a:off x="1943100" y="1409700"/>
            <a:ext cx="106807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Web 진단 방법 - CSRF</a:t>
            </a:r>
          </a:p>
        </p:txBody>
      </p:sp>
      <p:sp>
        <p:nvSpPr>
          <p:cNvPr id="40" name="TextBox 14">
            <a:extLst>
              <a:ext uri="{FF2B5EF4-FFF2-40B4-BE49-F238E27FC236}">
                <a16:creationId xmlns:a16="http://schemas.microsoft.com/office/drawing/2014/main" id="{9F183696-0BE9-854C-CF33-2C6078F88033}"/>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41" name="TextBox 14">
            <a:extLst>
              <a:ext uri="{FF2B5EF4-FFF2-40B4-BE49-F238E27FC236}">
                <a16:creationId xmlns:a16="http://schemas.microsoft.com/office/drawing/2014/main" id="{BF11C9AC-E17B-B39D-4066-91DA97C2D29B}"/>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53" name="Picture 12">
            <a:extLst>
              <a:ext uri="{FF2B5EF4-FFF2-40B4-BE49-F238E27FC236}">
                <a16:creationId xmlns:a16="http://schemas.microsoft.com/office/drawing/2014/main" id="{B73DB380-8CB7-4E56-8EB2-39F8B9C3FC42}"/>
              </a:ext>
            </a:extLst>
          </p:cNvPr>
          <p:cNvPicPr>
            <a:picLocks noChangeAspect="1"/>
          </p:cNvPicPr>
          <p:nvPr/>
        </p:nvPicPr>
        <p:blipFill>
          <a:blip r:embed="rId13">
            <a:alphaModFix amt="85000"/>
          </a:blip>
          <a:stretch>
            <a:fillRect/>
          </a:stretch>
        </p:blipFill>
        <p:spPr>
          <a:xfrm>
            <a:off x="9118600" y="571500"/>
            <a:ext cx="1993900" cy="444500"/>
          </a:xfrm>
          <a:prstGeom prst="rect">
            <a:avLst/>
          </a:prstGeom>
        </p:spPr>
      </p:pic>
      <p:sp>
        <p:nvSpPr>
          <p:cNvPr id="54" name="TextBox 13">
            <a:extLst>
              <a:ext uri="{FF2B5EF4-FFF2-40B4-BE49-F238E27FC236}">
                <a16:creationId xmlns:a16="http://schemas.microsoft.com/office/drawing/2014/main" id="{F07ED86B-B967-6B3D-79F7-F0D9F21FCF37}"/>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55" name="TextBox 15">
            <a:extLst>
              <a:ext uri="{FF2B5EF4-FFF2-40B4-BE49-F238E27FC236}">
                <a16:creationId xmlns:a16="http://schemas.microsoft.com/office/drawing/2014/main" id="{E8BA4624-172C-9CED-D04A-26D87F8E56E0}"/>
              </a:ext>
            </a:extLst>
          </p:cNvPr>
          <p:cNvSpPr txBox="1"/>
          <p:nvPr/>
        </p:nvSpPr>
        <p:spPr>
          <a:xfrm>
            <a:off x="11353800" y="457200"/>
            <a:ext cx="25273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시나리오</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모의해킹</a:t>
            </a:r>
            <a:endParaRPr lang="en-US" sz="2666" b="0" i="0" u="none" strike="noStrike" spc="-100" dirty="0">
              <a:solidFill>
                <a:srgbClr val="C2C2C2"/>
              </a:solidFill>
              <a:latin typeface="Pretendard SemiBold"/>
              <a:ea typeface="Pretendard SemiBold"/>
              <a:cs typeface="Pretendard SemiBold"/>
            </a:endParaRPr>
          </a:p>
        </p:txBody>
      </p:sp>
      <p:sp>
        <p:nvSpPr>
          <p:cNvPr id="56" name="TextBox 16">
            <a:extLst>
              <a:ext uri="{FF2B5EF4-FFF2-40B4-BE49-F238E27FC236}">
                <a16:creationId xmlns:a16="http://schemas.microsoft.com/office/drawing/2014/main" id="{A7C522F5-AB62-F5BF-4ECF-2031E37708C8}"/>
              </a:ext>
            </a:extLst>
          </p:cNvPr>
          <p:cNvSpPr txBox="1"/>
          <p:nvPr/>
        </p:nvSpPr>
        <p:spPr>
          <a:xfrm>
            <a:off x="14097000" y="4699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57" name="TextBox 17">
            <a:extLst>
              <a:ext uri="{FF2B5EF4-FFF2-40B4-BE49-F238E27FC236}">
                <a16:creationId xmlns:a16="http://schemas.microsoft.com/office/drawing/2014/main" id="{4796FF8F-16CE-77C7-8CD9-A460A2A9374A}"/>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개발 및 진단</a:t>
            </a:r>
          </a:p>
        </p:txBody>
      </p:sp>
      <p:grpSp>
        <p:nvGrpSpPr>
          <p:cNvPr id="63" name="그룹 62">
            <a:extLst>
              <a:ext uri="{FF2B5EF4-FFF2-40B4-BE49-F238E27FC236}">
                <a16:creationId xmlns:a16="http://schemas.microsoft.com/office/drawing/2014/main" id="{D0FF59F5-B8AD-1043-C9DE-A99FB614D870}"/>
              </a:ext>
            </a:extLst>
          </p:cNvPr>
          <p:cNvGrpSpPr/>
          <p:nvPr/>
        </p:nvGrpSpPr>
        <p:grpSpPr>
          <a:xfrm>
            <a:off x="1981200" y="3060700"/>
            <a:ext cx="9347200" cy="9906000"/>
            <a:chOff x="1981200" y="3060700"/>
            <a:chExt cx="9347200" cy="9906000"/>
          </a:xfrm>
        </p:grpSpPr>
        <p:pic>
          <p:nvPicPr>
            <p:cNvPr id="10" name="Picture 10"/>
            <p:cNvPicPr>
              <a:picLocks noChangeAspect="1"/>
            </p:cNvPicPr>
            <p:nvPr/>
          </p:nvPicPr>
          <p:blipFill>
            <a:blip r:embed="rId14"/>
            <a:stretch>
              <a:fillRect/>
            </a:stretch>
          </p:blipFill>
          <p:spPr>
            <a:xfrm>
              <a:off x="8610600" y="9156700"/>
              <a:ext cx="304800" cy="342900"/>
            </a:xfrm>
            <a:prstGeom prst="rect">
              <a:avLst/>
            </a:prstGeom>
          </p:spPr>
        </p:pic>
        <p:pic>
          <p:nvPicPr>
            <p:cNvPr id="26" name="Picture 26"/>
            <p:cNvPicPr>
              <a:picLocks noChangeAspect="1"/>
            </p:cNvPicPr>
            <p:nvPr/>
          </p:nvPicPr>
          <p:blipFill>
            <a:blip r:embed="rId15"/>
            <a:stretch>
              <a:fillRect/>
            </a:stretch>
          </p:blipFill>
          <p:spPr>
            <a:xfrm>
              <a:off x="2438400" y="11023600"/>
              <a:ext cx="8293100" cy="1612900"/>
            </a:xfrm>
            <a:prstGeom prst="rect">
              <a:avLst/>
            </a:prstGeom>
          </p:spPr>
        </p:pic>
        <p:pic>
          <p:nvPicPr>
            <p:cNvPr id="28" name="Picture 28"/>
            <p:cNvPicPr>
              <a:picLocks noChangeAspect="1"/>
            </p:cNvPicPr>
            <p:nvPr/>
          </p:nvPicPr>
          <p:blipFill>
            <a:blip r:embed="rId16"/>
            <a:stretch>
              <a:fillRect/>
            </a:stretch>
          </p:blipFill>
          <p:spPr>
            <a:xfrm>
              <a:off x="1981200" y="3060700"/>
              <a:ext cx="9347200" cy="9906000"/>
            </a:xfrm>
            <a:prstGeom prst="rect">
              <a:avLst/>
            </a:prstGeom>
            <a:effectLst>
              <a:outerShdw blurRad="514096" dist="215705" dir="2700000">
                <a:srgbClr val="000000">
                  <a:alpha val="23000"/>
                </a:srgbClr>
              </a:outerShdw>
            </a:effectLst>
          </p:spPr>
        </p:pic>
        <p:sp>
          <p:nvSpPr>
            <p:cNvPr id="29" name="TextBox 29"/>
            <p:cNvSpPr txBox="1"/>
            <p:nvPr/>
          </p:nvSpPr>
          <p:spPr>
            <a:xfrm>
              <a:off x="2590800" y="11150600"/>
              <a:ext cx="1473200" cy="266700"/>
            </a:xfrm>
            <a:prstGeom prst="rect">
              <a:avLst/>
            </a:prstGeom>
          </p:spPr>
          <p:txBody>
            <a:bodyPr lIns="0" tIns="0" rIns="0" bIns="0" rtlCol="0" anchor="t"/>
            <a:lstStyle/>
            <a:p>
              <a:pPr lvl="0" algn="l">
                <a:lnSpc>
                  <a:spcPct val="116199"/>
                </a:lnSpc>
              </a:pPr>
              <a:r>
                <a:rPr lang="en-US" sz="1500" b="0" i="0" u="none" strike="noStrike">
                  <a:solidFill>
                    <a:srgbClr val="000000"/>
                  </a:solidFill>
                  <a:latin typeface="Pretendard Light"/>
                  <a:ea typeface="Pretendard Light"/>
                  <a:cs typeface="Pretendard Light"/>
                </a:rPr>
                <a:t>긴급생활비대출</a:t>
              </a:r>
            </a:p>
          </p:txBody>
        </p:sp>
        <p:pic>
          <p:nvPicPr>
            <p:cNvPr id="61" name="그림 60">
              <a:extLst>
                <a:ext uri="{FF2B5EF4-FFF2-40B4-BE49-F238E27FC236}">
                  <a16:creationId xmlns:a16="http://schemas.microsoft.com/office/drawing/2014/main" id="{54C75A6E-B931-DC69-1379-4432293AB85F}"/>
                </a:ext>
              </a:extLst>
            </p:cNvPr>
            <p:cNvPicPr>
              <a:picLocks noChangeAspect="1"/>
            </p:cNvPicPr>
            <p:nvPr/>
          </p:nvPicPr>
          <p:blipFill>
            <a:blip r:embed="rId17">
              <a:extLst>
                <a:ext uri="{28A0092B-C50C-407E-A947-70E740481C1C}">
                  <a14:useLocalDpi xmlns:a14="http://schemas.microsoft.com/office/drawing/2010/main" val="0"/>
                </a:ext>
              </a:extLst>
            </a:blip>
            <a:srcRect l="4302" t="79012" r="3597" b="5309"/>
            <a:stretch>
              <a:fillRect/>
            </a:stretch>
          </p:blipFill>
          <p:spPr>
            <a:xfrm>
              <a:off x="2514600" y="11010900"/>
              <a:ext cx="8305800" cy="1612900"/>
            </a:xfrm>
            <a:prstGeom prst="rect">
              <a:avLst/>
            </a:prstGeom>
          </p:spPr>
        </p:pic>
        <p:pic>
          <p:nvPicPr>
            <p:cNvPr id="30" name="Picture 30"/>
            <p:cNvPicPr>
              <a:picLocks noChangeAspect="1"/>
            </p:cNvPicPr>
            <p:nvPr/>
          </p:nvPicPr>
          <p:blipFill>
            <a:blip r:embed="rId18"/>
            <a:stretch>
              <a:fillRect/>
            </a:stretch>
          </p:blipFill>
          <p:spPr>
            <a:xfrm>
              <a:off x="2438400" y="10909300"/>
              <a:ext cx="8293100" cy="1866900"/>
            </a:xfrm>
            <a:prstGeom prst="rect">
              <a:avLst/>
            </a:prstGeom>
          </p:spPr>
        </p:pic>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a:extLst>
            <a:ext uri="{FF2B5EF4-FFF2-40B4-BE49-F238E27FC236}">
              <a16:creationId xmlns:a16="http://schemas.microsoft.com/office/drawing/2014/main" id="{0D417E8E-95F1-CA99-08E0-39B7CF239719}"/>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FEE62A77-CA42-3592-8BBE-C811A433BB4C}"/>
              </a:ext>
            </a:extLst>
          </p:cNvPr>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a:extLst>
              <a:ext uri="{FF2B5EF4-FFF2-40B4-BE49-F238E27FC236}">
                <a16:creationId xmlns:a16="http://schemas.microsoft.com/office/drawing/2014/main" id="{E8732F81-5D7E-82BB-2F00-879CBC8E921D}"/>
              </a:ext>
            </a:extLst>
          </p:cNvPr>
          <p:cNvPicPr>
            <a:picLocks noChangeAspect="1"/>
          </p:cNvPicPr>
          <p:nvPr/>
        </p:nvPicPr>
        <p:blipFill>
          <a:blip r:embed="rId3"/>
          <a:stretch>
            <a:fillRect/>
          </a:stretch>
        </p:blipFill>
        <p:spPr>
          <a:xfrm>
            <a:off x="762000" y="1092200"/>
            <a:ext cx="22860000" cy="12700"/>
          </a:xfrm>
          <a:prstGeom prst="rect">
            <a:avLst/>
          </a:prstGeom>
        </p:spPr>
      </p:pic>
      <p:pic>
        <p:nvPicPr>
          <p:cNvPr id="4" name="Picture 4">
            <a:extLst>
              <a:ext uri="{FF2B5EF4-FFF2-40B4-BE49-F238E27FC236}">
                <a16:creationId xmlns:a16="http://schemas.microsoft.com/office/drawing/2014/main" id="{7FE35FB8-7091-1CCA-619F-A402542AEDC8}"/>
              </a:ext>
            </a:extLst>
          </p:cNvPr>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a:extLst>
              <a:ext uri="{FF2B5EF4-FFF2-40B4-BE49-F238E27FC236}">
                <a16:creationId xmlns:a16="http://schemas.microsoft.com/office/drawing/2014/main" id="{2E4DDE7D-AE0D-4348-91B4-1DF399E9B542}"/>
              </a:ext>
            </a:extLst>
          </p:cNvPr>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a:extLst>
              <a:ext uri="{FF2B5EF4-FFF2-40B4-BE49-F238E27FC236}">
                <a16:creationId xmlns:a16="http://schemas.microsoft.com/office/drawing/2014/main" id="{A365E452-4412-0FE8-B5D5-410079D8A68C}"/>
              </a:ext>
            </a:extLst>
          </p:cNvPr>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a:extLst>
              <a:ext uri="{FF2B5EF4-FFF2-40B4-BE49-F238E27FC236}">
                <a16:creationId xmlns:a16="http://schemas.microsoft.com/office/drawing/2014/main" id="{D4C0D7E2-32A7-159A-E983-A9E4D3D84C1C}"/>
              </a:ext>
            </a:extLst>
          </p:cNvPr>
          <p:cNvPicPr>
            <a:picLocks noChangeAspect="1"/>
          </p:cNvPicPr>
          <p:nvPr/>
        </p:nvPicPr>
        <p:blipFill>
          <a:blip r:embed="rId3"/>
          <a:stretch>
            <a:fillRect/>
          </a:stretch>
        </p:blipFill>
        <p:spPr>
          <a:xfrm>
            <a:off x="723900" y="457200"/>
            <a:ext cx="22860000" cy="12700"/>
          </a:xfrm>
          <a:prstGeom prst="rect">
            <a:avLst/>
          </a:prstGeom>
        </p:spPr>
      </p:pic>
      <p:sp>
        <p:nvSpPr>
          <p:cNvPr id="16" name="TextBox 16">
            <a:extLst>
              <a:ext uri="{FF2B5EF4-FFF2-40B4-BE49-F238E27FC236}">
                <a16:creationId xmlns:a16="http://schemas.microsoft.com/office/drawing/2014/main" id="{05FF0A8A-2800-DBDA-F235-D5BDD639035B}"/>
              </a:ext>
            </a:extLst>
          </p:cNvPr>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19</a:t>
            </a:r>
          </a:p>
        </p:txBody>
      </p:sp>
      <p:sp>
        <p:nvSpPr>
          <p:cNvPr id="40" name="TextBox 14">
            <a:extLst>
              <a:ext uri="{FF2B5EF4-FFF2-40B4-BE49-F238E27FC236}">
                <a16:creationId xmlns:a16="http://schemas.microsoft.com/office/drawing/2014/main" id="{5B8CA52C-97CF-93A9-7D87-F6240CBCDD46}"/>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41" name="TextBox 14">
            <a:extLst>
              <a:ext uri="{FF2B5EF4-FFF2-40B4-BE49-F238E27FC236}">
                <a16:creationId xmlns:a16="http://schemas.microsoft.com/office/drawing/2014/main" id="{B555D213-D01F-C695-805F-84AF61F92C11}"/>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53" name="Picture 12">
            <a:extLst>
              <a:ext uri="{FF2B5EF4-FFF2-40B4-BE49-F238E27FC236}">
                <a16:creationId xmlns:a16="http://schemas.microsoft.com/office/drawing/2014/main" id="{0D0B6A42-9F42-2961-CAB7-8D4B58094C07}"/>
              </a:ext>
            </a:extLst>
          </p:cNvPr>
          <p:cNvPicPr>
            <a:picLocks noChangeAspect="1"/>
          </p:cNvPicPr>
          <p:nvPr/>
        </p:nvPicPr>
        <p:blipFill>
          <a:blip r:embed="rId5">
            <a:alphaModFix amt="85000"/>
          </a:blip>
          <a:stretch>
            <a:fillRect/>
          </a:stretch>
        </p:blipFill>
        <p:spPr>
          <a:xfrm>
            <a:off x="9118600" y="571500"/>
            <a:ext cx="1993900" cy="444500"/>
          </a:xfrm>
          <a:prstGeom prst="rect">
            <a:avLst/>
          </a:prstGeom>
        </p:spPr>
      </p:pic>
      <p:sp>
        <p:nvSpPr>
          <p:cNvPr id="54" name="TextBox 13">
            <a:extLst>
              <a:ext uri="{FF2B5EF4-FFF2-40B4-BE49-F238E27FC236}">
                <a16:creationId xmlns:a16="http://schemas.microsoft.com/office/drawing/2014/main" id="{650DD082-721A-6129-E3D9-268BA823182F}"/>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55" name="TextBox 15">
            <a:extLst>
              <a:ext uri="{FF2B5EF4-FFF2-40B4-BE49-F238E27FC236}">
                <a16:creationId xmlns:a16="http://schemas.microsoft.com/office/drawing/2014/main" id="{29CCEAD9-B66B-9339-4568-A060A1610A48}"/>
              </a:ext>
            </a:extLst>
          </p:cNvPr>
          <p:cNvSpPr txBox="1"/>
          <p:nvPr/>
        </p:nvSpPr>
        <p:spPr>
          <a:xfrm>
            <a:off x="11353800" y="457200"/>
            <a:ext cx="25273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시나리오</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모의해킹</a:t>
            </a:r>
            <a:endParaRPr lang="en-US" sz="2666" b="0" i="0" u="none" strike="noStrike" spc="-100" dirty="0">
              <a:solidFill>
                <a:srgbClr val="C2C2C2"/>
              </a:solidFill>
              <a:latin typeface="Pretendard SemiBold"/>
              <a:ea typeface="Pretendard SemiBold"/>
              <a:cs typeface="Pretendard SemiBold"/>
            </a:endParaRPr>
          </a:p>
        </p:txBody>
      </p:sp>
      <p:sp>
        <p:nvSpPr>
          <p:cNvPr id="56" name="TextBox 16">
            <a:extLst>
              <a:ext uri="{FF2B5EF4-FFF2-40B4-BE49-F238E27FC236}">
                <a16:creationId xmlns:a16="http://schemas.microsoft.com/office/drawing/2014/main" id="{F17C0E99-63B3-135D-C621-ADCF9C76F3E1}"/>
              </a:ext>
            </a:extLst>
          </p:cNvPr>
          <p:cNvSpPr txBox="1"/>
          <p:nvPr/>
        </p:nvSpPr>
        <p:spPr>
          <a:xfrm>
            <a:off x="14097000" y="4699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57" name="TextBox 17">
            <a:extLst>
              <a:ext uri="{FF2B5EF4-FFF2-40B4-BE49-F238E27FC236}">
                <a16:creationId xmlns:a16="http://schemas.microsoft.com/office/drawing/2014/main" id="{20EA198B-B0FD-E218-D696-4D358D88A6F9}"/>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개발 및 진단</a:t>
            </a:r>
          </a:p>
        </p:txBody>
      </p:sp>
      <p:pic>
        <p:nvPicPr>
          <p:cNvPr id="60" name="Picture 9">
            <a:extLst>
              <a:ext uri="{FF2B5EF4-FFF2-40B4-BE49-F238E27FC236}">
                <a16:creationId xmlns:a16="http://schemas.microsoft.com/office/drawing/2014/main" id="{F7013FE6-7208-8F7C-925B-52A830C5C49C}"/>
              </a:ext>
            </a:extLst>
          </p:cNvPr>
          <p:cNvPicPr>
            <a:picLocks noChangeAspect="1"/>
          </p:cNvPicPr>
          <p:nvPr/>
        </p:nvPicPr>
        <p:blipFill>
          <a:blip r:embed="rId6"/>
          <a:stretch>
            <a:fillRect/>
          </a:stretch>
        </p:blipFill>
        <p:spPr>
          <a:xfrm>
            <a:off x="1485900" y="1612900"/>
            <a:ext cx="88900" cy="850900"/>
          </a:xfrm>
          <a:prstGeom prst="rect">
            <a:avLst/>
          </a:prstGeom>
        </p:spPr>
      </p:pic>
      <p:pic>
        <p:nvPicPr>
          <p:cNvPr id="62" name="Picture 11">
            <a:extLst>
              <a:ext uri="{FF2B5EF4-FFF2-40B4-BE49-F238E27FC236}">
                <a16:creationId xmlns:a16="http://schemas.microsoft.com/office/drawing/2014/main" id="{3305A12C-492C-5B4C-533D-1CDB44CA727C}"/>
              </a:ext>
            </a:extLst>
          </p:cNvPr>
          <p:cNvPicPr>
            <a:picLocks noChangeAspect="1"/>
          </p:cNvPicPr>
          <p:nvPr/>
        </p:nvPicPr>
        <p:blipFill>
          <a:blip r:embed="rId7"/>
          <a:stretch>
            <a:fillRect/>
          </a:stretch>
        </p:blipFill>
        <p:spPr>
          <a:xfrm>
            <a:off x="13144500" y="8509000"/>
            <a:ext cx="9334500" cy="3746500"/>
          </a:xfrm>
          <a:prstGeom prst="rect">
            <a:avLst/>
          </a:prstGeom>
          <a:effectLst>
            <a:outerShdw blurRad="93663" dist="86458" dir="2700000">
              <a:srgbClr val="1A7AE1">
                <a:alpha val="15000"/>
              </a:srgbClr>
            </a:outerShdw>
          </a:effectLst>
        </p:spPr>
      </p:pic>
      <p:pic>
        <p:nvPicPr>
          <p:cNvPr id="64" name="Picture 12">
            <a:extLst>
              <a:ext uri="{FF2B5EF4-FFF2-40B4-BE49-F238E27FC236}">
                <a16:creationId xmlns:a16="http://schemas.microsoft.com/office/drawing/2014/main" id="{86EA68FA-8A56-CD26-E573-BACFC4F6ADF2}"/>
              </a:ext>
            </a:extLst>
          </p:cNvPr>
          <p:cNvPicPr>
            <a:picLocks noChangeAspect="1"/>
          </p:cNvPicPr>
          <p:nvPr/>
        </p:nvPicPr>
        <p:blipFill>
          <a:blip r:embed="rId8"/>
          <a:stretch>
            <a:fillRect/>
          </a:stretch>
        </p:blipFill>
        <p:spPr>
          <a:xfrm>
            <a:off x="1905000" y="4089400"/>
            <a:ext cx="9334500" cy="3746500"/>
          </a:xfrm>
          <a:prstGeom prst="rect">
            <a:avLst/>
          </a:prstGeom>
          <a:effectLst>
            <a:outerShdw blurRad="93663" dist="86458" dir="2700000">
              <a:srgbClr val="1A7AE1">
                <a:alpha val="15000"/>
              </a:srgbClr>
            </a:outerShdw>
          </a:effectLst>
        </p:spPr>
      </p:pic>
      <p:sp>
        <p:nvSpPr>
          <p:cNvPr id="65" name="TextBox 13">
            <a:extLst>
              <a:ext uri="{FF2B5EF4-FFF2-40B4-BE49-F238E27FC236}">
                <a16:creationId xmlns:a16="http://schemas.microsoft.com/office/drawing/2014/main" id="{09DECF46-52AF-8B61-FE57-A5F1826F78D7}"/>
              </a:ext>
            </a:extLst>
          </p:cNvPr>
          <p:cNvSpPr txBox="1"/>
          <p:nvPr/>
        </p:nvSpPr>
        <p:spPr>
          <a:xfrm>
            <a:off x="3810000" y="4762500"/>
            <a:ext cx="5511800" cy="571500"/>
          </a:xfrm>
          <a:prstGeom prst="rect">
            <a:avLst/>
          </a:prstGeom>
        </p:spPr>
        <p:txBody>
          <a:bodyPr lIns="0" tIns="0" rIns="0" bIns="0" rtlCol="0" anchor="t"/>
          <a:lstStyle/>
          <a:p>
            <a:pPr lvl="0" algn="ctr">
              <a:lnSpc>
                <a:spcPct val="116199"/>
              </a:lnSpc>
            </a:pPr>
            <a:r>
              <a:rPr lang="en-US" sz="3199" b="0" i="0" u="none" strike="noStrike" dirty="0" err="1">
                <a:solidFill>
                  <a:srgbClr val="000000"/>
                </a:solidFill>
                <a:latin typeface="Pretendard SemiBold"/>
                <a:ea typeface="Pretendard SemiBold"/>
                <a:cs typeface="Pretendard SemiBold"/>
              </a:rPr>
              <a:t>입력값</a:t>
            </a:r>
            <a:r>
              <a:rPr lang="en-US" sz="3199" b="0" i="0" u="none" strike="noStrike" dirty="0">
                <a:solidFill>
                  <a:srgbClr val="000000"/>
                </a:solidFill>
                <a:latin typeface="Pretendard SemiBold"/>
                <a:ea typeface="Pretendard SemiBold"/>
                <a:cs typeface="Pretendard SemiBold"/>
              </a:rPr>
              <a:t> 검증 및 </a:t>
            </a:r>
            <a:r>
              <a:rPr lang="en-US" sz="3199" b="0" i="0" u="none" strike="noStrike" dirty="0" err="1">
                <a:solidFill>
                  <a:srgbClr val="000000"/>
                </a:solidFill>
                <a:latin typeface="Pretendard SemiBold"/>
                <a:ea typeface="Pretendard SemiBold"/>
                <a:cs typeface="Pretendard SemiBold"/>
              </a:rPr>
              <a:t>필터링</a:t>
            </a:r>
            <a:endParaRPr lang="en-US" sz="3199" b="0" i="0" u="none" strike="noStrike" dirty="0">
              <a:solidFill>
                <a:srgbClr val="000000"/>
              </a:solidFill>
              <a:latin typeface="Pretendard SemiBold"/>
              <a:ea typeface="Pretendard SemiBold"/>
              <a:cs typeface="Pretendard SemiBold"/>
            </a:endParaRPr>
          </a:p>
        </p:txBody>
      </p:sp>
      <p:sp>
        <p:nvSpPr>
          <p:cNvPr id="66" name="TextBox 14">
            <a:extLst>
              <a:ext uri="{FF2B5EF4-FFF2-40B4-BE49-F238E27FC236}">
                <a16:creationId xmlns:a16="http://schemas.microsoft.com/office/drawing/2014/main" id="{71927967-FECF-C80B-49E3-D091A5D7B1C8}"/>
              </a:ext>
            </a:extLst>
          </p:cNvPr>
          <p:cNvSpPr txBox="1"/>
          <p:nvPr/>
        </p:nvSpPr>
        <p:spPr>
          <a:xfrm>
            <a:off x="2946400" y="5918200"/>
            <a:ext cx="7150100" cy="1079500"/>
          </a:xfrm>
          <a:prstGeom prst="rect">
            <a:avLst/>
          </a:prstGeom>
        </p:spPr>
        <p:txBody>
          <a:bodyPr lIns="0" tIns="0" rIns="0" bIns="0" rtlCol="0" anchor="t"/>
          <a:lstStyle/>
          <a:p>
            <a:pPr lvl="0" algn="ctr">
              <a:lnSpc>
                <a:spcPct val="149400"/>
              </a:lnSpc>
            </a:pPr>
            <a:r>
              <a:rPr lang="en-US" sz="2666" b="0" i="0" u="none" strike="noStrike" dirty="0" err="1">
                <a:solidFill>
                  <a:srgbClr val="000000">
                    <a:alpha val="70196"/>
                  </a:srgbClr>
                </a:solidFill>
                <a:latin typeface="Pretendard Medium"/>
                <a:ea typeface="Pretendard Medium"/>
                <a:cs typeface="Pretendard Medium"/>
              </a:rPr>
              <a:t>공격에</a:t>
            </a:r>
            <a:r>
              <a:rPr lang="en-US" sz="2666" b="0" i="0" u="none" strike="noStrike" dirty="0">
                <a:solidFill>
                  <a:srgbClr val="000000">
                    <a:alpha val="70196"/>
                  </a:srgbClr>
                </a:solidFill>
                <a:latin typeface="Pretendard Medium"/>
                <a:ea typeface="Pretendard Medium"/>
                <a:cs typeface="Pretendard Medium"/>
              </a:rPr>
              <a:t> </a:t>
            </a:r>
            <a:r>
              <a:rPr lang="en-US" sz="2666" b="0" i="0" u="none" strike="noStrike" dirty="0" err="1">
                <a:solidFill>
                  <a:srgbClr val="000000">
                    <a:alpha val="70196"/>
                  </a:srgbClr>
                </a:solidFill>
                <a:latin typeface="Pretendard Medium"/>
                <a:ea typeface="Pretendard Medium"/>
                <a:cs typeface="Pretendard Medium"/>
              </a:rPr>
              <a:t>사용되는</a:t>
            </a:r>
            <a:r>
              <a:rPr lang="en-US" sz="2666" b="0" i="0" u="none" strike="noStrike" dirty="0">
                <a:solidFill>
                  <a:srgbClr val="000000">
                    <a:alpha val="70196"/>
                  </a:srgbClr>
                </a:solidFill>
                <a:latin typeface="Pretendard Medium"/>
                <a:ea typeface="Pretendard Medium"/>
                <a:cs typeface="Pretendard Medium"/>
              </a:rPr>
              <a:t> </a:t>
            </a:r>
            <a:r>
              <a:rPr lang="en-US" sz="2666" b="0" i="0" u="none" strike="noStrike" dirty="0" err="1">
                <a:solidFill>
                  <a:srgbClr val="000000">
                    <a:alpha val="70196"/>
                  </a:srgbClr>
                </a:solidFill>
                <a:latin typeface="Pretendard Medium"/>
                <a:ea typeface="Pretendard Medium"/>
                <a:cs typeface="Pretendard Medium"/>
              </a:rPr>
              <a:t>특수문자에</a:t>
            </a:r>
            <a:r>
              <a:rPr lang="en-US" sz="2666" b="0" i="0" u="none" strike="noStrike" dirty="0">
                <a:solidFill>
                  <a:srgbClr val="000000">
                    <a:alpha val="70196"/>
                  </a:srgbClr>
                </a:solidFill>
                <a:latin typeface="Pretendard Medium"/>
                <a:ea typeface="Pretendard Medium"/>
                <a:cs typeface="Pretendard Medium"/>
              </a:rPr>
              <a:t> </a:t>
            </a:r>
            <a:r>
              <a:rPr lang="en-US" sz="2666" b="0" i="0" u="none" strike="noStrike" dirty="0" err="1">
                <a:solidFill>
                  <a:srgbClr val="000000">
                    <a:alpha val="70196"/>
                  </a:srgbClr>
                </a:solidFill>
                <a:latin typeface="Pretendard Medium"/>
                <a:ea typeface="Pretendard Medium"/>
                <a:cs typeface="Pretendard Medium"/>
              </a:rPr>
              <a:t>대하여</a:t>
            </a:r>
            <a:r>
              <a:rPr lang="en-US" sz="2666" b="0" i="0" u="none" strike="noStrike" dirty="0">
                <a:solidFill>
                  <a:srgbClr val="000000">
                    <a:alpha val="70196"/>
                  </a:srgbClr>
                </a:solidFill>
                <a:latin typeface="Pretendard Medium"/>
                <a:ea typeface="Pretendard Medium"/>
                <a:cs typeface="Pretendard Medium"/>
              </a:rPr>
              <a:t> </a:t>
            </a:r>
            <a:r>
              <a:rPr lang="en-US" sz="2666" b="0" i="0" u="none" strike="noStrike" dirty="0" err="1">
                <a:solidFill>
                  <a:srgbClr val="000000">
                    <a:alpha val="70196"/>
                  </a:srgbClr>
                </a:solidFill>
                <a:latin typeface="Pretendard Medium"/>
                <a:ea typeface="Pretendard Medium"/>
                <a:cs typeface="Pretendard Medium"/>
              </a:rPr>
              <a:t>서버</a:t>
            </a:r>
            <a:r>
              <a:rPr lang="en-US" sz="2666" b="0" i="0" u="none" strike="noStrike" dirty="0">
                <a:solidFill>
                  <a:srgbClr val="000000">
                    <a:alpha val="70196"/>
                  </a:srgbClr>
                </a:solidFill>
                <a:latin typeface="Pretendard Medium"/>
                <a:ea typeface="Pretendard Medium"/>
                <a:cs typeface="Pretendard Medium"/>
              </a:rPr>
              <a:t> </a:t>
            </a:r>
            <a:r>
              <a:rPr lang="en-US" sz="2666" b="0" i="0" u="none" strike="noStrike" dirty="0" err="1">
                <a:solidFill>
                  <a:srgbClr val="000000">
                    <a:alpha val="70196"/>
                  </a:srgbClr>
                </a:solidFill>
                <a:latin typeface="Pretendard Medium"/>
                <a:ea typeface="Pretendard Medium"/>
                <a:cs typeface="Pretendard Medium"/>
              </a:rPr>
              <a:t>사이드에서</a:t>
            </a:r>
            <a:r>
              <a:rPr lang="en-US" sz="2666" b="0" i="0" u="none" strike="noStrike" dirty="0">
                <a:solidFill>
                  <a:srgbClr val="000000">
                    <a:alpha val="70196"/>
                  </a:srgbClr>
                </a:solidFill>
                <a:latin typeface="Pretendard Medium"/>
                <a:ea typeface="Pretendard Medium"/>
                <a:cs typeface="Pretendard Medium"/>
              </a:rPr>
              <a:t> </a:t>
            </a:r>
            <a:r>
              <a:rPr lang="en-US" sz="2666" b="0" i="0" u="none" strike="noStrike" dirty="0" err="1">
                <a:solidFill>
                  <a:srgbClr val="000000">
                    <a:alpha val="70196"/>
                  </a:srgbClr>
                </a:solidFill>
                <a:latin typeface="Pretendard Medium"/>
                <a:ea typeface="Pretendard Medium"/>
                <a:cs typeface="Pretendard Medium"/>
              </a:rPr>
              <a:t>입력값</a:t>
            </a:r>
            <a:r>
              <a:rPr lang="en-US" sz="2666" b="0" i="0" u="none" strike="noStrike" dirty="0">
                <a:solidFill>
                  <a:srgbClr val="000000">
                    <a:alpha val="70196"/>
                  </a:srgbClr>
                </a:solidFill>
                <a:latin typeface="Pretendard Medium"/>
                <a:ea typeface="Pretendard Medium"/>
                <a:cs typeface="Pretendard Medium"/>
              </a:rPr>
              <a:t> 검증 및 </a:t>
            </a:r>
            <a:r>
              <a:rPr lang="en-US" sz="2666" b="0" i="0" u="none" strike="noStrike" dirty="0" err="1">
                <a:solidFill>
                  <a:srgbClr val="000000">
                    <a:alpha val="70196"/>
                  </a:srgbClr>
                </a:solidFill>
                <a:latin typeface="Pretendard Medium"/>
                <a:ea typeface="Pretendard Medium"/>
                <a:cs typeface="Pretendard Medium"/>
              </a:rPr>
              <a:t>필터링</a:t>
            </a:r>
            <a:r>
              <a:rPr lang="en-US" sz="2666" b="0" i="0" u="none" strike="noStrike" dirty="0">
                <a:solidFill>
                  <a:srgbClr val="000000">
                    <a:alpha val="70196"/>
                  </a:srgbClr>
                </a:solidFill>
                <a:latin typeface="Pretendard Medium"/>
                <a:ea typeface="Pretendard Medium"/>
                <a:cs typeface="Pretendard Medium"/>
              </a:rPr>
              <a:t> </a:t>
            </a:r>
            <a:r>
              <a:rPr lang="en-US" sz="2666" b="0" i="0" u="none" strike="noStrike" dirty="0" err="1">
                <a:solidFill>
                  <a:srgbClr val="000000">
                    <a:alpha val="70196"/>
                  </a:srgbClr>
                </a:solidFill>
                <a:latin typeface="Pretendard Medium"/>
                <a:ea typeface="Pretendard Medium"/>
                <a:cs typeface="Pretendard Medium"/>
              </a:rPr>
              <a:t>처리</a:t>
            </a:r>
            <a:r>
              <a:rPr lang="en-US" sz="2666" b="0" i="0" u="none" strike="noStrike" dirty="0">
                <a:solidFill>
                  <a:srgbClr val="000000">
                    <a:alpha val="70196"/>
                  </a:srgbClr>
                </a:solidFill>
                <a:latin typeface="Pretendard Medium"/>
                <a:ea typeface="Pretendard Medium"/>
                <a:cs typeface="Pretendard Medium"/>
              </a:rPr>
              <a:t> </a:t>
            </a:r>
            <a:r>
              <a:rPr lang="en-US" sz="2666" b="0" i="0" u="none" strike="noStrike" dirty="0" err="1">
                <a:solidFill>
                  <a:srgbClr val="000000">
                    <a:alpha val="70196"/>
                  </a:srgbClr>
                </a:solidFill>
                <a:latin typeface="Pretendard Medium"/>
                <a:ea typeface="Pretendard Medium"/>
                <a:cs typeface="Pretendard Medium"/>
              </a:rPr>
              <a:t>로직을</a:t>
            </a:r>
            <a:r>
              <a:rPr lang="en-US" sz="2666" b="0" i="0" u="none" strike="noStrike" dirty="0">
                <a:solidFill>
                  <a:srgbClr val="000000">
                    <a:alpha val="70196"/>
                  </a:srgbClr>
                </a:solidFill>
                <a:latin typeface="Pretendard Medium"/>
                <a:ea typeface="Pretendard Medium"/>
                <a:cs typeface="Pretendard Medium"/>
              </a:rPr>
              <a:t> </a:t>
            </a:r>
            <a:r>
              <a:rPr lang="en-US" sz="2666" b="0" i="0" u="none" strike="noStrike" dirty="0" err="1">
                <a:solidFill>
                  <a:srgbClr val="000000">
                    <a:alpha val="70196"/>
                  </a:srgbClr>
                </a:solidFill>
                <a:latin typeface="Pretendard Medium"/>
                <a:ea typeface="Pretendard Medium"/>
                <a:cs typeface="Pretendard Medium"/>
              </a:rPr>
              <a:t>구현해야</a:t>
            </a:r>
            <a:r>
              <a:rPr lang="en-US" sz="2666" b="0" i="0" u="none" strike="noStrike" dirty="0">
                <a:solidFill>
                  <a:srgbClr val="000000">
                    <a:alpha val="70196"/>
                  </a:srgbClr>
                </a:solidFill>
                <a:latin typeface="Pretendard Medium"/>
                <a:ea typeface="Pretendard Medium"/>
                <a:cs typeface="Pretendard Medium"/>
              </a:rPr>
              <a:t> </a:t>
            </a:r>
            <a:r>
              <a:rPr lang="en-US" sz="2666" b="0" i="0" u="none" strike="noStrike" dirty="0" err="1">
                <a:solidFill>
                  <a:srgbClr val="000000">
                    <a:alpha val="70196"/>
                  </a:srgbClr>
                </a:solidFill>
                <a:latin typeface="Pretendard Medium"/>
                <a:ea typeface="Pretendard Medium"/>
                <a:cs typeface="Pretendard Medium"/>
              </a:rPr>
              <a:t>합니다</a:t>
            </a:r>
            <a:r>
              <a:rPr lang="en-US" sz="2666" b="0" i="0" u="none" strike="noStrike" dirty="0">
                <a:solidFill>
                  <a:srgbClr val="000000">
                    <a:alpha val="70196"/>
                  </a:srgbClr>
                </a:solidFill>
                <a:latin typeface="Pretendard Medium"/>
                <a:ea typeface="Pretendard Medium"/>
                <a:cs typeface="Pretendard Medium"/>
              </a:rPr>
              <a:t>.</a:t>
            </a:r>
          </a:p>
        </p:txBody>
      </p:sp>
      <p:pic>
        <p:nvPicPr>
          <p:cNvPr id="67" name="Picture 15">
            <a:extLst>
              <a:ext uri="{FF2B5EF4-FFF2-40B4-BE49-F238E27FC236}">
                <a16:creationId xmlns:a16="http://schemas.microsoft.com/office/drawing/2014/main" id="{DB23F9DD-CCE4-0BF2-019C-1CA848C2982A}"/>
              </a:ext>
            </a:extLst>
          </p:cNvPr>
          <p:cNvPicPr>
            <a:picLocks noChangeAspect="1"/>
          </p:cNvPicPr>
          <p:nvPr/>
        </p:nvPicPr>
        <p:blipFill>
          <a:blip r:embed="rId7"/>
          <a:stretch>
            <a:fillRect/>
          </a:stretch>
        </p:blipFill>
        <p:spPr>
          <a:xfrm>
            <a:off x="13144500" y="4089400"/>
            <a:ext cx="9334500" cy="3746500"/>
          </a:xfrm>
          <a:prstGeom prst="rect">
            <a:avLst/>
          </a:prstGeom>
          <a:effectLst>
            <a:outerShdw blurRad="93663" dist="86458" dir="2700000">
              <a:srgbClr val="1A7AE1">
                <a:alpha val="15000"/>
              </a:srgbClr>
            </a:outerShdw>
          </a:effectLst>
        </p:spPr>
      </p:pic>
      <p:sp>
        <p:nvSpPr>
          <p:cNvPr id="68" name="TextBox 16">
            <a:extLst>
              <a:ext uri="{FF2B5EF4-FFF2-40B4-BE49-F238E27FC236}">
                <a16:creationId xmlns:a16="http://schemas.microsoft.com/office/drawing/2014/main" id="{39BCAF62-7FDF-32BB-66A5-F5DE5E14CDED}"/>
              </a:ext>
            </a:extLst>
          </p:cNvPr>
          <p:cNvSpPr txBox="1"/>
          <p:nvPr/>
        </p:nvSpPr>
        <p:spPr>
          <a:xfrm>
            <a:off x="15062200" y="4762500"/>
            <a:ext cx="5511800" cy="571500"/>
          </a:xfrm>
          <a:prstGeom prst="rect">
            <a:avLst/>
          </a:prstGeom>
        </p:spPr>
        <p:txBody>
          <a:bodyPr lIns="0" tIns="0" rIns="0" bIns="0" rtlCol="0" anchor="t"/>
          <a:lstStyle/>
          <a:p>
            <a:pPr lvl="0" algn="ctr">
              <a:lnSpc>
                <a:spcPct val="116199"/>
              </a:lnSpc>
            </a:pPr>
            <a:r>
              <a:rPr lang="ko-KR" altLang="en-US" sz="3199" dirty="0">
                <a:solidFill>
                  <a:srgbClr val="000000"/>
                </a:solidFill>
                <a:latin typeface="Pretendard SemiBold"/>
                <a:ea typeface="Pretendard SemiBold"/>
                <a:cs typeface="Pretendard SemiBold"/>
              </a:rPr>
              <a:t>추가 본인 확인</a:t>
            </a:r>
            <a:endParaRPr lang="en-US" altLang="ko-KR" sz="3199" dirty="0">
              <a:solidFill>
                <a:srgbClr val="000000"/>
              </a:solidFill>
              <a:latin typeface="Pretendard SemiBold"/>
              <a:ea typeface="Pretendard SemiBold"/>
              <a:cs typeface="Pretendard SemiBold"/>
            </a:endParaRPr>
          </a:p>
        </p:txBody>
      </p:sp>
      <p:pic>
        <p:nvPicPr>
          <p:cNvPr id="69" name="Picture 18">
            <a:extLst>
              <a:ext uri="{FF2B5EF4-FFF2-40B4-BE49-F238E27FC236}">
                <a16:creationId xmlns:a16="http://schemas.microsoft.com/office/drawing/2014/main" id="{FE8B41ED-16B0-5272-6C5B-548241473381}"/>
              </a:ext>
            </a:extLst>
          </p:cNvPr>
          <p:cNvPicPr>
            <a:picLocks noChangeAspect="1"/>
          </p:cNvPicPr>
          <p:nvPr/>
        </p:nvPicPr>
        <p:blipFill>
          <a:blip r:embed="rId8"/>
          <a:stretch>
            <a:fillRect/>
          </a:stretch>
        </p:blipFill>
        <p:spPr>
          <a:xfrm>
            <a:off x="1905000" y="8509000"/>
            <a:ext cx="9334500" cy="3746500"/>
          </a:xfrm>
          <a:prstGeom prst="rect">
            <a:avLst/>
          </a:prstGeom>
          <a:effectLst>
            <a:outerShdw blurRad="93663" dist="86458" dir="2700000">
              <a:srgbClr val="1A7AE1">
                <a:alpha val="15000"/>
              </a:srgbClr>
            </a:outerShdw>
          </a:effectLst>
        </p:spPr>
      </p:pic>
      <p:sp>
        <p:nvSpPr>
          <p:cNvPr id="70" name="TextBox 19">
            <a:extLst>
              <a:ext uri="{FF2B5EF4-FFF2-40B4-BE49-F238E27FC236}">
                <a16:creationId xmlns:a16="http://schemas.microsoft.com/office/drawing/2014/main" id="{47ED6F2B-95F6-B087-81EA-0A89E8E35F0B}"/>
              </a:ext>
            </a:extLst>
          </p:cNvPr>
          <p:cNvSpPr txBox="1"/>
          <p:nvPr/>
        </p:nvSpPr>
        <p:spPr>
          <a:xfrm>
            <a:off x="3810000" y="9194800"/>
            <a:ext cx="5511800" cy="571500"/>
          </a:xfrm>
          <a:prstGeom prst="rect">
            <a:avLst/>
          </a:prstGeom>
        </p:spPr>
        <p:txBody>
          <a:bodyPr lIns="0" tIns="0" rIns="0" bIns="0" rtlCol="0" anchor="t"/>
          <a:lstStyle/>
          <a:p>
            <a:pPr lvl="0" algn="ctr">
              <a:lnSpc>
                <a:spcPct val="116199"/>
              </a:lnSpc>
            </a:pPr>
            <a:r>
              <a:rPr lang="ko-KR" altLang="en-US" sz="3200" b="0" i="0" u="none" strike="noStrike">
                <a:solidFill>
                  <a:srgbClr val="000000"/>
                </a:solidFill>
                <a:latin typeface="Pretendard SemiBold"/>
                <a:ea typeface="Pretendard SemiBold"/>
                <a:cs typeface="Pretendard SemiBold"/>
              </a:rPr>
              <a:t>사람 식별 검증</a:t>
            </a:r>
            <a:endParaRPr lang="en-US" sz="3200" b="0" i="0" u="none" strike="noStrike" dirty="0">
              <a:solidFill>
                <a:srgbClr val="000000"/>
              </a:solidFill>
              <a:latin typeface="Pretendard SemiBold"/>
              <a:ea typeface="Pretendard SemiBold"/>
              <a:cs typeface="Pretendard SemiBold"/>
            </a:endParaRPr>
          </a:p>
        </p:txBody>
      </p:sp>
      <p:sp>
        <p:nvSpPr>
          <p:cNvPr id="71" name="TextBox 20">
            <a:extLst>
              <a:ext uri="{FF2B5EF4-FFF2-40B4-BE49-F238E27FC236}">
                <a16:creationId xmlns:a16="http://schemas.microsoft.com/office/drawing/2014/main" id="{6130BF82-204A-CCAA-986A-A74577864A6A}"/>
              </a:ext>
            </a:extLst>
          </p:cNvPr>
          <p:cNvSpPr txBox="1"/>
          <p:nvPr/>
        </p:nvSpPr>
        <p:spPr>
          <a:xfrm>
            <a:off x="2438400" y="10388600"/>
            <a:ext cx="8255000" cy="1079500"/>
          </a:xfrm>
          <a:prstGeom prst="rect">
            <a:avLst/>
          </a:prstGeom>
        </p:spPr>
        <p:txBody>
          <a:bodyPr lIns="0" tIns="0" rIns="0" bIns="0" rtlCol="0" anchor="t"/>
          <a:lstStyle/>
          <a:p>
            <a:pPr lvl="0" algn="ctr">
              <a:lnSpc>
                <a:spcPct val="149400"/>
              </a:lnSpc>
            </a:pPr>
            <a:r>
              <a:rPr lang="ko-KR" altLang="en-US" sz="2666" b="0" i="0" u="none" strike="noStrike" dirty="0">
                <a:solidFill>
                  <a:srgbClr val="000000">
                    <a:alpha val="70196"/>
                  </a:srgbClr>
                </a:solidFill>
                <a:latin typeface="Pretendard Medium"/>
                <a:ea typeface="Pretendard Medium"/>
                <a:cs typeface="Pretendard Medium"/>
              </a:rPr>
              <a:t>사용자 상호작용 검증을 통해 요청의 주체가 봇 또는  스크립트가 아닌 실제 사람임을 기술적으로 증명합니다</a:t>
            </a:r>
            <a:r>
              <a:rPr lang="en-US" altLang="ko-KR" sz="2666" b="0" i="0" u="none" strike="noStrike" dirty="0">
                <a:solidFill>
                  <a:srgbClr val="000000">
                    <a:alpha val="70196"/>
                  </a:srgbClr>
                </a:solidFill>
                <a:latin typeface="Pretendard Medium"/>
                <a:ea typeface="Pretendard Medium"/>
                <a:cs typeface="Pretendard Medium"/>
              </a:rPr>
              <a:t>.</a:t>
            </a:r>
            <a:endParaRPr lang="en-US" sz="2666" b="0" i="0" u="none" strike="noStrike" dirty="0">
              <a:solidFill>
                <a:srgbClr val="000000">
                  <a:alpha val="70196"/>
                </a:srgbClr>
              </a:solidFill>
              <a:latin typeface="Pretendard Medium"/>
              <a:ea typeface="Pretendard Medium"/>
              <a:cs typeface="Pretendard Medium"/>
            </a:endParaRPr>
          </a:p>
        </p:txBody>
      </p:sp>
      <p:pic>
        <p:nvPicPr>
          <p:cNvPr id="72" name="Picture 21">
            <a:extLst>
              <a:ext uri="{FF2B5EF4-FFF2-40B4-BE49-F238E27FC236}">
                <a16:creationId xmlns:a16="http://schemas.microsoft.com/office/drawing/2014/main" id="{AB2B0D5F-A79C-AFC1-1EE5-2145F1AEC2E6}"/>
              </a:ext>
            </a:extLst>
          </p:cNvPr>
          <p:cNvPicPr>
            <a:picLocks noChangeAspect="1"/>
          </p:cNvPicPr>
          <p:nvPr/>
        </p:nvPicPr>
        <p:blipFill>
          <a:blip r:embed="rId9"/>
          <a:stretch>
            <a:fillRect/>
          </a:stretch>
        </p:blipFill>
        <p:spPr>
          <a:xfrm>
            <a:off x="10045700" y="5943600"/>
            <a:ext cx="4381500" cy="4381500"/>
          </a:xfrm>
          <a:prstGeom prst="rect">
            <a:avLst/>
          </a:prstGeom>
          <a:effectLst>
            <a:outerShdw blurRad="109630" dist="168662" dir="2700000">
              <a:srgbClr val="C2C2C2">
                <a:alpha val="25000"/>
              </a:srgbClr>
            </a:outerShdw>
          </a:effectLst>
        </p:spPr>
      </p:pic>
      <p:pic>
        <p:nvPicPr>
          <p:cNvPr id="73" name="Picture 22">
            <a:extLst>
              <a:ext uri="{FF2B5EF4-FFF2-40B4-BE49-F238E27FC236}">
                <a16:creationId xmlns:a16="http://schemas.microsoft.com/office/drawing/2014/main" id="{51578EB0-F0A5-3927-286B-4B37FDB30317}"/>
              </a:ext>
            </a:extLst>
          </p:cNvPr>
          <p:cNvPicPr>
            <a:picLocks noChangeAspect="1"/>
          </p:cNvPicPr>
          <p:nvPr/>
        </p:nvPicPr>
        <p:blipFill>
          <a:blip r:embed="rId10"/>
          <a:stretch>
            <a:fillRect/>
          </a:stretch>
        </p:blipFill>
        <p:spPr>
          <a:xfrm>
            <a:off x="21590000" y="4470400"/>
            <a:ext cx="495300" cy="495300"/>
          </a:xfrm>
          <a:prstGeom prst="rect">
            <a:avLst/>
          </a:prstGeom>
          <a:effectLst>
            <a:outerShdw blurRad="24617" dist="18936" dir="2700000">
              <a:srgbClr val="C2C2C2">
                <a:alpha val="25000"/>
              </a:srgbClr>
            </a:outerShdw>
          </a:effectLst>
        </p:spPr>
      </p:pic>
      <p:pic>
        <p:nvPicPr>
          <p:cNvPr id="74" name="Picture 23">
            <a:extLst>
              <a:ext uri="{FF2B5EF4-FFF2-40B4-BE49-F238E27FC236}">
                <a16:creationId xmlns:a16="http://schemas.microsoft.com/office/drawing/2014/main" id="{48C37530-CF8D-93A5-FB88-8547EC821009}"/>
              </a:ext>
            </a:extLst>
          </p:cNvPr>
          <p:cNvPicPr>
            <a:picLocks noChangeAspect="1"/>
          </p:cNvPicPr>
          <p:nvPr/>
        </p:nvPicPr>
        <p:blipFill>
          <a:blip r:embed="rId11"/>
          <a:stretch>
            <a:fillRect/>
          </a:stretch>
        </p:blipFill>
        <p:spPr>
          <a:xfrm>
            <a:off x="21717000" y="4622800"/>
            <a:ext cx="266700" cy="203200"/>
          </a:xfrm>
          <a:prstGeom prst="rect">
            <a:avLst/>
          </a:prstGeom>
        </p:spPr>
      </p:pic>
      <p:pic>
        <p:nvPicPr>
          <p:cNvPr id="75" name="Picture 24">
            <a:extLst>
              <a:ext uri="{FF2B5EF4-FFF2-40B4-BE49-F238E27FC236}">
                <a16:creationId xmlns:a16="http://schemas.microsoft.com/office/drawing/2014/main" id="{8D8C0D83-CC18-134B-94CC-44F1885A2499}"/>
              </a:ext>
            </a:extLst>
          </p:cNvPr>
          <p:cNvPicPr>
            <a:picLocks noChangeAspect="1"/>
          </p:cNvPicPr>
          <p:nvPr/>
        </p:nvPicPr>
        <p:blipFill>
          <a:blip r:embed="rId12"/>
          <a:stretch>
            <a:fillRect/>
          </a:stretch>
        </p:blipFill>
        <p:spPr>
          <a:xfrm>
            <a:off x="21590000" y="8902700"/>
            <a:ext cx="495300" cy="495300"/>
          </a:xfrm>
          <a:prstGeom prst="rect">
            <a:avLst/>
          </a:prstGeom>
          <a:effectLst>
            <a:outerShdw blurRad="24617" dist="18936" dir="2700000">
              <a:srgbClr val="C2C2C2">
                <a:alpha val="25000"/>
              </a:srgbClr>
            </a:outerShdw>
          </a:effectLst>
        </p:spPr>
      </p:pic>
      <p:pic>
        <p:nvPicPr>
          <p:cNvPr id="76" name="Picture 25">
            <a:extLst>
              <a:ext uri="{FF2B5EF4-FFF2-40B4-BE49-F238E27FC236}">
                <a16:creationId xmlns:a16="http://schemas.microsoft.com/office/drawing/2014/main" id="{4EB6721A-7183-3ACC-516C-3AAFAC8FF761}"/>
              </a:ext>
            </a:extLst>
          </p:cNvPr>
          <p:cNvPicPr>
            <a:picLocks noChangeAspect="1"/>
          </p:cNvPicPr>
          <p:nvPr/>
        </p:nvPicPr>
        <p:blipFill>
          <a:blip r:embed="rId13"/>
          <a:stretch>
            <a:fillRect/>
          </a:stretch>
        </p:blipFill>
        <p:spPr>
          <a:xfrm>
            <a:off x="21717000" y="9067800"/>
            <a:ext cx="266700" cy="203200"/>
          </a:xfrm>
          <a:prstGeom prst="rect">
            <a:avLst/>
          </a:prstGeom>
        </p:spPr>
      </p:pic>
      <p:sp>
        <p:nvSpPr>
          <p:cNvPr id="77" name="TextBox 26">
            <a:extLst>
              <a:ext uri="{FF2B5EF4-FFF2-40B4-BE49-F238E27FC236}">
                <a16:creationId xmlns:a16="http://schemas.microsoft.com/office/drawing/2014/main" id="{9690D9D1-AC9C-6CC6-91D7-D941AE0191EF}"/>
              </a:ext>
            </a:extLst>
          </p:cNvPr>
          <p:cNvSpPr txBox="1"/>
          <p:nvPr/>
        </p:nvSpPr>
        <p:spPr>
          <a:xfrm>
            <a:off x="15062200" y="9194800"/>
            <a:ext cx="5511800" cy="571500"/>
          </a:xfrm>
          <a:prstGeom prst="rect">
            <a:avLst/>
          </a:prstGeom>
        </p:spPr>
        <p:txBody>
          <a:bodyPr lIns="0" tIns="0" rIns="0" bIns="0" rtlCol="0" anchor="t"/>
          <a:lstStyle/>
          <a:p>
            <a:pPr lvl="0" algn="ctr">
              <a:lnSpc>
                <a:spcPct val="116199"/>
              </a:lnSpc>
            </a:pPr>
            <a:r>
              <a:rPr lang="en-US" sz="3199" b="0" i="0" u="none" strike="noStrike" dirty="0">
                <a:solidFill>
                  <a:srgbClr val="000000"/>
                </a:solidFill>
                <a:latin typeface="Pretendard SemiBold"/>
                <a:ea typeface="Pretendard SemiBold"/>
                <a:cs typeface="Pretendard SemiBold"/>
              </a:rPr>
              <a:t>CSRF </a:t>
            </a:r>
            <a:r>
              <a:rPr lang="en-US" sz="3199" b="0" i="0" u="none" strike="noStrike" dirty="0" err="1">
                <a:solidFill>
                  <a:srgbClr val="000000"/>
                </a:solidFill>
                <a:latin typeface="Pretendard SemiBold"/>
                <a:ea typeface="Pretendard SemiBold"/>
                <a:cs typeface="Pretendard SemiBold"/>
              </a:rPr>
              <a:t>토큰</a:t>
            </a:r>
            <a:r>
              <a:rPr lang="en-US" sz="3199" b="0" i="0" u="none" strike="noStrike" dirty="0">
                <a:solidFill>
                  <a:srgbClr val="000000"/>
                </a:solidFill>
                <a:latin typeface="Pretendard SemiBold"/>
                <a:ea typeface="Pretendard SemiBold"/>
                <a:cs typeface="Pretendard SemiBold"/>
              </a:rPr>
              <a:t> 적용 및 검증</a:t>
            </a:r>
          </a:p>
        </p:txBody>
      </p:sp>
      <p:sp>
        <p:nvSpPr>
          <p:cNvPr id="78" name="TextBox 27">
            <a:extLst>
              <a:ext uri="{FF2B5EF4-FFF2-40B4-BE49-F238E27FC236}">
                <a16:creationId xmlns:a16="http://schemas.microsoft.com/office/drawing/2014/main" id="{AAAC83DC-D2F8-120F-8257-52DF5B5A68CE}"/>
              </a:ext>
            </a:extLst>
          </p:cNvPr>
          <p:cNvSpPr txBox="1"/>
          <p:nvPr/>
        </p:nvSpPr>
        <p:spPr>
          <a:xfrm>
            <a:off x="13792200" y="10337800"/>
            <a:ext cx="8356600" cy="1079500"/>
          </a:xfrm>
          <a:prstGeom prst="rect">
            <a:avLst/>
          </a:prstGeom>
        </p:spPr>
        <p:txBody>
          <a:bodyPr lIns="0" tIns="0" rIns="0" bIns="0" rtlCol="0" anchor="t"/>
          <a:lstStyle/>
          <a:p>
            <a:pPr lvl="0" algn="ctr">
              <a:lnSpc>
                <a:spcPct val="149400"/>
              </a:lnSpc>
            </a:pPr>
            <a:r>
              <a:rPr lang="en-US" sz="2666" b="0" i="0" u="none" strike="noStrike" dirty="0">
                <a:solidFill>
                  <a:srgbClr val="000000">
                    <a:alpha val="70196"/>
                  </a:srgbClr>
                </a:solidFill>
                <a:latin typeface="Pretendard Medium"/>
                <a:ea typeface="Pretendard Medium"/>
                <a:cs typeface="Pretendard Medium"/>
              </a:rPr>
              <a:t>CSRF </a:t>
            </a:r>
            <a:r>
              <a:rPr lang="en-US" sz="2666" b="0" i="0" u="none" strike="noStrike" dirty="0" err="1">
                <a:solidFill>
                  <a:srgbClr val="000000">
                    <a:alpha val="70196"/>
                  </a:srgbClr>
                </a:solidFill>
                <a:latin typeface="Pretendard Medium"/>
                <a:ea typeface="Pretendard Medium"/>
                <a:cs typeface="Pretendard Medium"/>
              </a:rPr>
              <a:t>토큰을</a:t>
            </a:r>
            <a:r>
              <a:rPr lang="en-US" sz="2666" b="0" i="0" u="none" strike="noStrike" dirty="0">
                <a:solidFill>
                  <a:srgbClr val="000000">
                    <a:alpha val="70196"/>
                  </a:srgbClr>
                </a:solidFill>
                <a:latin typeface="Pretendard Medium"/>
                <a:ea typeface="Pretendard Medium"/>
                <a:cs typeface="Pretendard Medium"/>
              </a:rPr>
              <a:t> </a:t>
            </a:r>
            <a:r>
              <a:rPr lang="en-US" sz="2666" b="0" i="0" u="none" strike="noStrike" dirty="0" err="1">
                <a:solidFill>
                  <a:srgbClr val="000000">
                    <a:alpha val="70196"/>
                  </a:srgbClr>
                </a:solidFill>
                <a:latin typeface="Pretendard Medium"/>
                <a:ea typeface="Pretendard Medium"/>
                <a:cs typeface="Pretendard Medium"/>
              </a:rPr>
              <a:t>발급하고</a:t>
            </a:r>
            <a:r>
              <a:rPr lang="en-US" sz="2666" b="0" i="0" u="none" strike="noStrike" dirty="0">
                <a:solidFill>
                  <a:srgbClr val="000000">
                    <a:alpha val="70196"/>
                  </a:srgbClr>
                </a:solidFill>
                <a:latin typeface="Pretendard Medium"/>
                <a:ea typeface="Pretendard Medium"/>
                <a:cs typeface="Pretendard Medium"/>
              </a:rPr>
              <a:t>, </a:t>
            </a:r>
            <a:r>
              <a:rPr lang="en-US" sz="2666" b="0" i="0" u="none" strike="noStrike" dirty="0" err="1">
                <a:solidFill>
                  <a:srgbClr val="000000">
                    <a:alpha val="70196"/>
                  </a:srgbClr>
                </a:solidFill>
                <a:latin typeface="Pretendard Medium"/>
                <a:ea typeface="Pretendard Medium"/>
                <a:cs typeface="Pretendard Medium"/>
              </a:rPr>
              <a:t>서버</a:t>
            </a:r>
            <a:r>
              <a:rPr lang="en-US" sz="2666" b="0" i="0" u="none" strike="noStrike" dirty="0">
                <a:solidFill>
                  <a:srgbClr val="000000">
                    <a:alpha val="70196"/>
                  </a:srgbClr>
                </a:solidFill>
                <a:latin typeface="Pretendard Medium"/>
                <a:ea typeface="Pretendard Medium"/>
                <a:cs typeface="Pretendard Medium"/>
              </a:rPr>
              <a:t> </a:t>
            </a:r>
            <a:r>
              <a:rPr lang="en-US" sz="2666" b="0" i="0" u="none" strike="noStrike" dirty="0" err="1">
                <a:solidFill>
                  <a:srgbClr val="000000">
                    <a:alpha val="70196"/>
                  </a:srgbClr>
                </a:solidFill>
                <a:latin typeface="Pretendard Medium"/>
                <a:ea typeface="Pretendard Medium"/>
                <a:cs typeface="Pretendard Medium"/>
              </a:rPr>
              <a:t>측에서</a:t>
            </a:r>
            <a:r>
              <a:rPr lang="en-US" sz="2666" b="0" i="0" u="none" strike="noStrike" dirty="0">
                <a:solidFill>
                  <a:srgbClr val="000000">
                    <a:alpha val="70196"/>
                  </a:srgbClr>
                </a:solidFill>
                <a:latin typeface="Pretendard Medium"/>
                <a:ea typeface="Pretendard Medium"/>
                <a:cs typeface="Pretendard Medium"/>
              </a:rPr>
              <a:t> </a:t>
            </a:r>
            <a:r>
              <a:rPr lang="en-US" sz="2666" b="0" i="0" u="none" strike="noStrike" dirty="0" err="1">
                <a:solidFill>
                  <a:srgbClr val="000000">
                    <a:alpha val="70196"/>
                  </a:srgbClr>
                </a:solidFill>
                <a:latin typeface="Pretendard Medium"/>
                <a:ea typeface="Pretendard Medium"/>
                <a:cs typeface="Pretendard Medium"/>
              </a:rPr>
              <a:t>토큰이</a:t>
            </a:r>
            <a:r>
              <a:rPr lang="en-US" sz="2666" b="0" i="0" u="none" strike="noStrike" dirty="0">
                <a:solidFill>
                  <a:srgbClr val="000000">
                    <a:alpha val="70196"/>
                  </a:srgbClr>
                </a:solidFill>
                <a:latin typeface="Pretendard Medium"/>
                <a:ea typeface="Pretendard Medium"/>
                <a:cs typeface="Pretendard Medium"/>
              </a:rPr>
              <a:t> </a:t>
            </a:r>
            <a:r>
              <a:rPr lang="en-US" sz="2666" b="0" i="0" u="none" strike="noStrike" dirty="0" err="1">
                <a:solidFill>
                  <a:srgbClr val="000000">
                    <a:alpha val="70196"/>
                  </a:srgbClr>
                </a:solidFill>
                <a:latin typeface="Pretendard Medium"/>
                <a:ea typeface="Pretendard Medium"/>
                <a:cs typeface="Pretendard Medium"/>
              </a:rPr>
              <a:t>누락되거나</a:t>
            </a:r>
            <a:r>
              <a:rPr lang="en-US" sz="2666" b="0" i="0" u="none" strike="noStrike" dirty="0">
                <a:solidFill>
                  <a:srgbClr val="000000">
                    <a:alpha val="70196"/>
                  </a:srgbClr>
                </a:solidFill>
                <a:latin typeface="Pretendard Medium"/>
                <a:ea typeface="Pretendard Medium"/>
                <a:cs typeface="Pretendard Medium"/>
              </a:rPr>
              <a:t> </a:t>
            </a:r>
            <a:r>
              <a:rPr lang="en-US" sz="2666" b="0" i="0" u="none" strike="noStrike" dirty="0" err="1">
                <a:solidFill>
                  <a:srgbClr val="000000">
                    <a:alpha val="70196"/>
                  </a:srgbClr>
                </a:solidFill>
                <a:latin typeface="Pretendard Medium"/>
                <a:ea typeface="Pretendard Medium"/>
                <a:cs typeface="Pretendard Medium"/>
              </a:rPr>
              <a:t>위조되었는지</a:t>
            </a:r>
            <a:r>
              <a:rPr lang="en-US" sz="2666" b="0" i="0" u="none" strike="noStrike" dirty="0">
                <a:solidFill>
                  <a:srgbClr val="000000">
                    <a:alpha val="70196"/>
                  </a:srgbClr>
                </a:solidFill>
                <a:latin typeface="Pretendard Medium"/>
                <a:ea typeface="Pretendard Medium"/>
                <a:cs typeface="Pretendard Medium"/>
              </a:rPr>
              <a:t> </a:t>
            </a:r>
            <a:r>
              <a:rPr lang="en-US" sz="2666" b="0" i="0" u="none" strike="noStrike" dirty="0" err="1">
                <a:solidFill>
                  <a:srgbClr val="000000">
                    <a:alpha val="70196"/>
                  </a:srgbClr>
                </a:solidFill>
                <a:latin typeface="Pretendard Medium"/>
                <a:ea typeface="Pretendard Medium"/>
                <a:cs typeface="Pretendard Medium"/>
              </a:rPr>
              <a:t>유효성을</a:t>
            </a:r>
            <a:r>
              <a:rPr lang="en-US" sz="2666" b="0" i="0" u="none" strike="noStrike" dirty="0">
                <a:solidFill>
                  <a:srgbClr val="000000">
                    <a:alpha val="70196"/>
                  </a:srgbClr>
                </a:solidFill>
                <a:latin typeface="Pretendard Medium"/>
                <a:ea typeface="Pretendard Medium"/>
                <a:cs typeface="Pretendard Medium"/>
              </a:rPr>
              <a:t> </a:t>
            </a:r>
            <a:r>
              <a:rPr lang="en-US" sz="2666" b="0" i="0" u="none" strike="noStrike" dirty="0" err="1">
                <a:solidFill>
                  <a:srgbClr val="000000">
                    <a:alpha val="70196"/>
                  </a:srgbClr>
                </a:solidFill>
                <a:latin typeface="Pretendard Medium"/>
                <a:ea typeface="Pretendard Medium"/>
                <a:cs typeface="Pretendard Medium"/>
              </a:rPr>
              <a:t>검증하여</a:t>
            </a:r>
            <a:r>
              <a:rPr lang="en-US" sz="2666" b="0" i="0" u="none" strike="noStrike" dirty="0">
                <a:solidFill>
                  <a:srgbClr val="000000">
                    <a:alpha val="70196"/>
                  </a:srgbClr>
                </a:solidFill>
                <a:latin typeface="Pretendard Medium"/>
                <a:ea typeface="Pretendard Medium"/>
                <a:cs typeface="Pretendard Medium"/>
              </a:rPr>
              <a:t> </a:t>
            </a:r>
            <a:r>
              <a:rPr lang="en-US" sz="2666" b="0" i="0" u="none" strike="noStrike" dirty="0" err="1">
                <a:solidFill>
                  <a:srgbClr val="000000">
                    <a:alpha val="70196"/>
                  </a:srgbClr>
                </a:solidFill>
                <a:latin typeface="Pretendard Medium"/>
                <a:ea typeface="Pretendard Medium"/>
                <a:cs typeface="Pretendard Medium"/>
              </a:rPr>
              <a:t>비정상적인</a:t>
            </a:r>
            <a:r>
              <a:rPr lang="en-US" sz="2666" b="0" i="0" u="none" strike="noStrike" dirty="0">
                <a:solidFill>
                  <a:srgbClr val="000000">
                    <a:alpha val="70196"/>
                  </a:srgbClr>
                </a:solidFill>
                <a:latin typeface="Pretendard Medium"/>
                <a:ea typeface="Pretendard Medium"/>
                <a:cs typeface="Pretendard Medium"/>
              </a:rPr>
              <a:t> </a:t>
            </a:r>
            <a:r>
              <a:rPr lang="en-US" sz="2666" b="0" i="0" u="none" strike="noStrike" dirty="0" err="1">
                <a:solidFill>
                  <a:srgbClr val="000000">
                    <a:alpha val="70196"/>
                  </a:srgbClr>
                </a:solidFill>
                <a:latin typeface="Pretendard Medium"/>
                <a:ea typeface="Pretendard Medium"/>
                <a:cs typeface="Pretendard Medium"/>
              </a:rPr>
              <a:t>요청을</a:t>
            </a:r>
            <a:r>
              <a:rPr lang="en-US" sz="2666" b="0" i="0" u="none" strike="noStrike" dirty="0">
                <a:solidFill>
                  <a:srgbClr val="000000">
                    <a:alpha val="70196"/>
                  </a:srgbClr>
                </a:solidFill>
                <a:latin typeface="Pretendard Medium"/>
                <a:ea typeface="Pretendard Medium"/>
                <a:cs typeface="Pretendard Medium"/>
              </a:rPr>
              <a:t> </a:t>
            </a:r>
            <a:r>
              <a:rPr lang="en-US" sz="2666" b="0" i="0" u="none" strike="noStrike" dirty="0" err="1">
                <a:solidFill>
                  <a:srgbClr val="000000">
                    <a:alpha val="70196"/>
                  </a:srgbClr>
                </a:solidFill>
                <a:latin typeface="Pretendard Medium"/>
                <a:ea typeface="Pretendard Medium"/>
                <a:cs typeface="Pretendard Medium"/>
              </a:rPr>
              <a:t>차단해야</a:t>
            </a:r>
            <a:r>
              <a:rPr lang="en-US" sz="2666" b="0" i="0" u="none" strike="noStrike" dirty="0">
                <a:solidFill>
                  <a:srgbClr val="000000">
                    <a:alpha val="70196"/>
                  </a:srgbClr>
                </a:solidFill>
                <a:latin typeface="Pretendard Medium"/>
                <a:ea typeface="Pretendard Medium"/>
                <a:cs typeface="Pretendard Medium"/>
              </a:rPr>
              <a:t> </a:t>
            </a:r>
            <a:r>
              <a:rPr lang="en-US" sz="2666" b="0" i="0" u="none" strike="noStrike" dirty="0" err="1">
                <a:solidFill>
                  <a:srgbClr val="000000">
                    <a:alpha val="70196"/>
                  </a:srgbClr>
                </a:solidFill>
                <a:latin typeface="Pretendard Medium"/>
                <a:ea typeface="Pretendard Medium"/>
                <a:cs typeface="Pretendard Medium"/>
              </a:rPr>
              <a:t>합니다</a:t>
            </a:r>
            <a:r>
              <a:rPr lang="en-US" sz="2666" b="0" i="0" u="none" strike="noStrike" dirty="0">
                <a:solidFill>
                  <a:srgbClr val="000000">
                    <a:alpha val="70196"/>
                  </a:srgbClr>
                </a:solidFill>
                <a:latin typeface="Pretendard Medium"/>
                <a:ea typeface="Pretendard Medium"/>
                <a:cs typeface="Pretendard Medium"/>
              </a:rPr>
              <a:t>.</a:t>
            </a:r>
          </a:p>
        </p:txBody>
      </p:sp>
      <p:sp>
        <p:nvSpPr>
          <p:cNvPr id="79" name="TextBox 28">
            <a:extLst>
              <a:ext uri="{FF2B5EF4-FFF2-40B4-BE49-F238E27FC236}">
                <a16:creationId xmlns:a16="http://schemas.microsoft.com/office/drawing/2014/main" id="{3B2861D5-AB86-627E-2B4B-518E32DBA693}"/>
              </a:ext>
            </a:extLst>
          </p:cNvPr>
          <p:cNvSpPr txBox="1"/>
          <p:nvPr/>
        </p:nvSpPr>
        <p:spPr>
          <a:xfrm>
            <a:off x="10858500" y="7467600"/>
            <a:ext cx="2743200" cy="1333500"/>
          </a:xfrm>
          <a:prstGeom prst="rect">
            <a:avLst/>
          </a:prstGeom>
        </p:spPr>
        <p:txBody>
          <a:bodyPr lIns="0" tIns="0" rIns="0" bIns="0" rtlCol="0" anchor="t"/>
          <a:lstStyle/>
          <a:p>
            <a:pPr lvl="0" algn="ctr">
              <a:lnSpc>
                <a:spcPct val="116199"/>
              </a:lnSpc>
            </a:pPr>
            <a:r>
              <a:rPr lang="en-US" sz="3733" b="0" i="0" u="none" strike="noStrike">
                <a:solidFill>
                  <a:srgbClr val="FFFFFF"/>
                </a:solidFill>
                <a:latin typeface="Pretendard SemiBold"/>
                <a:ea typeface="Pretendard SemiBold"/>
                <a:cs typeface="Pretendard SemiBold"/>
              </a:rPr>
              <a:t>CSRF</a:t>
            </a:r>
          </a:p>
          <a:p>
            <a:pPr lvl="0" algn="ctr">
              <a:lnSpc>
                <a:spcPct val="116199"/>
              </a:lnSpc>
            </a:pPr>
            <a:r>
              <a:rPr lang="en-US" sz="3733" b="0" i="0" u="none" strike="noStrike">
                <a:solidFill>
                  <a:srgbClr val="FFFFFF"/>
                </a:solidFill>
                <a:latin typeface="Pretendard SemiBold"/>
                <a:ea typeface="Pretendard SemiBold"/>
                <a:cs typeface="Pretendard SemiBold"/>
              </a:rPr>
              <a:t>(Web)</a:t>
            </a:r>
          </a:p>
        </p:txBody>
      </p:sp>
      <p:pic>
        <p:nvPicPr>
          <p:cNvPr id="80" name="Picture 35">
            <a:extLst>
              <a:ext uri="{FF2B5EF4-FFF2-40B4-BE49-F238E27FC236}">
                <a16:creationId xmlns:a16="http://schemas.microsoft.com/office/drawing/2014/main" id="{BA027EC2-33EA-1C0D-C6E8-53FF0930B605}"/>
              </a:ext>
            </a:extLst>
          </p:cNvPr>
          <p:cNvPicPr>
            <a:picLocks noChangeAspect="1"/>
          </p:cNvPicPr>
          <p:nvPr/>
        </p:nvPicPr>
        <p:blipFill>
          <a:blip r:embed="rId14"/>
          <a:stretch>
            <a:fillRect/>
          </a:stretch>
        </p:blipFill>
        <p:spPr>
          <a:xfrm>
            <a:off x="1485900" y="1612900"/>
            <a:ext cx="88900" cy="850900"/>
          </a:xfrm>
          <a:prstGeom prst="rect">
            <a:avLst/>
          </a:prstGeom>
        </p:spPr>
      </p:pic>
      <p:sp>
        <p:nvSpPr>
          <p:cNvPr id="81" name="TextBox 36">
            <a:extLst>
              <a:ext uri="{FF2B5EF4-FFF2-40B4-BE49-F238E27FC236}">
                <a16:creationId xmlns:a16="http://schemas.microsoft.com/office/drawing/2014/main" id="{9E782FFC-5E4A-E12B-E6D3-A08CAF1D4667}"/>
              </a:ext>
            </a:extLst>
          </p:cNvPr>
          <p:cNvSpPr txBox="1"/>
          <p:nvPr/>
        </p:nvSpPr>
        <p:spPr>
          <a:xfrm>
            <a:off x="1943100" y="1409700"/>
            <a:ext cx="106807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Web 보안 대책 - CSRF</a:t>
            </a:r>
          </a:p>
        </p:txBody>
      </p:sp>
      <p:sp>
        <p:nvSpPr>
          <p:cNvPr id="82" name="TextBox 27">
            <a:extLst>
              <a:ext uri="{FF2B5EF4-FFF2-40B4-BE49-F238E27FC236}">
                <a16:creationId xmlns:a16="http://schemas.microsoft.com/office/drawing/2014/main" id="{E1B68559-AA6D-D630-EAE3-A3C36CEC4862}"/>
              </a:ext>
            </a:extLst>
          </p:cNvPr>
          <p:cNvSpPr txBox="1"/>
          <p:nvPr/>
        </p:nvSpPr>
        <p:spPr>
          <a:xfrm>
            <a:off x="14435036" y="5783094"/>
            <a:ext cx="7124700" cy="1079500"/>
          </a:xfrm>
          <a:prstGeom prst="rect">
            <a:avLst/>
          </a:prstGeom>
        </p:spPr>
        <p:txBody>
          <a:bodyPr lIns="0" tIns="0" rIns="0" bIns="0" rtlCol="0" anchor="t"/>
          <a:lstStyle/>
          <a:p>
            <a:pPr lvl="0" algn="ctr">
              <a:lnSpc>
                <a:spcPct val="149400"/>
              </a:lnSpc>
            </a:pPr>
            <a:r>
              <a:rPr lang="ko-KR" altLang="en-US" sz="2666" b="0" i="0" u="none" strike="noStrike" dirty="0">
                <a:solidFill>
                  <a:srgbClr val="000000">
                    <a:alpha val="70196"/>
                  </a:srgbClr>
                </a:solidFill>
                <a:latin typeface="Pretendard Medium"/>
                <a:ea typeface="Pretendard Medium"/>
                <a:cs typeface="Pretendard Medium"/>
              </a:rPr>
              <a:t>중요 작업 시 </a:t>
            </a:r>
            <a:r>
              <a:rPr lang="en-US" altLang="ko-KR" sz="2666" b="0" i="0" u="none" strike="noStrike" dirty="0">
                <a:solidFill>
                  <a:srgbClr val="000000">
                    <a:alpha val="70196"/>
                  </a:srgbClr>
                </a:solidFill>
                <a:latin typeface="Pretendard Medium"/>
                <a:ea typeface="Pretendard Medium"/>
                <a:cs typeface="Pretendard Medium"/>
              </a:rPr>
              <a:t>OTP</a:t>
            </a:r>
            <a:r>
              <a:rPr lang="ko-KR" altLang="en-US" sz="2666" b="0" i="0" u="none" strike="noStrike" dirty="0">
                <a:solidFill>
                  <a:srgbClr val="000000">
                    <a:alpha val="70196"/>
                  </a:srgbClr>
                </a:solidFill>
                <a:latin typeface="Pretendard Medium"/>
                <a:ea typeface="Pretendard Medium"/>
                <a:cs typeface="Pretendard Medium"/>
              </a:rPr>
              <a:t>나 </a:t>
            </a:r>
            <a:r>
              <a:rPr lang="en-US" altLang="ko-KR" sz="2666" b="0" i="0" u="none" strike="noStrike" dirty="0">
                <a:solidFill>
                  <a:srgbClr val="000000">
                    <a:alpha val="70196"/>
                  </a:srgbClr>
                </a:solidFill>
                <a:latin typeface="Pretendard Medium"/>
                <a:ea typeface="Pretendard Medium"/>
                <a:cs typeface="Pretendard Medium"/>
              </a:rPr>
              <a:t>SMS </a:t>
            </a:r>
            <a:r>
              <a:rPr lang="ko-KR" altLang="en-US" sz="2666" b="0" i="0" u="none" strike="noStrike" dirty="0">
                <a:solidFill>
                  <a:srgbClr val="000000">
                    <a:alpha val="70196"/>
                  </a:srgbClr>
                </a:solidFill>
                <a:latin typeface="Pretendard Medium"/>
                <a:ea typeface="Pretendard Medium"/>
                <a:cs typeface="Pretendard Medium"/>
              </a:rPr>
              <a:t>인증 등 사용자의 추가 인증을 거쳐</a:t>
            </a:r>
            <a:r>
              <a:rPr lang="en-US" altLang="ko-KR" sz="2666" b="0" i="0" u="none" strike="noStrike" dirty="0">
                <a:solidFill>
                  <a:srgbClr val="000000">
                    <a:alpha val="70196"/>
                  </a:srgbClr>
                </a:solidFill>
                <a:latin typeface="Pretendard Medium"/>
                <a:ea typeface="Pretendard Medium"/>
                <a:cs typeface="Pretendard Medium"/>
              </a:rPr>
              <a:t>, </a:t>
            </a:r>
            <a:r>
              <a:rPr lang="ko-KR" altLang="en-US" sz="2666" b="0" i="0" u="none" strike="noStrike" dirty="0">
                <a:solidFill>
                  <a:srgbClr val="000000">
                    <a:alpha val="70196"/>
                  </a:srgbClr>
                </a:solidFill>
                <a:latin typeface="Pretendard Medium"/>
                <a:ea typeface="Pretendard Medium"/>
                <a:cs typeface="Pretendard Medium"/>
              </a:rPr>
              <a:t>공격을 원천적으로 무력화 시킵니다</a:t>
            </a:r>
            <a:r>
              <a:rPr lang="en-US" altLang="ko-KR" sz="2666" b="0" i="0" u="none" strike="noStrike" dirty="0">
                <a:solidFill>
                  <a:srgbClr val="000000">
                    <a:alpha val="70196"/>
                  </a:srgbClr>
                </a:solidFill>
                <a:latin typeface="Pretendard Medium"/>
                <a:ea typeface="Pretendard Medium"/>
                <a:cs typeface="Pretendard Medium"/>
              </a:rPr>
              <a:t>.</a:t>
            </a:r>
            <a:endParaRPr lang="en-US" sz="2666" b="0" i="0" u="none" strike="noStrike" dirty="0">
              <a:solidFill>
                <a:srgbClr val="000000">
                  <a:alpha val="70196"/>
                </a:srgbClr>
              </a:solidFill>
              <a:latin typeface="Pretendard Medium"/>
              <a:ea typeface="Pretendard Medium"/>
              <a:cs typeface="Pretendard Medium"/>
            </a:endParaRPr>
          </a:p>
        </p:txBody>
      </p:sp>
    </p:spTree>
    <p:extLst>
      <p:ext uri="{BB962C8B-B14F-4D97-AF65-F5344CB8AC3E}">
        <p14:creationId xmlns:p14="http://schemas.microsoft.com/office/powerpoint/2010/main" val="40175552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9" name="Picture 9"/>
          <p:cNvPicPr>
            <a:picLocks noChangeAspect="1"/>
          </p:cNvPicPr>
          <p:nvPr/>
        </p:nvPicPr>
        <p:blipFill>
          <a:blip r:embed="rId5"/>
          <a:stretch>
            <a:fillRect/>
          </a:stretch>
        </p:blipFill>
        <p:spPr>
          <a:xfrm>
            <a:off x="1485900" y="1612900"/>
            <a:ext cx="88900" cy="850900"/>
          </a:xfrm>
          <a:prstGeom prst="rect">
            <a:avLst/>
          </a:prstGeom>
        </p:spPr>
      </p:pic>
      <p:sp>
        <p:nvSpPr>
          <p:cNvPr id="10" name="TextBox 10"/>
          <p:cNvSpPr txBox="1"/>
          <p:nvPr/>
        </p:nvSpPr>
        <p:spPr>
          <a:xfrm>
            <a:off x="1943100" y="1409700"/>
            <a:ext cx="106807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App 진단 방법 - 위변조 탐지</a:t>
            </a:r>
          </a:p>
        </p:txBody>
      </p:sp>
      <p:pic>
        <p:nvPicPr>
          <p:cNvPr id="11" name="Picture 11"/>
          <p:cNvPicPr>
            <a:picLocks noChangeAspect="1"/>
          </p:cNvPicPr>
          <p:nvPr/>
        </p:nvPicPr>
        <p:blipFill>
          <a:blip r:embed="rId6"/>
          <a:stretch>
            <a:fillRect/>
          </a:stretch>
        </p:blipFill>
        <p:spPr>
          <a:xfrm>
            <a:off x="8610600" y="9156700"/>
            <a:ext cx="304800" cy="342900"/>
          </a:xfrm>
          <a:prstGeom prst="rect">
            <a:avLst/>
          </a:prstGeom>
        </p:spPr>
      </p:pic>
      <p:pic>
        <p:nvPicPr>
          <p:cNvPr id="12" name="Picture 12"/>
          <p:cNvPicPr>
            <a:picLocks noChangeAspect="1"/>
          </p:cNvPicPr>
          <p:nvPr/>
        </p:nvPicPr>
        <p:blipFill>
          <a:blip r:embed="rId7"/>
          <a:stretch>
            <a:fillRect/>
          </a:stretch>
        </p:blipFill>
        <p:spPr>
          <a:xfrm>
            <a:off x="12560300" y="3124200"/>
            <a:ext cx="9982200" cy="2032000"/>
          </a:xfrm>
          <a:prstGeom prst="rect">
            <a:avLst/>
          </a:prstGeom>
          <a:effectLst>
            <a:outerShdw blurRad="50918" dist="47002" dir="2700000">
              <a:srgbClr val="1A7AE1">
                <a:alpha val="15000"/>
              </a:srgbClr>
            </a:outerShdw>
          </a:effectLst>
        </p:spPr>
      </p:pic>
      <p:pic>
        <p:nvPicPr>
          <p:cNvPr id="13" name="Picture 13"/>
          <p:cNvPicPr>
            <a:picLocks noChangeAspect="1"/>
          </p:cNvPicPr>
          <p:nvPr/>
        </p:nvPicPr>
        <p:blipFill>
          <a:blip r:embed="rId8"/>
          <a:stretch>
            <a:fillRect/>
          </a:stretch>
        </p:blipFill>
        <p:spPr>
          <a:xfrm>
            <a:off x="12954000" y="3594100"/>
            <a:ext cx="1308100" cy="508000"/>
          </a:xfrm>
          <a:prstGeom prst="rect">
            <a:avLst/>
          </a:prstGeom>
        </p:spPr>
      </p:pic>
      <p:sp>
        <p:nvSpPr>
          <p:cNvPr id="14" name="TextBox 14"/>
          <p:cNvSpPr txBox="1"/>
          <p:nvPr/>
        </p:nvSpPr>
        <p:spPr>
          <a:xfrm>
            <a:off x="14478000" y="3594100"/>
            <a:ext cx="3327400" cy="520700"/>
          </a:xfrm>
          <a:prstGeom prst="rect">
            <a:avLst/>
          </a:prstGeom>
        </p:spPr>
        <p:txBody>
          <a:bodyPr lIns="0" tIns="0" rIns="0" bIns="0" rtlCol="0" anchor="t"/>
          <a:lstStyle/>
          <a:p>
            <a:pPr lvl="0" algn="l">
              <a:lnSpc>
                <a:spcPct val="116199"/>
              </a:lnSpc>
            </a:pPr>
            <a:r>
              <a:rPr lang="en-US" sz="2933" b="0" i="0" u="none" strike="noStrike">
                <a:solidFill>
                  <a:srgbClr val="FFFFFF"/>
                </a:solidFill>
                <a:latin typeface="Pretendard SemiBold"/>
                <a:ea typeface="Pretendard SemiBold"/>
                <a:cs typeface="Pretendard SemiBold"/>
              </a:rPr>
              <a:t>APK 디컴파일</a:t>
            </a:r>
          </a:p>
        </p:txBody>
      </p:sp>
      <p:sp>
        <p:nvSpPr>
          <p:cNvPr id="15" name="TextBox 15"/>
          <p:cNvSpPr txBox="1"/>
          <p:nvPr/>
        </p:nvSpPr>
        <p:spPr>
          <a:xfrm>
            <a:off x="14389100" y="4140200"/>
            <a:ext cx="7658100" cy="469900"/>
          </a:xfrm>
          <a:prstGeom prst="rect">
            <a:avLst/>
          </a:prstGeom>
        </p:spPr>
        <p:txBody>
          <a:bodyPr lIns="0" tIns="0" rIns="0" bIns="0" rtlCol="0" anchor="t"/>
          <a:lstStyle/>
          <a:p>
            <a:pPr lvl="0" algn="l">
              <a:lnSpc>
                <a:spcPct val="116199"/>
              </a:lnSpc>
            </a:pPr>
            <a:r>
              <a:rPr lang="en-US" sz="2666" b="0" i="0" u="none" strike="noStrike">
                <a:solidFill>
                  <a:srgbClr val="FFFFFF"/>
                </a:solidFill>
                <a:latin typeface="Pretendard Medium"/>
                <a:ea typeface="Pretendard Medium"/>
                <a:cs typeface="Pretendard Medium"/>
              </a:rPr>
              <a:t>JADX와 같은 디컴파일 도구를 활용하여 앱을 디컴파일</a:t>
            </a:r>
          </a:p>
        </p:txBody>
      </p:sp>
      <p:sp>
        <p:nvSpPr>
          <p:cNvPr id="16" name="TextBox 16"/>
          <p:cNvSpPr txBox="1"/>
          <p:nvPr/>
        </p:nvSpPr>
        <p:spPr>
          <a:xfrm>
            <a:off x="13131800" y="3670300"/>
            <a:ext cx="939800" cy="355600"/>
          </a:xfrm>
          <a:prstGeom prst="rect">
            <a:avLst/>
          </a:prstGeom>
        </p:spPr>
        <p:txBody>
          <a:bodyPr lIns="0" tIns="0" rIns="0" bIns="0" rtlCol="0" anchor="t"/>
          <a:lstStyle/>
          <a:p>
            <a:pPr lvl="0" algn="ctr">
              <a:lnSpc>
                <a:spcPct val="116199"/>
              </a:lnSpc>
            </a:pPr>
            <a:r>
              <a:rPr lang="en-US" sz="2000" b="0" i="0" u="none" strike="noStrike">
                <a:solidFill>
                  <a:srgbClr val="1A7AE1"/>
                </a:solidFill>
                <a:latin typeface="Geologica Roman Light"/>
                <a:ea typeface="Geologica Roman Light"/>
                <a:cs typeface="Geologica Roman Light"/>
              </a:rPr>
              <a:t>Step 1</a:t>
            </a:r>
          </a:p>
        </p:txBody>
      </p:sp>
      <p:sp>
        <p:nvSpPr>
          <p:cNvPr id="17" name="TextBox 17"/>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a:solidFill>
                  <a:srgbClr val="024EA0"/>
                </a:solidFill>
                <a:latin typeface="Geologica Roman Light"/>
                <a:ea typeface="Geologica Roman Light"/>
                <a:cs typeface="Geologica Roman Light"/>
              </a:rPr>
              <a:t>20</a:t>
            </a:r>
          </a:p>
        </p:txBody>
      </p:sp>
      <p:pic>
        <p:nvPicPr>
          <p:cNvPr id="18" name="Picture 18"/>
          <p:cNvPicPr>
            <a:picLocks noChangeAspect="1"/>
          </p:cNvPicPr>
          <p:nvPr/>
        </p:nvPicPr>
        <p:blipFill>
          <a:blip r:embed="rId9"/>
          <a:stretch>
            <a:fillRect/>
          </a:stretch>
        </p:blipFill>
        <p:spPr>
          <a:xfrm>
            <a:off x="1168400" y="2870200"/>
            <a:ext cx="11176000" cy="8432800"/>
          </a:xfrm>
          <a:prstGeom prst="rect">
            <a:avLst/>
          </a:prstGeom>
        </p:spPr>
      </p:pic>
      <p:sp>
        <p:nvSpPr>
          <p:cNvPr id="26" name="TextBox 14">
            <a:extLst>
              <a:ext uri="{FF2B5EF4-FFF2-40B4-BE49-F238E27FC236}">
                <a16:creationId xmlns:a16="http://schemas.microsoft.com/office/drawing/2014/main" id="{992B7A7F-26A3-2236-8E9E-1EEF53D473A9}"/>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7" name="TextBox 14">
            <a:extLst>
              <a:ext uri="{FF2B5EF4-FFF2-40B4-BE49-F238E27FC236}">
                <a16:creationId xmlns:a16="http://schemas.microsoft.com/office/drawing/2014/main" id="{58580381-6D26-1FC0-BF33-9C89CF1A5BD0}"/>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34" name="Picture 12">
            <a:extLst>
              <a:ext uri="{FF2B5EF4-FFF2-40B4-BE49-F238E27FC236}">
                <a16:creationId xmlns:a16="http://schemas.microsoft.com/office/drawing/2014/main" id="{3E77AD95-2E1F-D829-F56C-6ACF1601C826}"/>
              </a:ext>
            </a:extLst>
          </p:cNvPr>
          <p:cNvPicPr>
            <a:picLocks noChangeAspect="1"/>
          </p:cNvPicPr>
          <p:nvPr/>
        </p:nvPicPr>
        <p:blipFill>
          <a:blip r:embed="rId10">
            <a:alphaModFix amt="85000"/>
          </a:blip>
          <a:stretch>
            <a:fillRect/>
          </a:stretch>
        </p:blipFill>
        <p:spPr>
          <a:xfrm>
            <a:off x="9118600" y="571500"/>
            <a:ext cx="1993900" cy="444500"/>
          </a:xfrm>
          <a:prstGeom prst="rect">
            <a:avLst/>
          </a:prstGeom>
        </p:spPr>
      </p:pic>
      <p:sp>
        <p:nvSpPr>
          <p:cNvPr id="35" name="TextBox 13">
            <a:extLst>
              <a:ext uri="{FF2B5EF4-FFF2-40B4-BE49-F238E27FC236}">
                <a16:creationId xmlns:a16="http://schemas.microsoft.com/office/drawing/2014/main" id="{11AB0BD1-4772-A116-CF18-5DE16671C5BA}"/>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36" name="TextBox 15">
            <a:extLst>
              <a:ext uri="{FF2B5EF4-FFF2-40B4-BE49-F238E27FC236}">
                <a16:creationId xmlns:a16="http://schemas.microsoft.com/office/drawing/2014/main" id="{BFB114AD-5F50-350B-EAD9-75E4A6DF1E57}"/>
              </a:ext>
            </a:extLst>
          </p:cNvPr>
          <p:cNvSpPr txBox="1"/>
          <p:nvPr/>
        </p:nvSpPr>
        <p:spPr>
          <a:xfrm>
            <a:off x="11353800" y="457200"/>
            <a:ext cx="25273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시나리오</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모의해킹</a:t>
            </a:r>
            <a:endParaRPr lang="en-US" sz="2666" b="0" i="0" u="none" strike="noStrike" spc="-100" dirty="0">
              <a:solidFill>
                <a:srgbClr val="C2C2C2"/>
              </a:solidFill>
              <a:latin typeface="Pretendard SemiBold"/>
              <a:ea typeface="Pretendard SemiBold"/>
              <a:cs typeface="Pretendard SemiBold"/>
            </a:endParaRPr>
          </a:p>
        </p:txBody>
      </p:sp>
      <p:sp>
        <p:nvSpPr>
          <p:cNvPr id="37" name="TextBox 16">
            <a:extLst>
              <a:ext uri="{FF2B5EF4-FFF2-40B4-BE49-F238E27FC236}">
                <a16:creationId xmlns:a16="http://schemas.microsoft.com/office/drawing/2014/main" id="{0408F754-2742-5741-D3E8-C21E62F1FC2B}"/>
              </a:ext>
            </a:extLst>
          </p:cNvPr>
          <p:cNvSpPr txBox="1"/>
          <p:nvPr/>
        </p:nvSpPr>
        <p:spPr>
          <a:xfrm>
            <a:off x="14097000" y="4699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38" name="TextBox 17">
            <a:extLst>
              <a:ext uri="{FF2B5EF4-FFF2-40B4-BE49-F238E27FC236}">
                <a16:creationId xmlns:a16="http://schemas.microsoft.com/office/drawing/2014/main" id="{59666568-69A5-37C9-09AD-84A49787BE32}"/>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개발 및 진단</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9" name="Picture 9"/>
          <p:cNvPicPr>
            <a:picLocks noChangeAspect="1"/>
          </p:cNvPicPr>
          <p:nvPr/>
        </p:nvPicPr>
        <p:blipFill>
          <a:blip r:embed="rId5"/>
          <a:stretch>
            <a:fillRect/>
          </a:stretch>
        </p:blipFill>
        <p:spPr>
          <a:xfrm>
            <a:off x="1485900" y="1612900"/>
            <a:ext cx="88900" cy="850900"/>
          </a:xfrm>
          <a:prstGeom prst="rect">
            <a:avLst/>
          </a:prstGeom>
        </p:spPr>
      </p:pic>
      <p:pic>
        <p:nvPicPr>
          <p:cNvPr id="10" name="Picture 10"/>
          <p:cNvPicPr>
            <a:picLocks noChangeAspect="1"/>
          </p:cNvPicPr>
          <p:nvPr/>
        </p:nvPicPr>
        <p:blipFill>
          <a:blip r:embed="rId6"/>
          <a:stretch>
            <a:fillRect/>
          </a:stretch>
        </p:blipFill>
        <p:spPr>
          <a:xfrm>
            <a:off x="8610600" y="9156700"/>
            <a:ext cx="304800" cy="342900"/>
          </a:xfrm>
          <a:prstGeom prst="rect">
            <a:avLst/>
          </a:prstGeom>
        </p:spPr>
      </p:pic>
      <p:pic>
        <p:nvPicPr>
          <p:cNvPr id="11" name="Picture 11"/>
          <p:cNvPicPr>
            <a:picLocks noChangeAspect="1"/>
          </p:cNvPicPr>
          <p:nvPr/>
        </p:nvPicPr>
        <p:blipFill>
          <a:blip r:embed="rId7"/>
          <a:stretch>
            <a:fillRect/>
          </a:stretch>
        </p:blipFill>
        <p:spPr>
          <a:xfrm>
            <a:off x="12560300" y="3124200"/>
            <a:ext cx="9982200" cy="2032000"/>
          </a:xfrm>
          <a:prstGeom prst="rect">
            <a:avLst/>
          </a:prstGeom>
          <a:effectLst>
            <a:outerShdw blurRad="50918" dist="47002" dir="2700000">
              <a:srgbClr val="1A7AE1">
                <a:alpha val="15000"/>
              </a:srgbClr>
            </a:outerShdw>
          </a:effectLst>
        </p:spPr>
      </p:pic>
      <p:pic>
        <p:nvPicPr>
          <p:cNvPr id="12" name="Picture 12"/>
          <p:cNvPicPr>
            <a:picLocks noChangeAspect="1"/>
          </p:cNvPicPr>
          <p:nvPr/>
        </p:nvPicPr>
        <p:blipFill>
          <a:blip r:embed="rId8"/>
          <a:stretch>
            <a:fillRect/>
          </a:stretch>
        </p:blipFill>
        <p:spPr>
          <a:xfrm>
            <a:off x="12954000" y="3594100"/>
            <a:ext cx="1308100" cy="508000"/>
          </a:xfrm>
          <a:prstGeom prst="rect">
            <a:avLst/>
          </a:prstGeom>
        </p:spPr>
      </p:pic>
      <p:sp>
        <p:nvSpPr>
          <p:cNvPr id="13" name="TextBox 13"/>
          <p:cNvSpPr txBox="1"/>
          <p:nvPr/>
        </p:nvSpPr>
        <p:spPr>
          <a:xfrm>
            <a:off x="14478000" y="3594100"/>
            <a:ext cx="3327400" cy="520700"/>
          </a:xfrm>
          <a:prstGeom prst="rect">
            <a:avLst/>
          </a:prstGeom>
        </p:spPr>
        <p:txBody>
          <a:bodyPr lIns="0" tIns="0" rIns="0" bIns="0" rtlCol="0" anchor="t"/>
          <a:lstStyle/>
          <a:p>
            <a:pPr lvl="0" algn="l">
              <a:lnSpc>
                <a:spcPct val="116199"/>
              </a:lnSpc>
            </a:pPr>
            <a:r>
              <a:rPr lang="en-US" sz="2933" b="0" i="0" u="none" strike="noStrike">
                <a:solidFill>
                  <a:srgbClr val="000000"/>
                </a:solidFill>
                <a:latin typeface="Pretendard SemiBold"/>
                <a:ea typeface="Pretendard SemiBold"/>
                <a:cs typeface="Pretendard SemiBold"/>
              </a:rPr>
              <a:t>APK 디컴파일</a:t>
            </a:r>
          </a:p>
        </p:txBody>
      </p:sp>
      <p:sp>
        <p:nvSpPr>
          <p:cNvPr id="14" name="TextBox 14"/>
          <p:cNvSpPr txBox="1"/>
          <p:nvPr/>
        </p:nvSpPr>
        <p:spPr>
          <a:xfrm>
            <a:off x="14389100" y="4140200"/>
            <a:ext cx="7340600" cy="469900"/>
          </a:xfrm>
          <a:prstGeom prst="rect">
            <a:avLst/>
          </a:prstGeom>
        </p:spPr>
        <p:txBody>
          <a:bodyPr lIns="0" tIns="0" rIns="0" bIns="0" rtlCol="0" anchor="t"/>
          <a:lstStyle/>
          <a:p>
            <a:pPr lvl="0" algn="l">
              <a:lnSpc>
                <a:spcPct val="116199"/>
              </a:lnSpc>
            </a:pPr>
            <a:r>
              <a:rPr lang="en-US" sz="2666" b="0" i="0" u="none" strike="noStrike">
                <a:solidFill>
                  <a:srgbClr val="000000"/>
                </a:solidFill>
                <a:latin typeface="Pretendard Medium"/>
                <a:ea typeface="Pretendard Medium"/>
                <a:cs typeface="Pretendard Medium"/>
              </a:rPr>
              <a:t>JADX와 같은 디컴파일 도구를 활용하여 앱을 디컴파일</a:t>
            </a:r>
          </a:p>
        </p:txBody>
      </p:sp>
      <p:sp>
        <p:nvSpPr>
          <p:cNvPr id="15" name="TextBox 15"/>
          <p:cNvSpPr txBox="1"/>
          <p:nvPr/>
        </p:nvSpPr>
        <p:spPr>
          <a:xfrm>
            <a:off x="13131800" y="3670300"/>
            <a:ext cx="939800" cy="355600"/>
          </a:xfrm>
          <a:prstGeom prst="rect">
            <a:avLst/>
          </a:prstGeom>
        </p:spPr>
        <p:txBody>
          <a:bodyPr lIns="0" tIns="0" rIns="0" bIns="0" rtlCol="0" anchor="t"/>
          <a:lstStyle/>
          <a:p>
            <a:pPr lvl="0" algn="ctr">
              <a:lnSpc>
                <a:spcPct val="116199"/>
              </a:lnSpc>
            </a:pPr>
            <a:r>
              <a:rPr lang="en-US" sz="2000" b="0" i="0" u="none" strike="noStrike">
                <a:solidFill>
                  <a:srgbClr val="FFFFFF"/>
                </a:solidFill>
                <a:latin typeface="Geologica Roman Light"/>
                <a:ea typeface="Geologica Roman Light"/>
                <a:cs typeface="Geologica Roman Light"/>
              </a:rPr>
              <a:t>Step 1</a:t>
            </a:r>
          </a:p>
        </p:txBody>
      </p:sp>
      <p:sp>
        <p:nvSpPr>
          <p:cNvPr id="16" name="TextBox 16"/>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a:solidFill>
                  <a:srgbClr val="024EA0"/>
                </a:solidFill>
                <a:latin typeface="Geologica Roman Light"/>
                <a:ea typeface="Geologica Roman Light"/>
                <a:cs typeface="Geologica Roman Light"/>
              </a:rPr>
              <a:t>21</a:t>
            </a:r>
          </a:p>
        </p:txBody>
      </p:sp>
      <p:pic>
        <p:nvPicPr>
          <p:cNvPr id="17" name="Picture 17"/>
          <p:cNvPicPr>
            <a:picLocks noChangeAspect="1"/>
          </p:cNvPicPr>
          <p:nvPr/>
        </p:nvPicPr>
        <p:blipFill>
          <a:blip r:embed="rId9"/>
          <a:stretch>
            <a:fillRect/>
          </a:stretch>
        </p:blipFill>
        <p:spPr>
          <a:xfrm>
            <a:off x="12560300" y="5486400"/>
            <a:ext cx="9982200" cy="2032000"/>
          </a:xfrm>
          <a:prstGeom prst="rect">
            <a:avLst/>
          </a:prstGeom>
          <a:effectLst>
            <a:outerShdw blurRad="50918" dist="47002" dir="2700000">
              <a:srgbClr val="1A7AE1">
                <a:alpha val="15000"/>
              </a:srgbClr>
            </a:outerShdw>
          </a:effectLst>
        </p:spPr>
      </p:pic>
      <p:pic>
        <p:nvPicPr>
          <p:cNvPr id="18" name="Picture 18"/>
          <p:cNvPicPr>
            <a:picLocks noChangeAspect="1"/>
          </p:cNvPicPr>
          <p:nvPr/>
        </p:nvPicPr>
        <p:blipFill>
          <a:blip r:embed="rId10"/>
          <a:stretch>
            <a:fillRect/>
          </a:stretch>
        </p:blipFill>
        <p:spPr>
          <a:xfrm>
            <a:off x="13042900" y="5969000"/>
            <a:ext cx="1308100" cy="508000"/>
          </a:xfrm>
          <a:prstGeom prst="rect">
            <a:avLst/>
          </a:prstGeom>
        </p:spPr>
      </p:pic>
      <p:sp>
        <p:nvSpPr>
          <p:cNvPr id="19" name="TextBox 19"/>
          <p:cNvSpPr txBox="1"/>
          <p:nvPr/>
        </p:nvSpPr>
        <p:spPr>
          <a:xfrm>
            <a:off x="14478000" y="5969000"/>
            <a:ext cx="5740400" cy="520700"/>
          </a:xfrm>
          <a:prstGeom prst="rect">
            <a:avLst/>
          </a:prstGeom>
        </p:spPr>
        <p:txBody>
          <a:bodyPr lIns="0" tIns="0" rIns="0" bIns="0" rtlCol="0" anchor="t"/>
          <a:lstStyle/>
          <a:p>
            <a:pPr lvl="0" algn="l">
              <a:lnSpc>
                <a:spcPct val="116199"/>
              </a:lnSpc>
            </a:pPr>
            <a:r>
              <a:rPr lang="en-US" sz="2933" b="0" i="0" u="none" strike="noStrike">
                <a:solidFill>
                  <a:srgbClr val="FFFFFF"/>
                </a:solidFill>
                <a:latin typeface="Pretendard SemiBold"/>
                <a:ea typeface="Pretendard SemiBold"/>
                <a:cs typeface="Pretendard SemiBold"/>
              </a:rPr>
              <a:t>소스코드 변조 및 재패키징/재서명</a:t>
            </a:r>
          </a:p>
        </p:txBody>
      </p:sp>
      <p:sp>
        <p:nvSpPr>
          <p:cNvPr id="20" name="TextBox 20"/>
          <p:cNvSpPr txBox="1"/>
          <p:nvPr/>
        </p:nvSpPr>
        <p:spPr>
          <a:xfrm>
            <a:off x="13220700" y="6032500"/>
            <a:ext cx="939800" cy="355600"/>
          </a:xfrm>
          <a:prstGeom prst="rect">
            <a:avLst/>
          </a:prstGeom>
        </p:spPr>
        <p:txBody>
          <a:bodyPr lIns="0" tIns="0" rIns="0" bIns="0" rtlCol="0" anchor="t"/>
          <a:lstStyle/>
          <a:p>
            <a:pPr lvl="0" algn="ctr">
              <a:lnSpc>
                <a:spcPct val="116199"/>
              </a:lnSpc>
            </a:pPr>
            <a:r>
              <a:rPr lang="en-US" sz="2000" b="0" i="0" u="none" strike="noStrike">
                <a:solidFill>
                  <a:srgbClr val="1A7AE1"/>
                </a:solidFill>
                <a:latin typeface="Geologica Roman Light"/>
                <a:ea typeface="Geologica Roman Light"/>
                <a:cs typeface="Geologica Roman Light"/>
              </a:rPr>
              <a:t>Step 2</a:t>
            </a:r>
          </a:p>
        </p:txBody>
      </p:sp>
      <p:sp>
        <p:nvSpPr>
          <p:cNvPr id="21" name="TextBox 21"/>
          <p:cNvSpPr txBox="1"/>
          <p:nvPr/>
        </p:nvSpPr>
        <p:spPr>
          <a:xfrm>
            <a:off x="14490700" y="6515100"/>
            <a:ext cx="7874000" cy="952500"/>
          </a:xfrm>
          <a:prstGeom prst="rect">
            <a:avLst/>
          </a:prstGeom>
        </p:spPr>
        <p:txBody>
          <a:bodyPr lIns="0" tIns="0" rIns="0" bIns="0" rtlCol="0" anchor="t"/>
          <a:lstStyle/>
          <a:p>
            <a:pPr lvl="0" algn="l">
              <a:lnSpc>
                <a:spcPct val="116199"/>
              </a:lnSpc>
            </a:pPr>
            <a:r>
              <a:rPr lang="en-US" sz="2666" b="0" i="0" u="none" strike="noStrike">
                <a:solidFill>
                  <a:srgbClr val="FFFFFF"/>
                </a:solidFill>
                <a:latin typeface="Pretendard Medium"/>
                <a:ea typeface="Pretendard Medium"/>
                <a:cs typeface="Pretendard Medium"/>
              </a:rPr>
              <a:t>앱 내의 리소스를 수정하여 변조 가능성을 확인하고,</a:t>
            </a:r>
          </a:p>
          <a:p>
            <a:pPr lvl="0" algn="l">
              <a:lnSpc>
                <a:spcPct val="116199"/>
              </a:lnSpc>
            </a:pPr>
            <a:r>
              <a:rPr lang="en-US" sz="2666" b="0" i="0" u="none" strike="noStrike">
                <a:solidFill>
                  <a:srgbClr val="FFFFFF"/>
                </a:solidFill>
                <a:latin typeface="Pretendard Medium"/>
                <a:ea typeface="Pretendard Medium"/>
                <a:cs typeface="Pretendard Medium"/>
              </a:rPr>
              <a:t>수정된 APK를 재빌드 및 재서명</a:t>
            </a:r>
          </a:p>
        </p:txBody>
      </p:sp>
      <p:pic>
        <p:nvPicPr>
          <p:cNvPr id="22" name="Picture 22"/>
          <p:cNvPicPr>
            <a:picLocks noChangeAspect="1"/>
          </p:cNvPicPr>
          <p:nvPr/>
        </p:nvPicPr>
        <p:blipFill>
          <a:blip r:embed="rId11"/>
          <a:stretch>
            <a:fillRect/>
          </a:stretch>
        </p:blipFill>
        <p:spPr>
          <a:xfrm>
            <a:off x="1524000" y="3136900"/>
            <a:ext cx="10502900" cy="7112000"/>
          </a:xfrm>
          <a:prstGeom prst="rect">
            <a:avLst/>
          </a:prstGeom>
          <a:effectLst>
            <a:outerShdw blurRad="391371" dist="164212" dir="2700000">
              <a:srgbClr val="000000">
                <a:alpha val="23000"/>
              </a:srgbClr>
            </a:outerShdw>
          </a:effectLst>
        </p:spPr>
      </p:pic>
      <p:pic>
        <p:nvPicPr>
          <p:cNvPr id="29" name="Picture 29"/>
          <p:cNvPicPr>
            <a:picLocks noChangeAspect="1"/>
          </p:cNvPicPr>
          <p:nvPr/>
        </p:nvPicPr>
        <p:blipFill>
          <a:blip r:embed="rId12"/>
          <a:stretch>
            <a:fillRect/>
          </a:stretch>
        </p:blipFill>
        <p:spPr>
          <a:xfrm>
            <a:off x="1485900" y="1612900"/>
            <a:ext cx="88900" cy="850900"/>
          </a:xfrm>
          <a:prstGeom prst="rect">
            <a:avLst/>
          </a:prstGeom>
        </p:spPr>
      </p:pic>
      <p:sp>
        <p:nvSpPr>
          <p:cNvPr id="30" name="TextBox 30"/>
          <p:cNvSpPr txBox="1"/>
          <p:nvPr/>
        </p:nvSpPr>
        <p:spPr>
          <a:xfrm>
            <a:off x="1943100" y="1409700"/>
            <a:ext cx="106807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App 진단 방법 - 위변조 탐지</a:t>
            </a:r>
          </a:p>
        </p:txBody>
      </p:sp>
      <p:sp>
        <p:nvSpPr>
          <p:cNvPr id="34" name="TextBox 14">
            <a:extLst>
              <a:ext uri="{FF2B5EF4-FFF2-40B4-BE49-F238E27FC236}">
                <a16:creationId xmlns:a16="http://schemas.microsoft.com/office/drawing/2014/main" id="{B7D1FB06-004E-A66A-DC3A-1A51317FD5AC}"/>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35" name="TextBox 14">
            <a:extLst>
              <a:ext uri="{FF2B5EF4-FFF2-40B4-BE49-F238E27FC236}">
                <a16:creationId xmlns:a16="http://schemas.microsoft.com/office/drawing/2014/main" id="{6CC4967A-8D48-B5EA-C633-4A95A0761B93}"/>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42" name="Picture 12">
            <a:extLst>
              <a:ext uri="{FF2B5EF4-FFF2-40B4-BE49-F238E27FC236}">
                <a16:creationId xmlns:a16="http://schemas.microsoft.com/office/drawing/2014/main" id="{04AB0F86-9671-60FF-D45F-1E5AAB06ABFF}"/>
              </a:ext>
            </a:extLst>
          </p:cNvPr>
          <p:cNvPicPr>
            <a:picLocks noChangeAspect="1"/>
          </p:cNvPicPr>
          <p:nvPr/>
        </p:nvPicPr>
        <p:blipFill>
          <a:blip r:embed="rId13">
            <a:alphaModFix amt="85000"/>
          </a:blip>
          <a:stretch>
            <a:fillRect/>
          </a:stretch>
        </p:blipFill>
        <p:spPr>
          <a:xfrm>
            <a:off x="9118600" y="571500"/>
            <a:ext cx="1993900" cy="444500"/>
          </a:xfrm>
          <a:prstGeom prst="rect">
            <a:avLst/>
          </a:prstGeom>
        </p:spPr>
      </p:pic>
      <p:sp>
        <p:nvSpPr>
          <p:cNvPr id="43" name="TextBox 13">
            <a:extLst>
              <a:ext uri="{FF2B5EF4-FFF2-40B4-BE49-F238E27FC236}">
                <a16:creationId xmlns:a16="http://schemas.microsoft.com/office/drawing/2014/main" id="{37ECD566-9695-DA65-D437-B0E44EDC1F07}"/>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44" name="TextBox 15">
            <a:extLst>
              <a:ext uri="{FF2B5EF4-FFF2-40B4-BE49-F238E27FC236}">
                <a16:creationId xmlns:a16="http://schemas.microsoft.com/office/drawing/2014/main" id="{B6293C09-7C8E-6BD4-4A9C-9DF53D973B2B}"/>
              </a:ext>
            </a:extLst>
          </p:cNvPr>
          <p:cNvSpPr txBox="1"/>
          <p:nvPr/>
        </p:nvSpPr>
        <p:spPr>
          <a:xfrm>
            <a:off x="11353800" y="457200"/>
            <a:ext cx="25273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시나리오</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모의해킹</a:t>
            </a:r>
            <a:endParaRPr lang="en-US" sz="2666" b="0" i="0" u="none" strike="noStrike" spc="-100" dirty="0">
              <a:solidFill>
                <a:srgbClr val="C2C2C2"/>
              </a:solidFill>
              <a:latin typeface="Pretendard SemiBold"/>
              <a:ea typeface="Pretendard SemiBold"/>
              <a:cs typeface="Pretendard SemiBold"/>
            </a:endParaRPr>
          </a:p>
        </p:txBody>
      </p:sp>
      <p:sp>
        <p:nvSpPr>
          <p:cNvPr id="45" name="TextBox 16">
            <a:extLst>
              <a:ext uri="{FF2B5EF4-FFF2-40B4-BE49-F238E27FC236}">
                <a16:creationId xmlns:a16="http://schemas.microsoft.com/office/drawing/2014/main" id="{D151D996-06E2-1071-21B0-B4DD70B72AB8}"/>
              </a:ext>
            </a:extLst>
          </p:cNvPr>
          <p:cNvSpPr txBox="1"/>
          <p:nvPr/>
        </p:nvSpPr>
        <p:spPr>
          <a:xfrm>
            <a:off x="14097000" y="4699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46" name="TextBox 17">
            <a:extLst>
              <a:ext uri="{FF2B5EF4-FFF2-40B4-BE49-F238E27FC236}">
                <a16:creationId xmlns:a16="http://schemas.microsoft.com/office/drawing/2014/main" id="{0B5083DC-5C5C-BBF5-253D-C818EB477A88}"/>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개발 및 진단</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9" name="Picture 9"/>
          <p:cNvPicPr>
            <a:picLocks noChangeAspect="1"/>
          </p:cNvPicPr>
          <p:nvPr/>
        </p:nvPicPr>
        <p:blipFill>
          <a:blip r:embed="rId5"/>
          <a:stretch>
            <a:fillRect/>
          </a:stretch>
        </p:blipFill>
        <p:spPr>
          <a:xfrm>
            <a:off x="1485900" y="1612900"/>
            <a:ext cx="88900" cy="850900"/>
          </a:xfrm>
          <a:prstGeom prst="rect">
            <a:avLst/>
          </a:prstGeom>
        </p:spPr>
      </p:pic>
      <p:pic>
        <p:nvPicPr>
          <p:cNvPr id="10" name="Picture 10"/>
          <p:cNvPicPr>
            <a:picLocks noChangeAspect="1"/>
          </p:cNvPicPr>
          <p:nvPr/>
        </p:nvPicPr>
        <p:blipFill>
          <a:blip r:embed="rId6"/>
          <a:stretch>
            <a:fillRect/>
          </a:stretch>
        </p:blipFill>
        <p:spPr>
          <a:xfrm>
            <a:off x="12560300" y="3124200"/>
            <a:ext cx="9982200" cy="2032000"/>
          </a:xfrm>
          <a:prstGeom prst="rect">
            <a:avLst/>
          </a:prstGeom>
          <a:effectLst>
            <a:outerShdw blurRad="50918" dist="47002" dir="2700000">
              <a:srgbClr val="1A7AE1">
                <a:alpha val="15000"/>
              </a:srgbClr>
            </a:outerShdw>
          </a:effectLst>
        </p:spPr>
      </p:pic>
      <p:pic>
        <p:nvPicPr>
          <p:cNvPr id="11" name="Picture 11"/>
          <p:cNvPicPr>
            <a:picLocks noChangeAspect="1"/>
          </p:cNvPicPr>
          <p:nvPr/>
        </p:nvPicPr>
        <p:blipFill>
          <a:blip r:embed="rId7"/>
          <a:stretch>
            <a:fillRect/>
          </a:stretch>
        </p:blipFill>
        <p:spPr>
          <a:xfrm>
            <a:off x="12954000" y="3594100"/>
            <a:ext cx="1308100" cy="508000"/>
          </a:xfrm>
          <a:prstGeom prst="rect">
            <a:avLst/>
          </a:prstGeom>
        </p:spPr>
      </p:pic>
      <p:sp>
        <p:nvSpPr>
          <p:cNvPr id="12" name="TextBox 12"/>
          <p:cNvSpPr txBox="1"/>
          <p:nvPr/>
        </p:nvSpPr>
        <p:spPr>
          <a:xfrm>
            <a:off x="14478000" y="3594100"/>
            <a:ext cx="3327400" cy="520700"/>
          </a:xfrm>
          <a:prstGeom prst="rect">
            <a:avLst/>
          </a:prstGeom>
        </p:spPr>
        <p:txBody>
          <a:bodyPr lIns="0" tIns="0" rIns="0" bIns="0" rtlCol="0" anchor="t"/>
          <a:lstStyle/>
          <a:p>
            <a:pPr lvl="0" algn="l">
              <a:lnSpc>
                <a:spcPct val="116199"/>
              </a:lnSpc>
            </a:pPr>
            <a:r>
              <a:rPr lang="en-US" sz="2933" b="0" i="0" u="none" strike="noStrike">
                <a:solidFill>
                  <a:srgbClr val="000000"/>
                </a:solidFill>
                <a:latin typeface="Pretendard SemiBold"/>
                <a:ea typeface="Pretendard SemiBold"/>
                <a:cs typeface="Pretendard SemiBold"/>
              </a:rPr>
              <a:t>APK 디컴파일</a:t>
            </a:r>
          </a:p>
        </p:txBody>
      </p:sp>
      <p:sp>
        <p:nvSpPr>
          <p:cNvPr id="13" name="TextBox 13"/>
          <p:cNvSpPr txBox="1"/>
          <p:nvPr/>
        </p:nvSpPr>
        <p:spPr>
          <a:xfrm>
            <a:off x="14389100" y="4140200"/>
            <a:ext cx="7429500" cy="469900"/>
          </a:xfrm>
          <a:prstGeom prst="rect">
            <a:avLst/>
          </a:prstGeom>
        </p:spPr>
        <p:txBody>
          <a:bodyPr lIns="0" tIns="0" rIns="0" bIns="0" rtlCol="0" anchor="t"/>
          <a:lstStyle/>
          <a:p>
            <a:pPr lvl="0" algn="l">
              <a:lnSpc>
                <a:spcPct val="116199"/>
              </a:lnSpc>
            </a:pPr>
            <a:r>
              <a:rPr lang="en-US" sz="2666" b="0" i="0" u="none" strike="noStrike">
                <a:solidFill>
                  <a:srgbClr val="000000"/>
                </a:solidFill>
                <a:latin typeface="Pretendard Medium"/>
                <a:ea typeface="Pretendard Medium"/>
                <a:cs typeface="Pretendard Medium"/>
              </a:rPr>
              <a:t>JADX와 같은 디컴파일 도구를 활용하여 앱을 디컴파일</a:t>
            </a:r>
          </a:p>
        </p:txBody>
      </p:sp>
      <p:sp>
        <p:nvSpPr>
          <p:cNvPr id="14" name="TextBox 14"/>
          <p:cNvSpPr txBox="1"/>
          <p:nvPr/>
        </p:nvSpPr>
        <p:spPr>
          <a:xfrm>
            <a:off x="13131800" y="3670300"/>
            <a:ext cx="939800" cy="355600"/>
          </a:xfrm>
          <a:prstGeom prst="rect">
            <a:avLst/>
          </a:prstGeom>
        </p:spPr>
        <p:txBody>
          <a:bodyPr lIns="0" tIns="0" rIns="0" bIns="0" rtlCol="0" anchor="t"/>
          <a:lstStyle/>
          <a:p>
            <a:pPr lvl="0" algn="ctr">
              <a:lnSpc>
                <a:spcPct val="116199"/>
              </a:lnSpc>
            </a:pPr>
            <a:r>
              <a:rPr lang="en-US" sz="2000" b="0" i="0" u="none" strike="noStrike">
                <a:solidFill>
                  <a:srgbClr val="FFFFFF"/>
                </a:solidFill>
                <a:latin typeface="Geologica Roman Light"/>
                <a:ea typeface="Geologica Roman Light"/>
                <a:cs typeface="Geologica Roman Light"/>
              </a:rPr>
              <a:t>Step 1</a:t>
            </a:r>
          </a:p>
        </p:txBody>
      </p:sp>
      <p:sp>
        <p:nvSpPr>
          <p:cNvPr id="15" name="TextBox 15"/>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a:solidFill>
                  <a:srgbClr val="024EA0"/>
                </a:solidFill>
                <a:latin typeface="Geologica Roman Light"/>
                <a:ea typeface="Geologica Roman Light"/>
                <a:cs typeface="Geologica Roman Light"/>
              </a:rPr>
              <a:t>22</a:t>
            </a:r>
          </a:p>
        </p:txBody>
      </p:sp>
      <p:pic>
        <p:nvPicPr>
          <p:cNvPr id="16" name="Picture 16"/>
          <p:cNvPicPr>
            <a:picLocks noChangeAspect="1"/>
          </p:cNvPicPr>
          <p:nvPr/>
        </p:nvPicPr>
        <p:blipFill>
          <a:blip r:embed="rId8"/>
          <a:stretch>
            <a:fillRect/>
          </a:stretch>
        </p:blipFill>
        <p:spPr>
          <a:xfrm>
            <a:off x="12560300" y="5486400"/>
            <a:ext cx="9982200" cy="2032000"/>
          </a:xfrm>
          <a:prstGeom prst="rect">
            <a:avLst/>
          </a:prstGeom>
          <a:effectLst>
            <a:outerShdw blurRad="50918" dist="47002" dir="2700000">
              <a:srgbClr val="1A7AE1">
                <a:alpha val="15000"/>
              </a:srgbClr>
            </a:outerShdw>
          </a:effectLst>
        </p:spPr>
      </p:pic>
      <p:pic>
        <p:nvPicPr>
          <p:cNvPr id="17" name="Picture 17"/>
          <p:cNvPicPr>
            <a:picLocks noChangeAspect="1"/>
          </p:cNvPicPr>
          <p:nvPr/>
        </p:nvPicPr>
        <p:blipFill>
          <a:blip r:embed="rId9"/>
          <a:stretch>
            <a:fillRect/>
          </a:stretch>
        </p:blipFill>
        <p:spPr>
          <a:xfrm>
            <a:off x="13042900" y="5969000"/>
            <a:ext cx="1308100" cy="508000"/>
          </a:xfrm>
          <a:prstGeom prst="rect">
            <a:avLst/>
          </a:prstGeom>
        </p:spPr>
      </p:pic>
      <p:sp>
        <p:nvSpPr>
          <p:cNvPr id="18" name="TextBox 18"/>
          <p:cNvSpPr txBox="1"/>
          <p:nvPr/>
        </p:nvSpPr>
        <p:spPr>
          <a:xfrm>
            <a:off x="13220700" y="6032500"/>
            <a:ext cx="939800" cy="355600"/>
          </a:xfrm>
          <a:prstGeom prst="rect">
            <a:avLst/>
          </a:prstGeom>
        </p:spPr>
        <p:txBody>
          <a:bodyPr lIns="0" tIns="0" rIns="0" bIns="0" rtlCol="0" anchor="t"/>
          <a:lstStyle/>
          <a:p>
            <a:pPr lvl="0" algn="ctr">
              <a:lnSpc>
                <a:spcPct val="116199"/>
              </a:lnSpc>
            </a:pPr>
            <a:r>
              <a:rPr lang="en-US" sz="2000" b="0" i="0" u="none" strike="noStrike">
                <a:solidFill>
                  <a:srgbClr val="FFFFFF"/>
                </a:solidFill>
                <a:latin typeface="Geologica Roman Light"/>
                <a:ea typeface="Geologica Roman Light"/>
                <a:cs typeface="Geologica Roman Light"/>
              </a:rPr>
              <a:t>Step 2</a:t>
            </a:r>
          </a:p>
        </p:txBody>
      </p:sp>
      <p:pic>
        <p:nvPicPr>
          <p:cNvPr id="19" name="Picture 19"/>
          <p:cNvPicPr>
            <a:picLocks noChangeAspect="1"/>
          </p:cNvPicPr>
          <p:nvPr/>
        </p:nvPicPr>
        <p:blipFill>
          <a:blip r:embed="rId10"/>
          <a:stretch>
            <a:fillRect/>
          </a:stretch>
        </p:blipFill>
        <p:spPr>
          <a:xfrm>
            <a:off x="12560300" y="7861300"/>
            <a:ext cx="9982200" cy="2032000"/>
          </a:xfrm>
          <a:prstGeom prst="rect">
            <a:avLst/>
          </a:prstGeom>
          <a:effectLst>
            <a:outerShdw blurRad="50918" dist="47002" dir="2700000">
              <a:srgbClr val="1A7AE1">
                <a:alpha val="15000"/>
              </a:srgbClr>
            </a:outerShdw>
          </a:effectLst>
        </p:spPr>
      </p:pic>
      <p:pic>
        <p:nvPicPr>
          <p:cNvPr id="20" name="Picture 20"/>
          <p:cNvPicPr>
            <a:picLocks noChangeAspect="1"/>
          </p:cNvPicPr>
          <p:nvPr/>
        </p:nvPicPr>
        <p:blipFill>
          <a:blip r:embed="rId11"/>
          <a:stretch>
            <a:fillRect/>
          </a:stretch>
        </p:blipFill>
        <p:spPr>
          <a:xfrm>
            <a:off x="13042900" y="8331200"/>
            <a:ext cx="1308100" cy="508000"/>
          </a:xfrm>
          <a:prstGeom prst="rect">
            <a:avLst/>
          </a:prstGeom>
        </p:spPr>
      </p:pic>
      <p:sp>
        <p:nvSpPr>
          <p:cNvPr id="21" name="TextBox 21"/>
          <p:cNvSpPr txBox="1"/>
          <p:nvPr/>
        </p:nvSpPr>
        <p:spPr>
          <a:xfrm>
            <a:off x="14478000" y="8331200"/>
            <a:ext cx="5994400" cy="520700"/>
          </a:xfrm>
          <a:prstGeom prst="rect">
            <a:avLst/>
          </a:prstGeom>
        </p:spPr>
        <p:txBody>
          <a:bodyPr lIns="0" tIns="0" rIns="0" bIns="0" rtlCol="0" anchor="t"/>
          <a:lstStyle/>
          <a:p>
            <a:pPr lvl="0" algn="l">
              <a:lnSpc>
                <a:spcPct val="116199"/>
              </a:lnSpc>
            </a:pPr>
            <a:r>
              <a:rPr lang="en-US" sz="2933" b="0" i="0" u="none" strike="noStrike">
                <a:solidFill>
                  <a:srgbClr val="FFFFFF"/>
                </a:solidFill>
                <a:latin typeface="Pretendard SemiBold"/>
                <a:ea typeface="Pretendard SemiBold"/>
                <a:cs typeface="Pretendard SemiBold"/>
              </a:rPr>
              <a:t>동적 디버깅 및 우회 공격 실행</a:t>
            </a:r>
          </a:p>
        </p:txBody>
      </p:sp>
      <p:sp>
        <p:nvSpPr>
          <p:cNvPr id="22" name="TextBox 22"/>
          <p:cNvSpPr txBox="1"/>
          <p:nvPr/>
        </p:nvSpPr>
        <p:spPr>
          <a:xfrm>
            <a:off x="13220700" y="8407400"/>
            <a:ext cx="939800" cy="355600"/>
          </a:xfrm>
          <a:prstGeom prst="rect">
            <a:avLst/>
          </a:prstGeom>
        </p:spPr>
        <p:txBody>
          <a:bodyPr lIns="0" tIns="0" rIns="0" bIns="0" rtlCol="0" anchor="t"/>
          <a:lstStyle/>
          <a:p>
            <a:pPr lvl="0" algn="ctr">
              <a:lnSpc>
                <a:spcPct val="116199"/>
              </a:lnSpc>
            </a:pPr>
            <a:r>
              <a:rPr lang="en-US" sz="2000" b="0" i="0" u="none" strike="noStrike">
                <a:solidFill>
                  <a:srgbClr val="1A7AE1"/>
                </a:solidFill>
                <a:latin typeface="Geologica Roman Light"/>
                <a:ea typeface="Geologica Roman Light"/>
                <a:cs typeface="Geologica Roman Light"/>
              </a:rPr>
              <a:t>Step 3</a:t>
            </a:r>
          </a:p>
        </p:txBody>
      </p:sp>
      <p:sp>
        <p:nvSpPr>
          <p:cNvPr id="23" name="TextBox 23"/>
          <p:cNvSpPr txBox="1"/>
          <p:nvPr/>
        </p:nvSpPr>
        <p:spPr>
          <a:xfrm>
            <a:off x="14490700" y="8877300"/>
            <a:ext cx="7734300" cy="952500"/>
          </a:xfrm>
          <a:prstGeom prst="rect">
            <a:avLst/>
          </a:prstGeom>
        </p:spPr>
        <p:txBody>
          <a:bodyPr lIns="0" tIns="0" rIns="0" bIns="0" rtlCol="0" anchor="t"/>
          <a:lstStyle/>
          <a:p>
            <a:pPr lvl="0" algn="l">
              <a:lnSpc>
                <a:spcPct val="116199"/>
              </a:lnSpc>
            </a:pPr>
            <a:r>
              <a:rPr lang="en-US" sz="2666" b="0" i="0" u="none" strike="noStrike">
                <a:solidFill>
                  <a:srgbClr val="FFFFFF"/>
                </a:solidFill>
                <a:latin typeface="Pretendard Medium"/>
                <a:ea typeface="Pretendard Medium"/>
                <a:cs typeface="Pretendard Medium"/>
              </a:rPr>
              <a:t>앱 실행 중 발생하는 탐지 로직을 </a:t>
            </a:r>
          </a:p>
          <a:p>
            <a:pPr lvl="0" algn="l">
              <a:lnSpc>
                <a:spcPct val="116199"/>
              </a:lnSpc>
            </a:pPr>
            <a:r>
              <a:rPr lang="en-US" sz="2666" b="0" i="0" u="none" strike="noStrike">
                <a:solidFill>
                  <a:srgbClr val="FFFFFF"/>
                </a:solidFill>
                <a:latin typeface="Pretendard Medium"/>
                <a:ea typeface="Pretendard Medium"/>
                <a:cs typeface="Pretendard Medium"/>
              </a:rPr>
              <a:t>Frida를 이용하여 실시간으로 우회</a:t>
            </a:r>
          </a:p>
        </p:txBody>
      </p:sp>
      <p:sp>
        <p:nvSpPr>
          <p:cNvPr id="24" name="TextBox 24"/>
          <p:cNvSpPr txBox="1"/>
          <p:nvPr/>
        </p:nvSpPr>
        <p:spPr>
          <a:xfrm>
            <a:off x="14478000" y="5969000"/>
            <a:ext cx="5740400" cy="520700"/>
          </a:xfrm>
          <a:prstGeom prst="rect">
            <a:avLst/>
          </a:prstGeom>
        </p:spPr>
        <p:txBody>
          <a:bodyPr lIns="0" tIns="0" rIns="0" bIns="0" rtlCol="0" anchor="t"/>
          <a:lstStyle/>
          <a:p>
            <a:pPr lvl="0" algn="l">
              <a:lnSpc>
                <a:spcPct val="116199"/>
              </a:lnSpc>
            </a:pPr>
            <a:r>
              <a:rPr lang="en-US" sz="2933" b="0" i="0" u="none" strike="noStrike">
                <a:solidFill>
                  <a:srgbClr val="000000"/>
                </a:solidFill>
                <a:latin typeface="Pretendard SemiBold"/>
                <a:ea typeface="Pretendard SemiBold"/>
                <a:cs typeface="Pretendard SemiBold"/>
              </a:rPr>
              <a:t>소스코드 변조 및 재패키징/재서명</a:t>
            </a:r>
          </a:p>
        </p:txBody>
      </p:sp>
      <p:sp>
        <p:nvSpPr>
          <p:cNvPr id="25" name="TextBox 25"/>
          <p:cNvSpPr txBox="1"/>
          <p:nvPr/>
        </p:nvSpPr>
        <p:spPr>
          <a:xfrm>
            <a:off x="14490700" y="6515100"/>
            <a:ext cx="7874000" cy="952500"/>
          </a:xfrm>
          <a:prstGeom prst="rect">
            <a:avLst/>
          </a:prstGeom>
        </p:spPr>
        <p:txBody>
          <a:bodyPr lIns="0" tIns="0" rIns="0" bIns="0" rtlCol="0" anchor="t"/>
          <a:lstStyle/>
          <a:p>
            <a:pPr lvl="0" algn="l">
              <a:lnSpc>
                <a:spcPct val="116199"/>
              </a:lnSpc>
            </a:pPr>
            <a:r>
              <a:rPr lang="en-US" sz="2666" b="0" i="0" u="none" strike="noStrike">
                <a:solidFill>
                  <a:srgbClr val="000000"/>
                </a:solidFill>
                <a:latin typeface="Pretendard Medium"/>
                <a:ea typeface="Pretendard Medium"/>
                <a:cs typeface="Pretendard Medium"/>
              </a:rPr>
              <a:t>앱 내의 리소스를 수정하여 변조 가능성을 확인하고,</a:t>
            </a:r>
          </a:p>
          <a:p>
            <a:pPr lvl="0" algn="l">
              <a:lnSpc>
                <a:spcPct val="116199"/>
              </a:lnSpc>
            </a:pPr>
            <a:r>
              <a:rPr lang="en-US" sz="2666" b="0" i="0" u="none" strike="noStrike">
                <a:solidFill>
                  <a:srgbClr val="000000"/>
                </a:solidFill>
                <a:latin typeface="Pretendard Medium"/>
                <a:ea typeface="Pretendard Medium"/>
                <a:cs typeface="Pretendard Medium"/>
              </a:rPr>
              <a:t>수정된 APK를 재빌드 및 재서명</a:t>
            </a:r>
          </a:p>
        </p:txBody>
      </p:sp>
      <p:pic>
        <p:nvPicPr>
          <p:cNvPr id="26" name="Picture 26"/>
          <p:cNvPicPr>
            <a:picLocks noChangeAspect="1"/>
          </p:cNvPicPr>
          <p:nvPr/>
        </p:nvPicPr>
        <p:blipFill>
          <a:blip r:embed="rId12"/>
          <a:stretch>
            <a:fillRect/>
          </a:stretch>
        </p:blipFill>
        <p:spPr>
          <a:xfrm>
            <a:off x="1524000" y="3175000"/>
            <a:ext cx="10502900" cy="4622800"/>
          </a:xfrm>
          <a:prstGeom prst="rect">
            <a:avLst/>
          </a:prstGeom>
          <a:effectLst>
            <a:outerShdw blurRad="254236" dist="106673" dir="2700000">
              <a:srgbClr val="000000">
                <a:alpha val="23000"/>
              </a:srgbClr>
            </a:outerShdw>
          </a:effectLst>
        </p:spPr>
      </p:pic>
      <p:pic>
        <p:nvPicPr>
          <p:cNvPr id="27" name="Picture 27"/>
          <p:cNvPicPr>
            <a:picLocks noChangeAspect="1"/>
          </p:cNvPicPr>
          <p:nvPr/>
        </p:nvPicPr>
        <p:blipFill>
          <a:blip r:embed="rId13"/>
          <a:stretch>
            <a:fillRect/>
          </a:stretch>
        </p:blipFill>
        <p:spPr>
          <a:xfrm>
            <a:off x="1524000" y="7823200"/>
            <a:ext cx="10502900" cy="3454400"/>
          </a:xfrm>
          <a:prstGeom prst="rect">
            <a:avLst/>
          </a:prstGeom>
          <a:effectLst>
            <a:outerShdw blurRad="190339" dist="79863" dir="2700000">
              <a:srgbClr val="000000">
                <a:alpha val="23000"/>
              </a:srgbClr>
            </a:outerShdw>
          </a:effectLst>
        </p:spPr>
      </p:pic>
      <p:pic>
        <p:nvPicPr>
          <p:cNvPr id="28" name="Picture 28"/>
          <p:cNvPicPr>
            <a:picLocks noChangeAspect="1"/>
          </p:cNvPicPr>
          <p:nvPr/>
        </p:nvPicPr>
        <p:blipFill>
          <a:blip r:embed="rId14"/>
          <a:stretch>
            <a:fillRect/>
          </a:stretch>
        </p:blipFill>
        <p:spPr>
          <a:xfrm>
            <a:off x="1536700" y="10934700"/>
            <a:ext cx="8712200" cy="342900"/>
          </a:xfrm>
          <a:prstGeom prst="rect">
            <a:avLst/>
          </a:prstGeom>
        </p:spPr>
      </p:pic>
      <p:pic>
        <p:nvPicPr>
          <p:cNvPr id="35" name="Picture 35"/>
          <p:cNvPicPr>
            <a:picLocks noChangeAspect="1"/>
          </p:cNvPicPr>
          <p:nvPr/>
        </p:nvPicPr>
        <p:blipFill>
          <a:blip r:embed="rId15"/>
          <a:stretch>
            <a:fillRect/>
          </a:stretch>
        </p:blipFill>
        <p:spPr>
          <a:xfrm>
            <a:off x="1485900" y="1612900"/>
            <a:ext cx="88900" cy="850900"/>
          </a:xfrm>
          <a:prstGeom prst="rect">
            <a:avLst/>
          </a:prstGeom>
        </p:spPr>
      </p:pic>
      <p:sp>
        <p:nvSpPr>
          <p:cNvPr id="36" name="TextBox 36"/>
          <p:cNvSpPr txBox="1"/>
          <p:nvPr/>
        </p:nvSpPr>
        <p:spPr>
          <a:xfrm>
            <a:off x="1943100" y="1409700"/>
            <a:ext cx="106807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App 진단 방법 - 위변조 탐지</a:t>
            </a:r>
          </a:p>
        </p:txBody>
      </p:sp>
      <p:sp>
        <p:nvSpPr>
          <p:cNvPr id="38" name="TextBox 14">
            <a:extLst>
              <a:ext uri="{FF2B5EF4-FFF2-40B4-BE49-F238E27FC236}">
                <a16:creationId xmlns:a16="http://schemas.microsoft.com/office/drawing/2014/main" id="{EC472725-7528-6AD7-B70D-82B28795F34C}"/>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39" name="TextBox 14">
            <a:extLst>
              <a:ext uri="{FF2B5EF4-FFF2-40B4-BE49-F238E27FC236}">
                <a16:creationId xmlns:a16="http://schemas.microsoft.com/office/drawing/2014/main" id="{4FF1B655-C37A-4FE4-F590-D31F0536E7F3}"/>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52" name="Picture 12">
            <a:extLst>
              <a:ext uri="{FF2B5EF4-FFF2-40B4-BE49-F238E27FC236}">
                <a16:creationId xmlns:a16="http://schemas.microsoft.com/office/drawing/2014/main" id="{D17D920E-890B-E865-011E-83FDFC7D112F}"/>
              </a:ext>
            </a:extLst>
          </p:cNvPr>
          <p:cNvPicPr>
            <a:picLocks noChangeAspect="1"/>
          </p:cNvPicPr>
          <p:nvPr/>
        </p:nvPicPr>
        <p:blipFill>
          <a:blip r:embed="rId16">
            <a:alphaModFix amt="85000"/>
          </a:blip>
          <a:stretch>
            <a:fillRect/>
          </a:stretch>
        </p:blipFill>
        <p:spPr>
          <a:xfrm>
            <a:off x="9118600" y="571500"/>
            <a:ext cx="1993900" cy="444500"/>
          </a:xfrm>
          <a:prstGeom prst="rect">
            <a:avLst/>
          </a:prstGeom>
        </p:spPr>
      </p:pic>
      <p:sp>
        <p:nvSpPr>
          <p:cNvPr id="53" name="TextBox 13">
            <a:extLst>
              <a:ext uri="{FF2B5EF4-FFF2-40B4-BE49-F238E27FC236}">
                <a16:creationId xmlns:a16="http://schemas.microsoft.com/office/drawing/2014/main" id="{D0F1240F-A7AB-A598-0FA4-9B041C738E81}"/>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54" name="TextBox 15">
            <a:extLst>
              <a:ext uri="{FF2B5EF4-FFF2-40B4-BE49-F238E27FC236}">
                <a16:creationId xmlns:a16="http://schemas.microsoft.com/office/drawing/2014/main" id="{1958B39F-7757-17E8-C9FD-C2ED2E23399C}"/>
              </a:ext>
            </a:extLst>
          </p:cNvPr>
          <p:cNvSpPr txBox="1"/>
          <p:nvPr/>
        </p:nvSpPr>
        <p:spPr>
          <a:xfrm>
            <a:off x="11353800" y="457200"/>
            <a:ext cx="25273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시나리오</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모의해킹</a:t>
            </a:r>
            <a:endParaRPr lang="en-US" sz="2666" b="0" i="0" u="none" strike="noStrike" spc="-100" dirty="0">
              <a:solidFill>
                <a:srgbClr val="C2C2C2"/>
              </a:solidFill>
              <a:latin typeface="Pretendard SemiBold"/>
              <a:ea typeface="Pretendard SemiBold"/>
              <a:cs typeface="Pretendard SemiBold"/>
            </a:endParaRPr>
          </a:p>
        </p:txBody>
      </p:sp>
      <p:sp>
        <p:nvSpPr>
          <p:cNvPr id="55" name="TextBox 16">
            <a:extLst>
              <a:ext uri="{FF2B5EF4-FFF2-40B4-BE49-F238E27FC236}">
                <a16:creationId xmlns:a16="http://schemas.microsoft.com/office/drawing/2014/main" id="{7D1C40CD-1F3D-A4BE-133D-7FE1BCE4947F}"/>
              </a:ext>
            </a:extLst>
          </p:cNvPr>
          <p:cNvSpPr txBox="1"/>
          <p:nvPr/>
        </p:nvSpPr>
        <p:spPr>
          <a:xfrm>
            <a:off x="14097000" y="4699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56" name="TextBox 17">
            <a:extLst>
              <a:ext uri="{FF2B5EF4-FFF2-40B4-BE49-F238E27FC236}">
                <a16:creationId xmlns:a16="http://schemas.microsoft.com/office/drawing/2014/main" id="{12437A62-63A0-0D61-5A99-326428C39E74}"/>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개발 및 진단</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4"/>
          <a:stretch>
            <a:fillRect/>
          </a:stretch>
        </p:blipFill>
        <p:spPr>
          <a:xfrm>
            <a:off x="762000" y="1092200"/>
            <a:ext cx="22860000" cy="12700"/>
          </a:xfrm>
          <a:prstGeom prst="rect">
            <a:avLst/>
          </a:prstGeom>
        </p:spPr>
      </p:pic>
      <p:pic>
        <p:nvPicPr>
          <p:cNvPr id="4" name="Picture 4"/>
          <p:cNvPicPr>
            <a:picLocks noChangeAspect="1"/>
          </p:cNvPicPr>
          <p:nvPr/>
        </p:nvPicPr>
        <p:blipFill>
          <a:blip r:embed="rId5"/>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5"/>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5"/>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4"/>
          <a:stretch>
            <a:fillRect/>
          </a:stretch>
        </p:blipFill>
        <p:spPr>
          <a:xfrm>
            <a:off x="723900" y="457200"/>
            <a:ext cx="22860000" cy="12700"/>
          </a:xfrm>
          <a:prstGeom prst="rect">
            <a:avLst/>
          </a:prstGeom>
        </p:spPr>
      </p:pic>
      <p:pic>
        <p:nvPicPr>
          <p:cNvPr id="9" name="Picture 9"/>
          <p:cNvPicPr>
            <a:picLocks noChangeAspect="1"/>
          </p:cNvPicPr>
          <p:nvPr/>
        </p:nvPicPr>
        <p:blipFill>
          <a:blip r:embed="rId6"/>
          <a:stretch>
            <a:fillRect/>
          </a:stretch>
        </p:blipFill>
        <p:spPr>
          <a:xfrm>
            <a:off x="1485900" y="1612900"/>
            <a:ext cx="88900" cy="850900"/>
          </a:xfrm>
          <a:prstGeom prst="rect">
            <a:avLst/>
          </a:prstGeom>
        </p:spPr>
      </p:pic>
      <p:pic>
        <p:nvPicPr>
          <p:cNvPr id="10" name="Picture 10"/>
          <p:cNvPicPr>
            <a:picLocks noChangeAspect="1"/>
          </p:cNvPicPr>
          <p:nvPr/>
        </p:nvPicPr>
        <p:blipFill>
          <a:blip r:embed="rId7"/>
          <a:stretch>
            <a:fillRect/>
          </a:stretch>
        </p:blipFill>
        <p:spPr>
          <a:xfrm>
            <a:off x="8610600" y="9156700"/>
            <a:ext cx="304800" cy="342900"/>
          </a:xfrm>
          <a:prstGeom prst="rect">
            <a:avLst/>
          </a:prstGeom>
        </p:spPr>
      </p:pic>
      <p:pic>
        <p:nvPicPr>
          <p:cNvPr id="11" name="Picture 11"/>
          <p:cNvPicPr>
            <a:picLocks noChangeAspect="1"/>
          </p:cNvPicPr>
          <p:nvPr/>
        </p:nvPicPr>
        <p:blipFill>
          <a:blip r:embed="rId8"/>
          <a:stretch>
            <a:fillRect/>
          </a:stretch>
        </p:blipFill>
        <p:spPr>
          <a:xfrm>
            <a:off x="12560300" y="3124200"/>
            <a:ext cx="9982200" cy="2032000"/>
          </a:xfrm>
          <a:prstGeom prst="rect">
            <a:avLst/>
          </a:prstGeom>
          <a:effectLst>
            <a:outerShdw blurRad="50918" dist="47002" dir="2700000">
              <a:srgbClr val="1A7AE1">
                <a:alpha val="15000"/>
              </a:srgbClr>
            </a:outerShdw>
          </a:effectLst>
        </p:spPr>
      </p:pic>
      <p:pic>
        <p:nvPicPr>
          <p:cNvPr id="12" name="Picture 12"/>
          <p:cNvPicPr>
            <a:picLocks noChangeAspect="1"/>
          </p:cNvPicPr>
          <p:nvPr/>
        </p:nvPicPr>
        <p:blipFill>
          <a:blip r:embed="rId9"/>
          <a:stretch>
            <a:fillRect/>
          </a:stretch>
        </p:blipFill>
        <p:spPr>
          <a:xfrm>
            <a:off x="12954000" y="3594100"/>
            <a:ext cx="1308100" cy="508000"/>
          </a:xfrm>
          <a:prstGeom prst="rect">
            <a:avLst/>
          </a:prstGeom>
        </p:spPr>
      </p:pic>
      <p:sp>
        <p:nvSpPr>
          <p:cNvPr id="13" name="TextBox 13"/>
          <p:cNvSpPr txBox="1"/>
          <p:nvPr/>
        </p:nvSpPr>
        <p:spPr>
          <a:xfrm>
            <a:off x="14478000" y="3594100"/>
            <a:ext cx="3327400" cy="520700"/>
          </a:xfrm>
          <a:prstGeom prst="rect">
            <a:avLst/>
          </a:prstGeom>
        </p:spPr>
        <p:txBody>
          <a:bodyPr lIns="0" tIns="0" rIns="0" bIns="0" rtlCol="0" anchor="t"/>
          <a:lstStyle/>
          <a:p>
            <a:pPr lvl="0" algn="l">
              <a:lnSpc>
                <a:spcPct val="116199"/>
              </a:lnSpc>
            </a:pPr>
            <a:r>
              <a:rPr lang="en-US" sz="2933" b="0" i="0" u="none" strike="noStrike">
                <a:solidFill>
                  <a:srgbClr val="000000"/>
                </a:solidFill>
                <a:latin typeface="Pretendard SemiBold"/>
                <a:ea typeface="Pretendard SemiBold"/>
                <a:cs typeface="Pretendard SemiBold"/>
              </a:rPr>
              <a:t>APK 디컴파일</a:t>
            </a:r>
          </a:p>
        </p:txBody>
      </p:sp>
      <p:sp>
        <p:nvSpPr>
          <p:cNvPr id="14" name="TextBox 14"/>
          <p:cNvSpPr txBox="1"/>
          <p:nvPr/>
        </p:nvSpPr>
        <p:spPr>
          <a:xfrm>
            <a:off x="14389100" y="4140200"/>
            <a:ext cx="7543800" cy="469900"/>
          </a:xfrm>
          <a:prstGeom prst="rect">
            <a:avLst/>
          </a:prstGeom>
        </p:spPr>
        <p:txBody>
          <a:bodyPr lIns="0" tIns="0" rIns="0" bIns="0" rtlCol="0" anchor="t"/>
          <a:lstStyle/>
          <a:p>
            <a:pPr lvl="0" algn="l">
              <a:lnSpc>
                <a:spcPct val="116199"/>
              </a:lnSpc>
            </a:pPr>
            <a:r>
              <a:rPr lang="en-US" sz="2666" b="0" i="0" u="none" strike="noStrike">
                <a:solidFill>
                  <a:srgbClr val="000000"/>
                </a:solidFill>
                <a:latin typeface="Pretendard Medium"/>
                <a:ea typeface="Pretendard Medium"/>
                <a:cs typeface="Pretendard Medium"/>
              </a:rPr>
              <a:t>JADX와 같은 디컴파일 도구를 활용하여 앱을 디컴파일</a:t>
            </a:r>
          </a:p>
        </p:txBody>
      </p:sp>
      <p:sp>
        <p:nvSpPr>
          <p:cNvPr id="15" name="TextBox 15"/>
          <p:cNvSpPr txBox="1"/>
          <p:nvPr/>
        </p:nvSpPr>
        <p:spPr>
          <a:xfrm>
            <a:off x="13131800" y="3670300"/>
            <a:ext cx="939800" cy="355600"/>
          </a:xfrm>
          <a:prstGeom prst="rect">
            <a:avLst/>
          </a:prstGeom>
        </p:spPr>
        <p:txBody>
          <a:bodyPr lIns="0" tIns="0" rIns="0" bIns="0" rtlCol="0" anchor="t"/>
          <a:lstStyle/>
          <a:p>
            <a:pPr lvl="0" algn="ctr">
              <a:lnSpc>
                <a:spcPct val="116199"/>
              </a:lnSpc>
            </a:pPr>
            <a:r>
              <a:rPr lang="en-US" sz="2000" b="0" i="0" u="none" strike="noStrike">
                <a:solidFill>
                  <a:srgbClr val="FFFFFF"/>
                </a:solidFill>
                <a:latin typeface="Geologica Roman Light"/>
                <a:ea typeface="Geologica Roman Light"/>
                <a:cs typeface="Geologica Roman Light"/>
              </a:rPr>
              <a:t>Step 1</a:t>
            </a:r>
          </a:p>
        </p:txBody>
      </p:sp>
      <p:sp>
        <p:nvSpPr>
          <p:cNvPr id="16" name="TextBox 16"/>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a:solidFill>
                  <a:srgbClr val="024EA0"/>
                </a:solidFill>
                <a:latin typeface="Geologica Roman Light"/>
                <a:ea typeface="Geologica Roman Light"/>
                <a:cs typeface="Geologica Roman Light"/>
              </a:rPr>
              <a:t>23</a:t>
            </a:r>
          </a:p>
        </p:txBody>
      </p:sp>
      <p:pic>
        <p:nvPicPr>
          <p:cNvPr id="17" name="Picture 17"/>
          <p:cNvPicPr>
            <a:picLocks noChangeAspect="1"/>
          </p:cNvPicPr>
          <p:nvPr/>
        </p:nvPicPr>
        <p:blipFill>
          <a:blip r:embed="rId10"/>
          <a:stretch>
            <a:fillRect/>
          </a:stretch>
        </p:blipFill>
        <p:spPr>
          <a:xfrm>
            <a:off x="12560300" y="5486400"/>
            <a:ext cx="9982200" cy="2032000"/>
          </a:xfrm>
          <a:prstGeom prst="rect">
            <a:avLst/>
          </a:prstGeom>
          <a:effectLst>
            <a:outerShdw blurRad="50918" dist="47002" dir="2700000">
              <a:srgbClr val="1A7AE1">
                <a:alpha val="15000"/>
              </a:srgbClr>
            </a:outerShdw>
          </a:effectLst>
        </p:spPr>
      </p:pic>
      <p:pic>
        <p:nvPicPr>
          <p:cNvPr id="18" name="Picture 18"/>
          <p:cNvPicPr>
            <a:picLocks noChangeAspect="1"/>
          </p:cNvPicPr>
          <p:nvPr/>
        </p:nvPicPr>
        <p:blipFill>
          <a:blip r:embed="rId11"/>
          <a:stretch>
            <a:fillRect/>
          </a:stretch>
        </p:blipFill>
        <p:spPr>
          <a:xfrm>
            <a:off x="13042900" y="5969000"/>
            <a:ext cx="1308100" cy="508000"/>
          </a:xfrm>
          <a:prstGeom prst="rect">
            <a:avLst/>
          </a:prstGeom>
        </p:spPr>
      </p:pic>
      <p:sp>
        <p:nvSpPr>
          <p:cNvPr id="19" name="TextBox 19"/>
          <p:cNvSpPr txBox="1"/>
          <p:nvPr/>
        </p:nvSpPr>
        <p:spPr>
          <a:xfrm>
            <a:off x="13220700" y="6032500"/>
            <a:ext cx="939800" cy="355600"/>
          </a:xfrm>
          <a:prstGeom prst="rect">
            <a:avLst/>
          </a:prstGeom>
        </p:spPr>
        <p:txBody>
          <a:bodyPr lIns="0" tIns="0" rIns="0" bIns="0" rtlCol="0" anchor="t"/>
          <a:lstStyle/>
          <a:p>
            <a:pPr lvl="0" algn="ctr">
              <a:lnSpc>
                <a:spcPct val="116199"/>
              </a:lnSpc>
            </a:pPr>
            <a:r>
              <a:rPr lang="en-US" sz="2000" b="0" i="0" u="none" strike="noStrike">
                <a:solidFill>
                  <a:srgbClr val="FFFFFF"/>
                </a:solidFill>
                <a:latin typeface="Geologica Roman Light"/>
                <a:ea typeface="Geologica Roman Light"/>
                <a:cs typeface="Geologica Roman Light"/>
              </a:rPr>
              <a:t>Step 2</a:t>
            </a:r>
          </a:p>
        </p:txBody>
      </p:sp>
      <p:pic>
        <p:nvPicPr>
          <p:cNvPr id="20" name="Picture 20"/>
          <p:cNvPicPr>
            <a:picLocks noChangeAspect="1"/>
          </p:cNvPicPr>
          <p:nvPr/>
        </p:nvPicPr>
        <p:blipFill>
          <a:blip r:embed="rId8"/>
          <a:stretch>
            <a:fillRect/>
          </a:stretch>
        </p:blipFill>
        <p:spPr>
          <a:xfrm>
            <a:off x="12560300" y="7861300"/>
            <a:ext cx="9982200" cy="2032000"/>
          </a:xfrm>
          <a:prstGeom prst="rect">
            <a:avLst/>
          </a:prstGeom>
          <a:effectLst>
            <a:outerShdw blurRad="50918" dist="47002" dir="2700000">
              <a:srgbClr val="1A7AE1">
                <a:alpha val="15000"/>
              </a:srgbClr>
            </a:outerShdw>
          </a:effectLst>
        </p:spPr>
      </p:pic>
      <p:pic>
        <p:nvPicPr>
          <p:cNvPr id="21" name="Picture 21"/>
          <p:cNvPicPr>
            <a:picLocks noChangeAspect="1"/>
          </p:cNvPicPr>
          <p:nvPr/>
        </p:nvPicPr>
        <p:blipFill>
          <a:blip r:embed="rId12"/>
          <a:stretch>
            <a:fillRect/>
          </a:stretch>
        </p:blipFill>
        <p:spPr>
          <a:xfrm>
            <a:off x="13042900" y="8331200"/>
            <a:ext cx="1308100" cy="508000"/>
          </a:xfrm>
          <a:prstGeom prst="rect">
            <a:avLst/>
          </a:prstGeom>
        </p:spPr>
      </p:pic>
      <p:sp>
        <p:nvSpPr>
          <p:cNvPr id="22" name="TextBox 22"/>
          <p:cNvSpPr txBox="1"/>
          <p:nvPr/>
        </p:nvSpPr>
        <p:spPr>
          <a:xfrm>
            <a:off x="13220700" y="8407400"/>
            <a:ext cx="939800" cy="355600"/>
          </a:xfrm>
          <a:prstGeom prst="rect">
            <a:avLst/>
          </a:prstGeom>
        </p:spPr>
        <p:txBody>
          <a:bodyPr lIns="0" tIns="0" rIns="0" bIns="0" rtlCol="0" anchor="t"/>
          <a:lstStyle/>
          <a:p>
            <a:pPr lvl="0" algn="ctr">
              <a:lnSpc>
                <a:spcPct val="116199"/>
              </a:lnSpc>
            </a:pPr>
            <a:r>
              <a:rPr lang="en-US" sz="2000" b="0" i="0" u="none" strike="noStrike">
                <a:solidFill>
                  <a:srgbClr val="FFFFFF"/>
                </a:solidFill>
                <a:latin typeface="Geologica Roman Light"/>
                <a:ea typeface="Geologica Roman Light"/>
                <a:cs typeface="Geologica Roman Light"/>
              </a:rPr>
              <a:t>Step 3</a:t>
            </a:r>
          </a:p>
        </p:txBody>
      </p:sp>
      <p:pic>
        <p:nvPicPr>
          <p:cNvPr id="23" name="Picture 23"/>
          <p:cNvPicPr>
            <a:picLocks noChangeAspect="1"/>
          </p:cNvPicPr>
          <p:nvPr/>
        </p:nvPicPr>
        <p:blipFill>
          <a:blip r:embed="rId13"/>
          <a:stretch>
            <a:fillRect/>
          </a:stretch>
        </p:blipFill>
        <p:spPr>
          <a:xfrm>
            <a:off x="12560300" y="10223500"/>
            <a:ext cx="9982200" cy="2032000"/>
          </a:xfrm>
          <a:prstGeom prst="rect">
            <a:avLst/>
          </a:prstGeom>
          <a:effectLst>
            <a:outerShdw blurRad="50918" dist="47002" dir="2700000">
              <a:srgbClr val="1A7AE1">
                <a:alpha val="15000"/>
              </a:srgbClr>
            </a:outerShdw>
          </a:effectLst>
        </p:spPr>
      </p:pic>
      <p:pic>
        <p:nvPicPr>
          <p:cNvPr id="24" name="Picture 24"/>
          <p:cNvPicPr>
            <a:picLocks noChangeAspect="1"/>
          </p:cNvPicPr>
          <p:nvPr/>
        </p:nvPicPr>
        <p:blipFill>
          <a:blip r:embed="rId14"/>
          <a:stretch>
            <a:fillRect/>
          </a:stretch>
        </p:blipFill>
        <p:spPr>
          <a:xfrm>
            <a:off x="13042900" y="10693400"/>
            <a:ext cx="1308100" cy="508000"/>
          </a:xfrm>
          <a:prstGeom prst="rect">
            <a:avLst/>
          </a:prstGeom>
        </p:spPr>
      </p:pic>
      <p:sp>
        <p:nvSpPr>
          <p:cNvPr id="25" name="TextBox 25"/>
          <p:cNvSpPr txBox="1"/>
          <p:nvPr/>
        </p:nvSpPr>
        <p:spPr>
          <a:xfrm>
            <a:off x="14478000" y="10706100"/>
            <a:ext cx="6007100" cy="520700"/>
          </a:xfrm>
          <a:prstGeom prst="rect">
            <a:avLst/>
          </a:prstGeom>
        </p:spPr>
        <p:txBody>
          <a:bodyPr lIns="0" tIns="0" rIns="0" bIns="0" rtlCol="0" anchor="t"/>
          <a:lstStyle/>
          <a:p>
            <a:pPr lvl="0" algn="l">
              <a:lnSpc>
                <a:spcPct val="116199"/>
              </a:lnSpc>
            </a:pPr>
            <a:r>
              <a:rPr lang="en-US" sz="2933" b="0" i="0" u="none" strike="noStrike">
                <a:solidFill>
                  <a:srgbClr val="FFFFFF"/>
                </a:solidFill>
                <a:latin typeface="Pretendard SemiBold"/>
                <a:ea typeface="Pretendard SemiBold"/>
                <a:cs typeface="Pretendard SemiBold"/>
              </a:rPr>
              <a:t>보호 기범 우회 및 서비스 접근</a:t>
            </a:r>
          </a:p>
        </p:txBody>
      </p:sp>
      <p:sp>
        <p:nvSpPr>
          <p:cNvPr id="26" name="TextBox 26"/>
          <p:cNvSpPr txBox="1"/>
          <p:nvPr/>
        </p:nvSpPr>
        <p:spPr>
          <a:xfrm>
            <a:off x="13220700" y="10769600"/>
            <a:ext cx="939800" cy="355600"/>
          </a:xfrm>
          <a:prstGeom prst="rect">
            <a:avLst/>
          </a:prstGeom>
        </p:spPr>
        <p:txBody>
          <a:bodyPr lIns="0" tIns="0" rIns="0" bIns="0" rtlCol="0" anchor="t"/>
          <a:lstStyle/>
          <a:p>
            <a:pPr lvl="0" algn="ctr">
              <a:lnSpc>
                <a:spcPct val="116199"/>
              </a:lnSpc>
            </a:pPr>
            <a:r>
              <a:rPr lang="en-US" sz="2000" b="0" i="0" u="none" strike="noStrike">
                <a:solidFill>
                  <a:srgbClr val="1A7AE1"/>
                </a:solidFill>
                <a:latin typeface="Geologica Roman Light"/>
                <a:ea typeface="Geologica Roman Light"/>
                <a:cs typeface="Geologica Roman Light"/>
              </a:rPr>
              <a:t>Step 4</a:t>
            </a:r>
          </a:p>
        </p:txBody>
      </p:sp>
      <p:sp>
        <p:nvSpPr>
          <p:cNvPr id="27" name="TextBox 27"/>
          <p:cNvSpPr txBox="1"/>
          <p:nvPr/>
        </p:nvSpPr>
        <p:spPr>
          <a:xfrm>
            <a:off x="14490700" y="11239500"/>
            <a:ext cx="7734300" cy="469900"/>
          </a:xfrm>
          <a:prstGeom prst="rect">
            <a:avLst/>
          </a:prstGeom>
        </p:spPr>
        <p:txBody>
          <a:bodyPr lIns="0" tIns="0" rIns="0" bIns="0" rtlCol="0" anchor="t"/>
          <a:lstStyle/>
          <a:p>
            <a:pPr lvl="0" algn="l">
              <a:lnSpc>
                <a:spcPct val="116199"/>
              </a:lnSpc>
            </a:pPr>
            <a:r>
              <a:rPr lang="en-US" sz="2666" b="0" i="0" u="none" strike="noStrike">
                <a:solidFill>
                  <a:srgbClr val="FFFFFF"/>
                </a:solidFill>
                <a:latin typeface="Pretendard Medium"/>
                <a:ea typeface="Pretendard Medium"/>
                <a:cs typeface="Pretendard Medium"/>
              </a:rPr>
              <a:t>무결성 오류 화면이 우회되고 정상적인 화면 진입에 성공</a:t>
            </a:r>
          </a:p>
        </p:txBody>
      </p:sp>
      <p:pic>
        <p:nvPicPr>
          <p:cNvPr id="28" name="Picture 28"/>
          <p:cNvPicPr>
            <a:picLocks noChangeAspect="1"/>
          </p:cNvPicPr>
          <p:nvPr/>
        </p:nvPicPr>
        <p:blipFill>
          <a:blip r:embed="rId15"/>
          <a:stretch>
            <a:fillRect/>
          </a:stretch>
        </p:blipFill>
        <p:spPr>
          <a:xfrm>
            <a:off x="4191000" y="3606800"/>
            <a:ext cx="5067300" cy="9004300"/>
          </a:xfrm>
          <a:prstGeom prst="rect">
            <a:avLst/>
          </a:prstGeom>
        </p:spPr>
      </p:pic>
      <p:pic>
        <p:nvPicPr>
          <p:cNvPr id="29" name="Picture 29"/>
          <p:cNvPicPr>
            <a:picLocks noChangeAspect="1"/>
          </p:cNvPicPr>
          <p:nvPr/>
        </p:nvPicPr>
        <p:blipFill>
          <a:blip r:embed="rId16"/>
          <a:stretch>
            <a:fillRect/>
          </a:stretch>
        </p:blipFill>
        <p:spPr>
          <a:xfrm>
            <a:off x="4102100" y="3124200"/>
            <a:ext cx="5232400" cy="9842500"/>
          </a:xfrm>
          <a:prstGeom prst="rect">
            <a:avLst/>
          </a:prstGeom>
          <a:effectLst>
            <a:outerShdw blurRad="287982" dist="120832" dir="2700000">
              <a:srgbClr val="000000">
                <a:alpha val="23000"/>
              </a:srgbClr>
            </a:outerShdw>
          </a:effectLst>
        </p:spPr>
      </p:pic>
      <p:sp>
        <p:nvSpPr>
          <p:cNvPr id="30" name="TextBox 30"/>
          <p:cNvSpPr txBox="1"/>
          <p:nvPr/>
        </p:nvSpPr>
        <p:spPr>
          <a:xfrm>
            <a:off x="14478000" y="8331200"/>
            <a:ext cx="5994400" cy="520700"/>
          </a:xfrm>
          <a:prstGeom prst="rect">
            <a:avLst/>
          </a:prstGeom>
        </p:spPr>
        <p:txBody>
          <a:bodyPr lIns="0" tIns="0" rIns="0" bIns="0" rtlCol="0" anchor="t"/>
          <a:lstStyle/>
          <a:p>
            <a:pPr lvl="0" algn="l">
              <a:lnSpc>
                <a:spcPct val="116199"/>
              </a:lnSpc>
            </a:pPr>
            <a:r>
              <a:rPr lang="en-US" sz="2933" b="0" i="0" u="none" strike="noStrike">
                <a:solidFill>
                  <a:srgbClr val="000000"/>
                </a:solidFill>
                <a:latin typeface="Pretendard SemiBold"/>
                <a:ea typeface="Pretendard SemiBold"/>
                <a:cs typeface="Pretendard SemiBold"/>
              </a:rPr>
              <a:t>동적 디버깅 및 우회 공격 실행</a:t>
            </a:r>
          </a:p>
        </p:txBody>
      </p:sp>
      <p:sp>
        <p:nvSpPr>
          <p:cNvPr id="31" name="TextBox 31"/>
          <p:cNvSpPr txBox="1"/>
          <p:nvPr/>
        </p:nvSpPr>
        <p:spPr>
          <a:xfrm>
            <a:off x="14490700" y="8877300"/>
            <a:ext cx="7734300" cy="952500"/>
          </a:xfrm>
          <a:prstGeom prst="rect">
            <a:avLst/>
          </a:prstGeom>
        </p:spPr>
        <p:txBody>
          <a:bodyPr lIns="0" tIns="0" rIns="0" bIns="0" rtlCol="0" anchor="t"/>
          <a:lstStyle/>
          <a:p>
            <a:pPr lvl="0" algn="l">
              <a:lnSpc>
                <a:spcPct val="116199"/>
              </a:lnSpc>
            </a:pPr>
            <a:r>
              <a:rPr lang="en-US" sz="2666" b="0" i="0" u="none" strike="noStrike">
                <a:solidFill>
                  <a:srgbClr val="000000"/>
                </a:solidFill>
                <a:latin typeface="Pretendard Medium"/>
                <a:ea typeface="Pretendard Medium"/>
                <a:cs typeface="Pretendard Medium"/>
              </a:rPr>
              <a:t>앱 실행 중 발생하는 탐지 로직을 </a:t>
            </a:r>
          </a:p>
          <a:p>
            <a:pPr lvl="0" algn="l">
              <a:lnSpc>
                <a:spcPct val="116199"/>
              </a:lnSpc>
            </a:pPr>
            <a:r>
              <a:rPr lang="en-US" sz="2666" b="0" i="0" u="none" strike="noStrike">
                <a:solidFill>
                  <a:srgbClr val="000000"/>
                </a:solidFill>
                <a:latin typeface="Pretendard Medium"/>
                <a:ea typeface="Pretendard Medium"/>
                <a:cs typeface="Pretendard Medium"/>
              </a:rPr>
              <a:t>Frida를 이용하여 실시간으로 우회</a:t>
            </a:r>
          </a:p>
        </p:txBody>
      </p:sp>
      <p:sp>
        <p:nvSpPr>
          <p:cNvPr id="32" name="TextBox 32"/>
          <p:cNvSpPr txBox="1"/>
          <p:nvPr/>
        </p:nvSpPr>
        <p:spPr>
          <a:xfrm>
            <a:off x="14478000" y="5969000"/>
            <a:ext cx="5740400" cy="520700"/>
          </a:xfrm>
          <a:prstGeom prst="rect">
            <a:avLst/>
          </a:prstGeom>
        </p:spPr>
        <p:txBody>
          <a:bodyPr lIns="0" tIns="0" rIns="0" bIns="0" rtlCol="0" anchor="t"/>
          <a:lstStyle/>
          <a:p>
            <a:pPr lvl="0" algn="l">
              <a:lnSpc>
                <a:spcPct val="116199"/>
              </a:lnSpc>
            </a:pPr>
            <a:r>
              <a:rPr lang="en-US" sz="2933" b="0" i="0" u="none" strike="noStrike">
                <a:solidFill>
                  <a:srgbClr val="000000"/>
                </a:solidFill>
                <a:latin typeface="Pretendard SemiBold"/>
                <a:ea typeface="Pretendard SemiBold"/>
                <a:cs typeface="Pretendard SemiBold"/>
              </a:rPr>
              <a:t>소스코드 변조 및 재패키징/재서명</a:t>
            </a:r>
          </a:p>
        </p:txBody>
      </p:sp>
      <p:sp>
        <p:nvSpPr>
          <p:cNvPr id="33" name="TextBox 33"/>
          <p:cNvSpPr txBox="1"/>
          <p:nvPr/>
        </p:nvSpPr>
        <p:spPr>
          <a:xfrm>
            <a:off x="14490700" y="6515100"/>
            <a:ext cx="7874000" cy="952500"/>
          </a:xfrm>
          <a:prstGeom prst="rect">
            <a:avLst/>
          </a:prstGeom>
        </p:spPr>
        <p:txBody>
          <a:bodyPr lIns="0" tIns="0" rIns="0" bIns="0" rtlCol="0" anchor="t"/>
          <a:lstStyle/>
          <a:p>
            <a:pPr lvl="0" algn="l">
              <a:lnSpc>
                <a:spcPct val="116199"/>
              </a:lnSpc>
            </a:pPr>
            <a:r>
              <a:rPr lang="en-US" sz="2666" b="0" i="0" u="none" strike="noStrike">
                <a:solidFill>
                  <a:srgbClr val="000000"/>
                </a:solidFill>
                <a:latin typeface="Pretendard Medium"/>
                <a:ea typeface="Pretendard Medium"/>
                <a:cs typeface="Pretendard Medium"/>
              </a:rPr>
              <a:t>앱 내의 리소스를 수정하여 변조 가능성을 확인하고,</a:t>
            </a:r>
          </a:p>
          <a:p>
            <a:pPr lvl="0" algn="l">
              <a:lnSpc>
                <a:spcPct val="116199"/>
              </a:lnSpc>
            </a:pPr>
            <a:r>
              <a:rPr lang="en-US" sz="2666" b="0" i="0" u="none" strike="noStrike">
                <a:solidFill>
                  <a:srgbClr val="000000"/>
                </a:solidFill>
                <a:latin typeface="Pretendard Medium"/>
                <a:ea typeface="Pretendard Medium"/>
                <a:cs typeface="Pretendard Medium"/>
              </a:rPr>
              <a:t>수정된 APK를 재빌드 및 재서명</a:t>
            </a:r>
          </a:p>
        </p:txBody>
      </p:sp>
      <p:pic>
        <p:nvPicPr>
          <p:cNvPr id="40" name="Picture 40"/>
          <p:cNvPicPr>
            <a:picLocks noChangeAspect="1"/>
          </p:cNvPicPr>
          <p:nvPr/>
        </p:nvPicPr>
        <p:blipFill>
          <a:blip r:embed="rId17"/>
          <a:stretch>
            <a:fillRect/>
          </a:stretch>
        </p:blipFill>
        <p:spPr>
          <a:xfrm>
            <a:off x="1485900" y="1612900"/>
            <a:ext cx="88900" cy="850900"/>
          </a:xfrm>
          <a:prstGeom prst="rect">
            <a:avLst/>
          </a:prstGeom>
        </p:spPr>
      </p:pic>
      <p:sp>
        <p:nvSpPr>
          <p:cNvPr id="41" name="TextBox 41"/>
          <p:cNvSpPr txBox="1"/>
          <p:nvPr/>
        </p:nvSpPr>
        <p:spPr>
          <a:xfrm>
            <a:off x="1943100" y="1409700"/>
            <a:ext cx="106807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App 진단 방법 - 위변조 탐지</a:t>
            </a:r>
          </a:p>
        </p:txBody>
      </p:sp>
      <p:sp>
        <p:nvSpPr>
          <p:cNvPr id="43" name="TextBox 14">
            <a:extLst>
              <a:ext uri="{FF2B5EF4-FFF2-40B4-BE49-F238E27FC236}">
                <a16:creationId xmlns:a16="http://schemas.microsoft.com/office/drawing/2014/main" id="{6C3D67A8-A3D0-4489-A3B1-D308746E8254}"/>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44" name="TextBox 14">
            <a:extLst>
              <a:ext uri="{FF2B5EF4-FFF2-40B4-BE49-F238E27FC236}">
                <a16:creationId xmlns:a16="http://schemas.microsoft.com/office/drawing/2014/main" id="{6D39514F-A839-83AB-1236-64BD6055C84E}"/>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51" name="Picture 12">
            <a:extLst>
              <a:ext uri="{FF2B5EF4-FFF2-40B4-BE49-F238E27FC236}">
                <a16:creationId xmlns:a16="http://schemas.microsoft.com/office/drawing/2014/main" id="{5E688CCD-EB17-2962-6BC3-09B7B61E928A}"/>
              </a:ext>
            </a:extLst>
          </p:cNvPr>
          <p:cNvPicPr>
            <a:picLocks noChangeAspect="1"/>
          </p:cNvPicPr>
          <p:nvPr/>
        </p:nvPicPr>
        <p:blipFill>
          <a:blip r:embed="rId18">
            <a:alphaModFix amt="85000"/>
          </a:blip>
          <a:stretch>
            <a:fillRect/>
          </a:stretch>
        </p:blipFill>
        <p:spPr>
          <a:xfrm>
            <a:off x="9118600" y="571500"/>
            <a:ext cx="1993900" cy="444500"/>
          </a:xfrm>
          <a:prstGeom prst="rect">
            <a:avLst/>
          </a:prstGeom>
        </p:spPr>
      </p:pic>
      <p:sp>
        <p:nvSpPr>
          <p:cNvPr id="52" name="TextBox 13">
            <a:extLst>
              <a:ext uri="{FF2B5EF4-FFF2-40B4-BE49-F238E27FC236}">
                <a16:creationId xmlns:a16="http://schemas.microsoft.com/office/drawing/2014/main" id="{6E5B6C42-8ABC-BE27-DAD5-A3D54D07D499}"/>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53" name="TextBox 15">
            <a:extLst>
              <a:ext uri="{FF2B5EF4-FFF2-40B4-BE49-F238E27FC236}">
                <a16:creationId xmlns:a16="http://schemas.microsoft.com/office/drawing/2014/main" id="{00BEB622-6A5D-2AA8-581D-366B3E34F137}"/>
              </a:ext>
            </a:extLst>
          </p:cNvPr>
          <p:cNvSpPr txBox="1"/>
          <p:nvPr/>
        </p:nvSpPr>
        <p:spPr>
          <a:xfrm>
            <a:off x="11353800" y="457200"/>
            <a:ext cx="25273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시나리오</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모의해킹</a:t>
            </a:r>
            <a:endParaRPr lang="en-US" sz="2666" b="0" i="0" u="none" strike="noStrike" spc="-100" dirty="0">
              <a:solidFill>
                <a:srgbClr val="C2C2C2"/>
              </a:solidFill>
              <a:latin typeface="Pretendard SemiBold"/>
              <a:ea typeface="Pretendard SemiBold"/>
              <a:cs typeface="Pretendard SemiBold"/>
            </a:endParaRPr>
          </a:p>
        </p:txBody>
      </p:sp>
      <p:sp>
        <p:nvSpPr>
          <p:cNvPr id="54" name="TextBox 16">
            <a:extLst>
              <a:ext uri="{FF2B5EF4-FFF2-40B4-BE49-F238E27FC236}">
                <a16:creationId xmlns:a16="http://schemas.microsoft.com/office/drawing/2014/main" id="{C9BA78C7-234D-76A3-A978-311C31C7DAD3}"/>
              </a:ext>
            </a:extLst>
          </p:cNvPr>
          <p:cNvSpPr txBox="1"/>
          <p:nvPr/>
        </p:nvSpPr>
        <p:spPr>
          <a:xfrm>
            <a:off x="14097000" y="4699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55" name="TextBox 17">
            <a:extLst>
              <a:ext uri="{FF2B5EF4-FFF2-40B4-BE49-F238E27FC236}">
                <a16:creationId xmlns:a16="http://schemas.microsoft.com/office/drawing/2014/main" id="{A807C3DC-FB5F-9ADB-9F64-70C4B97C7A9E}"/>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개발 및 진단</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13144500" y="8509000"/>
            <a:ext cx="9334500" cy="3746500"/>
          </a:xfrm>
          <a:prstGeom prst="rect">
            <a:avLst/>
          </a:prstGeom>
          <a:effectLst>
            <a:outerShdw blurRad="93663" dist="86458" dir="2700000">
              <a:srgbClr val="1A7AE1">
                <a:alpha val="15000"/>
              </a:srgbClr>
            </a:outerShdw>
          </a:effectLst>
        </p:spPr>
      </p:pic>
      <p:pic>
        <p:nvPicPr>
          <p:cNvPr id="3" name="Picture 3"/>
          <p:cNvPicPr>
            <a:picLocks noChangeAspect="1"/>
          </p:cNvPicPr>
          <p:nvPr/>
        </p:nvPicPr>
        <p:blipFill>
          <a:blip r:embed="rId3">
            <a:alphaModFix amt="70000"/>
          </a:blip>
          <a:stretch>
            <a:fillRect/>
          </a:stretch>
        </p:blipFill>
        <p:spPr>
          <a:xfrm>
            <a:off x="16230600" y="-2590800"/>
            <a:ext cx="11442700" cy="11442700"/>
          </a:xfrm>
          <a:prstGeom prst="rect">
            <a:avLst/>
          </a:prstGeom>
        </p:spPr>
      </p:pic>
      <p:pic>
        <p:nvPicPr>
          <p:cNvPr id="4" name="Picture 4"/>
          <p:cNvPicPr>
            <a:picLocks noChangeAspect="1"/>
          </p:cNvPicPr>
          <p:nvPr/>
        </p:nvPicPr>
        <p:blipFill>
          <a:blip r:embed="rId4"/>
          <a:stretch>
            <a:fillRect/>
          </a:stretch>
        </p:blipFill>
        <p:spPr>
          <a:xfrm>
            <a:off x="762000" y="1092200"/>
            <a:ext cx="22860000" cy="12700"/>
          </a:xfrm>
          <a:prstGeom prst="rect">
            <a:avLst/>
          </a:prstGeom>
        </p:spPr>
      </p:pic>
      <p:pic>
        <p:nvPicPr>
          <p:cNvPr id="5" name="Picture 5"/>
          <p:cNvPicPr>
            <a:picLocks noChangeAspect="1"/>
          </p:cNvPicPr>
          <p:nvPr/>
        </p:nvPicPr>
        <p:blipFill>
          <a:blip r:embed="rId5"/>
          <a:stretch>
            <a:fillRect/>
          </a:stretch>
        </p:blipFill>
        <p:spPr>
          <a:xfrm rot="5400000">
            <a:off x="3200400" y="787400"/>
            <a:ext cx="635000" cy="12700"/>
          </a:xfrm>
          <a:prstGeom prst="rect">
            <a:avLst/>
          </a:prstGeom>
        </p:spPr>
      </p:pic>
      <p:pic>
        <p:nvPicPr>
          <p:cNvPr id="6" name="Picture 6"/>
          <p:cNvPicPr>
            <a:picLocks noChangeAspect="1"/>
          </p:cNvPicPr>
          <p:nvPr/>
        </p:nvPicPr>
        <p:blipFill>
          <a:blip r:embed="rId5"/>
          <a:stretch>
            <a:fillRect/>
          </a:stretch>
        </p:blipFill>
        <p:spPr>
          <a:xfrm rot="5400000">
            <a:off x="22225000" y="787400"/>
            <a:ext cx="635000" cy="12700"/>
          </a:xfrm>
          <a:prstGeom prst="rect">
            <a:avLst/>
          </a:prstGeom>
        </p:spPr>
      </p:pic>
      <p:pic>
        <p:nvPicPr>
          <p:cNvPr id="7" name="Picture 7"/>
          <p:cNvPicPr>
            <a:picLocks noChangeAspect="1"/>
          </p:cNvPicPr>
          <p:nvPr/>
        </p:nvPicPr>
        <p:blipFill>
          <a:blip r:embed="rId5"/>
          <a:stretch>
            <a:fillRect/>
          </a:stretch>
        </p:blipFill>
        <p:spPr>
          <a:xfrm rot="5400000">
            <a:off x="6337300" y="787400"/>
            <a:ext cx="635000" cy="12700"/>
          </a:xfrm>
          <a:prstGeom prst="rect">
            <a:avLst/>
          </a:prstGeom>
        </p:spPr>
      </p:pic>
      <p:pic>
        <p:nvPicPr>
          <p:cNvPr id="8" name="Picture 8"/>
          <p:cNvPicPr>
            <a:picLocks noChangeAspect="1"/>
          </p:cNvPicPr>
          <p:nvPr/>
        </p:nvPicPr>
        <p:blipFill>
          <a:blip r:embed="rId4"/>
          <a:stretch>
            <a:fillRect/>
          </a:stretch>
        </p:blipFill>
        <p:spPr>
          <a:xfrm>
            <a:off x="723900" y="457200"/>
            <a:ext cx="22860000" cy="12700"/>
          </a:xfrm>
          <a:prstGeom prst="rect">
            <a:avLst/>
          </a:prstGeom>
        </p:spPr>
      </p:pic>
      <p:pic>
        <p:nvPicPr>
          <p:cNvPr id="10" name="Picture 10"/>
          <p:cNvPicPr>
            <a:picLocks noChangeAspect="1"/>
          </p:cNvPicPr>
          <p:nvPr/>
        </p:nvPicPr>
        <p:blipFill>
          <a:blip r:embed="rId6"/>
          <a:stretch>
            <a:fillRect/>
          </a:stretch>
        </p:blipFill>
        <p:spPr>
          <a:xfrm>
            <a:off x="1485900" y="1612900"/>
            <a:ext cx="88900" cy="850900"/>
          </a:xfrm>
          <a:prstGeom prst="rect">
            <a:avLst/>
          </a:prstGeom>
        </p:spPr>
      </p:pic>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a:solidFill>
                  <a:srgbClr val="024EA0"/>
                </a:solidFill>
                <a:latin typeface="Geologica Roman Light"/>
                <a:ea typeface="Geologica Roman Light"/>
                <a:cs typeface="Geologica Roman Light"/>
              </a:rPr>
              <a:t>24</a:t>
            </a:r>
          </a:p>
        </p:txBody>
      </p:sp>
      <p:pic>
        <p:nvPicPr>
          <p:cNvPr id="12" name="Picture 12"/>
          <p:cNvPicPr>
            <a:picLocks noChangeAspect="1"/>
          </p:cNvPicPr>
          <p:nvPr/>
        </p:nvPicPr>
        <p:blipFill>
          <a:blip r:embed="rId7"/>
          <a:stretch>
            <a:fillRect/>
          </a:stretch>
        </p:blipFill>
        <p:spPr>
          <a:xfrm>
            <a:off x="1905000" y="4089400"/>
            <a:ext cx="9334500" cy="3746500"/>
          </a:xfrm>
          <a:prstGeom prst="rect">
            <a:avLst/>
          </a:prstGeom>
          <a:effectLst>
            <a:outerShdw blurRad="93663" dist="86458" dir="2700000">
              <a:srgbClr val="1A7AE1">
                <a:alpha val="15000"/>
              </a:srgbClr>
            </a:outerShdw>
          </a:effectLst>
        </p:spPr>
      </p:pic>
      <p:sp>
        <p:nvSpPr>
          <p:cNvPr id="13" name="TextBox 13"/>
          <p:cNvSpPr txBox="1"/>
          <p:nvPr/>
        </p:nvSpPr>
        <p:spPr>
          <a:xfrm>
            <a:off x="3429000" y="4851400"/>
            <a:ext cx="6286500" cy="571500"/>
          </a:xfrm>
          <a:prstGeom prst="rect">
            <a:avLst/>
          </a:prstGeom>
        </p:spPr>
        <p:txBody>
          <a:bodyPr lIns="0" tIns="0" rIns="0" bIns="0" rtlCol="0" anchor="t"/>
          <a:lstStyle/>
          <a:p>
            <a:pPr lvl="0" algn="ctr">
              <a:lnSpc>
                <a:spcPct val="116199"/>
              </a:lnSpc>
            </a:pPr>
            <a:r>
              <a:rPr lang="en-US" sz="3199" b="0" i="0" u="none" strike="noStrike">
                <a:solidFill>
                  <a:srgbClr val="000000"/>
                </a:solidFill>
                <a:latin typeface="Pretendard SemiBold"/>
                <a:ea typeface="Pretendard SemiBold"/>
                <a:cs typeface="Pretendard SemiBold"/>
              </a:rPr>
              <a:t>Google Play Integrity API 적용</a:t>
            </a:r>
          </a:p>
        </p:txBody>
      </p:sp>
      <p:sp>
        <p:nvSpPr>
          <p:cNvPr id="14" name="TextBox 14"/>
          <p:cNvSpPr txBox="1"/>
          <p:nvPr/>
        </p:nvSpPr>
        <p:spPr>
          <a:xfrm>
            <a:off x="2336800" y="5880100"/>
            <a:ext cx="8178800" cy="1079500"/>
          </a:xfrm>
          <a:prstGeom prst="rect">
            <a:avLst/>
          </a:prstGeom>
        </p:spPr>
        <p:txBody>
          <a:bodyPr lIns="0" tIns="0" rIns="0" bIns="0" rtlCol="0" anchor="t"/>
          <a:lstStyle/>
          <a:p>
            <a:pPr lvl="0" algn="ctr">
              <a:lnSpc>
                <a:spcPct val="149400"/>
              </a:lnSpc>
            </a:pPr>
            <a:r>
              <a:rPr lang="en-US" sz="2666" b="0" i="0" u="none" strike="noStrike">
                <a:solidFill>
                  <a:srgbClr val="000000">
                    <a:alpha val="70196"/>
                  </a:srgbClr>
                </a:solidFill>
                <a:latin typeface="Pretendard Medium"/>
                <a:ea typeface="Pretendard Medium"/>
                <a:cs typeface="Pretendard Medium"/>
              </a:rPr>
              <a:t>설치 파일의 무결성을 Google의 신뢰된 플랫폼을 통해 </a:t>
            </a:r>
          </a:p>
          <a:p>
            <a:pPr lvl="0" algn="ctr">
              <a:lnSpc>
                <a:spcPct val="149400"/>
              </a:lnSpc>
            </a:pPr>
            <a:r>
              <a:rPr lang="en-US" sz="2666" b="0" i="0" u="none" strike="noStrike">
                <a:solidFill>
                  <a:srgbClr val="000000">
                    <a:alpha val="70196"/>
                  </a:srgbClr>
                </a:solidFill>
                <a:latin typeface="Pretendard Medium"/>
                <a:ea typeface="Pretendard Medium"/>
                <a:cs typeface="Pretendard Medium"/>
              </a:rPr>
              <a:t>직접 검증하여 위·변조된 앱에서의 실행을 차단해야 합니다.</a:t>
            </a:r>
          </a:p>
        </p:txBody>
      </p:sp>
      <p:pic>
        <p:nvPicPr>
          <p:cNvPr id="15" name="Picture 15"/>
          <p:cNvPicPr>
            <a:picLocks noChangeAspect="1"/>
          </p:cNvPicPr>
          <p:nvPr/>
        </p:nvPicPr>
        <p:blipFill>
          <a:blip r:embed="rId2"/>
          <a:stretch>
            <a:fillRect/>
          </a:stretch>
        </p:blipFill>
        <p:spPr>
          <a:xfrm>
            <a:off x="13144500" y="4089400"/>
            <a:ext cx="9334500" cy="3746500"/>
          </a:xfrm>
          <a:prstGeom prst="rect">
            <a:avLst/>
          </a:prstGeom>
          <a:effectLst>
            <a:outerShdw blurRad="93663" dist="86458" dir="2700000">
              <a:srgbClr val="1A7AE1">
                <a:alpha val="15000"/>
              </a:srgbClr>
            </a:outerShdw>
          </a:effectLst>
        </p:spPr>
      </p:pic>
      <p:sp>
        <p:nvSpPr>
          <p:cNvPr id="16" name="TextBox 16"/>
          <p:cNvSpPr txBox="1"/>
          <p:nvPr/>
        </p:nvSpPr>
        <p:spPr>
          <a:xfrm>
            <a:off x="14490700" y="4851400"/>
            <a:ext cx="6807200" cy="571500"/>
          </a:xfrm>
          <a:prstGeom prst="rect">
            <a:avLst/>
          </a:prstGeom>
        </p:spPr>
        <p:txBody>
          <a:bodyPr lIns="0" tIns="0" rIns="0" bIns="0" rtlCol="0" anchor="t"/>
          <a:lstStyle/>
          <a:p>
            <a:pPr lvl="0" algn="ctr">
              <a:lnSpc>
                <a:spcPct val="116199"/>
              </a:lnSpc>
            </a:pPr>
            <a:r>
              <a:rPr lang="en-US" sz="3199" b="0" i="0" u="none" strike="noStrike">
                <a:solidFill>
                  <a:srgbClr val="000000"/>
                </a:solidFill>
                <a:latin typeface="Pretendard SemiBold"/>
                <a:ea typeface="Pretendard SemiBold"/>
                <a:cs typeface="Pretendard SemiBold"/>
              </a:rPr>
              <a:t>JNI 계층 기반 플래그 은닉 및 동적 검증</a:t>
            </a:r>
          </a:p>
        </p:txBody>
      </p:sp>
      <p:sp>
        <p:nvSpPr>
          <p:cNvPr id="17" name="TextBox 17"/>
          <p:cNvSpPr txBox="1"/>
          <p:nvPr/>
        </p:nvSpPr>
        <p:spPr>
          <a:xfrm>
            <a:off x="13982700" y="5880100"/>
            <a:ext cx="8267700" cy="1079500"/>
          </a:xfrm>
          <a:prstGeom prst="rect">
            <a:avLst/>
          </a:prstGeom>
        </p:spPr>
        <p:txBody>
          <a:bodyPr lIns="0" tIns="0" rIns="0" bIns="0" rtlCol="0" anchor="t"/>
          <a:lstStyle/>
          <a:p>
            <a:pPr lvl="0" algn="ctr">
              <a:lnSpc>
                <a:spcPct val="149400"/>
              </a:lnSpc>
            </a:pPr>
            <a:r>
              <a:rPr lang="en-US" sz="2666" b="0" i="0" u="none" strike="noStrike">
                <a:solidFill>
                  <a:srgbClr val="000000">
                    <a:alpha val="70196"/>
                  </a:srgbClr>
                </a:solidFill>
                <a:latin typeface="Pretendard Medium"/>
                <a:ea typeface="Pretendard Medium"/>
                <a:cs typeface="Pretendard Medium"/>
              </a:rPr>
              <a:t>인증 및 무결성 상태 플래그를 JNI 계층에 은닉해  API 요청시 검증하여 메모리 조작 및 기능의 강제 실행을 차단해야 합니다.</a:t>
            </a:r>
          </a:p>
        </p:txBody>
      </p:sp>
      <p:pic>
        <p:nvPicPr>
          <p:cNvPr id="18" name="Picture 18"/>
          <p:cNvPicPr>
            <a:picLocks noChangeAspect="1"/>
          </p:cNvPicPr>
          <p:nvPr/>
        </p:nvPicPr>
        <p:blipFill>
          <a:blip r:embed="rId7"/>
          <a:stretch>
            <a:fillRect/>
          </a:stretch>
        </p:blipFill>
        <p:spPr>
          <a:xfrm>
            <a:off x="1905000" y="8509000"/>
            <a:ext cx="9334500" cy="3746500"/>
          </a:xfrm>
          <a:prstGeom prst="rect">
            <a:avLst/>
          </a:prstGeom>
          <a:effectLst>
            <a:outerShdw blurRad="93663" dist="86458" dir="2700000">
              <a:srgbClr val="1A7AE1">
                <a:alpha val="15000"/>
              </a:srgbClr>
            </a:outerShdw>
          </a:effectLst>
        </p:spPr>
      </p:pic>
      <p:sp>
        <p:nvSpPr>
          <p:cNvPr id="19" name="TextBox 19"/>
          <p:cNvSpPr txBox="1"/>
          <p:nvPr/>
        </p:nvSpPr>
        <p:spPr>
          <a:xfrm>
            <a:off x="3810000" y="9283700"/>
            <a:ext cx="5511800" cy="571500"/>
          </a:xfrm>
          <a:prstGeom prst="rect">
            <a:avLst/>
          </a:prstGeom>
        </p:spPr>
        <p:txBody>
          <a:bodyPr lIns="0" tIns="0" rIns="0" bIns="0" rtlCol="0" anchor="t"/>
          <a:lstStyle/>
          <a:p>
            <a:pPr lvl="0" algn="ctr">
              <a:lnSpc>
                <a:spcPct val="116199"/>
              </a:lnSpc>
            </a:pPr>
            <a:r>
              <a:rPr lang="en-US" sz="3199" b="0" i="0" u="none" strike="noStrike">
                <a:solidFill>
                  <a:srgbClr val="000000"/>
                </a:solidFill>
                <a:latin typeface="Pretendard SemiBold"/>
                <a:ea typeface="Pretendard SemiBold"/>
                <a:cs typeface="Pretendard SemiBold"/>
              </a:rPr>
              <a:t>서버 연계 무결성 토큰 교차 검증</a:t>
            </a:r>
          </a:p>
        </p:txBody>
      </p:sp>
      <p:sp>
        <p:nvSpPr>
          <p:cNvPr id="20" name="TextBox 20"/>
          <p:cNvSpPr txBox="1"/>
          <p:nvPr/>
        </p:nvSpPr>
        <p:spPr>
          <a:xfrm>
            <a:off x="2628900" y="10350500"/>
            <a:ext cx="7886700" cy="1079500"/>
          </a:xfrm>
          <a:prstGeom prst="rect">
            <a:avLst/>
          </a:prstGeom>
        </p:spPr>
        <p:txBody>
          <a:bodyPr lIns="0" tIns="0" rIns="0" bIns="0" rtlCol="0" anchor="t"/>
          <a:lstStyle/>
          <a:p>
            <a:pPr lvl="0" algn="ctr">
              <a:lnSpc>
                <a:spcPct val="149400"/>
              </a:lnSpc>
            </a:pPr>
            <a:r>
              <a:rPr lang="en-US" sz="2666" b="0" i="0" u="none" strike="noStrike">
                <a:solidFill>
                  <a:srgbClr val="000000">
                    <a:alpha val="70196"/>
                  </a:srgbClr>
                </a:solidFill>
                <a:latin typeface="Pretendard Medium"/>
                <a:ea typeface="Pretendard Medium"/>
                <a:cs typeface="Pretendard Medium"/>
              </a:rPr>
              <a:t>앱이 API를 요청할 때 무결성 상태를 증명하는 토큰을 함께 전송하여 서버에서 토큰의 유효성을 검증해야 합니다.</a:t>
            </a:r>
          </a:p>
        </p:txBody>
      </p:sp>
      <p:pic>
        <p:nvPicPr>
          <p:cNvPr id="21" name="Picture 21"/>
          <p:cNvPicPr>
            <a:picLocks noChangeAspect="1"/>
          </p:cNvPicPr>
          <p:nvPr/>
        </p:nvPicPr>
        <p:blipFill>
          <a:blip r:embed="rId8"/>
          <a:stretch>
            <a:fillRect/>
          </a:stretch>
        </p:blipFill>
        <p:spPr>
          <a:xfrm>
            <a:off x="10045700" y="5943600"/>
            <a:ext cx="4381500" cy="4381500"/>
          </a:xfrm>
          <a:prstGeom prst="rect">
            <a:avLst/>
          </a:prstGeom>
          <a:effectLst>
            <a:outerShdw blurRad="109630" dist="168662" dir="2700000">
              <a:srgbClr val="C2C2C2">
                <a:alpha val="25000"/>
              </a:srgbClr>
            </a:outerShdw>
          </a:effectLst>
        </p:spPr>
      </p:pic>
      <p:pic>
        <p:nvPicPr>
          <p:cNvPr id="22" name="Picture 22"/>
          <p:cNvPicPr>
            <a:picLocks noChangeAspect="1"/>
          </p:cNvPicPr>
          <p:nvPr/>
        </p:nvPicPr>
        <p:blipFill>
          <a:blip r:embed="rId9"/>
          <a:stretch>
            <a:fillRect/>
          </a:stretch>
        </p:blipFill>
        <p:spPr>
          <a:xfrm>
            <a:off x="21590000" y="4470400"/>
            <a:ext cx="495300" cy="495300"/>
          </a:xfrm>
          <a:prstGeom prst="rect">
            <a:avLst/>
          </a:prstGeom>
          <a:effectLst>
            <a:outerShdw blurRad="24617" dist="18936" dir="2700000">
              <a:srgbClr val="C2C2C2">
                <a:alpha val="25000"/>
              </a:srgbClr>
            </a:outerShdw>
          </a:effectLst>
        </p:spPr>
      </p:pic>
      <p:pic>
        <p:nvPicPr>
          <p:cNvPr id="23" name="Picture 23"/>
          <p:cNvPicPr>
            <a:picLocks noChangeAspect="1"/>
          </p:cNvPicPr>
          <p:nvPr/>
        </p:nvPicPr>
        <p:blipFill>
          <a:blip r:embed="rId10"/>
          <a:stretch>
            <a:fillRect/>
          </a:stretch>
        </p:blipFill>
        <p:spPr>
          <a:xfrm>
            <a:off x="21717000" y="4622800"/>
            <a:ext cx="266700" cy="203200"/>
          </a:xfrm>
          <a:prstGeom prst="rect">
            <a:avLst/>
          </a:prstGeom>
        </p:spPr>
      </p:pic>
      <p:sp>
        <p:nvSpPr>
          <p:cNvPr id="24" name="TextBox 24"/>
          <p:cNvSpPr txBox="1"/>
          <p:nvPr/>
        </p:nvSpPr>
        <p:spPr>
          <a:xfrm>
            <a:off x="10858500" y="7467600"/>
            <a:ext cx="2743200" cy="1320800"/>
          </a:xfrm>
          <a:prstGeom prst="rect">
            <a:avLst/>
          </a:prstGeom>
        </p:spPr>
        <p:txBody>
          <a:bodyPr lIns="0" tIns="0" rIns="0" bIns="0" rtlCol="0" anchor="t"/>
          <a:lstStyle/>
          <a:p>
            <a:pPr lvl="0" algn="ctr">
              <a:lnSpc>
                <a:spcPct val="116199"/>
              </a:lnSpc>
            </a:pPr>
            <a:r>
              <a:rPr lang="en-US" sz="3733" b="0" i="0" u="none" strike="noStrike">
                <a:solidFill>
                  <a:srgbClr val="FFFFFF"/>
                </a:solidFill>
                <a:latin typeface="Pretendard SemiBold"/>
                <a:ea typeface="Pretendard SemiBold"/>
                <a:cs typeface="Pretendard SemiBold"/>
              </a:rPr>
              <a:t>위변조 탐지</a:t>
            </a:r>
          </a:p>
          <a:p>
            <a:pPr lvl="0" algn="ctr">
              <a:lnSpc>
                <a:spcPct val="116199"/>
              </a:lnSpc>
            </a:pPr>
            <a:r>
              <a:rPr lang="en-US" sz="3733" b="0" i="0" u="none" strike="noStrike">
                <a:solidFill>
                  <a:srgbClr val="FFFFFF"/>
                </a:solidFill>
                <a:latin typeface="Pretendard SemiBold"/>
                <a:ea typeface="Pretendard SemiBold"/>
                <a:cs typeface="Pretendard SemiBold"/>
              </a:rPr>
              <a:t>(App)</a:t>
            </a:r>
          </a:p>
        </p:txBody>
      </p:sp>
      <p:sp>
        <p:nvSpPr>
          <p:cNvPr id="25" name="TextBox 25"/>
          <p:cNvSpPr txBox="1"/>
          <p:nvPr/>
        </p:nvSpPr>
        <p:spPr>
          <a:xfrm>
            <a:off x="15062200" y="9182100"/>
            <a:ext cx="5511800" cy="571500"/>
          </a:xfrm>
          <a:prstGeom prst="rect">
            <a:avLst/>
          </a:prstGeom>
        </p:spPr>
        <p:txBody>
          <a:bodyPr lIns="0" tIns="0" rIns="0" bIns="0" rtlCol="0" anchor="t"/>
          <a:lstStyle/>
          <a:p>
            <a:pPr lvl="0" algn="ctr">
              <a:lnSpc>
                <a:spcPct val="116199"/>
              </a:lnSpc>
            </a:pPr>
            <a:r>
              <a:rPr lang="en-US" sz="3200" b="0" i="0" u="none" strike="noStrike">
                <a:solidFill>
                  <a:srgbClr val="000000"/>
                </a:solidFill>
                <a:latin typeface="Pretendard SemiBold"/>
                <a:ea typeface="Pretendard SemiBold"/>
                <a:cs typeface="Pretendard SemiBold"/>
              </a:rPr>
              <a:t>안티디버깅 기술 적용</a:t>
            </a:r>
          </a:p>
        </p:txBody>
      </p:sp>
      <p:sp>
        <p:nvSpPr>
          <p:cNvPr id="26" name="TextBox 26"/>
          <p:cNvSpPr txBox="1"/>
          <p:nvPr/>
        </p:nvSpPr>
        <p:spPr>
          <a:xfrm>
            <a:off x="14300200" y="10325100"/>
            <a:ext cx="7137400" cy="1079500"/>
          </a:xfrm>
          <a:prstGeom prst="rect">
            <a:avLst/>
          </a:prstGeom>
        </p:spPr>
        <p:txBody>
          <a:bodyPr lIns="0" tIns="0" rIns="0" bIns="0" rtlCol="0" anchor="t"/>
          <a:lstStyle/>
          <a:p>
            <a:pPr lvl="0" algn="ctr">
              <a:lnSpc>
                <a:spcPct val="149400"/>
              </a:lnSpc>
            </a:pPr>
            <a:r>
              <a:rPr lang="en-US" sz="2666" b="0" i="0" u="none" strike="noStrike">
                <a:solidFill>
                  <a:srgbClr val="000000">
                    <a:alpha val="70196"/>
                  </a:srgbClr>
                </a:solidFill>
                <a:latin typeface="Pretendard Medium"/>
                <a:ea typeface="Pretendard Medium"/>
                <a:cs typeface="Pretendard Medium"/>
              </a:rPr>
              <a:t>공격자가 코드를 디버거 도구를 이용해 역분석하거나 로직을 조작하는 것을 실시간으로 탐지해야 합니다.</a:t>
            </a:r>
          </a:p>
        </p:txBody>
      </p:sp>
      <p:pic>
        <p:nvPicPr>
          <p:cNvPr id="27" name="Picture 27"/>
          <p:cNvPicPr>
            <a:picLocks noChangeAspect="1"/>
          </p:cNvPicPr>
          <p:nvPr/>
        </p:nvPicPr>
        <p:blipFill>
          <a:blip r:embed="rId11"/>
          <a:stretch>
            <a:fillRect/>
          </a:stretch>
        </p:blipFill>
        <p:spPr>
          <a:xfrm>
            <a:off x="21590000" y="8902700"/>
            <a:ext cx="495300" cy="495300"/>
          </a:xfrm>
          <a:prstGeom prst="rect">
            <a:avLst/>
          </a:prstGeom>
          <a:effectLst>
            <a:outerShdw blurRad="24617" dist="18936" dir="2700000">
              <a:srgbClr val="C2C2C2">
                <a:alpha val="25000"/>
              </a:srgbClr>
            </a:outerShdw>
          </a:effectLst>
        </p:spPr>
      </p:pic>
      <p:pic>
        <p:nvPicPr>
          <p:cNvPr id="28" name="Picture 28"/>
          <p:cNvPicPr>
            <a:picLocks noChangeAspect="1"/>
          </p:cNvPicPr>
          <p:nvPr/>
        </p:nvPicPr>
        <p:blipFill>
          <a:blip r:embed="rId10"/>
          <a:stretch>
            <a:fillRect/>
          </a:stretch>
        </p:blipFill>
        <p:spPr>
          <a:xfrm>
            <a:off x="21717000" y="9067800"/>
            <a:ext cx="266700" cy="203200"/>
          </a:xfrm>
          <a:prstGeom prst="rect">
            <a:avLst/>
          </a:prstGeom>
        </p:spPr>
      </p:pic>
      <p:pic>
        <p:nvPicPr>
          <p:cNvPr id="29" name="Picture 29"/>
          <p:cNvPicPr>
            <a:picLocks noChangeAspect="1"/>
          </p:cNvPicPr>
          <p:nvPr/>
        </p:nvPicPr>
        <p:blipFill>
          <a:blip r:embed="rId12"/>
          <a:stretch>
            <a:fillRect/>
          </a:stretch>
        </p:blipFill>
        <p:spPr>
          <a:xfrm>
            <a:off x="1485900" y="1612900"/>
            <a:ext cx="88900" cy="850900"/>
          </a:xfrm>
          <a:prstGeom prst="rect">
            <a:avLst/>
          </a:prstGeom>
        </p:spPr>
      </p:pic>
      <p:sp>
        <p:nvSpPr>
          <p:cNvPr id="30" name="TextBox 30"/>
          <p:cNvSpPr txBox="1"/>
          <p:nvPr/>
        </p:nvSpPr>
        <p:spPr>
          <a:xfrm>
            <a:off x="1943100" y="1409700"/>
            <a:ext cx="106807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App 보안 대책 - 위변조 탐지</a:t>
            </a:r>
          </a:p>
        </p:txBody>
      </p:sp>
      <p:sp>
        <p:nvSpPr>
          <p:cNvPr id="32" name="TextBox 14">
            <a:extLst>
              <a:ext uri="{FF2B5EF4-FFF2-40B4-BE49-F238E27FC236}">
                <a16:creationId xmlns:a16="http://schemas.microsoft.com/office/drawing/2014/main" id="{DBE1780F-D86F-600E-EA80-0D61FA36E1CF}"/>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33" name="TextBox 14">
            <a:extLst>
              <a:ext uri="{FF2B5EF4-FFF2-40B4-BE49-F238E27FC236}">
                <a16:creationId xmlns:a16="http://schemas.microsoft.com/office/drawing/2014/main" id="{5177A691-2805-FBF1-B7CD-86B079EAF7D2}"/>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40" name="Picture 12">
            <a:extLst>
              <a:ext uri="{FF2B5EF4-FFF2-40B4-BE49-F238E27FC236}">
                <a16:creationId xmlns:a16="http://schemas.microsoft.com/office/drawing/2014/main" id="{FB6A3B88-E4FB-8E08-0233-3A75D19319AC}"/>
              </a:ext>
            </a:extLst>
          </p:cNvPr>
          <p:cNvPicPr>
            <a:picLocks noChangeAspect="1"/>
          </p:cNvPicPr>
          <p:nvPr/>
        </p:nvPicPr>
        <p:blipFill>
          <a:blip r:embed="rId13">
            <a:alphaModFix amt="85000"/>
          </a:blip>
          <a:stretch>
            <a:fillRect/>
          </a:stretch>
        </p:blipFill>
        <p:spPr>
          <a:xfrm>
            <a:off x="9118600" y="571500"/>
            <a:ext cx="1993900" cy="444500"/>
          </a:xfrm>
          <a:prstGeom prst="rect">
            <a:avLst/>
          </a:prstGeom>
        </p:spPr>
      </p:pic>
      <p:sp>
        <p:nvSpPr>
          <p:cNvPr id="41" name="TextBox 13">
            <a:extLst>
              <a:ext uri="{FF2B5EF4-FFF2-40B4-BE49-F238E27FC236}">
                <a16:creationId xmlns:a16="http://schemas.microsoft.com/office/drawing/2014/main" id="{A825A965-2ABD-8E67-FC5E-7F6F500621E3}"/>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42" name="TextBox 15">
            <a:extLst>
              <a:ext uri="{FF2B5EF4-FFF2-40B4-BE49-F238E27FC236}">
                <a16:creationId xmlns:a16="http://schemas.microsoft.com/office/drawing/2014/main" id="{B57A9132-F73C-DC77-60D1-B009A61A6A42}"/>
              </a:ext>
            </a:extLst>
          </p:cNvPr>
          <p:cNvSpPr txBox="1"/>
          <p:nvPr/>
        </p:nvSpPr>
        <p:spPr>
          <a:xfrm>
            <a:off x="11353800" y="457200"/>
            <a:ext cx="25273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시나리오</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모의해킹</a:t>
            </a:r>
            <a:endParaRPr lang="en-US" sz="2666" b="0" i="0" u="none" strike="noStrike" spc="-100" dirty="0">
              <a:solidFill>
                <a:srgbClr val="C2C2C2"/>
              </a:solidFill>
              <a:latin typeface="Pretendard SemiBold"/>
              <a:ea typeface="Pretendard SemiBold"/>
              <a:cs typeface="Pretendard SemiBold"/>
            </a:endParaRPr>
          </a:p>
        </p:txBody>
      </p:sp>
      <p:sp>
        <p:nvSpPr>
          <p:cNvPr id="43" name="TextBox 16">
            <a:extLst>
              <a:ext uri="{FF2B5EF4-FFF2-40B4-BE49-F238E27FC236}">
                <a16:creationId xmlns:a16="http://schemas.microsoft.com/office/drawing/2014/main" id="{DC2E8A06-4930-6914-60C6-F44FE4E2D8B0}"/>
              </a:ext>
            </a:extLst>
          </p:cNvPr>
          <p:cNvSpPr txBox="1"/>
          <p:nvPr/>
        </p:nvSpPr>
        <p:spPr>
          <a:xfrm>
            <a:off x="14097000" y="4699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44" name="TextBox 17">
            <a:extLst>
              <a:ext uri="{FF2B5EF4-FFF2-40B4-BE49-F238E27FC236}">
                <a16:creationId xmlns:a16="http://schemas.microsoft.com/office/drawing/2014/main" id="{48DBFCF9-3B63-5774-C39B-BFBE79718ED4}"/>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개발 및 진단</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a:extLst>
            <a:ext uri="{FF2B5EF4-FFF2-40B4-BE49-F238E27FC236}">
              <a16:creationId xmlns:a16="http://schemas.microsoft.com/office/drawing/2014/main" id="{B5B5C631-32EA-69DE-35F8-19F010DDA934}"/>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366D9B07-932A-914C-2F47-09B267DC9D79}"/>
              </a:ext>
            </a:extLst>
          </p:cNvPr>
          <p:cNvPicPr>
            <a:picLocks noChangeAspect="1"/>
          </p:cNvPicPr>
          <p:nvPr/>
        </p:nvPicPr>
        <p:blipFill>
          <a:blip r:embed="rId2">
            <a:alphaModFix amt="80000"/>
          </a:blip>
          <a:stretch>
            <a:fillRect/>
          </a:stretch>
        </p:blipFill>
        <p:spPr>
          <a:xfrm>
            <a:off x="15798800" y="-1803400"/>
            <a:ext cx="11442700" cy="11442700"/>
          </a:xfrm>
          <a:prstGeom prst="rect">
            <a:avLst/>
          </a:prstGeom>
        </p:spPr>
      </p:pic>
      <p:pic>
        <p:nvPicPr>
          <p:cNvPr id="3" name="Picture 3">
            <a:extLst>
              <a:ext uri="{FF2B5EF4-FFF2-40B4-BE49-F238E27FC236}">
                <a16:creationId xmlns:a16="http://schemas.microsoft.com/office/drawing/2014/main" id="{D374CC7B-273C-FB39-F3C2-4D4058657AC2}"/>
              </a:ext>
            </a:extLst>
          </p:cNvPr>
          <p:cNvPicPr>
            <a:picLocks noChangeAspect="1"/>
          </p:cNvPicPr>
          <p:nvPr/>
        </p:nvPicPr>
        <p:blipFill>
          <a:blip r:embed="rId2">
            <a:alphaModFix amt="40000"/>
          </a:blip>
          <a:stretch>
            <a:fillRect/>
          </a:stretch>
        </p:blipFill>
        <p:spPr>
          <a:xfrm>
            <a:off x="-2806700" y="4838354"/>
            <a:ext cx="11442700" cy="11442700"/>
          </a:xfrm>
          <a:prstGeom prst="rect">
            <a:avLst/>
          </a:prstGeom>
        </p:spPr>
      </p:pic>
      <p:sp>
        <p:nvSpPr>
          <p:cNvPr id="4" name="TextBox 4">
            <a:extLst>
              <a:ext uri="{FF2B5EF4-FFF2-40B4-BE49-F238E27FC236}">
                <a16:creationId xmlns:a16="http://schemas.microsoft.com/office/drawing/2014/main" id="{1CBB3B70-3A26-A295-817B-AB33354AB771}"/>
              </a:ext>
            </a:extLst>
          </p:cNvPr>
          <p:cNvSpPr txBox="1"/>
          <p:nvPr/>
        </p:nvSpPr>
        <p:spPr>
          <a:xfrm>
            <a:off x="6858000" y="4838354"/>
            <a:ext cx="9580972" cy="1778000"/>
          </a:xfrm>
          <a:prstGeom prst="rect">
            <a:avLst/>
          </a:prstGeom>
        </p:spPr>
        <p:txBody>
          <a:bodyPr lIns="0" tIns="0" rIns="0" bIns="0" rtlCol="0" anchor="t"/>
          <a:lstStyle/>
          <a:p>
            <a:pPr>
              <a:lnSpc>
                <a:spcPct val="143590"/>
              </a:lnSpc>
            </a:pPr>
            <a:r>
              <a:rPr lang="ko-KR" altLang="en-US" sz="9600">
                <a:latin typeface="Pretendard SemiBold" panose="02000703000000020004" pitchFamily="2" charset="-127"/>
                <a:ea typeface="Pretendard SemiBold" panose="02000703000000020004" pitchFamily="2" charset="-127"/>
                <a:cs typeface="Pretendard SemiBold" panose="02000703000000020004" pitchFamily="2" charset="-127"/>
              </a:rPr>
              <a:t>시나리오 </a:t>
            </a:r>
            <a:r>
              <a:rPr lang="ko-KR" altLang="en-US" sz="9600" dirty="0" err="1">
                <a:latin typeface="Pretendard SemiBold" panose="02000703000000020004" pitchFamily="2" charset="-127"/>
                <a:ea typeface="Pretendard SemiBold" panose="02000703000000020004" pitchFamily="2" charset="-127"/>
                <a:cs typeface="Pretendard SemiBold" panose="02000703000000020004" pitchFamily="2" charset="-127"/>
              </a:rPr>
              <a:t>모의해킹</a:t>
            </a:r>
            <a:endParaRPr lang="en-US" altLang="ko-KR" sz="9600" dirty="0">
              <a:latin typeface="Pretendard SemiBold" panose="02000703000000020004" pitchFamily="2" charset="-127"/>
              <a:ea typeface="Pretendard SemiBold" panose="02000703000000020004" pitchFamily="2" charset="-127"/>
              <a:cs typeface="Pretendard SemiBold" panose="02000703000000020004" pitchFamily="2" charset="-127"/>
            </a:endParaRPr>
          </a:p>
        </p:txBody>
      </p:sp>
      <p:sp>
        <p:nvSpPr>
          <p:cNvPr id="65" name="TextBox 64">
            <a:extLst>
              <a:ext uri="{FF2B5EF4-FFF2-40B4-BE49-F238E27FC236}">
                <a16:creationId xmlns:a16="http://schemas.microsoft.com/office/drawing/2014/main" id="{4B2EC23B-25F6-0760-E4D6-38B6191EDC73}"/>
              </a:ext>
            </a:extLst>
          </p:cNvPr>
          <p:cNvSpPr txBox="1"/>
          <p:nvPr/>
        </p:nvSpPr>
        <p:spPr>
          <a:xfrm>
            <a:off x="2114550" y="2057400"/>
            <a:ext cx="4972050" cy="5982087"/>
          </a:xfrm>
          <a:prstGeom prst="rect">
            <a:avLst/>
          </a:prstGeom>
          <a:noFill/>
        </p:spPr>
        <p:txBody>
          <a:bodyPr wrap="square">
            <a:spAutoFit/>
          </a:bodyPr>
          <a:lstStyle/>
          <a:p>
            <a:pPr>
              <a:lnSpc>
                <a:spcPct val="143590"/>
              </a:lnSpc>
            </a:pPr>
            <a:r>
              <a:rPr lang="en-US" altLang="ko-KR" sz="30000" dirty="0">
                <a:solidFill>
                  <a:srgbClr val="1A7AE1"/>
                </a:solidFill>
                <a:latin typeface="Pretendard Regular" panose="02000503000000020004" pitchFamily="2" charset="-127"/>
                <a:ea typeface="Pretendard Regular" panose="02000503000000020004" pitchFamily="2" charset="-127"/>
                <a:cs typeface="Pretendard Regular" panose="02000503000000020004" pitchFamily="2" charset="-127"/>
              </a:rPr>
              <a:t>03</a:t>
            </a:r>
          </a:p>
        </p:txBody>
      </p:sp>
      <p:cxnSp>
        <p:nvCxnSpPr>
          <p:cNvPr id="67" name="직선 연결선 66">
            <a:extLst>
              <a:ext uri="{FF2B5EF4-FFF2-40B4-BE49-F238E27FC236}">
                <a16:creationId xmlns:a16="http://schemas.microsoft.com/office/drawing/2014/main" id="{507902BA-0792-0AEA-7F30-7CC3D992A4CE}"/>
              </a:ext>
            </a:extLst>
          </p:cNvPr>
          <p:cNvCxnSpPr>
            <a:cxnSpLocks/>
          </p:cNvCxnSpPr>
          <p:nvPr/>
        </p:nvCxnSpPr>
        <p:spPr>
          <a:xfrm>
            <a:off x="6661150" y="6858000"/>
            <a:ext cx="13760450" cy="0"/>
          </a:xfrm>
          <a:prstGeom prst="line">
            <a:avLst/>
          </a:prstGeom>
          <a:ln w="57150">
            <a:solidFill>
              <a:srgbClr val="1A7AE1"/>
            </a:solidFill>
          </a:ln>
        </p:spPr>
        <p:style>
          <a:lnRef idx="1">
            <a:schemeClr val="accent1"/>
          </a:lnRef>
          <a:fillRef idx="0">
            <a:schemeClr val="accent1"/>
          </a:fillRef>
          <a:effectRef idx="0">
            <a:schemeClr val="accent1"/>
          </a:effectRef>
          <a:fontRef idx="minor">
            <a:schemeClr val="tx1"/>
          </a:fontRef>
        </p:style>
      </p:cxnSp>
      <p:cxnSp>
        <p:nvCxnSpPr>
          <p:cNvPr id="68" name="직선 연결선 67">
            <a:extLst>
              <a:ext uri="{FF2B5EF4-FFF2-40B4-BE49-F238E27FC236}">
                <a16:creationId xmlns:a16="http://schemas.microsoft.com/office/drawing/2014/main" id="{BBE4769B-07AE-0C8A-37E8-A1CB85FFCD3D}"/>
              </a:ext>
            </a:extLst>
          </p:cNvPr>
          <p:cNvCxnSpPr>
            <a:cxnSpLocks/>
          </p:cNvCxnSpPr>
          <p:nvPr/>
        </p:nvCxnSpPr>
        <p:spPr>
          <a:xfrm>
            <a:off x="4857114" y="3191568"/>
            <a:ext cx="781686" cy="0"/>
          </a:xfrm>
          <a:prstGeom prst="line">
            <a:avLst/>
          </a:prstGeom>
          <a:ln w="9525">
            <a:solidFill>
              <a:srgbClr val="1A7AE1"/>
            </a:solidFill>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13789577-995E-8457-51B3-97C93A19E186}"/>
              </a:ext>
            </a:extLst>
          </p:cNvPr>
          <p:cNvSpPr txBox="1"/>
          <p:nvPr/>
        </p:nvSpPr>
        <p:spPr>
          <a:xfrm>
            <a:off x="2514600" y="2872827"/>
            <a:ext cx="3048000" cy="637482"/>
          </a:xfrm>
          <a:prstGeom prst="rect">
            <a:avLst/>
          </a:prstGeom>
          <a:noFill/>
        </p:spPr>
        <p:txBody>
          <a:bodyPr wrap="square">
            <a:spAutoFit/>
          </a:bodyPr>
          <a:lstStyle/>
          <a:p>
            <a:pPr lvl="0" algn="l">
              <a:lnSpc>
                <a:spcPct val="107899"/>
              </a:lnSpc>
            </a:pPr>
            <a:r>
              <a:rPr lang="en-US" altLang="ko-KR" sz="3500" dirty="0">
                <a:solidFill>
                  <a:srgbClr val="1A7AE1"/>
                </a:solidFill>
                <a:latin typeface="Pretendard Medium"/>
                <a:ea typeface="Pretendard Medium"/>
                <a:cs typeface="Pretendard Medium"/>
              </a:rPr>
              <a:t>CHAPTER</a:t>
            </a:r>
            <a:endParaRPr lang="en-US" altLang="ko-KR" sz="3500" b="0" i="0" u="none" strike="noStrike" dirty="0">
              <a:solidFill>
                <a:srgbClr val="1A7AE1"/>
              </a:solidFill>
              <a:latin typeface="Pretendard Medium"/>
              <a:ea typeface="Pretendard Medium"/>
              <a:cs typeface="Pretendard Medium"/>
            </a:endParaRPr>
          </a:p>
        </p:txBody>
      </p:sp>
      <p:sp>
        <p:nvSpPr>
          <p:cNvPr id="76" name="타원 75">
            <a:extLst>
              <a:ext uri="{FF2B5EF4-FFF2-40B4-BE49-F238E27FC236}">
                <a16:creationId xmlns:a16="http://schemas.microsoft.com/office/drawing/2014/main" id="{2245AD24-4CE9-5A36-5448-BE6EBE124868}"/>
              </a:ext>
            </a:extLst>
          </p:cNvPr>
          <p:cNvSpPr/>
          <p:nvPr/>
        </p:nvSpPr>
        <p:spPr>
          <a:xfrm>
            <a:off x="20246913" y="6704980"/>
            <a:ext cx="303274" cy="304800"/>
          </a:xfrm>
          <a:prstGeom prst="ellipse">
            <a:avLst/>
          </a:prstGeom>
          <a:solidFill>
            <a:srgbClr val="1A7AE1"/>
          </a:solidFill>
          <a:ln>
            <a:solidFill>
              <a:srgbClr val="1A7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7" name="타원 76">
            <a:extLst>
              <a:ext uri="{FF2B5EF4-FFF2-40B4-BE49-F238E27FC236}">
                <a16:creationId xmlns:a16="http://schemas.microsoft.com/office/drawing/2014/main" id="{2D3A09E5-8DEC-B9D5-1600-8EF13B58A1D9}"/>
              </a:ext>
            </a:extLst>
          </p:cNvPr>
          <p:cNvSpPr/>
          <p:nvPr/>
        </p:nvSpPr>
        <p:spPr>
          <a:xfrm>
            <a:off x="6934200" y="7620000"/>
            <a:ext cx="152400" cy="137447"/>
          </a:xfrm>
          <a:prstGeom prst="ellipse">
            <a:avLst/>
          </a:prstGeom>
          <a:solidFill>
            <a:srgbClr val="1A7AE1"/>
          </a:solidFill>
          <a:ln>
            <a:solidFill>
              <a:srgbClr val="1A7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8" name="타원 77">
            <a:extLst>
              <a:ext uri="{FF2B5EF4-FFF2-40B4-BE49-F238E27FC236}">
                <a16:creationId xmlns:a16="http://schemas.microsoft.com/office/drawing/2014/main" id="{AFB7EA9C-5B07-2663-B0A2-D44746C6DA08}"/>
              </a:ext>
            </a:extLst>
          </p:cNvPr>
          <p:cNvSpPr/>
          <p:nvPr/>
        </p:nvSpPr>
        <p:spPr>
          <a:xfrm>
            <a:off x="6934200" y="8554605"/>
            <a:ext cx="152400" cy="137447"/>
          </a:xfrm>
          <a:prstGeom prst="ellipse">
            <a:avLst/>
          </a:prstGeom>
          <a:solidFill>
            <a:srgbClr val="1A7AE1"/>
          </a:solidFill>
          <a:ln>
            <a:solidFill>
              <a:srgbClr val="1A7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9" name="타원 78">
            <a:extLst>
              <a:ext uri="{FF2B5EF4-FFF2-40B4-BE49-F238E27FC236}">
                <a16:creationId xmlns:a16="http://schemas.microsoft.com/office/drawing/2014/main" id="{CF8D49E4-8ACB-5547-A499-DED08B939753}"/>
              </a:ext>
            </a:extLst>
          </p:cNvPr>
          <p:cNvSpPr/>
          <p:nvPr/>
        </p:nvSpPr>
        <p:spPr>
          <a:xfrm>
            <a:off x="6934200" y="9465397"/>
            <a:ext cx="152400" cy="137447"/>
          </a:xfrm>
          <a:prstGeom prst="ellipse">
            <a:avLst/>
          </a:prstGeom>
          <a:solidFill>
            <a:srgbClr val="1A7AE1"/>
          </a:solidFill>
          <a:ln>
            <a:solidFill>
              <a:srgbClr val="1A7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a:extLst>
              <a:ext uri="{FF2B5EF4-FFF2-40B4-BE49-F238E27FC236}">
                <a16:creationId xmlns:a16="http://schemas.microsoft.com/office/drawing/2014/main" id="{359B4FDA-F307-3B66-2558-CEB972E33D2F}"/>
              </a:ext>
            </a:extLst>
          </p:cNvPr>
          <p:cNvSpPr txBox="1"/>
          <p:nvPr/>
        </p:nvSpPr>
        <p:spPr>
          <a:xfrm>
            <a:off x="7389018" y="7338139"/>
            <a:ext cx="8460582" cy="644857"/>
          </a:xfrm>
          <a:prstGeom prst="rect">
            <a:avLst/>
          </a:prstGeom>
          <a:noFill/>
        </p:spPr>
        <p:txBody>
          <a:bodyPr wrap="square">
            <a:spAutoFit/>
          </a:bodyPr>
          <a:lstStyle/>
          <a:p>
            <a:pPr lvl="0">
              <a:lnSpc>
                <a:spcPct val="143590"/>
              </a:lnSpc>
            </a:pPr>
            <a:r>
              <a:rPr lang="ko-KR" altLang="en-US" sz="2800" spc="-100" dirty="0">
                <a:solidFill>
                  <a:srgbClr val="000000">
                    <a:alpha val="70196"/>
                  </a:srgbClr>
                </a:solidFill>
                <a:latin typeface="Pretendard Medium"/>
                <a:ea typeface="Pretendard Medium"/>
                <a:cs typeface="Pretendard Medium"/>
              </a:rPr>
              <a:t>협력사망 경유를 통한 공급망 연쇄 침투</a:t>
            </a:r>
            <a:endParaRPr lang="en-US" altLang="ko-KR" sz="2800" spc="-100" dirty="0">
              <a:solidFill>
                <a:srgbClr val="000000">
                  <a:alpha val="70196"/>
                </a:srgbClr>
              </a:solidFill>
              <a:latin typeface="Pretendard Medium"/>
              <a:ea typeface="Pretendard Medium"/>
              <a:cs typeface="Pretendard Medium"/>
            </a:endParaRPr>
          </a:p>
        </p:txBody>
      </p:sp>
      <p:sp>
        <p:nvSpPr>
          <p:cNvPr id="83" name="TextBox 82">
            <a:extLst>
              <a:ext uri="{FF2B5EF4-FFF2-40B4-BE49-F238E27FC236}">
                <a16:creationId xmlns:a16="http://schemas.microsoft.com/office/drawing/2014/main" id="{BD4BE477-EA04-4BD7-754A-F9A38C79F527}"/>
              </a:ext>
            </a:extLst>
          </p:cNvPr>
          <p:cNvSpPr txBox="1"/>
          <p:nvPr/>
        </p:nvSpPr>
        <p:spPr>
          <a:xfrm>
            <a:off x="7377113" y="8386857"/>
            <a:ext cx="6186489" cy="528543"/>
          </a:xfrm>
          <a:prstGeom prst="rect">
            <a:avLst/>
          </a:prstGeom>
          <a:noFill/>
        </p:spPr>
        <p:txBody>
          <a:bodyPr wrap="square">
            <a:spAutoFit/>
          </a:bodyPr>
          <a:lstStyle/>
          <a:p>
            <a:pPr lvl="0">
              <a:lnSpc>
                <a:spcPct val="107899"/>
              </a:lnSpc>
            </a:pPr>
            <a:r>
              <a:rPr lang="en-US" altLang="ko-KR" sz="2800" spc="-300" dirty="0" err="1">
                <a:solidFill>
                  <a:srgbClr val="48494B"/>
                </a:solidFill>
                <a:latin typeface="Pretendard Medium" panose="020B0600000101010101" charset="-127"/>
                <a:ea typeface="Pretendard Medium" panose="020B0600000101010101" charset="-127"/>
                <a:cs typeface="Pretendard SemiBold"/>
              </a:rPr>
              <a:t>연쇄</a:t>
            </a:r>
            <a:r>
              <a:rPr lang="en-US" altLang="ko-KR" sz="2800" spc="-300" dirty="0">
                <a:solidFill>
                  <a:srgbClr val="48494B"/>
                </a:solidFill>
                <a:latin typeface="Pretendard Medium" panose="020B0600000101010101" charset="-127"/>
                <a:ea typeface="Pretendard Medium" panose="020B0600000101010101" charset="-127"/>
                <a:cs typeface="Pretendard SemiBold"/>
              </a:rPr>
              <a:t> </a:t>
            </a:r>
            <a:r>
              <a:rPr lang="en-US" altLang="ko-KR" sz="2800" spc="-300" dirty="0" err="1">
                <a:solidFill>
                  <a:srgbClr val="48494B"/>
                </a:solidFill>
                <a:latin typeface="Pretendard Medium" panose="020B0600000101010101" charset="-127"/>
                <a:ea typeface="Pretendard Medium" panose="020B0600000101010101" charset="-127"/>
                <a:cs typeface="Pretendard SemiBold"/>
              </a:rPr>
              <a:t>침투를</a:t>
            </a:r>
            <a:r>
              <a:rPr lang="en-US" altLang="ko-KR" sz="2800" spc="-300" dirty="0">
                <a:solidFill>
                  <a:srgbClr val="48494B"/>
                </a:solidFill>
                <a:latin typeface="Pretendard Medium" panose="020B0600000101010101" charset="-127"/>
                <a:ea typeface="Pretendard Medium" panose="020B0600000101010101" charset="-127"/>
                <a:cs typeface="Pretendard SemiBold"/>
              </a:rPr>
              <a:t> </a:t>
            </a:r>
            <a:r>
              <a:rPr lang="en-US" altLang="ko-KR" sz="2800" spc="-300" dirty="0" err="1">
                <a:solidFill>
                  <a:srgbClr val="48494B"/>
                </a:solidFill>
                <a:latin typeface="Pretendard Medium" panose="020B0600000101010101" charset="-127"/>
                <a:ea typeface="Pretendard Medium" panose="020B0600000101010101" charset="-127"/>
                <a:cs typeface="Pretendard SemiBold"/>
              </a:rPr>
              <a:t>통한</a:t>
            </a:r>
            <a:r>
              <a:rPr lang="en-US" altLang="ko-KR" sz="2800" spc="-300" dirty="0">
                <a:solidFill>
                  <a:srgbClr val="48494B"/>
                </a:solidFill>
                <a:latin typeface="Pretendard Medium" panose="020B0600000101010101" charset="-127"/>
                <a:ea typeface="Pretendard Medium" panose="020B0600000101010101" charset="-127"/>
                <a:cs typeface="Pretendard SemiBold"/>
              </a:rPr>
              <a:t> </a:t>
            </a:r>
            <a:r>
              <a:rPr lang="en-US" altLang="ko-KR" sz="2800" spc="-300" dirty="0" err="1">
                <a:solidFill>
                  <a:srgbClr val="48494B"/>
                </a:solidFill>
                <a:latin typeface="Pretendard Medium" panose="020B0600000101010101" charset="-127"/>
                <a:ea typeface="Pretendard Medium" panose="020B0600000101010101" charset="-127"/>
                <a:cs typeface="Pretendard SemiBold"/>
              </a:rPr>
              <a:t>지능형</a:t>
            </a:r>
            <a:r>
              <a:rPr lang="en-US" altLang="ko-KR" sz="2800" spc="-300" dirty="0">
                <a:solidFill>
                  <a:srgbClr val="48494B"/>
                </a:solidFill>
                <a:latin typeface="Pretendard Medium" panose="020B0600000101010101" charset="-127"/>
                <a:ea typeface="Pretendard Medium" panose="020B0600000101010101" charset="-127"/>
                <a:cs typeface="Pretendard SemiBold"/>
              </a:rPr>
              <a:t> </a:t>
            </a:r>
            <a:r>
              <a:rPr lang="en-US" altLang="ko-KR" sz="2800" spc="-300" dirty="0" err="1">
                <a:solidFill>
                  <a:srgbClr val="48494B"/>
                </a:solidFill>
                <a:latin typeface="Pretendard Medium" panose="020B0600000101010101" charset="-127"/>
                <a:ea typeface="Pretendard Medium" panose="020B0600000101010101" charset="-127"/>
                <a:cs typeface="Pretendard SemiBold"/>
              </a:rPr>
              <a:t>보이스피싱</a:t>
            </a:r>
            <a:r>
              <a:rPr lang="en-US" altLang="ko-KR" sz="2800" spc="-300" dirty="0">
                <a:solidFill>
                  <a:srgbClr val="48494B"/>
                </a:solidFill>
                <a:latin typeface="Pretendard Medium" panose="020B0600000101010101" charset="-127"/>
                <a:ea typeface="Pretendard Medium" panose="020B0600000101010101" charset="-127"/>
                <a:cs typeface="Pretendard SemiBold"/>
              </a:rPr>
              <a:t> </a:t>
            </a:r>
            <a:r>
              <a:rPr lang="en-US" altLang="ko-KR" sz="2800" spc="-300" dirty="0" err="1">
                <a:solidFill>
                  <a:srgbClr val="48494B"/>
                </a:solidFill>
                <a:latin typeface="Pretendard Medium" panose="020B0600000101010101" charset="-127"/>
                <a:ea typeface="Pretendard Medium" panose="020B0600000101010101" charset="-127"/>
                <a:cs typeface="Pretendard SemiBold"/>
              </a:rPr>
              <a:t>공격</a:t>
            </a:r>
            <a:endParaRPr lang="en-US" altLang="ko-KR" sz="2800" spc="-300" dirty="0">
              <a:solidFill>
                <a:srgbClr val="48494B"/>
              </a:solidFill>
              <a:latin typeface="Pretendard Medium" panose="020B0600000101010101" charset="-127"/>
              <a:ea typeface="Pretendard Medium" panose="020B0600000101010101" charset="-127"/>
              <a:cs typeface="Pretendard SemiBold"/>
            </a:endParaRPr>
          </a:p>
        </p:txBody>
      </p:sp>
      <p:sp>
        <p:nvSpPr>
          <p:cNvPr id="84" name="TextBox 83">
            <a:extLst>
              <a:ext uri="{FF2B5EF4-FFF2-40B4-BE49-F238E27FC236}">
                <a16:creationId xmlns:a16="http://schemas.microsoft.com/office/drawing/2014/main" id="{8AC347C5-D95E-35A1-3852-5BC82BD3E3AC}"/>
              </a:ext>
            </a:extLst>
          </p:cNvPr>
          <p:cNvSpPr txBox="1"/>
          <p:nvPr/>
        </p:nvSpPr>
        <p:spPr>
          <a:xfrm>
            <a:off x="7333456" y="9147867"/>
            <a:ext cx="3486944" cy="644857"/>
          </a:xfrm>
          <a:prstGeom prst="rect">
            <a:avLst/>
          </a:prstGeom>
          <a:noFill/>
        </p:spPr>
        <p:txBody>
          <a:bodyPr wrap="square">
            <a:spAutoFit/>
          </a:bodyPr>
          <a:lstStyle/>
          <a:p>
            <a:pPr lvl="0">
              <a:lnSpc>
                <a:spcPct val="143590"/>
              </a:lnSpc>
            </a:pPr>
            <a:r>
              <a:rPr lang="ko-KR" altLang="en-US" sz="2800" spc="-100" dirty="0">
                <a:solidFill>
                  <a:srgbClr val="000000">
                    <a:alpha val="70196"/>
                  </a:srgbClr>
                </a:solidFill>
                <a:latin typeface="Pretendard Medium"/>
                <a:ea typeface="Pretendard Medium"/>
                <a:cs typeface="Pretendard Medium"/>
              </a:rPr>
              <a:t>보안 대책</a:t>
            </a:r>
            <a:endParaRPr lang="en-US" altLang="ko-KR" sz="2800" spc="-100" dirty="0">
              <a:solidFill>
                <a:srgbClr val="000000">
                  <a:alpha val="70196"/>
                </a:srgbClr>
              </a:solidFill>
              <a:latin typeface="Pretendard Medium"/>
              <a:ea typeface="Pretendard Medium"/>
              <a:cs typeface="Pretendard Medium"/>
            </a:endParaRPr>
          </a:p>
        </p:txBody>
      </p:sp>
      <p:sp>
        <p:nvSpPr>
          <p:cNvPr id="86" name="타원 85">
            <a:extLst>
              <a:ext uri="{FF2B5EF4-FFF2-40B4-BE49-F238E27FC236}">
                <a16:creationId xmlns:a16="http://schemas.microsoft.com/office/drawing/2014/main" id="{3EFE6D1B-9B91-A052-AE01-7891AABA185B}"/>
              </a:ext>
            </a:extLst>
          </p:cNvPr>
          <p:cNvSpPr/>
          <p:nvPr/>
        </p:nvSpPr>
        <p:spPr>
          <a:xfrm>
            <a:off x="17326031" y="3808760"/>
            <a:ext cx="6219769" cy="6249640"/>
          </a:xfrm>
          <a:prstGeom prst="ellipse">
            <a:avLst/>
          </a:prstGeom>
          <a:noFill/>
          <a:ln w="38100">
            <a:solidFill>
              <a:srgbClr val="1A7AE1">
                <a:alpha val="3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9" name="타원 88">
            <a:extLst>
              <a:ext uri="{FF2B5EF4-FFF2-40B4-BE49-F238E27FC236}">
                <a16:creationId xmlns:a16="http://schemas.microsoft.com/office/drawing/2014/main" id="{E429B993-9D2F-7522-3670-B975179983EC}"/>
              </a:ext>
            </a:extLst>
          </p:cNvPr>
          <p:cNvSpPr/>
          <p:nvPr/>
        </p:nvSpPr>
        <p:spPr>
          <a:xfrm>
            <a:off x="18643481" y="5180421"/>
            <a:ext cx="3584867" cy="3546788"/>
          </a:xfrm>
          <a:prstGeom prst="ellipse">
            <a:avLst/>
          </a:prstGeom>
          <a:solidFill>
            <a:srgbClr val="1A7AE1">
              <a:alpha val="8000"/>
            </a:srgb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0" name="원형: 비어 있음 89">
            <a:extLst>
              <a:ext uri="{FF2B5EF4-FFF2-40B4-BE49-F238E27FC236}">
                <a16:creationId xmlns:a16="http://schemas.microsoft.com/office/drawing/2014/main" id="{CCADFAB1-5904-6780-F11A-A64FF9322806}"/>
              </a:ext>
            </a:extLst>
          </p:cNvPr>
          <p:cNvSpPr/>
          <p:nvPr/>
        </p:nvSpPr>
        <p:spPr>
          <a:xfrm>
            <a:off x="17781407" y="4228873"/>
            <a:ext cx="5334000" cy="5415371"/>
          </a:xfrm>
          <a:prstGeom prst="donut">
            <a:avLst>
              <a:gd name="adj" fmla="val 3577"/>
            </a:avLst>
          </a:prstGeom>
          <a:solidFill>
            <a:srgbClr val="1A7AE1">
              <a:alpha val="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Tree>
    <p:extLst>
      <p:ext uri="{BB962C8B-B14F-4D97-AF65-F5344CB8AC3E}">
        <p14:creationId xmlns:p14="http://schemas.microsoft.com/office/powerpoint/2010/main" val="34761524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3" name="Picture 3"/>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45" name="Picture 12">
            <a:extLst>
              <a:ext uri="{FF2B5EF4-FFF2-40B4-BE49-F238E27FC236}">
                <a16:creationId xmlns:a16="http://schemas.microsoft.com/office/drawing/2014/main" id="{8278858F-CA38-5268-06D0-2EAA02F17135}"/>
              </a:ext>
            </a:extLst>
          </p:cNvPr>
          <p:cNvPicPr>
            <a:picLocks noChangeAspect="1"/>
          </p:cNvPicPr>
          <p:nvPr/>
        </p:nvPicPr>
        <p:blipFill>
          <a:blip r:embed="rId3"/>
          <a:stretch>
            <a:fillRect/>
          </a:stretch>
        </p:blipFill>
        <p:spPr>
          <a:xfrm>
            <a:off x="3759200" y="3340100"/>
            <a:ext cx="15963900" cy="3517900"/>
          </a:xfrm>
          <a:prstGeom prst="rect">
            <a:avLst/>
          </a:prstGeom>
          <a:effectLst>
            <a:outerShdw blurRad="193432" dist="81160" dir="2700000">
              <a:srgbClr val="000000">
                <a:alpha val="23000"/>
              </a:srgbClr>
            </a:outerShdw>
          </a:effectLst>
        </p:spPr>
      </p:pic>
      <p:pic>
        <p:nvPicPr>
          <p:cNvPr id="2" name="Picture 2"/>
          <p:cNvPicPr>
            <a:picLocks noChangeAspect="1"/>
          </p:cNvPicPr>
          <p:nvPr/>
        </p:nvPicPr>
        <p:blipFill>
          <a:blip r:embed="rId4">
            <a:alphaModFix amt="85000"/>
          </a:blip>
          <a:stretch>
            <a:fillRect/>
          </a:stretch>
        </p:blipFill>
        <p:spPr>
          <a:xfrm>
            <a:off x="11201400" y="558800"/>
            <a:ext cx="2705100" cy="444500"/>
          </a:xfrm>
          <a:prstGeom prst="rect">
            <a:avLst/>
          </a:prstGeom>
        </p:spPr>
      </p:pic>
      <p:pic>
        <p:nvPicPr>
          <p:cNvPr id="4" name="Picture 4"/>
          <p:cNvPicPr>
            <a:picLocks noChangeAspect="1"/>
          </p:cNvPicPr>
          <p:nvPr/>
        </p:nvPicPr>
        <p:blipFill>
          <a:blip r:embed="rId5"/>
          <a:stretch>
            <a:fillRect/>
          </a:stretch>
        </p:blipFill>
        <p:spPr>
          <a:xfrm>
            <a:off x="762000" y="1092200"/>
            <a:ext cx="22860000" cy="12700"/>
          </a:xfrm>
          <a:prstGeom prst="rect">
            <a:avLst/>
          </a:prstGeom>
        </p:spPr>
      </p:pic>
      <p:pic>
        <p:nvPicPr>
          <p:cNvPr id="5" name="Picture 5"/>
          <p:cNvPicPr>
            <a:picLocks noChangeAspect="1"/>
          </p:cNvPicPr>
          <p:nvPr/>
        </p:nvPicPr>
        <p:blipFill>
          <a:blip r:embed="rId6"/>
          <a:stretch>
            <a:fillRect/>
          </a:stretch>
        </p:blipFill>
        <p:spPr>
          <a:xfrm rot="5400000">
            <a:off x="3200400" y="787400"/>
            <a:ext cx="635000" cy="12700"/>
          </a:xfrm>
          <a:prstGeom prst="rect">
            <a:avLst/>
          </a:prstGeom>
        </p:spPr>
      </p:pic>
      <p:pic>
        <p:nvPicPr>
          <p:cNvPr id="6" name="Picture 6"/>
          <p:cNvPicPr>
            <a:picLocks noChangeAspect="1"/>
          </p:cNvPicPr>
          <p:nvPr/>
        </p:nvPicPr>
        <p:blipFill>
          <a:blip r:embed="rId6"/>
          <a:stretch>
            <a:fillRect/>
          </a:stretch>
        </p:blipFill>
        <p:spPr>
          <a:xfrm rot="5400000">
            <a:off x="22225000" y="787400"/>
            <a:ext cx="635000" cy="12700"/>
          </a:xfrm>
          <a:prstGeom prst="rect">
            <a:avLst/>
          </a:prstGeom>
        </p:spPr>
      </p:pic>
      <p:pic>
        <p:nvPicPr>
          <p:cNvPr id="7" name="Picture 7"/>
          <p:cNvPicPr>
            <a:picLocks noChangeAspect="1"/>
          </p:cNvPicPr>
          <p:nvPr/>
        </p:nvPicPr>
        <p:blipFill>
          <a:blip r:embed="rId6"/>
          <a:stretch>
            <a:fillRect/>
          </a:stretch>
        </p:blipFill>
        <p:spPr>
          <a:xfrm rot="5400000">
            <a:off x="6337300" y="787400"/>
            <a:ext cx="635000" cy="12700"/>
          </a:xfrm>
          <a:prstGeom prst="rect">
            <a:avLst/>
          </a:prstGeom>
        </p:spPr>
      </p:pic>
      <p:pic>
        <p:nvPicPr>
          <p:cNvPr id="8" name="Picture 8"/>
          <p:cNvPicPr>
            <a:picLocks noChangeAspect="1"/>
          </p:cNvPicPr>
          <p:nvPr/>
        </p:nvPicPr>
        <p:blipFill>
          <a:blip r:embed="rId5"/>
          <a:stretch>
            <a:fillRect/>
          </a:stretch>
        </p:blipFill>
        <p:spPr>
          <a:xfrm>
            <a:off x="723900" y="457200"/>
            <a:ext cx="22860000" cy="12700"/>
          </a:xfrm>
          <a:prstGeom prst="rect">
            <a:avLst/>
          </a:prstGeom>
        </p:spPr>
      </p:pic>
      <p:pic>
        <p:nvPicPr>
          <p:cNvPr id="10" name="Picture 10"/>
          <p:cNvPicPr>
            <a:picLocks noChangeAspect="1"/>
          </p:cNvPicPr>
          <p:nvPr/>
        </p:nvPicPr>
        <p:blipFill>
          <a:blip r:embed="rId7"/>
          <a:stretch>
            <a:fillRect/>
          </a:stretch>
        </p:blipFill>
        <p:spPr>
          <a:xfrm>
            <a:off x="1485900" y="1612900"/>
            <a:ext cx="88900" cy="850900"/>
          </a:xfrm>
          <a:prstGeom prst="rect">
            <a:avLst/>
          </a:prstGeom>
        </p:spPr>
      </p:pic>
      <p:sp>
        <p:nvSpPr>
          <p:cNvPr id="11" name="TextBox 11"/>
          <p:cNvSpPr txBox="1"/>
          <p:nvPr/>
        </p:nvSpPr>
        <p:spPr>
          <a:xfrm>
            <a:off x="1943100" y="1409700"/>
            <a:ext cx="13423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협력사망 경유를 통한 공급망 연쇄 침투</a:t>
            </a:r>
          </a:p>
        </p:txBody>
      </p:sp>
      <p:sp>
        <p:nvSpPr>
          <p:cNvPr id="12" name="TextBox 12"/>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a:solidFill>
                  <a:srgbClr val="024EA0"/>
                </a:solidFill>
                <a:latin typeface="Geologica Roman Light"/>
                <a:ea typeface="Geologica Roman Light"/>
                <a:cs typeface="Geologica Roman Light"/>
              </a:rPr>
              <a:t>25</a:t>
            </a:r>
          </a:p>
        </p:txBody>
      </p:sp>
      <p:sp>
        <p:nvSpPr>
          <p:cNvPr id="14" name="TextBox 14"/>
          <p:cNvSpPr txBox="1"/>
          <p:nvPr/>
        </p:nvSpPr>
        <p:spPr>
          <a:xfrm>
            <a:off x="5054600" y="3733800"/>
            <a:ext cx="3098800" cy="711200"/>
          </a:xfrm>
          <a:prstGeom prst="rect">
            <a:avLst/>
          </a:prstGeom>
        </p:spPr>
        <p:txBody>
          <a:bodyPr lIns="0" tIns="0" rIns="0" bIns="0" rtlCol="0" anchor="t"/>
          <a:lstStyle/>
          <a:p>
            <a:pPr lvl="0" algn="l">
              <a:lnSpc>
                <a:spcPct val="116199"/>
              </a:lnSpc>
            </a:pPr>
            <a:r>
              <a:rPr lang="en-US" sz="4000" b="0" i="0" u="none" strike="noStrike">
                <a:solidFill>
                  <a:srgbClr val="000000"/>
                </a:solidFill>
                <a:latin typeface="Pretendard Medium"/>
                <a:ea typeface="Pretendard Medium"/>
                <a:cs typeface="Pretendard Medium"/>
              </a:rPr>
              <a:t>시나리오 요약</a:t>
            </a:r>
          </a:p>
        </p:txBody>
      </p:sp>
      <p:sp>
        <p:nvSpPr>
          <p:cNvPr id="15" name="TextBox 15"/>
          <p:cNvSpPr txBox="1"/>
          <p:nvPr/>
        </p:nvSpPr>
        <p:spPr>
          <a:xfrm>
            <a:off x="5054600" y="4775200"/>
            <a:ext cx="14503400" cy="10922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협력사망을 최초 침투 거점 삼아, 망 분리 환경의 필수 파일 교환 접점인 DMZ를 거쳐 </a:t>
            </a:r>
          </a:p>
          <a:p>
            <a:pPr lvl="0" algn="l">
              <a:lnSpc>
                <a:spcPct val="116199"/>
              </a:lnSpc>
            </a:pPr>
            <a:r>
              <a:rPr lang="en-US" sz="3066" b="0" i="0" u="none" strike="noStrike">
                <a:solidFill>
                  <a:srgbClr val="000000"/>
                </a:solidFill>
                <a:latin typeface="Pretendard Medium"/>
                <a:ea typeface="Pretendard Medium"/>
                <a:cs typeface="Pretendard Medium"/>
              </a:rPr>
              <a:t>본사 내부망과 CI/CD 파이프라인까지 연쇄적으로 장악하는 End-to-End 공격 시나리오</a:t>
            </a:r>
          </a:p>
        </p:txBody>
      </p:sp>
      <p:sp>
        <p:nvSpPr>
          <p:cNvPr id="16" name="TextBox 16"/>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18" name="TextBox 18"/>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19" name="TextBox 19"/>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20" name="TextBox 20"/>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pic>
        <p:nvPicPr>
          <p:cNvPr id="21" name="Picture 21"/>
          <p:cNvPicPr>
            <a:picLocks noChangeAspect="1"/>
          </p:cNvPicPr>
          <p:nvPr/>
        </p:nvPicPr>
        <p:blipFill>
          <a:blip r:embed="rId8">
            <a:alphaModFix amt="70000"/>
          </a:blip>
          <a:stretch>
            <a:fillRect/>
          </a:stretch>
        </p:blipFill>
        <p:spPr>
          <a:xfrm rot="2400000">
            <a:off x="6477000" y="10172700"/>
            <a:ext cx="990600" cy="12700"/>
          </a:xfrm>
          <a:prstGeom prst="rect">
            <a:avLst/>
          </a:prstGeom>
        </p:spPr>
      </p:pic>
      <p:pic>
        <p:nvPicPr>
          <p:cNvPr id="22" name="Picture 22"/>
          <p:cNvPicPr>
            <a:picLocks noChangeAspect="1"/>
          </p:cNvPicPr>
          <p:nvPr/>
        </p:nvPicPr>
        <p:blipFill>
          <a:blip r:embed="rId9">
            <a:alphaModFix amt="70000"/>
          </a:blip>
          <a:stretch>
            <a:fillRect/>
          </a:stretch>
        </p:blipFill>
        <p:spPr>
          <a:xfrm rot="2400000">
            <a:off x="12827000" y="10172700"/>
            <a:ext cx="990600" cy="12700"/>
          </a:xfrm>
          <a:prstGeom prst="rect">
            <a:avLst/>
          </a:prstGeom>
        </p:spPr>
      </p:pic>
      <p:pic>
        <p:nvPicPr>
          <p:cNvPr id="23" name="Picture 23"/>
          <p:cNvPicPr>
            <a:picLocks noChangeAspect="1"/>
          </p:cNvPicPr>
          <p:nvPr/>
        </p:nvPicPr>
        <p:blipFill>
          <a:blip r:embed="rId10">
            <a:alphaModFix amt="70000"/>
          </a:blip>
          <a:stretch>
            <a:fillRect/>
          </a:stretch>
        </p:blipFill>
        <p:spPr>
          <a:xfrm rot="-2400000">
            <a:off x="16014700" y="10172700"/>
            <a:ext cx="990600" cy="12700"/>
          </a:xfrm>
          <a:prstGeom prst="rect">
            <a:avLst/>
          </a:prstGeom>
        </p:spPr>
      </p:pic>
      <p:pic>
        <p:nvPicPr>
          <p:cNvPr id="24" name="Picture 24"/>
          <p:cNvPicPr>
            <a:picLocks noChangeAspect="1"/>
          </p:cNvPicPr>
          <p:nvPr/>
        </p:nvPicPr>
        <p:blipFill>
          <a:blip r:embed="rId11">
            <a:alphaModFix amt="70000"/>
          </a:blip>
          <a:stretch>
            <a:fillRect/>
          </a:stretch>
        </p:blipFill>
        <p:spPr>
          <a:xfrm rot="-2400000">
            <a:off x="9652000" y="10172700"/>
            <a:ext cx="990600" cy="12700"/>
          </a:xfrm>
          <a:prstGeom prst="rect">
            <a:avLst/>
          </a:prstGeom>
        </p:spPr>
      </p:pic>
      <p:pic>
        <p:nvPicPr>
          <p:cNvPr id="25" name="Picture 25"/>
          <p:cNvPicPr>
            <a:picLocks noChangeAspect="1"/>
          </p:cNvPicPr>
          <p:nvPr/>
        </p:nvPicPr>
        <p:blipFill>
          <a:blip r:embed="rId12"/>
          <a:stretch>
            <a:fillRect/>
          </a:stretch>
        </p:blipFill>
        <p:spPr>
          <a:xfrm>
            <a:off x="3759200" y="7175500"/>
            <a:ext cx="3441700" cy="3441700"/>
          </a:xfrm>
          <a:prstGeom prst="rect">
            <a:avLst/>
          </a:prstGeom>
          <a:effectLst>
            <a:outerShdw blurRad="189472" dist="79499" dir="2700000">
              <a:srgbClr val="000000">
                <a:alpha val="23000"/>
              </a:srgbClr>
            </a:outerShdw>
          </a:effectLst>
        </p:spPr>
      </p:pic>
      <p:pic>
        <p:nvPicPr>
          <p:cNvPr id="26" name="Picture 26"/>
          <p:cNvPicPr>
            <a:picLocks noChangeAspect="1"/>
          </p:cNvPicPr>
          <p:nvPr/>
        </p:nvPicPr>
        <p:blipFill>
          <a:blip r:embed="rId13"/>
          <a:stretch>
            <a:fillRect/>
          </a:stretch>
        </p:blipFill>
        <p:spPr>
          <a:xfrm>
            <a:off x="5257800" y="7721600"/>
            <a:ext cx="444500" cy="444500"/>
          </a:xfrm>
          <a:prstGeom prst="rect">
            <a:avLst/>
          </a:prstGeom>
        </p:spPr>
      </p:pic>
      <p:sp>
        <p:nvSpPr>
          <p:cNvPr id="27" name="TextBox 27"/>
          <p:cNvSpPr txBox="1"/>
          <p:nvPr/>
        </p:nvSpPr>
        <p:spPr>
          <a:xfrm>
            <a:off x="5245100" y="7785100"/>
            <a:ext cx="457200" cy="317500"/>
          </a:xfrm>
          <a:prstGeom prst="rect">
            <a:avLst/>
          </a:prstGeom>
        </p:spPr>
        <p:txBody>
          <a:bodyPr lIns="0" tIns="0" rIns="0" bIns="0" rtlCol="0" anchor="t"/>
          <a:lstStyle/>
          <a:p>
            <a:pPr lvl="0" algn="ctr">
              <a:lnSpc>
                <a:spcPct val="116199"/>
              </a:lnSpc>
            </a:pPr>
            <a:r>
              <a:rPr lang="en-US" sz="1779" b="0" i="0" u="none" strike="noStrike">
                <a:solidFill>
                  <a:srgbClr val="FFFFFF"/>
                </a:solidFill>
                <a:latin typeface="Pretendard Medium"/>
                <a:ea typeface="Pretendard Medium"/>
                <a:cs typeface="Pretendard Medium"/>
              </a:rPr>
              <a:t>1</a:t>
            </a:r>
          </a:p>
        </p:txBody>
      </p:sp>
      <p:sp>
        <p:nvSpPr>
          <p:cNvPr id="28" name="TextBox 28"/>
          <p:cNvSpPr txBox="1"/>
          <p:nvPr/>
        </p:nvSpPr>
        <p:spPr>
          <a:xfrm>
            <a:off x="4127500" y="8420100"/>
            <a:ext cx="2806700" cy="1092200"/>
          </a:xfrm>
          <a:prstGeom prst="rect">
            <a:avLst/>
          </a:prstGeom>
        </p:spPr>
        <p:txBody>
          <a:bodyPr lIns="0" tIns="0" rIns="0" bIns="0" rtlCol="0" anchor="ctr"/>
          <a:lstStyle/>
          <a:p>
            <a:pPr lvl="0" algn="ctr">
              <a:lnSpc>
                <a:spcPct val="116199"/>
              </a:lnSpc>
            </a:pPr>
            <a:r>
              <a:rPr lang="en-US" sz="3066" b="0" i="0" u="none" strike="noStrike">
                <a:solidFill>
                  <a:srgbClr val="000000"/>
                </a:solidFill>
                <a:latin typeface="Pretendard Medium"/>
                <a:ea typeface="Pretendard Medium"/>
                <a:cs typeface="Pretendard Medium"/>
              </a:rPr>
              <a:t>초기 정찰 및 </a:t>
            </a:r>
          </a:p>
          <a:p>
            <a:pPr lvl="0" algn="ctr">
              <a:lnSpc>
                <a:spcPct val="116199"/>
              </a:lnSpc>
            </a:pPr>
            <a:r>
              <a:rPr lang="en-US" sz="3066" b="0" i="0" u="none" strike="noStrike">
                <a:solidFill>
                  <a:srgbClr val="000000"/>
                </a:solidFill>
                <a:latin typeface="Pretendard Medium"/>
                <a:ea typeface="Pretendard Medium"/>
                <a:cs typeface="Pretendard Medium"/>
              </a:rPr>
              <a:t>외주망 침투</a:t>
            </a:r>
          </a:p>
        </p:txBody>
      </p:sp>
      <p:pic>
        <p:nvPicPr>
          <p:cNvPr id="29" name="Picture 29"/>
          <p:cNvPicPr>
            <a:picLocks noChangeAspect="1"/>
          </p:cNvPicPr>
          <p:nvPr/>
        </p:nvPicPr>
        <p:blipFill>
          <a:blip r:embed="rId14"/>
          <a:stretch>
            <a:fillRect/>
          </a:stretch>
        </p:blipFill>
        <p:spPr>
          <a:xfrm>
            <a:off x="6883400" y="9867900"/>
            <a:ext cx="3441700" cy="3441700"/>
          </a:xfrm>
          <a:prstGeom prst="rect">
            <a:avLst/>
          </a:prstGeom>
          <a:effectLst>
            <a:outerShdw blurRad="189472" dist="79499" dir="2700000">
              <a:srgbClr val="000000">
                <a:alpha val="23000"/>
              </a:srgbClr>
            </a:outerShdw>
          </a:effectLst>
        </p:spPr>
      </p:pic>
      <p:pic>
        <p:nvPicPr>
          <p:cNvPr id="30" name="Picture 30"/>
          <p:cNvPicPr>
            <a:picLocks noChangeAspect="1"/>
          </p:cNvPicPr>
          <p:nvPr/>
        </p:nvPicPr>
        <p:blipFill>
          <a:blip r:embed="rId15"/>
          <a:stretch>
            <a:fillRect/>
          </a:stretch>
        </p:blipFill>
        <p:spPr>
          <a:xfrm>
            <a:off x="8382000" y="10414000"/>
            <a:ext cx="444500" cy="444500"/>
          </a:xfrm>
          <a:prstGeom prst="rect">
            <a:avLst/>
          </a:prstGeom>
        </p:spPr>
      </p:pic>
      <p:sp>
        <p:nvSpPr>
          <p:cNvPr id="31" name="TextBox 31"/>
          <p:cNvSpPr txBox="1"/>
          <p:nvPr/>
        </p:nvSpPr>
        <p:spPr>
          <a:xfrm>
            <a:off x="8382000" y="10477500"/>
            <a:ext cx="457200" cy="317500"/>
          </a:xfrm>
          <a:prstGeom prst="rect">
            <a:avLst/>
          </a:prstGeom>
        </p:spPr>
        <p:txBody>
          <a:bodyPr lIns="0" tIns="0" rIns="0" bIns="0" rtlCol="0" anchor="t"/>
          <a:lstStyle/>
          <a:p>
            <a:pPr lvl="0" algn="ctr">
              <a:lnSpc>
                <a:spcPct val="116199"/>
              </a:lnSpc>
            </a:pPr>
            <a:r>
              <a:rPr lang="en-US" sz="1779" b="0" i="0" u="none" strike="noStrike">
                <a:solidFill>
                  <a:srgbClr val="1A7AE1"/>
                </a:solidFill>
                <a:latin typeface="Pretendard Medium"/>
                <a:ea typeface="Pretendard Medium"/>
                <a:cs typeface="Pretendard Medium"/>
              </a:rPr>
              <a:t>2</a:t>
            </a:r>
          </a:p>
        </p:txBody>
      </p:sp>
      <p:sp>
        <p:nvSpPr>
          <p:cNvPr id="32" name="TextBox 32"/>
          <p:cNvSpPr txBox="1"/>
          <p:nvPr/>
        </p:nvSpPr>
        <p:spPr>
          <a:xfrm>
            <a:off x="7353300" y="11468100"/>
            <a:ext cx="2514600" cy="546100"/>
          </a:xfrm>
          <a:prstGeom prst="rect">
            <a:avLst/>
          </a:prstGeom>
        </p:spPr>
        <p:txBody>
          <a:bodyPr lIns="0" tIns="0" rIns="0" bIns="0" rtlCol="0" anchor="t"/>
          <a:lstStyle/>
          <a:p>
            <a:pPr lvl="0" algn="ctr">
              <a:lnSpc>
                <a:spcPct val="116199"/>
              </a:lnSpc>
            </a:pPr>
            <a:r>
              <a:rPr lang="en-US" sz="3066" b="0" i="0" u="none" strike="noStrike">
                <a:solidFill>
                  <a:srgbClr val="FFFFFF"/>
                </a:solidFill>
                <a:latin typeface="Pretendard Medium"/>
                <a:ea typeface="Pretendard Medium"/>
                <a:cs typeface="Pretendard Medium"/>
              </a:rPr>
              <a:t>파일 서버 장악</a:t>
            </a:r>
          </a:p>
        </p:txBody>
      </p:sp>
      <p:pic>
        <p:nvPicPr>
          <p:cNvPr id="33" name="Picture 33"/>
          <p:cNvPicPr>
            <a:picLocks noChangeAspect="1"/>
          </p:cNvPicPr>
          <p:nvPr/>
        </p:nvPicPr>
        <p:blipFill>
          <a:blip r:embed="rId16"/>
          <a:stretch>
            <a:fillRect/>
          </a:stretch>
        </p:blipFill>
        <p:spPr>
          <a:xfrm>
            <a:off x="10007600" y="7175500"/>
            <a:ext cx="3441700" cy="3441700"/>
          </a:xfrm>
          <a:prstGeom prst="rect">
            <a:avLst/>
          </a:prstGeom>
          <a:effectLst>
            <a:outerShdw blurRad="189472" dist="79499" dir="2700000">
              <a:srgbClr val="000000">
                <a:alpha val="23000"/>
              </a:srgbClr>
            </a:outerShdw>
          </a:effectLst>
        </p:spPr>
      </p:pic>
      <p:pic>
        <p:nvPicPr>
          <p:cNvPr id="34" name="Picture 34"/>
          <p:cNvPicPr>
            <a:picLocks noChangeAspect="1"/>
          </p:cNvPicPr>
          <p:nvPr/>
        </p:nvPicPr>
        <p:blipFill>
          <a:blip r:embed="rId17"/>
          <a:stretch>
            <a:fillRect/>
          </a:stretch>
        </p:blipFill>
        <p:spPr>
          <a:xfrm>
            <a:off x="11518900" y="7721600"/>
            <a:ext cx="444500" cy="444500"/>
          </a:xfrm>
          <a:prstGeom prst="rect">
            <a:avLst/>
          </a:prstGeom>
        </p:spPr>
      </p:pic>
      <p:sp>
        <p:nvSpPr>
          <p:cNvPr id="35" name="TextBox 35"/>
          <p:cNvSpPr txBox="1"/>
          <p:nvPr/>
        </p:nvSpPr>
        <p:spPr>
          <a:xfrm>
            <a:off x="11506200" y="7785100"/>
            <a:ext cx="457200" cy="317500"/>
          </a:xfrm>
          <a:prstGeom prst="rect">
            <a:avLst/>
          </a:prstGeom>
        </p:spPr>
        <p:txBody>
          <a:bodyPr lIns="0" tIns="0" rIns="0" bIns="0" rtlCol="0" anchor="t"/>
          <a:lstStyle/>
          <a:p>
            <a:pPr lvl="0" algn="ctr">
              <a:lnSpc>
                <a:spcPct val="116199"/>
              </a:lnSpc>
            </a:pPr>
            <a:r>
              <a:rPr lang="en-US" sz="1779" b="0" i="0" u="none" strike="noStrike">
                <a:solidFill>
                  <a:srgbClr val="FFFFFF"/>
                </a:solidFill>
                <a:latin typeface="Pretendard Medium"/>
                <a:ea typeface="Pretendard Medium"/>
                <a:cs typeface="Pretendard Medium"/>
              </a:rPr>
              <a:t>3</a:t>
            </a:r>
          </a:p>
        </p:txBody>
      </p:sp>
      <p:sp>
        <p:nvSpPr>
          <p:cNvPr id="36" name="TextBox 36"/>
          <p:cNvSpPr txBox="1"/>
          <p:nvPr/>
        </p:nvSpPr>
        <p:spPr>
          <a:xfrm>
            <a:off x="10490200" y="8420100"/>
            <a:ext cx="2514600" cy="1092200"/>
          </a:xfrm>
          <a:prstGeom prst="rect">
            <a:avLst/>
          </a:prstGeom>
        </p:spPr>
        <p:txBody>
          <a:bodyPr lIns="0" tIns="0" rIns="0" bIns="0" rtlCol="0" anchor="t"/>
          <a:lstStyle/>
          <a:p>
            <a:pPr lvl="0" algn="ctr">
              <a:lnSpc>
                <a:spcPct val="116199"/>
              </a:lnSpc>
            </a:pPr>
            <a:r>
              <a:rPr lang="en-US" sz="3066" b="0" i="0" u="none" strike="noStrike">
                <a:solidFill>
                  <a:srgbClr val="000000"/>
                </a:solidFill>
                <a:latin typeface="Pretendard Medium"/>
                <a:ea typeface="Pretendard Medium"/>
                <a:cs typeface="Pretendard Medium"/>
              </a:rPr>
              <a:t>내부망 횡적 </a:t>
            </a:r>
          </a:p>
          <a:p>
            <a:pPr lvl="0" algn="ctr">
              <a:lnSpc>
                <a:spcPct val="116199"/>
              </a:lnSpc>
            </a:pPr>
            <a:r>
              <a:rPr lang="en-US" sz="3066" b="0" i="0" u="none" strike="noStrike">
                <a:solidFill>
                  <a:srgbClr val="000000"/>
                </a:solidFill>
                <a:latin typeface="Pretendard Medium"/>
                <a:ea typeface="Pretendard Medium"/>
                <a:cs typeface="Pretendard Medium"/>
              </a:rPr>
              <a:t>이동</a:t>
            </a:r>
          </a:p>
        </p:txBody>
      </p:sp>
      <p:pic>
        <p:nvPicPr>
          <p:cNvPr id="37" name="Picture 37"/>
          <p:cNvPicPr>
            <a:picLocks noChangeAspect="1"/>
          </p:cNvPicPr>
          <p:nvPr/>
        </p:nvPicPr>
        <p:blipFill>
          <a:blip r:embed="rId18"/>
          <a:stretch>
            <a:fillRect/>
          </a:stretch>
        </p:blipFill>
        <p:spPr>
          <a:xfrm>
            <a:off x="13144500" y="9867900"/>
            <a:ext cx="3441700" cy="3441700"/>
          </a:xfrm>
          <a:prstGeom prst="rect">
            <a:avLst/>
          </a:prstGeom>
          <a:effectLst>
            <a:outerShdw blurRad="189472" dist="79499" dir="2700000">
              <a:srgbClr val="000000">
                <a:alpha val="23000"/>
              </a:srgbClr>
            </a:outerShdw>
          </a:effectLst>
        </p:spPr>
      </p:pic>
      <p:pic>
        <p:nvPicPr>
          <p:cNvPr id="38" name="Picture 38"/>
          <p:cNvPicPr>
            <a:picLocks noChangeAspect="1"/>
          </p:cNvPicPr>
          <p:nvPr/>
        </p:nvPicPr>
        <p:blipFill>
          <a:blip r:embed="rId15"/>
          <a:stretch>
            <a:fillRect/>
          </a:stretch>
        </p:blipFill>
        <p:spPr>
          <a:xfrm>
            <a:off x="14643100" y="10426700"/>
            <a:ext cx="444500" cy="444500"/>
          </a:xfrm>
          <a:prstGeom prst="rect">
            <a:avLst/>
          </a:prstGeom>
        </p:spPr>
      </p:pic>
      <p:sp>
        <p:nvSpPr>
          <p:cNvPr id="39" name="TextBox 39"/>
          <p:cNvSpPr txBox="1"/>
          <p:nvPr/>
        </p:nvSpPr>
        <p:spPr>
          <a:xfrm>
            <a:off x="14630400" y="10490200"/>
            <a:ext cx="457200" cy="317500"/>
          </a:xfrm>
          <a:prstGeom prst="rect">
            <a:avLst/>
          </a:prstGeom>
        </p:spPr>
        <p:txBody>
          <a:bodyPr lIns="0" tIns="0" rIns="0" bIns="0" rtlCol="0" anchor="t"/>
          <a:lstStyle/>
          <a:p>
            <a:pPr lvl="0" algn="ctr">
              <a:lnSpc>
                <a:spcPct val="116199"/>
              </a:lnSpc>
            </a:pPr>
            <a:r>
              <a:rPr lang="en-US" sz="1779" b="0" i="0" u="none" strike="noStrike">
                <a:solidFill>
                  <a:srgbClr val="1A7AE1"/>
                </a:solidFill>
                <a:latin typeface="Pretendard Medium"/>
                <a:ea typeface="Pretendard Medium"/>
                <a:cs typeface="Pretendard Medium"/>
              </a:rPr>
              <a:t>4</a:t>
            </a:r>
          </a:p>
        </p:txBody>
      </p:sp>
      <p:sp>
        <p:nvSpPr>
          <p:cNvPr id="40" name="TextBox 40"/>
          <p:cNvSpPr txBox="1"/>
          <p:nvPr/>
        </p:nvSpPr>
        <p:spPr>
          <a:xfrm>
            <a:off x="13385800" y="11201400"/>
            <a:ext cx="2959100" cy="1092200"/>
          </a:xfrm>
          <a:prstGeom prst="rect">
            <a:avLst/>
          </a:prstGeom>
        </p:spPr>
        <p:txBody>
          <a:bodyPr lIns="0" tIns="0" rIns="0" bIns="0" rtlCol="0" anchor="t"/>
          <a:lstStyle/>
          <a:p>
            <a:pPr lvl="0" algn="ctr">
              <a:lnSpc>
                <a:spcPct val="116199"/>
              </a:lnSpc>
            </a:pPr>
            <a:r>
              <a:rPr lang="en-US" sz="3066" b="0" i="0" u="none" strike="noStrike">
                <a:solidFill>
                  <a:srgbClr val="FFFFFF"/>
                </a:solidFill>
                <a:latin typeface="Pretendard Medium"/>
                <a:ea typeface="Pretendard Medium"/>
                <a:cs typeface="Pretendard Medium"/>
              </a:rPr>
              <a:t>메일 서버 악용 및
브라우저 탈출</a:t>
            </a:r>
          </a:p>
        </p:txBody>
      </p:sp>
      <p:pic>
        <p:nvPicPr>
          <p:cNvPr id="41" name="Picture 41"/>
          <p:cNvPicPr>
            <a:picLocks noChangeAspect="1"/>
          </p:cNvPicPr>
          <p:nvPr/>
        </p:nvPicPr>
        <p:blipFill>
          <a:blip r:embed="rId19"/>
          <a:stretch>
            <a:fillRect/>
          </a:stretch>
        </p:blipFill>
        <p:spPr>
          <a:xfrm>
            <a:off x="16268700" y="7175500"/>
            <a:ext cx="3441700" cy="3441700"/>
          </a:xfrm>
          <a:prstGeom prst="rect">
            <a:avLst/>
          </a:prstGeom>
          <a:effectLst>
            <a:outerShdw blurRad="189472" dist="79499" dir="2700000">
              <a:srgbClr val="000000">
                <a:alpha val="23000"/>
              </a:srgbClr>
            </a:outerShdw>
          </a:effectLst>
        </p:spPr>
      </p:pic>
      <p:pic>
        <p:nvPicPr>
          <p:cNvPr id="42" name="Picture 42"/>
          <p:cNvPicPr>
            <a:picLocks noChangeAspect="1"/>
          </p:cNvPicPr>
          <p:nvPr/>
        </p:nvPicPr>
        <p:blipFill>
          <a:blip r:embed="rId20"/>
          <a:stretch>
            <a:fillRect/>
          </a:stretch>
        </p:blipFill>
        <p:spPr>
          <a:xfrm>
            <a:off x="17767300" y="7721600"/>
            <a:ext cx="444500" cy="444500"/>
          </a:xfrm>
          <a:prstGeom prst="rect">
            <a:avLst/>
          </a:prstGeom>
        </p:spPr>
      </p:pic>
      <p:sp>
        <p:nvSpPr>
          <p:cNvPr id="43" name="TextBox 43"/>
          <p:cNvSpPr txBox="1"/>
          <p:nvPr/>
        </p:nvSpPr>
        <p:spPr>
          <a:xfrm>
            <a:off x="17767300" y="7785100"/>
            <a:ext cx="457200" cy="317500"/>
          </a:xfrm>
          <a:prstGeom prst="rect">
            <a:avLst/>
          </a:prstGeom>
        </p:spPr>
        <p:txBody>
          <a:bodyPr lIns="0" tIns="0" rIns="0" bIns="0" rtlCol="0" anchor="t"/>
          <a:lstStyle/>
          <a:p>
            <a:pPr lvl="0" algn="ctr">
              <a:lnSpc>
                <a:spcPct val="116199"/>
              </a:lnSpc>
            </a:pPr>
            <a:r>
              <a:rPr lang="en-US" sz="1779" b="0" i="0" u="none" strike="noStrike">
                <a:solidFill>
                  <a:srgbClr val="FFFFFF"/>
                </a:solidFill>
                <a:latin typeface="Pretendard Medium"/>
                <a:ea typeface="Pretendard Medium"/>
                <a:cs typeface="Pretendard Medium"/>
              </a:rPr>
              <a:t>5</a:t>
            </a:r>
          </a:p>
        </p:txBody>
      </p:sp>
      <p:sp>
        <p:nvSpPr>
          <p:cNvPr id="44" name="TextBox 44"/>
          <p:cNvSpPr txBox="1"/>
          <p:nvPr/>
        </p:nvSpPr>
        <p:spPr>
          <a:xfrm>
            <a:off x="16611600" y="8420100"/>
            <a:ext cx="2768600" cy="1092200"/>
          </a:xfrm>
          <a:prstGeom prst="rect">
            <a:avLst/>
          </a:prstGeom>
        </p:spPr>
        <p:txBody>
          <a:bodyPr lIns="0" tIns="0" rIns="0" bIns="0" rtlCol="0" anchor="t"/>
          <a:lstStyle/>
          <a:p>
            <a:pPr lvl="0" algn="ctr">
              <a:lnSpc>
                <a:spcPct val="116199"/>
              </a:lnSpc>
            </a:pPr>
            <a:r>
              <a:rPr lang="en-US" sz="3066" b="0" i="0" u="none" strike="noStrike">
                <a:solidFill>
                  <a:srgbClr val="000000"/>
                </a:solidFill>
                <a:latin typeface="Pretendard Medium"/>
                <a:ea typeface="Pretendard Medium"/>
                <a:cs typeface="Pretendard Medium"/>
              </a:rPr>
              <a:t>GitLab 엑세스 </a:t>
            </a:r>
          </a:p>
          <a:p>
            <a:pPr lvl="0" algn="ctr">
              <a:lnSpc>
                <a:spcPct val="116199"/>
              </a:lnSpc>
            </a:pPr>
            <a:r>
              <a:rPr lang="en-US" sz="3066" b="0" i="0" u="none" strike="noStrike">
                <a:solidFill>
                  <a:srgbClr val="000000"/>
                </a:solidFill>
                <a:latin typeface="Pretendard Medium"/>
                <a:ea typeface="Pretendard Medium"/>
                <a:cs typeface="Pretendard Medium"/>
              </a:rPr>
              <a:t>토큰  탈취</a:t>
            </a:r>
          </a:p>
        </p:txBody>
      </p:sp>
      <p:sp>
        <p:nvSpPr>
          <p:cNvPr id="46" name="TextBox 14">
            <a:extLst>
              <a:ext uri="{FF2B5EF4-FFF2-40B4-BE49-F238E27FC236}">
                <a16:creationId xmlns:a16="http://schemas.microsoft.com/office/drawing/2014/main" id="{1BD18F95-2892-6704-1E4C-F90F91976C90}"/>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47" name="TextBox 14">
            <a:extLst>
              <a:ext uri="{FF2B5EF4-FFF2-40B4-BE49-F238E27FC236}">
                <a16:creationId xmlns:a16="http://schemas.microsoft.com/office/drawing/2014/main" id="{247F121B-B347-65DE-A9C6-E0EB345E470D}"/>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alphaModFix amt="70000"/>
          </a:blip>
          <a:stretch>
            <a:fillRect/>
          </a:stretch>
        </p:blipFill>
        <p:spPr>
          <a:xfrm>
            <a:off x="16230600" y="-2590800"/>
            <a:ext cx="11442700" cy="11442700"/>
          </a:xfrm>
          <a:prstGeom prst="rect">
            <a:avLst/>
          </a:prstGeom>
        </p:spPr>
      </p:pic>
      <p:pic>
        <p:nvPicPr>
          <p:cNvPr id="4" name="Picture 4"/>
          <p:cNvPicPr>
            <a:picLocks noChangeAspect="1"/>
          </p:cNvPicPr>
          <p:nvPr/>
        </p:nvPicPr>
        <p:blipFill>
          <a:blip r:embed="rId4"/>
          <a:stretch>
            <a:fillRect/>
          </a:stretch>
        </p:blipFill>
        <p:spPr>
          <a:xfrm>
            <a:off x="762000" y="1092200"/>
            <a:ext cx="22860000" cy="12700"/>
          </a:xfrm>
          <a:prstGeom prst="rect">
            <a:avLst/>
          </a:prstGeom>
        </p:spPr>
      </p:pic>
      <p:pic>
        <p:nvPicPr>
          <p:cNvPr id="5" name="Picture 5"/>
          <p:cNvPicPr>
            <a:picLocks noChangeAspect="1"/>
          </p:cNvPicPr>
          <p:nvPr/>
        </p:nvPicPr>
        <p:blipFill>
          <a:blip r:embed="rId5"/>
          <a:stretch>
            <a:fillRect/>
          </a:stretch>
        </p:blipFill>
        <p:spPr>
          <a:xfrm rot="5400000">
            <a:off x="3200400" y="787400"/>
            <a:ext cx="635000" cy="12700"/>
          </a:xfrm>
          <a:prstGeom prst="rect">
            <a:avLst/>
          </a:prstGeom>
        </p:spPr>
      </p:pic>
      <p:pic>
        <p:nvPicPr>
          <p:cNvPr id="6" name="Picture 6"/>
          <p:cNvPicPr>
            <a:picLocks noChangeAspect="1"/>
          </p:cNvPicPr>
          <p:nvPr/>
        </p:nvPicPr>
        <p:blipFill>
          <a:blip r:embed="rId5"/>
          <a:stretch>
            <a:fillRect/>
          </a:stretch>
        </p:blipFill>
        <p:spPr>
          <a:xfrm rot="5400000">
            <a:off x="22225000" y="787400"/>
            <a:ext cx="635000" cy="12700"/>
          </a:xfrm>
          <a:prstGeom prst="rect">
            <a:avLst/>
          </a:prstGeom>
        </p:spPr>
      </p:pic>
      <p:pic>
        <p:nvPicPr>
          <p:cNvPr id="7" name="Picture 7"/>
          <p:cNvPicPr>
            <a:picLocks noChangeAspect="1"/>
          </p:cNvPicPr>
          <p:nvPr/>
        </p:nvPicPr>
        <p:blipFill>
          <a:blip r:embed="rId5"/>
          <a:stretch>
            <a:fillRect/>
          </a:stretch>
        </p:blipFill>
        <p:spPr>
          <a:xfrm rot="5400000">
            <a:off x="6337300" y="787400"/>
            <a:ext cx="635000" cy="12700"/>
          </a:xfrm>
          <a:prstGeom prst="rect">
            <a:avLst/>
          </a:prstGeom>
        </p:spPr>
      </p:pic>
      <p:pic>
        <p:nvPicPr>
          <p:cNvPr id="8" name="Picture 8"/>
          <p:cNvPicPr>
            <a:picLocks noChangeAspect="1"/>
          </p:cNvPicPr>
          <p:nvPr/>
        </p:nvPicPr>
        <p:blipFill>
          <a:blip r:embed="rId4"/>
          <a:stretch>
            <a:fillRect/>
          </a:stretch>
        </p:blipFill>
        <p:spPr>
          <a:xfrm>
            <a:off x="723900" y="457200"/>
            <a:ext cx="22860000" cy="12700"/>
          </a:xfrm>
          <a:prstGeom prst="rect">
            <a:avLst/>
          </a:prstGeom>
        </p:spPr>
      </p:pic>
      <p:pic>
        <p:nvPicPr>
          <p:cNvPr id="10" name="Picture 10"/>
          <p:cNvPicPr>
            <a:picLocks noChangeAspect="1"/>
          </p:cNvPicPr>
          <p:nvPr/>
        </p:nvPicPr>
        <p:blipFill>
          <a:blip r:embed="rId6"/>
          <a:stretch>
            <a:fillRect/>
          </a:stretch>
        </p:blipFill>
        <p:spPr>
          <a:xfrm>
            <a:off x="1485900" y="1612900"/>
            <a:ext cx="88900" cy="850900"/>
          </a:xfrm>
          <a:prstGeom prst="rect">
            <a:avLst/>
          </a:prstGeom>
        </p:spPr>
      </p:pic>
      <p:sp>
        <p:nvSpPr>
          <p:cNvPr id="11" name="TextBox 11"/>
          <p:cNvSpPr txBox="1"/>
          <p:nvPr/>
        </p:nvSpPr>
        <p:spPr>
          <a:xfrm>
            <a:off x="1943100" y="1409700"/>
            <a:ext cx="13423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협력사망 경유를 통한 공급망 연쇄 침투</a:t>
            </a:r>
          </a:p>
        </p:txBody>
      </p:sp>
      <p:sp>
        <p:nvSpPr>
          <p:cNvPr id="12" name="TextBox 12"/>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a:solidFill>
                  <a:srgbClr val="024EA0"/>
                </a:solidFill>
                <a:latin typeface="Geologica Roman Light"/>
                <a:ea typeface="Geologica Roman Light"/>
                <a:cs typeface="Geologica Roman Light"/>
              </a:rPr>
              <a:t>26</a:t>
            </a:r>
          </a:p>
        </p:txBody>
      </p:sp>
      <p:sp>
        <p:nvSpPr>
          <p:cNvPr id="68" name="TextBox 14">
            <a:extLst>
              <a:ext uri="{FF2B5EF4-FFF2-40B4-BE49-F238E27FC236}">
                <a16:creationId xmlns:a16="http://schemas.microsoft.com/office/drawing/2014/main" id="{B62C0957-3A01-1620-3849-45C591AD227E}"/>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69" name="TextBox 14">
            <a:extLst>
              <a:ext uri="{FF2B5EF4-FFF2-40B4-BE49-F238E27FC236}">
                <a16:creationId xmlns:a16="http://schemas.microsoft.com/office/drawing/2014/main" id="{836899CB-A11A-2BC0-2DB7-00DA802AA6A1}"/>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75" name="Picture 2">
            <a:extLst>
              <a:ext uri="{FF2B5EF4-FFF2-40B4-BE49-F238E27FC236}">
                <a16:creationId xmlns:a16="http://schemas.microsoft.com/office/drawing/2014/main" id="{8C4CC967-90E7-5A2B-5679-5C6D797CEF34}"/>
              </a:ext>
            </a:extLst>
          </p:cNvPr>
          <p:cNvPicPr>
            <a:picLocks noChangeAspect="1"/>
          </p:cNvPicPr>
          <p:nvPr/>
        </p:nvPicPr>
        <p:blipFill>
          <a:blip r:embed="rId7">
            <a:alphaModFix amt="85000"/>
          </a:blip>
          <a:stretch>
            <a:fillRect/>
          </a:stretch>
        </p:blipFill>
        <p:spPr>
          <a:xfrm>
            <a:off x="11201400" y="558800"/>
            <a:ext cx="2705100" cy="444500"/>
          </a:xfrm>
          <a:prstGeom prst="rect">
            <a:avLst/>
          </a:prstGeom>
        </p:spPr>
      </p:pic>
      <p:sp>
        <p:nvSpPr>
          <p:cNvPr id="76" name="TextBox 16">
            <a:extLst>
              <a:ext uri="{FF2B5EF4-FFF2-40B4-BE49-F238E27FC236}">
                <a16:creationId xmlns:a16="http://schemas.microsoft.com/office/drawing/2014/main" id="{C82B310E-7084-2962-6FB5-AF5709A21EEC}"/>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77" name="TextBox 18">
            <a:extLst>
              <a:ext uri="{FF2B5EF4-FFF2-40B4-BE49-F238E27FC236}">
                <a16:creationId xmlns:a16="http://schemas.microsoft.com/office/drawing/2014/main" id="{98720143-2BE7-3D13-36FA-08F7F30D7C95}"/>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78" name="TextBox 19">
            <a:extLst>
              <a:ext uri="{FF2B5EF4-FFF2-40B4-BE49-F238E27FC236}">
                <a16:creationId xmlns:a16="http://schemas.microsoft.com/office/drawing/2014/main" id="{09F8553C-E13A-4C9A-9F2B-D81E25FABABA}"/>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79" name="TextBox 20">
            <a:extLst>
              <a:ext uri="{FF2B5EF4-FFF2-40B4-BE49-F238E27FC236}">
                <a16:creationId xmlns:a16="http://schemas.microsoft.com/office/drawing/2014/main" id="{9E257B0F-B5F3-58A6-C5DF-084BA2489DC0}"/>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pic>
        <p:nvPicPr>
          <p:cNvPr id="9" name="Picture 3">
            <a:extLst>
              <a:ext uri="{FF2B5EF4-FFF2-40B4-BE49-F238E27FC236}">
                <a16:creationId xmlns:a16="http://schemas.microsoft.com/office/drawing/2014/main" id="{577E9A6E-5124-24E4-513C-6609F2B2B551}"/>
              </a:ext>
            </a:extLst>
          </p:cNvPr>
          <p:cNvPicPr>
            <a:picLocks noChangeAspect="1"/>
          </p:cNvPicPr>
          <p:nvPr/>
        </p:nvPicPr>
        <p:blipFill>
          <a:blip r:embed="rId8"/>
          <a:stretch>
            <a:fillRect/>
          </a:stretch>
        </p:blipFill>
        <p:spPr>
          <a:xfrm>
            <a:off x="1765300" y="3371850"/>
            <a:ext cx="21361400" cy="9131300"/>
          </a:xfrm>
          <a:prstGeom prst="rect">
            <a:avLst/>
          </a:prstGeom>
          <a:effectLst>
            <a:outerShdw blurRad="228274" dist="210714" dir="2700000">
              <a:srgbClr val="1A7AE1">
                <a:alpha val="15000"/>
              </a:srgbClr>
            </a:outerShdw>
          </a:effectLst>
        </p:spPr>
      </p:pic>
      <p:pic>
        <p:nvPicPr>
          <p:cNvPr id="13" name="Picture 19">
            <a:extLst>
              <a:ext uri="{FF2B5EF4-FFF2-40B4-BE49-F238E27FC236}">
                <a16:creationId xmlns:a16="http://schemas.microsoft.com/office/drawing/2014/main" id="{E66249B9-3D44-17B2-FE16-9D44C02E9A71}"/>
              </a:ext>
            </a:extLst>
          </p:cNvPr>
          <p:cNvPicPr>
            <a:picLocks noChangeAspect="1"/>
          </p:cNvPicPr>
          <p:nvPr/>
        </p:nvPicPr>
        <p:blipFill>
          <a:blip r:embed="rId9">
            <a:alphaModFix amt="20000"/>
          </a:blip>
          <a:stretch>
            <a:fillRect/>
          </a:stretch>
        </p:blipFill>
        <p:spPr>
          <a:xfrm rot="5400000">
            <a:off x="4051300" y="7975600"/>
            <a:ext cx="9131300" cy="76200"/>
          </a:xfrm>
          <a:prstGeom prst="rect">
            <a:avLst/>
          </a:prstGeom>
        </p:spPr>
      </p:pic>
      <p:pic>
        <p:nvPicPr>
          <p:cNvPr id="14" name="Picture 20">
            <a:extLst>
              <a:ext uri="{FF2B5EF4-FFF2-40B4-BE49-F238E27FC236}">
                <a16:creationId xmlns:a16="http://schemas.microsoft.com/office/drawing/2014/main" id="{F29EEB3C-21A9-5545-4C0D-2464D9A6C703}"/>
              </a:ext>
            </a:extLst>
          </p:cNvPr>
          <p:cNvPicPr>
            <a:picLocks noChangeAspect="1"/>
          </p:cNvPicPr>
          <p:nvPr/>
        </p:nvPicPr>
        <p:blipFill>
          <a:blip r:embed="rId10">
            <a:alphaModFix amt="20000"/>
          </a:blip>
          <a:stretch>
            <a:fillRect/>
          </a:stretch>
        </p:blipFill>
        <p:spPr>
          <a:xfrm rot="5400000">
            <a:off x="11176000" y="7975600"/>
            <a:ext cx="9144000" cy="76200"/>
          </a:xfrm>
          <a:prstGeom prst="rect">
            <a:avLst/>
          </a:prstGeom>
        </p:spPr>
      </p:pic>
      <p:sp>
        <p:nvSpPr>
          <p:cNvPr id="15" name="TextBox 21">
            <a:extLst>
              <a:ext uri="{FF2B5EF4-FFF2-40B4-BE49-F238E27FC236}">
                <a16:creationId xmlns:a16="http://schemas.microsoft.com/office/drawing/2014/main" id="{1C87F608-A8E6-163A-5BE6-404CB4CDB6AC}"/>
              </a:ext>
            </a:extLst>
          </p:cNvPr>
          <p:cNvSpPr txBox="1"/>
          <p:nvPr/>
        </p:nvSpPr>
        <p:spPr>
          <a:xfrm>
            <a:off x="3822700" y="4178300"/>
            <a:ext cx="3200400" cy="520700"/>
          </a:xfrm>
          <a:prstGeom prst="rect">
            <a:avLst/>
          </a:prstGeom>
        </p:spPr>
        <p:txBody>
          <a:bodyPr lIns="0" tIns="0" rIns="0" bIns="0" rtlCol="0" anchor="t"/>
          <a:lstStyle/>
          <a:p>
            <a:pPr lvl="0" algn="ctr">
              <a:lnSpc>
                <a:spcPct val="116199"/>
              </a:lnSpc>
            </a:pPr>
            <a:r>
              <a:rPr lang="en-US" sz="2933" b="0" i="0" u="none" strike="noStrike">
                <a:solidFill>
                  <a:srgbClr val="000000"/>
                </a:solidFill>
                <a:latin typeface="Pretendard Medium"/>
                <a:ea typeface="Pretendard Medium"/>
                <a:cs typeface="Pretendard Medium"/>
              </a:rPr>
              <a:t>외부망</a:t>
            </a:r>
          </a:p>
        </p:txBody>
      </p:sp>
      <p:sp>
        <p:nvSpPr>
          <p:cNvPr id="16" name="TextBox 22">
            <a:extLst>
              <a:ext uri="{FF2B5EF4-FFF2-40B4-BE49-F238E27FC236}">
                <a16:creationId xmlns:a16="http://schemas.microsoft.com/office/drawing/2014/main" id="{B059D122-4C71-C5E8-36F0-96F9F875DAAA}"/>
              </a:ext>
            </a:extLst>
          </p:cNvPr>
          <p:cNvSpPr txBox="1"/>
          <p:nvPr/>
        </p:nvSpPr>
        <p:spPr>
          <a:xfrm>
            <a:off x="10566400" y="4140200"/>
            <a:ext cx="3454400" cy="520700"/>
          </a:xfrm>
          <a:prstGeom prst="rect">
            <a:avLst/>
          </a:prstGeom>
        </p:spPr>
        <p:txBody>
          <a:bodyPr lIns="0" tIns="0" rIns="0" bIns="0" rtlCol="0" anchor="t"/>
          <a:lstStyle/>
          <a:p>
            <a:pPr lvl="0" algn="ctr">
              <a:lnSpc>
                <a:spcPct val="116199"/>
              </a:lnSpc>
            </a:pPr>
            <a:r>
              <a:rPr lang="en-US" sz="2933" b="0" i="0" u="none" strike="noStrike" dirty="0" err="1">
                <a:solidFill>
                  <a:srgbClr val="000000"/>
                </a:solidFill>
                <a:latin typeface="Pretendard Medium"/>
                <a:ea typeface="Pretendard Medium"/>
                <a:cs typeface="Pretendard Medium"/>
              </a:rPr>
              <a:t>내부망</a:t>
            </a:r>
            <a:r>
              <a:rPr lang="en-US" sz="2933" b="0" i="0" u="none" strike="noStrike" dirty="0">
                <a:solidFill>
                  <a:srgbClr val="000000"/>
                </a:solidFill>
                <a:latin typeface="Pretendard Medium"/>
                <a:ea typeface="Pretendard Medium"/>
                <a:cs typeface="Pretendard Medium"/>
              </a:rPr>
              <a:t> </a:t>
            </a:r>
            <a:r>
              <a:rPr lang="ko-KR" altLang="en-US" sz="2933" b="0" i="0" u="none" strike="noStrike" dirty="0">
                <a:solidFill>
                  <a:srgbClr val="000000"/>
                </a:solidFill>
                <a:latin typeface="Pretendard Medium"/>
                <a:ea typeface="Pretendard Medium"/>
                <a:cs typeface="Pretendard Medium"/>
              </a:rPr>
              <a:t>－ </a:t>
            </a:r>
            <a:r>
              <a:rPr lang="en-US" altLang="ko-KR" sz="2933" b="0" i="0" u="none" strike="noStrike" dirty="0">
                <a:solidFill>
                  <a:srgbClr val="000000"/>
                </a:solidFill>
                <a:latin typeface="Pretendard Medium"/>
                <a:ea typeface="Pretendard Medium"/>
                <a:cs typeface="Pretendard Medium"/>
              </a:rPr>
              <a:t>DMZ</a:t>
            </a:r>
            <a:endParaRPr lang="en-US" sz="2933" b="0" i="0" u="none" strike="noStrike" dirty="0">
              <a:solidFill>
                <a:srgbClr val="000000"/>
              </a:solidFill>
              <a:latin typeface="Pretendard Medium"/>
              <a:ea typeface="Pretendard Medium"/>
              <a:cs typeface="Pretendard Medium"/>
            </a:endParaRPr>
          </a:p>
        </p:txBody>
      </p:sp>
      <p:sp>
        <p:nvSpPr>
          <p:cNvPr id="17" name="TextBox 23">
            <a:extLst>
              <a:ext uri="{FF2B5EF4-FFF2-40B4-BE49-F238E27FC236}">
                <a16:creationId xmlns:a16="http://schemas.microsoft.com/office/drawing/2014/main" id="{29014EA8-93C3-1638-169D-9B2DD7F764B3}"/>
              </a:ext>
            </a:extLst>
          </p:cNvPr>
          <p:cNvSpPr txBox="1"/>
          <p:nvPr/>
        </p:nvSpPr>
        <p:spPr>
          <a:xfrm>
            <a:off x="17818100" y="4140200"/>
            <a:ext cx="3454400" cy="520700"/>
          </a:xfrm>
          <a:prstGeom prst="rect">
            <a:avLst/>
          </a:prstGeom>
        </p:spPr>
        <p:txBody>
          <a:bodyPr lIns="0" tIns="0" rIns="0" bIns="0" rtlCol="0" anchor="t"/>
          <a:lstStyle/>
          <a:p>
            <a:pPr lvl="0" algn="ctr">
              <a:lnSpc>
                <a:spcPct val="116199"/>
              </a:lnSpc>
            </a:pPr>
            <a:r>
              <a:rPr lang="en-US" sz="2933" b="0" i="0" u="none" strike="noStrike" dirty="0" err="1">
                <a:solidFill>
                  <a:srgbClr val="000000"/>
                </a:solidFill>
                <a:latin typeface="Pretendard Medium"/>
                <a:ea typeface="Pretendard Medium"/>
                <a:cs typeface="Pretendard Medium"/>
              </a:rPr>
              <a:t>본사망</a:t>
            </a:r>
            <a:endParaRPr lang="en-US" sz="2933" b="0" i="0" u="none" strike="noStrike" dirty="0">
              <a:solidFill>
                <a:srgbClr val="000000"/>
              </a:solidFill>
              <a:latin typeface="Pretendard Medium"/>
              <a:ea typeface="Pretendard Medium"/>
              <a:cs typeface="Pretendard Medium"/>
            </a:endParaRPr>
          </a:p>
        </p:txBody>
      </p:sp>
      <p:pic>
        <p:nvPicPr>
          <p:cNvPr id="18" name="Picture 24">
            <a:extLst>
              <a:ext uri="{FF2B5EF4-FFF2-40B4-BE49-F238E27FC236}">
                <a16:creationId xmlns:a16="http://schemas.microsoft.com/office/drawing/2014/main" id="{D0FBB473-9588-FDDB-8C5E-445B09852938}"/>
              </a:ext>
            </a:extLst>
          </p:cNvPr>
          <p:cNvPicPr>
            <a:picLocks noChangeAspect="1"/>
          </p:cNvPicPr>
          <p:nvPr/>
        </p:nvPicPr>
        <p:blipFill>
          <a:blip r:embed="rId11"/>
          <a:stretch>
            <a:fillRect/>
          </a:stretch>
        </p:blipFill>
        <p:spPr>
          <a:xfrm>
            <a:off x="4851400" y="5321300"/>
            <a:ext cx="1168400" cy="1130300"/>
          </a:xfrm>
          <a:prstGeom prst="rect">
            <a:avLst/>
          </a:prstGeom>
        </p:spPr>
      </p:pic>
      <p:sp>
        <p:nvSpPr>
          <p:cNvPr id="67" name="TextBox 25">
            <a:extLst>
              <a:ext uri="{FF2B5EF4-FFF2-40B4-BE49-F238E27FC236}">
                <a16:creationId xmlns:a16="http://schemas.microsoft.com/office/drawing/2014/main" id="{EEA4C229-DDF5-BCFF-6DC9-8E79F7BE41B1}"/>
              </a:ext>
            </a:extLst>
          </p:cNvPr>
          <p:cNvSpPr txBox="1"/>
          <p:nvPr/>
        </p:nvSpPr>
        <p:spPr>
          <a:xfrm>
            <a:off x="4305300" y="6489700"/>
            <a:ext cx="22860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Medium"/>
                <a:ea typeface="Pretendard Medium"/>
                <a:cs typeface="Pretendard Medium"/>
              </a:rPr>
              <a:t>공격자</a:t>
            </a:r>
          </a:p>
        </p:txBody>
      </p:sp>
      <p:pic>
        <p:nvPicPr>
          <p:cNvPr id="70" name="Picture 26">
            <a:extLst>
              <a:ext uri="{FF2B5EF4-FFF2-40B4-BE49-F238E27FC236}">
                <a16:creationId xmlns:a16="http://schemas.microsoft.com/office/drawing/2014/main" id="{96300EB0-7791-857F-A0C1-9166EBD4DAEB}"/>
              </a:ext>
            </a:extLst>
          </p:cNvPr>
          <p:cNvPicPr>
            <a:picLocks noChangeAspect="1"/>
          </p:cNvPicPr>
          <p:nvPr/>
        </p:nvPicPr>
        <p:blipFill>
          <a:blip r:embed="rId12">
            <a:alphaModFix amt="20000"/>
          </a:blip>
          <a:stretch>
            <a:fillRect/>
          </a:stretch>
        </p:blipFill>
        <p:spPr>
          <a:xfrm>
            <a:off x="1765300" y="7861300"/>
            <a:ext cx="6896100" cy="76200"/>
          </a:xfrm>
          <a:prstGeom prst="rect">
            <a:avLst/>
          </a:prstGeom>
        </p:spPr>
      </p:pic>
      <p:sp>
        <p:nvSpPr>
          <p:cNvPr id="71" name="TextBox 27">
            <a:extLst>
              <a:ext uri="{FF2B5EF4-FFF2-40B4-BE49-F238E27FC236}">
                <a16:creationId xmlns:a16="http://schemas.microsoft.com/office/drawing/2014/main" id="{8C965B33-083E-330C-EF89-EA7B99610ABE}"/>
              </a:ext>
            </a:extLst>
          </p:cNvPr>
          <p:cNvSpPr txBox="1"/>
          <p:nvPr/>
        </p:nvSpPr>
        <p:spPr>
          <a:xfrm>
            <a:off x="3879850" y="8413751"/>
            <a:ext cx="3200400" cy="520700"/>
          </a:xfrm>
          <a:prstGeom prst="rect">
            <a:avLst/>
          </a:prstGeom>
        </p:spPr>
        <p:txBody>
          <a:bodyPr lIns="0" tIns="0" rIns="0" bIns="0" rtlCol="0" anchor="t"/>
          <a:lstStyle/>
          <a:p>
            <a:pPr lvl="0" algn="ctr">
              <a:lnSpc>
                <a:spcPct val="116199"/>
              </a:lnSpc>
            </a:pPr>
            <a:r>
              <a:rPr lang="ko-KR" altLang="en-US" sz="2933" b="0" i="0" u="none" strike="noStrike" dirty="0">
                <a:solidFill>
                  <a:srgbClr val="000000"/>
                </a:solidFill>
                <a:latin typeface="Pretendard Medium"/>
                <a:ea typeface="Pretendard Medium"/>
                <a:cs typeface="Pretendard Medium"/>
              </a:rPr>
              <a:t>협력사</a:t>
            </a:r>
            <a:r>
              <a:rPr lang="en-US" sz="2933" b="0" i="0" u="none" strike="noStrike" dirty="0">
                <a:solidFill>
                  <a:srgbClr val="000000"/>
                </a:solidFill>
                <a:latin typeface="Pretendard Medium"/>
                <a:ea typeface="Pretendard Medium"/>
                <a:cs typeface="Pretendard Medium"/>
              </a:rPr>
              <a:t>망</a:t>
            </a:r>
          </a:p>
        </p:txBody>
      </p:sp>
      <p:pic>
        <p:nvPicPr>
          <p:cNvPr id="72" name="Picture 28">
            <a:extLst>
              <a:ext uri="{FF2B5EF4-FFF2-40B4-BE49-F238E27FC236}">
                <a16:creationId xmlns:a16="http://schemas.microsoft.com/office/drawing/2014/main" id="{69184DD2-FB72-2DDC-B01F-1EF78773B333}"/>
              </a:ext>
            </a:extLst>
          </p:cNvPr>
          <p:cNvPicPr>
            <a:picLocks noChangeAspect="1"/>
          </p:cNvPicPr>
          <p:nvPr/>
        </p:nvPicPr>
        <p:blipFill>
          <a:blip r:embed="rId13"/>
          <a:stretch>
            <a:fillRect/>
          </a:stretch>
        </p:blipFill>
        <p:spPr>
          <a:xfrm>
            <a:off x="4762500" y="9550400"/>
            <a:ext cx="1422400" cy="1168400"/>
          </a:xfrm>
          <a:prstGeom prst="rect">
            <a:avLst/>
          </a:prstGeom>
        </p:spPr>
      </p:pic>
      <p:sp>
        <p:nvSpPr>
          <p:cNvPr id="73" name="TextBox 29">
            <a:extLst>
              <a:ext uri="{FF2B5EF4-FFF2-40B4-BE49-F238E27FC236}">
                <a16:creationId xmlns:a16="http://schemas.microsoft.com/office/drawing/2014/main" id="{D6BF2FF3-1453-8951-6E67-74BBD102EA3C}"/>
              </a:ext>
            </a:extLst>
          </p:cNvPr>
          <p:cNvSpPr txBox="1"/>
          <p:nvPr/>
        </p:nvSpPr>
        <p:spPr>
          <a:xfrm>
            <a:off x="4559300" y="10909300"/>
            <a:ext cx="1828800" cy="469900"/>
          </a:xfrm>
          <a:prstGeom prst="rect">
            <a:avLst/>
          </a:prstGeom>
        </p:spPr>
        <p:txBody>
          <a:bodyPr lIns="0" tIns="0" rIns="0" bIns="0" rtlCol="0" anchor="t"/>
          <a:lstStyle/>
          <a:p>
            <a:pPr lvl="0" algn="ctr">
              <a:lnSpc>
                <a:spcPct val="116199"/>
              </a:lnSpc>
            </a:pPr>
            <a:r>
              <a:rPr lang="ko-KR" altLang="en-US" sz="2607" dirty="0">
                <a:solidFill>
                  <a:srgbClr val="000000"/>
                </a:solidFill>
                <a:latin typeface="Pretendard Medium"/>
                <a:ea typeface="Pretendard Medium"/>
                <a:cs typeface="Pretendard Medium"/>
              </a:rPr>
              <a:t>프린터 </a:t>
            </a:r>
            <a:r>
              <a:rPr lang="en-US" sz="2607" b="0" i="0" u="none" strike="noStrike" dirty="0" err="1">
                <a:solidFill>
                  <a:srgbClr val="000000"/>
                </a:solidFill>
                <a:latin typeface="Pretendard Medium"/>
                <a:ea typeface="Pretendard Medium"/>
                <a:cs typeface="Pretendard Medium"/>
              </a:rPr>
              <a:t>서버</a:t>
            </a:r>
            <a:endParaRPr lang="en-US" sz="2607" b="0" i="0" u="none" strike="noStrike" dirty="0">
              <a:solidFill>
                <a:srgbClr val="000000"/>
              </a:solidFill>
              <a:latin typeface="Pretendard Medium"/>
              <a:ea typeface="Pretendard Medium"/>
              <a:cs typeface="Pretendard Medium"/>
            </a:endParaRPr>
          </a:p>
        </p:txBody>
      </p:sp>
      <p:pic>
        <p:nvPicPr>
          <p:cNvPr id="74" name="Picture 30">
            <a:extLst>
              <a:ext uri="{FF2B5EF4-FFF2-40B4-BE49-F238E27FC236}">
                <a16:creationId xmlns:a16="http://schemas.microsoft.com/office/drawing/2014/main" id="{FE2C4655-FF5F-2B89-732F-8B1FAB093A0E}"/>
              </a:ext>
            </a:extLst>
          </p:cNvPr>
          <p:cNvPicPr>
            <a:picLocks noChangeAspect="1"/>
          </p:cNvPicPr>
          <p:nvPr/>
        </p:nvPicPr>
        <p:blipFill>
          <a:blip r:embed="rId14"/>
          <a:stretch>
            <a:fillRect/>
          </a:stretch>
        </p:blipFill>
        <p:spPr>
          <a:xfrm>
            <a:off x="11709400" y="5283200"/>
            <a:ext cx="1168400" cy="1168400"/>
          </a:xfrm>
          <a:prstGeom prst="rect">
            <a:avLst/>
          </a:prstGeom>
        </p:spPr>
      </p:pic>
      <p:sp>
        <p:nvSpPr>
          <p:cNvPr id="80" name="TextBox 31">
            <a:extLst>
              <a:ext uri="{FF2B5EF4-FFF2-40B4-BE49-F238E27FC236}">
                <a16:creationId xmlns:a16="http://schemas.microsoft.com/office/drawing/2014/main" id="{DB0A93E7-36F7-81C9-BA58-EB60BF1EF845}"/>
              </a:ext>
            </a:extLst>
          </p:cNvPr>
          <p:cNvSpPr txBox="1"/>
          <p:nvPr/>
        </p:nvSpPr>
        <p:spPr>
          <a:xfrm>
            <a:off x="11176000" y="6464300"/>
            <a:ext cx="2235200" cy="469900"/>
          </a:xfrm>
          <a:prstGeom prst="rect">
            <a:avLst/>
          </a:prstGeom>
        </p:spPr>
        <p:txBody>
          <a:bodyPr lIns="0" tIns="0" rIns="0" bIns="0" rtlCol="0" anchor="t"/>
          <a:lstStyle/>
          <a:p>
            <a:pPr lvl="0" algn="ctr">
              <a:lnSpc>
                <a:spcPct val="116199"/>
              </a:lnSpc>
            </a:pPr>
            <a:r>
              <a:rPr lang="ko-KR" altLang="en-US" sz="2607" dirty="0">
                <a:solidFill>
                  <a:srgbClr val="000000"/>
                </a:solidFill>
                <a:latin typeface="Pretendard Medium"/>
                <a:ea typeface="Pretendard Medium"/>
                <a:cs typeface="Pretendard Medium"/>
              </a:rPr>
              <a:t>파일 공유 </a:t>
            </a:r>
            <a:r>
              <a:rPr lang="en-US" sz="2607" b="0" i="0" u="none" strike="noStrike" dirty="0" err="1">
                <a:solidFill>
                  <a:srgbClr val="000000"/>
                </a:solidFill>
                <a:latin typeface="Pretendard Medium"/>
                <a:ea typeface="Pretendard Medium"/>
                <a:cs typeface="Pretendard Medium"/>
              </a:rPr>
              <a:t>서버</a:t>
            </a:r>
            <a:endParaRPr lang="en-US" sz="2607" b="0" i="0" u="none" strike="noStrike" dirty="0">
              <a:solidFill>
                <a:srgbClr val="000000"/>
              </a:solidFill>
              <a:latin typeface="Pretendard Medium"/>
              <a:ea typeface="Pretendard Medium"/>
              <a:cs typeface="Pretendard Medium"/>
            </a:endParaRPr>
          </a:p>
        </p:txBody>
      </p:sp>
      <p:pic>
        <p:nvPicPr>
          <p:cNvPr id="81" name="Picture 32">
            <a:extLst>
              <a:ext uri="{FF2B5EF4-FFF2-40B4-BE49-F238E27FC236}">
                <a16:creationId xmlns:a16="http://schemas.microsoft.com/office/drawing/2014/main" id="{86674435-A161-AF8A-8542-03845DA809E0}"/>
              </a:ext>
            </a:extLst>
          </p:cNvPr>
          <p:cNvPicPr>
            <a:picLocks noChangeAspect="1"/>
          </p:cNvPicPr>
          <p:nvPr/>
        </p:nvPicPr>
        <p:blipFill>
          <a:blip r:embed="rId15"/>
          <a:stretch>
            <a:fillRect/>
          </a:stretch>
        </p:blipFill>
        <p:spPr>
          <a:xfrm>
            <a:off x="16433800" y="5676900"/>
            <a:ext cx="1320800" cy="1168400"/>
          </a:xfrm>
          <a:prstGeom prst="rect">
            <a:avLst/>
          </a:prstGeom>
        </p:spPr>
      </p:pic>
      <p:pic>
        <p:nvPicPr>
          <p:cNvPr id="82" name="Picture 33">
            <a:extLst>
              <a:ext uri="{FF2B5EF4-FFF2-40B4-BE49-F238E27FC236}">
                <a16:creationId xmlns:a16="http://schemas.microsoft.com/office/drawing/2014/main" id="{37DBC927-F4B2-096E-4788-2AF7388E9885}"/>
              </a:ext>
            </a:extLst>
          </p:cNvPr>
          <p:cNvPicPr>
            <a:picLocks noChangeAspect="1"/>
          </p:cNvPicPr>
          <p:nvPr/>
        </p:nvPicPr>
        <p:blipFill>
          <a:blip r:embed="rId15"/>
          <a:stretch>
            <a:fillRect/>
          </a:stretch>
        </p:blipFill>
        <p:spPr>
          <a:xfrm>
            <a:off x="19926300" y="5676900"/>
            <a:ext cx="1320800" cy="1168400"/>
          </a:xfrm>
          <a:prstGeom prst="rect">
            <a:avLst/>
          </a:prstGeom>
        </p:spPr>
      </p:pic>
      <p:pic>
        <p:nvPicPr>
          <p:cNvPr id="83" name="Picture 34">
            <a:extLst>
              <a:ext uri="{FF2B5EF4-FFF2-40B4-BE49-F238E27FC236}">
                <a16:creationId xmlns:a16="http://schemas.microsoft.com/office/drawing/2014/main" id="{9CCFEC52-B54D-87BF-94DD-63D7AB8015B5}"/>
              </a:ext>
            </a:extLst>
          </p:cNvPr>
          <p:cNvPicPr>
            <a:picLocks noChangeAspect="1"/>
          </p:cNvPicPr>
          <p:nvPr/>
        </p:nvPicPr>
        <p:blipFill>
          <a:blip r:embed="rId16"/>
          <a:stretch>
            <a:fillRect/>
          </a:stretch>
        </p:blipFill>
        <p:spPr>
          <a:xfrm>
            <a:off x="16433800" y="9372600"/>
            <a:ext cx="1320800" cy="1168400"/>
          </a:xfrm>
          <a:prstGeom prst="rect">
            <a:avLst/>
          </a:prstGeom>
        </p:spPr>
      </p:pic>
      <p:pic>
        <p:nvPicPr>
          <p:cNvPr id="84" name="Picture 35">
            <a:extLst>
              <a:ext uri="{FF2B5EF4-FFF2-40B4-BE49-F238E27FC236}">
                <a16:creationId xmlns:a16="http://schemas.microsoft.com/office/drawing/2014/main" id="{1F19418B-B747-A5A3-4C95-A6AE8C0E4FE1}"/>
              </a:ext>
            </a:extLst>
          </p:cNvPr>
          <p:cNvPicPr>
            <a:picLocks noChangeAspect="1"/>
          </p:cNvPicPr>
          <p:nvPr/>
        </p:nvPicPr>
        <p:blipFill>
          <a:blip r:embed="rId17"/>
          <a:stretch>
            <a:fillRect/>
          </a:stretch>
        </p:blipFill>
        <p:spPr>
          <a:xfrm>
            <a:off x="19659600" y="8928100"/>
            <a:ext cx="1841500" cy="1841500"/>
          </a:xfrm>
          <a:prstGeom prst="rect">
            <a:avLst/>
          </a:prstGeom>
        </p:spPr>
      </p:pic>
      <p:sp>
        <p:nvSpPr>
          <p:cNvPr id="85" name="TextBox 36">
            <a:extLst>
              <a:ext uri="{FF2B5EF4-FFF2-40B4-BE49-F238E27FC236}">
                <a16:creationId xmlns:a16="http://schemas.microsoft.com/office/drawing/2014/main" id="{7E027371-A25F-E355-B0BF-B0D2612598B7}"/>
              </a:ext>
            </a:extLst>
          </p:cNvPr>
          <p:cNvSpPr txBox="1"/>
          <p:nvPr/>
        </p:nvSpPr>
        <p:spPr>
          <a:xfrm>
            <a:off x="15976600" y="7086600"/>
            <a:ext cx="2235200" cy="469900"/>
          </a:xfrm>
          <a:prstGeom prst="rect">
            <a:avLst/>
          </a:prstGeom>
        </p:spPr>
        <p:txBody>
          <a:bodyPr lIns="0" tIns="0" rIns="0" bIns="0" rtlCol="0" anchor="t"/>
          <a:lstStyle/>
          <a:p>
            <a:pPr lvl="0" algn="ctr">
              <a:lnSpc>
                <a:spcPct val="116199"/>
              </a:lnSpc>
            </a:pPr>
            <a:r>
              <a:rPr lang="en-US" sz="2607" b="0" i="0" u="none" strike="noStrike">
                <a:solidFill>
                  <a:srgbClr val="000000"/>
                </a:solidFill>
                <a:latin typeface="Pretendard Medium"/>
                <a:ea typeface="Pretendard Medium"/>
                <a:cs typeface="Pretendard Medium"/>
              </a:rPr>
              <a:t>대외지원 관리자</a:t>
            </a:r>
          </a:p>
        </p:txBody>
      </p:sp>
      <p:sp>
        <p:nvSpPr>
          <p:cNvPr id="86" name="TextBox 37">
            <a:extLst>
              <a:ext uri="{FF2B5EF4-FFF2-40B4-BE49-F238E27FC236}">
                <a16:creationId xmlns:a16="http://schemas.microsoft.com/office/drawing/2014/main" id="{68976DAA-5B2B-8A9A-2781-D81DDD971FA5}"/>
              </a:ext>
            </a:extLst>
          </p:cNvPr>
          <p:cNvSpPr txBox="1"/>
          <p:nvPr/>
        </p:nvSpPr>
        <p:spPr>
          <a:xfrm>
            <a:off x="19519900" y="7086600"/>
            <a:ext cx="2235200" cy="469900"/>
          </a:xfrm>
          <a:prstGeom prst="rect">
            <a:avLst/>
          </a:prstGeom>
        </p:spPr>
        <p:txBody>
          <a:bodyPr lIns="0" tIns="0" rIns="0" bIns="0" rtlCol="0" anchor="t"/>
          <a:lstStyle/>
          <a:p>
            <a:pPr lvl="0" algn="ctr">
              <a:lnSpc>
                <a:spcPct val="116199"/>
              </a:lnSpc>
            </a:pPr>
            <a:r>
              <a:rPr lang="en-US" sz="2607" b="0" i="0" u="none" strike="noStrike">
                <a:solidFill>
                  <a:srgbClr val="000000"/>
                </a:solidFill>
                <a:latin typeface="Pretendard Medium"/>
                <a:ea typeface="Pretendard Medium"/>
                <a:cs typeface="Pretendard Medium"/>
              </a:rPr>
              <a:t>IT 관리자</a:t>
            </a:r>
          </a:p>
        </p:txBody>
      </p:sp>
      <p:sp>
        <p:nvSpPr>
          <p:cNvPr id="87" name="TextBox 38">
            <a:extLst>
              <a:ext uri="{FF2B5EF4-FFF2-40B4-BE49-F238E27FC236}">
                <a16:creationId xmlns:a16="http://schemas.microsoft.com/office/drawing/2014/main" id="{4155FB16-B3E3-B0BA-C4EF-574B0D11D02C}"/>
              </a:ext>
            </a:extLst>
          </p:cNvPr>
          <p:cNvSpPr txBox="1"/>
          <p:nvPr/>
        </p:nvSpPr>
        <p:spPr>
          <a:xfrm>
            <a:off x="15989300" y="10604501"/>
            <a:ext cx="2235200" cy="469900"/>
          </a:xfrm>
          <a:prstGeom prst="rect">
            <a:avLst/>
          </a:prstGeom>
        </p:spPr>
        <p:txBody>
          <a:bodyPr lIns="0" tIns="0" rIns="0" bIns="0" rtlCol="0" anchor="t"/>
          <a:lstStyle/>
          <a:p>
            <a:pPr lvl="0" algn="ctr">
              <a:lnSpc>
                <a:spcPct val="116199"/>
              </a:lnSpc>
            </a:pPr>
            <a:r>
              <a:rPr lang="en-US" sz="2607" b="0" i="0" u="none" strike="noStrike" dirty="0" err="1">
                <a:solidFill>
                  <a:srgbClr val="000000"/>
                </a:solidFill>
                <a:latin typeface="Pretendard Medium"/>
                <a:ea typeface="Pretendard Medium"/>
                <a:cs typeface="Pretendard Medium"/>
              </a:rPr>
              <a:t>개발자</a:t>
            </a:r>
            <a:endParaRPr lang="en-US" sz="2607" b="0" i="0" u="none" strike="noStrike" dirty="0">
              <a:solidFill>
                <a:srgbClr val="000000"/>
              </a:solidFill>
              <a:latin typeface="Pretendard Medium"/>
              <a:ea typeface="Pretendard Medium"/>
              <a:cs typeface="Pretendard Medium"/>
            </a:endParaRPr>
          </a:p>
        </p:txBody>
      </p:sp>
      <p:sp>
        <p:nvSpPr>
          <p:cNvPr id="88" name="TextBox 39">
            <a:extLst>
              <a:ext uri="{FF2B5EF4-FFF2-40B4-BE49-F238E27FC236}">
                <a16:creationId xmlns:a16="http://schemas.microsoft.com/office/drawing/2014/main" id="{C2FBE24E-3639-4B7A-1036-632A63FEC1EC}"/>
              </a:ext>
            </a:extLst>
          </p:cNvPr>
          <p:cNvSpPr txBox="1"/>
          <p:nvPr/>
        </p:nvSpPr>
        <p:spPr>
          <a:xfrm>
            <a:off x="19418300" y="10769600"/>
            <a:ext cx="2235200" cy="927100"/>
          </a:xfrm>
          <a:prstGeom prst="rect">
            <a:avLst/>
          </a:prstGeom>
        </p:spPr>
        <p:txBody>
          <a:bodyPr lIns="0" tIns="0" rIns="0" bIns="0" rtlCol="0" anchor="t"/>
          <a:lstStyle/>
          <a:p>
            <a:pPr lvl="0" algn="ctr">
              <a:lnSpc>
                <a:spcPct val="116199"/>
              </a:lnSpc>
            </a:pPr>
            <a:r>
              <a:rPr lang="en-US" sz="2607" b="0" i="0" u="none" strike="noStrike" dirty="0" err="1">
                <a:solidFill>
                  <a:srgbClr val="000000"/>
                </a:solidFill>
                <a:latin typeface="Pretendard Medium"/>
                <a:ea typeface="Pretendard Medium"/>
                <a:cs typeface="Pretendard Medium"/>
              </a:rPr>
              <a:t>메일</a:t>
            </a:r>
            <a:r>
              <a:rPr lang="en-US" sz="2607" b="0" i="0" u="none" strike="noStrike" dirty="0">
                <a:solidFill>
                  <a:srgbClr val="000000"/>
                </a:solidFill>
                <a:latin typeface="Pretendard Medium"/>
                <a:ea typeface="Pretendard Medium"/>
                <a:cs typeface="Pretendard Medium"/>
              </a:rPr>
              <a:t> </a:t>
            </a:r>
            <a:r>
              <a:rPr lang="en-US" sz="2607" b="0" i="0" u="none" strike="noStrike" dirty="0" err="1">
                <a:solidFill>
                  <a:srgbClr val="000000"/>
                </a:solidFill>
                <a:latin typeface="Pretendard Medium"/>
                <a:ea typeface="Pretendard Medium"/>
                <a:cs typeface="Pretendard Medium"/>
              </a:rPr>
              <a:t>서버</a:t>
            </a:r>
            <a:endParaRPr lang="en-US" sz="2607" b="0" i="0" u="none" strike="noStrike" dirty="0">
              <a:solidFill>
                <a:srgbClr val="000000"/>
              </a:solidFill>
              <a:latin typeface="Pretendard Medium"/>
              <a:ea typeface="Pretendard Medium"/>
              <a:cs typeface="Pretendard Medium"/>
            </a:endParaRPr>
          </a:p>
        </p:txBody>
      </p:sp>
      <p:pic>
        <p:nvPicPr>
          <p:cNvPr id="89" name="Picture 40">
            <a:extLst>
              <a:ext uri="{FF2B5EF4-FFF2-40B4-BE49-F238E27FC236}">
                <a16:creationId xmlns:a16="http://schemas.microsoft.com/office/drawing/2014/main" id="{CE994227-DF7A-83D0-56C8-552BE157F171}"/>
              </a:ext>
            </a:extLst>
          </p:cNvPr>
          <p:cNvPicPr>
            <a:picLocks noChangeAspect="1"/>
          </p:cNvPicPr>
          <p:nvPr/>
        </p:nvPicPr>
        <p:blipFill>
          <a:blip r:embed="rId18"/>
          <a:stretch>
            <a:fillRect/>
          </a:stretch>
        </p:blipFill>
        <p:spPr>
          <a:xfrm>
            <a:off x="11861800" y="9118600"/>
            <a:ext cx="1422400" cy="1422400"/>
          </a:xfrm>
          <a:prstGeom prst="rect">
            <a:avLst/>
          </a:prstGeom>
        </p:spPr>
      </p:pic>
      <p:sp>
        <p:nvSpPr>
          <p:cNvPr id="90" name="TextBox 41">
            <a:extLst>
              <a:ext uri="{FF2B5EF4-FFF2-40B4-BE49-F238E27FC236}">
                <a16:creationId xmlns:a16="http://schemas.microsoft.com/office/drawing/2014/main" id="{B4B093F5-E1F4-EBE8-5F7F-D5427496DB79}"/>
              </a:ext>
            </a:extLst>
          </p:cNvPr>
          <p:cNvSpPr txBox="1"/>
          <p:nvPr/>
        </p:nvSpPr>
        <p:spPr>
          <a:xfrm>
            <a:off x="11658600" y="10464800"/>
            <a:ext cx="1828800" cy="469900"/>
          </a:xfrm>
          <a:prstGeom prst="rect">
            <a:avLst/>
          </a:prstGeom>
        </p:spPr>
        <p:txBody>
          <a:bodyPr lIns="0" tIns="0" rIns="0" bIns="0" rtlCol="0" anchor="t"/>
          <a:lstStyle/>
          <a:p>
            <a:pPr lvl="0" algn="ctr">
              <a:lnSpc>
                <a:spcPct val="116199"/>
              </a:lnSpc>
            </a:pPr>
            <a:r>
              <a:rPr lang="en-US" sz="2607" b="0" i="0" u="none" strike="noStrike">
                <a:solidFill>
                  <a:srgbClr val="000000"/>
                </a:solidFill>
                <a:latin typeface="Pretendard Medium"/>
                <a:ea typeface="Pretendard Medium"/>
                <a:cs typeface="Pretendard Medium"/>
              </a:rPr>
              <a:t>CI/CD</a:t>
            </a:r>
          </a:p>
        </p:txBody>
      </p:sp>
      <p:grpSp>
        <p:nvGrpSpPr>
          <p:cNvPr id="91" name="그룹 90">
            <a:extLst>
              <a:ext uri="{FF2B5EF4-FFF2-40B4-BE49-F238E27FC236}">
                <a16:creationId xmlns:a16="http://schemas.microsoft.com/office/drawing/2014/main" id="{D3DF8AA7-0D07-E60E-0FE0-B7FE40927D2A}"/>
              </a:ext>
            </a:extLst>
          </p:cNvPr>
          <p:cNvGrpSpPr/>
          <p:nvPr/>
        </p:nvGrpSpPr>
        <p:grpSpPr>
          <a:xfrm>
            <a:off x="3524250" y="6108700"/>
            <a:ext cx="1187450" cy="4152900"/>
            <a:chOff x="3524250" y="6108700"/>
            <a:chExt cx="1187450" cy="4152900"/>
          </a:xfrm>
        </p:grpSpPr>
        <p:pic>
          <p:nvPicPr>
            <p:cNvPr id="92" name="Picture 42">
              <a:extLst>
                <a:ext uri="{FF2B5EF4-FFF2-40B4-BE49-F238E27FC236}">
                  <a16:creationId xmlns:a16="http://schemas.microsoft.com/office/drawing/2014/main" id="{CAD402A1-FCEB-A99E-560E-0FEA3108AC17}"/>
                </a:ext>
              </a:extLst>
            </p:cNvPr>
            <p:cNvPicPr>
              <a:picLocks noChangeAspect="1"/>
            </p:cNvPicPr>
            <p:nvPr/>
          </p:nvPicPr>
          <p:blipFill>
            <a:blip r:embed="rId19"/>
            <a:stretch>
              <a:fillRect/>
            </a:stretch>
          </p:blipFill>
          <p:spPr>
            <a:xfrm>
              <a:off x="3524250" y="10071100"/>
              <a:ext cx="1060450" cy="190500"/>
            </a:xfrm>
            <a:prstGeom prst="rect">
              <a:avLst/>
            </a:prstGeom>
          </p:spPr>
        </p:pic>
        <p:pic>
          <p:nvPicPr>
            <p:cNvPr id="93" name="Picture 43">
              <a:extLst>
                <a:ext uri="{FF2B5EF4-FFF2-40B4-BE49-F238E27FC236}">
                  <a16:creationId xmlns:a16="http://schemas.microsoft.com/office/drawing/2014/main" id="{6F7B7B83-F635-79CE-6ABD-B9E3657FC371}"/>
                </a:ext>
              </a:extLst>
            </p:cNvPr>
            <p:cNvPicPr>
              <a:picLocks noChangeAspect="1"/>
            </p:cNvPicPr>
            <p:nvPr/>
          </p:nvPicPr>
          <p:blipFill>
            <a:blip r:embed="rId20"/>
            <a:stretch>
              <a:fillRect/>
            </a:stretch>
          </p:blipFill>
          <p:spPr>
            <a:xfrm>
              <a:off x="3530600" y="6108700"/>
              <a:ext cx="1181100" cy="63500"/>
            </a:xfrm>
            <a:prstGeom prst="rect">
              <a:avLst/>
            </a:prstGeom>
          </p:spPr>
        </p:pic>
        <p:pic>
          <p:nvPicPr>
            <p:cNvPr id="94" name="Picture 44">
              <a:extLst>
                <a:ext uri="{FF2B5EF4-FFF2-40B4-BE49-F238E27FC236}">
                  <a16:creationId xmlns:a16="http://schemas.microsoft.com/office/drawing/2014/main" id="{D081FE55-D8A6-41DD-FEB6-3FA8CF34E6FA}"/>
                </a:ext>
              </a:extLst>
            </p:cNvPr>
            <p:cNvPicPr>
              <a:picLocks noChangeAspect="1"/>
            </p:cNvPicPr>
            <p:nvPr/>
          </p:nvPicPr>
          <p:blipFill>
            <a:blip r:embed="rId21"/>
            <a:stretch>
              <a:fillRect/>
            </a:stretch>
          </p:blipFill>
          <p:spPr>
            <a:xfrm rot="5400000">
              <a:off x="1511300" y="8121650"/>
              <a:ext cx="4089400" cy="63500"/>
            </a:xfrm>
            <a:prstGeom prst="rect">
              <a:avLst/>
            </a:prstGeom>
          </p:spPr>
        </p:pic>
      </p:grpSp>
      <p:grpSp>
        <p:nvGrpSpPr>
          <p:cNvPr id="95" name="그룹 94">
            <a:extLst>
              <a:ext uri="{FF2B5EF4-FFF2-40B4-BE49-F238E27FC236}">
                <a16:creationId xmlns:a16="http://schemas.microsoft.com/office/drawing/2014/main" id="{E64CDCD3-5CEB-F0E0-8235-0746332AE0B6}"/>
              </a:ext>
            </a:extLst>
          </p:cNvPr>
          <p:cNvGrpSpPr/>
          <p:nvPr/>
        </p:nvGrpSpPr>
        <p:grpSpPr>
          <a:xfrm>
            <a:off x="6311900" y="6083300"/>
            <a:ext cx="5295900" cy="4114800"/>
            <a:chOff x="6311900" y="6083300"/>
            <a:chExt cx="5295900" cy="4114800"/>
          </a:xfrm>
        </p:grpSpPr>
        <p:pic>
          <p:nvPicPr>
            <p:cNvPr id="96" name="Picture 45">
              <a:extLst>
                <a:ext uri="{FF2B5EF4-FFF2-40B4-BE49-F238E27FC236}">
                  <a16:creationId xmlns:a16="http://schemas.microsoft.com/office/drawing/2014/main" id="{16E56A86-1848-11E8-24BE-0FF2FB290BB6}"/>
                </a:ext>
              </a:extLst>
            </p:cNvPr>
            <p:cNvPicPr>
              <a:picLocks noChangeAspect="1"/>
            </p:cNvPicPr>
            <p:nvPr/>
          </p:nvPicPr>
          <p:blipFill>
            <a:blip r:embed="rId22"/>
            <a:stretch>
              <a:fillRect/>
            </a:stretch>
          </p:blipFill>
          <p:spPr>
            <a:xfrm>
              <a:off x="7899400" y="6083300"/>
              <a:ext cx="3708400" cy="190500"/>
            </a:xfrm>
            <a:prstGeom prst="rect">
              <a:avLst/>
            </a:prstGeom>
          </p:spPr>
        </p:pic>
        <p:pic>
          <p:nvPicPr>
            <p:cNvPr id="97" name="Picture 46">
              <a:extLst>
                <a:ext uri="{FF2B5EF4-FFF2-40B4-BE49-F238E27FC236}">
                  <a16:creationId xmlns:a16="http://schemas.microsoft.com/office/drawing/2014/main" id="{09F089C3-9037-ED35-807D-11D22F5271DD}"/>
                </a:ext>
              </a:extLst>
            </p:cNvPr>
            <p:cNvPicPr>
              <a:picLocks noChangeAspect="1"/>
            </p:cNvPicPr>
            <p:nvPr/>
          </p:nvPicPr>
          <p:blipFill>
            <a:blip r:embed="rId23"/>
            <a:stretch>
              <a:fillRect/>
            </a:stretch>
          </p:blipFill>
          <p:spPr>
            <a:xfrm rot="5400000">
              <a:off x="5911850" y="8147051"/>
              <a:ext cx="4038599" cy="63500"/>
            </a:xfrm>
            <a:prstGeom prst="rect">
              <a:avLst/>
            </a:prstGeom>
          </p:spPr>
        </p:pic>
        <p:pic>
          <p:nvPicPr>
            <p:cNvPr id="98" name="Picture 47">
              <a:extLst>
                <a:ext uri="{FF2B5EF4-FFF2-40B4-BE49-F238E27FC236}">
                  <a16:creationId xmlns:a16="http://schemas.microsoft.com/office/drawing/2014/main" id="{41521AE8-6354-0E7D-0A25-9E4F68673A97}"/>
                </a:ext>
              </a:extLst>
            </p:cNvPr>
            <p:cNvPicPr>
              <a:picLocks noChangeAspect="1"/>
            </p:cNvPicPr>
            <p:nvPr/>
          </p:nvPicPr>
          <p:blipFill>
            <a:blip r:embed="rId24"/>
            <a:stretch>
              <a:fillRect/>
            </a:stretch>
          </p:blipFill>
          <p:spPr>
            <a:xfrm rot="10800000">
              <a:off x="6311900" y="10134600"/>
              <a:ext cx="1651000" cy="63500"/>
            </a:xfrm>
            <a:prstGeom prst="rect">
              <a:avLst/>
            </a:prstGeom>
          </p:spPr>
        </p:pic>
      </p:grpSp>
      <p:pic>
        <p:nvPicPr>
          <p:cNvPr id="99" name="Picture 48">
            <a:extLst>
              <a:ext uri="{FF2B5EF4-FFF2-40B4-BE49-F238E27FC236}">
                <a16:creationId xmlns:a16="http://schemas.microsoft.com/office/drawing/2014/main" id="{EF204C95-EDD4-566E-8A62-84C904CEEC0F}"/>
              </a:ext>
            </a:extLst>
          </p:cNvPr>
          <p:cNvPicPr>
            <a:picLocks noChangeAspect="1"/>
          </p:cNvPicPr>
          <p:nvPr/>
        </p:nvPicPr>
        <p:blipFill>
          <a:blip r:embed="rId25"/>
          <a:stretch>
            <a:fillRect/>
          </a:stretch>
        </p:blipFill>
        <p:spPr>
          <a:xfrm>
            <a:off x="13081000" y="6045200"/>
            <a:ext cx="3086100" cy="190500"/>
          </a:xfrm>
          <a:prstGeom prst="rect">
            <a:avLst/>
          </a:prstGeom>
        </p:spPr>
      </p:pic>
      <p:pic>
        <p:nvPicPr>
          <p:cNvPr id="100" name="Picture 49">
            <a:extLst>
              <a:ext uri="{FF2B5EF4-FFF2-40B4-BE49-F238E27FC236}">
                <a16:creationId xmlns:a16="http://schemas.microsoft.com/office/drawing/2014/main" id="{514E34B2-7B52-D9EB-B3EB-513A206DF854}"/>
              </a:ext>
            </a:extLst>
          </p:cNvPr>
          <p:cNvPicPr>
            <a:picLocks noChangeAspect="1"/>
          </p:cNvPicPr>
          <p:nvPr/>
        </p:nvPicPr>
        <p:blipFill>
          <a:blip r:embed="rId26"/>
          <a:stretch>
            <a:fillRect/>
          </a:stretch>
        </p:blipFill>
        <p:spPr>
          <a:xfrm>
            <a:off x="17881600" y="6197600"/>
            <a:ext cx="1968500" cy="190500"/>
          </a:xfrm>
          <a:prstGeom prst="rect">
            <a:avLst/>
          </a:prstGeom>
        </p:spPr>
      </p:pic>
      <p:grpSp>
        <p:nvGrpSpPr>
          <p:cNvPr id="101" name="그룹 100">
            <a:extLst>
              <a:ext uri="{FF2B5EF4-FFF2-40B4-BE49-F238E27FC236}">
                <a16:creationId xmlns:a16="http://schemas.microsoft.com/office/drawing/2014/main" id="{32E901C3-3952-B5F9-1DAC-60348E6FA5DD}"/>
              </a:ext>
            </a:extLst>
          </p:cNvPr>
          <p:cNvGrpSpPr/>
          <p:nvPr/>
        </p:nvGrpSpPr>
        <p:grpSpPr>
          <a:xfrm>
            <a:off x="21323300" y="6178550"/>
            <a:ext cx="1098550" cy="3867150"/>
            <a:chOff x="21323300" y="6178550"/>
            <a:chExt cx="1098550" cy="3867150"/>
          </a:xfrm>
        </p:grpSpPr>
        <p:pic>
          <p:nvPicPr>
            <p:cNvPr id="102" name="Picture 50">
              <a:extLst>
                <a:ext uri="{FF2B5EF4-FFF2-40B4-BE49-F238E27FC236}">
                  <a16:creationId xmlns:a16="http://schemas.microsoft.com/office/drawing/2014/main" id="{B3A3B35A-29FB-468C-5BF6-D8CF7F2C3A10}"/>
                </a:ext>
              </a:extLst>
            </p:cNvPr>
            <p:cNvPicPr>
              <a:picLocks noChangeAspect="1"/>
            </p:cNvPicPr>
            <p:nvPr/>
          </p:nvPicPr>
          <p:blipFill>
            <a:blip r:embed="rId27"/>
            <a:stretch>
              <a:fillRect/>
            </a:stretch>
          </p:blipFill>
          <p:spPr>
            <a:xfrm rot="5400000">
              <a:off x="20450175" y="8016875"/>
              <a:ext cx="3752850" cy="190500"/>
            </a:xfrm>
            <a:prstGeom prst="rect">
              <a:avLst/>
            </a:prstGeom>
          </p:spPr>
        </p:pic>
        <p:pic>
          <p:nvPicPr>
            <p:cNvPr id="103" name="Picture 51">
              <a:extLst>
                <a:ext uri="{FF2B5EF4-FFF2-40B4-BE49-F238E27FC236}">
                  <a16:creationId xmlns:a16="http://schemas.microsoft.com/office/drawing/2014/main" id="{022EDF18-4B6D-5781-351D-D1CAE0119642}"/>
                </a:ext>
              </a:extLst>
            </p:cNvPr>
            <p:cNvPicPr>
              <a:picLocks noChangeAspect="1"/>
            </p:cNvPicPr>
            <p:nvPr/>
          </p:nvPicPr>
          <p:blipFill>
            <a:blip r:embed="rId28"/>
            <a:stretch>
              <a:fillRect/>
            </a:stretch>
          </p:blipFill>
          <p:spPr>
            <a:xfrm>
              <a:off x="21324887" y="6178550"/>
              <a:ext cx="1028700" cy="190500"/>
            </a:xfrm>
            <a:prstGeom prst="rect">
              <a:avLst/>
            </a:prstGeom>
          </p:spPr>
        </p:pic>
        <p:pic>
          <p:nvPicPr>
            <p:cNvPr id="104" name="Picture 52">
              <a:extLst>
                <a:ext uri="{FF2B5EF4-FFF2-40B4-BE49-F238E27FC236}">
                  <a16:creationId xmlns:a16="http://schemas.microsoft.com/office/drawing/2014/main" id="{1DC358EE-58EA-6538-3D3A-25166C8FE3E3}"/>
                </a:ext>
              </a:extLst>
            </p:cNvPr>
            <p:cNvPicPr>
              <a:picLocks noChangeAspect="1"/>
            </p:cNvPicPr>
            <p:nvPr/>
          </p:nvPicPr>
          <p:blipFill>
            <a:blip r:embed="rId29"/>
            <a:stretch>
              <a:fillRect/>
            </a:stretch>
          </p:blipFill>
          <p:spPr>
            <a:xfrm rot="10800000">
              <a:off x="21323300" y="9855200"/>
              <a:ext cx="1028700" cy="190500"/>
            </a:xfrm>
            <a:prstGeom prst="rect">
              <a:avLst/>
            </a:prstGeom>
          </p:spPr>
        </p:pic>
      </p:grpSp>
      <p:pic>
        <p:nvPicPr>
          <p:cNvPr id="105" name="Picture 53">
            <a:extLst>
              <a:ext uri="{FF2B5EF4-FFF2-40B4-BE49-F238E27FC236}">
                <a16:creationId xmlns:a16="http://schemas.microsoft.com/office/drawing/2014/main" id="{CD134725-0028-2984-DAD5-4C82E879305A}"/>
              </a:ext>
            </a:extLst>
          </p:cNvPr>
          <p:cNvPicPr>
            <a:picLocks noChangeAspect="1"/>
          </p:cNvPicPr>
          <p:nvPr/>
        </p:nvPicPr>
        <p:blipFill>
          <a:blip r:embed="rId30"/>
          <a:stretch>
            <a:fillRect/>
          </a:stretch>
        </p:blipFill>
        <p:spPr>
          <a:xfrm rot="10800000">
            <a:off x="17881600" y="9855200"/>
            <a:ext cx="1905000" cy="190500"/>
          </a:xfrm>
          <a:prstGeom prst="rect">
            <a:avLst/>
          </a:prstGeom>
        </p:spPr>
      </p:pic>
      <p:pic>
        <p:nvPicPr>
          <p:cNvPr id="106" name="Picture 54">
            <a:extLst>
              <a:ext uri="{FF2B5EF4-FFF2-40B4-BE49-F238E27FC236}">
                <a16:creationId xmlns:a16="http://schemas.microsoft.com/office/drawing/2014/main" id="{8DC71117-93FE-1F3E-4755-2A336D3CCD4D}"/>
              </a:ext>
            </a:extLst>
          </p:cNvPr>
          <p:cNvPicPr>
            <a:picLocks noChangeAspect="1"/>
          </p:cNvPicPr>
          <p:nvPr/>
        </p:nvPicPr>
        <p:blipFill>
          <a:blip r:embed="rId31"/>
          <a:stretch>
            <a:fillRect/>
          </a:stretch>
        </p:blipFill>
        <p:spPr>
          <a:xfrm rot="10800000">
            <a:off x="13436600" y="9855200"/>
            <a:ext cx="2921000" cy="190500"/>
          </a:xfrm>
          <a:prstGeom prst="rect">
            <a:avLst/>
          </a:prstGeom>
        </p:spPr>
      </p:pic>
      <p:pic>
        <p:nvPicPr>
          <p:cNvPr id="107" name="Picture 55">
            <a:extLst>
              <a:ext uri="{FF2B5EF4-FFF2-40B4-BE49-F238E27FC236}">
                <a16:creationId xmlns:a16="http://schemas.microsoft.com/office/drawing/2014/main" id="{2DFCF5E9-91FA-0495-FD35-1C0C0F55D106}"/>
              </a:ext>
            </a:extLst>
          </p:cNvPr>
          <p:cNvPicPr>
            <a:picLocks noChangeAspect="1"/>
          </p:cNvPicPr>
          <p:nvPr/>
        </p:nvPicPr>
        <p:blipFill>
          <a:blip r:embed="rId32"/>
          <a:stretch>
            <a:fillRect/>
          </a:stretch>
        </p:blipFill>
        <p:spPr>
          <a:xfrm>
            <a:off x="20637500" y="8051800"/>
            <a:ext cx="355600" cy="355600"/>
          </a:xfrm>
          <a:prstGeom prst="rect">
            <a:avLst/>
          </a:prstGeom>
        </p:spPr>
      </p:pic>
      <p:sp>
        <p:nvSpPr>
          <p:cNvPr id="108" name="TextBox 56">
            <a:extLst>
              <a:ext uri="{FF2B5EF4-FFF2-40B4-BE49-F238E27FC236}">
                <a16:creationId xmlns:a16="http://schemas.microsoft.com/office/drawing/2014/main" id="{C496FA8B-5BE1-63A8-E7C9-164F305201F4}"/>
              </a:ext>
            </a:extLst>
          </p:cNvPr>
          <p:cNvSpPr txBox="1"/>
          <p:nvPr/>
        </p:nvSpPr>
        <p:spPr>
          <a:xfrm>
            <a:off x="20955000" y="8013700"/>
            <a:ext cx="1270000" cy="431800"/>
          </a:xfrm>
          <a:prstGeom prst="rect">
            <a:avLst/>
          </a:prstGeom>
        </p:spPr>
        <p:txBody>
          <a:bodyPr lIns="0" tIns="0" rIns="0" bIns="0" rtlCol="0" anchor="t"/>
          <a:lstStyle/>
          <a:p>
            <a:pPr lvl="0" algn="ctr">
              <a:lnSpc>
                <a:spcPct val="116199"/>
              </a:lnSpc>
            </a:pPr>
            <a:r>
              <a:rPr lang="en-US" sz="2400" b="0" i="0" u="none" strike="noStrike">
                <a:solidFill>
                  <a:srgbClr val="000000"/>
                </a:solidFill>
                <a:latin typeface="Pretendard Medium"/>
                <a:ea typeface="Pretendard Medium"/>
                <a:cs typeface="Pretendard Medium"/>
              </a:rPr>
              <a:t>메일 전송</a:t>
            </a:r>
          </a:p>
        </p:txBody>
      </p:sp>
      <p:sp>
        <p:nvSpPr>
          <p:cNvPr id="110" name="TextBox 58">
            <a:extLst>
              <a:ext uri="{FF2B5EF4-FFF2-40B4-BE49-F238E27FC236}">
                <a16:creationId xmlns:a16="http://schemas.microsoft.com/office/drawing/2014/main" id="{7B43EC3C-80DE-39D8-9D7D-43B240365955}"/>
              </a:ext>
            </a:extLst>
          </p:cNvPr>
          <p:cNvSpPr txBox="1"/>
          <p:nvPr/>
        </p:nvSpPr>
        <p:spPr>
          <a:xfrm>
            <a:off x="13837771" y="9525000"/>
            <a:ext cx="1981200" cy="431800"/>
          </a:xfrm>
          <a:prstGeom prst="rect">
            <a:avLst/>
          </a:prstGeom>
        </p:spPr>
        <p:txBody>
          <a:bodyPr lIns="0" tIns="0" rIns="0" bIns="0" rtlCol="0" anchor="t"/>
          <a:lstStyle/>
          <a:p>
            <a:pPr lvl="0" algn="ctr">
              <a:lnSpc>
                <a:spcPct val="116199"/>
              </a:lnSpc>
            </a:pPr>
            <a:r>
              <a:rPr lang="en-US" sz="2400" b="0" i="0" u="none" strike="noStrike" dirty="0" err="1">
                <a:solidFill>
                  <a:srgbClr val="000000"/>
                </a:solidFill>
                <a:latin typeface="Pretendard Medium"/>
                <a:ea typeface="Pretendard Medium"/>
                <a:cs typeface="Pretendard Medium"/>
              </a:rPr>
              <a:t>자격</a:t>
            </a:r>
            <a:r>
              <a:rPr lang="en-US" sz="2400" b="0" i="0" u="none" strike="noStrike" dirty="0">
                <a:solidFill>
                  <a:srgbClr val="000000"/>
                </a:solidFill>
                <a:latin typeface="Pretendard Medium"/>
                <a:ea typeface="Pretendard Medium"/>
                <a:cs typeface="Pretendard Medium"/>
              </a:rPr>
              <a:t> </a:t>
            </a:r>
            <a:r>
              <a:rPr lang="en-US" sz="2400" b="0" i="0" u="none" strike="noStrike" dirty="0" err="1">
                <a:solidFill>
                  <a:srgbClr val="000000"/>
                </a:solidFill>
                <a:latin typeface="Pretendard Medium"/>
                <a:ea typeface="Pretendard Medium"/>
                <a:cs typeface="Pretendard Medium"/>
              </a:rPr>
              <a:t>증명</a:t>
            </a:r>
            <a:r>
              <a:rPr lang="en-US" sz="2400" b="0" i="0" u="none" strike="noStrike" dirty="0">
                <a:solidFill>
                  <a:srgbClr val="000000"/>
                </a:solidFill>
                <a:latin typeface="Pretendard Medium"/>
                <a:ea typeface="Pretendard Medium"/>
                <a:cs typeface="Pretendard Medium"/>
              </a:rPr>
              <a:t> </a:t>
            </a:r>
            <a:r>
              <a:rPr lang="en-US" sz="2400" b="0" i="0" u="none" strike="noStrike" dirty="0" err="1">
                <a:solidFill>
                  <a:srgbClr val="000000"/>
                </a:solidFill>
                <a:latin typeface="Pretendard Medium"/>
                <a:ea typeface="Pretendard Medium"/>
                <a:cs typeface="Pretendard Medium"/>
              </a:rPr>
              <a:t>탈취</a:t>
            </a:r>
            <a:endParaRPr lang="en-US" sz="2400" b="0" i="0" u="none" strike="noStrike" dirty="0">
              <a:solidFill>
                <a:srgbClr val="000000"/>
              </a:solidFill>
              <a:latin typeface="Pretendard Medium"/>
              <a:ea typeface="Pretendard Medium"/>
              <a:cs typeface="Pretendard Medium"/>
            </a:endParaRPr>
          </a:p>
        </p:txBody>
      </p:sp>
      <p:sp>
        <p:nvSpPr>
          <p:cNvPr id="111" name="TextBox 59">
            <a:extLst>
              <a:ext uri="{FF2B5EF4-FFF2-40B4-BE49-F238E27FC236}">
                <a16:creationId xmlns:a16="http://schemas.microsoft.com/office/drawing/2014/main" id="{D14F26A1-B72F-D5F2-A0B5-57E65FD10CDF}"/>
              </a:ext>
            </a:extLst>
          </p:cNvPr>
          <p:cNvSpPr txBox="1"/>
          <p:nvPr/>
        </p:nvSpPr>
        <p:spPr>
          <a:xfrm>
            <a:off x="13462000" y="5626100"/>
            <a:ext cx="2324100" cy="431800"/>
          </a:xfrm>
          <a:prstGeom prst="rect">
            <a:avLst/>
          </a:prstGeom>
        </p:spPr>
        <p:txBody>
          <a:bodyPr lIns="0" tIns="0" rIns="0" bIns="0" rtlCol="0" anchor="t"/>
          <a:lstStyle/>
          <a:p>
            <a:pPr lvl="0" algn="ctr">
              <a:lnSpc>
                <a:spcPct val="116199"/>
              </a:lnSpc>
            </a:pPr>
            <a:r>
              <a:rPr lang="en-US" sz="2400" b="0" i="0" u="none" strike="noStrike">
                <a:solidFill>
                  <a:srgbClr val="000000"/>
                </a:solidFill>
                <a:latin typeface="Pretendard Medium"/>
                <a:ea typeface="Pretendard Medium"/>
                <a:cs typeface="Pretendard Medium"/>
              </a:rPr>
              <a:t>악성파일 다운로드</a:t>
            </a:r>
          </a:p>
        </p:txBody>
      </p:sp>
      <p:pic>
        <p:nvPicPr>
          <p:cNvPr id="112" name="Picture 60">
            <a:extLst>
              <a:ext uri="{FF2B5EF4-FFF2-40B4-BE49-F238E27FC236}">
                <a16:creationId xmlns:a16="http://schemas.microsoft.com/office/drawing/2014/main" id="{F3069BE4-9607-F829-C776-EC6216D16BFC}"/>
              </a:ext>
            </a:extLst>
          </p:cNvPr>
          <p:cNvPicPr>
            <a:picLocks noChangeAspect="1"/>
          </p:cNvPicPr>
          <p:nvPr/>
        </p:nvPicPr>
        <p:blipFill>
          <a:blip r:embed="rId33"/>
          <a:stretch>
            <a:fillRect/>
          </a:stretch>
        </p:blipFill>
        <p:spPr>
          <a:xfrm>
            <a:off x="13068300" y="5651500"/>
            <a:ext cx="368300" cy="368300"/>
          </a:xfrm>
          <a:prstGeom prst="rect">
            <a:avLst/>
          </a:prstGeom>
        </p:spPr>
      </p:pic>
      <p:sp>
        <p:nvSpPr>
          <p:cNvPr id="113" name="TextBox 61">
            <a:extLst>
              <a:ext uri="{FF2B5EF4-FFF2-40B4-BE49-F238E27FC236}">
                <a16:creationId xmlns:a16="http://schemas.microsoft.com/office/drawing/2014/main" id="{4858359E-00B3-1C29-D660-38594E16F2C3}"/>
              </a:ext>
            </a:extLst>
          </p:cNvPr>
          <p:cNvSpPr txBox="1"/>
          <p:nvPr/>
        </p:nvSpPr>
        <p:spPr>
          <a:xfrm>
            <a:off x="18300700" y="5740400"/>
            <a:ext cx="1409700" cy="431800"/>
          </a:xfrm>
          <a:prstGeom prst="rect">
            <a:avLst/>
          </a:prstGeom>
        </p:spPr>
        <p:txBody>
          <a:bodyPr lIns="0" tIns="0" rIns="0" bIns="0" rtlCol="0" anchor="t"/>
          <a:lstStyle/>
          <a:p>
            <a:pPr lvl="0" algn="ctr">
              <a:lnSpc>
                <a:spcPct val="116199"/>
              </a:lnSpc>
            </a:pPr>
            <a:r>
              <a:rPr lang="en-US" sz="2400" b="0" i="0" u="none" strike="noStrike">
                <a:solidFill>
                  <a:srgbClr val="000000"/>
                </a:solidFill>
                <a:latin typeface="Pretendard Medium"/>
                <a:ea typeface="Pretendard Medium"/>
                <a:cs typeface="Pretendard Medium"/>
              </a:rPr>
              <a:t>횡적 이동</a:t>
            </a:r>
          </a:p>
        </p:txBody>
      </p:sp>
      <p:pic>
        <p:nvPicPr>
          <p:cNvPr id="114" name="Picture 62">
            <a:extLst>
              <a:ext uri="{FF2B5EF4-FFF2-40B4-BE49-F238E27FC236}">
                <a16:creationId xmlns:a16="http://schemas.microsoft.com/office/drawing/2014/main" id="{BEF60BC8-502C-2ECD-9F86-6901F3EC7449}"/>
              </a:ext>
            </a:extLst>
          </p:cNvPr>
          <p:cNvPicPr>
            <a:picLocks noChangeAspect="1"/>
          </p:cNvPicPr>
          <p:nvPr/>
        </p:nvPicPr>
        <p:blipFill>
          <a:blip r:embed="rId34"/>
          <a:stretch>
            <a:fillRect/>
          </a:stretch>
        </p:blipFill>
        <p:spPr>
          <a:xfrm>
            <a:off x="17983200" y="5765800"/>
            <a:ext cx="406400" cy="406400"/>
          </a:xfrm>
          <a:prstGeom prst="rect">
            <a:avLst/>
          </a:prstGeom>
        </p:spPr>
      </p:pic>
      <p:pic>
        <p:nvPicPr>
          <p:cNvPr id="115" name="Picture 63">
            <a:extLst>
              <a:ext uri="{FF2B5EF4-FFF2-40B4-BE49-F238E27FC236}">
                <a16:creationId xmlns:a16="http://schemas.microsoft.com/office/drawing/2014/main" id="{95925AF5-5E47-0380-23C3-0B50E5DBCE6E}"/>
              </a:ext>
            </a:extLst>
          </p:cNvPr>
          <p:cNvPicPr>
            <a:picLocks noChangeAspect="1"/>
          </p:cNvPicPr>
          <p:nvPr/>
        </p:nvPicPr>
        <p:blipFill>
          <a:blip r:embed="rId35"/>
          <a:stretch>
            <a:fillRect/>
          </a:stretch>
        </p:blipFill>
        <p:spPr>
          <a:xfrm>
            <a:off x="1892300" y="7467600"/>
            <a:ext cx="355600" cy="355600"/>
          </a:xfrm>
          <a:prstGeom prst="rect">
            <a:avLst/>
          </a:prstGeom>
        </p:spPr>
      </p:pic>
      <p:sp>
        <p:nvSpPr>
          <p:cNvPr id="116" name="TextBox 64">
            <a:extLst>
              <a:ext uri="{FF2B5EF4-FFF2-40B4-BE49-F238E27FC236}">
                <a16:creationId xmlns:a16="http://schemas.microsoft.com/office/drawing/2014/main" id="{64B5ED29-8F64-19FD-E495-19938B869AE2}"/>
              </a:ext>
            </a:extLst>
          </p:cNvPr>
          <p:cNvSpPr txBox="1"/>
          <p:nvPr/>
        </p:nvSpPr>
        <p:spPr>
          <a:xfrm>
            <a:off x="2146300" y="7429500"/>
            <a:ext cx="1422400" cy="431800"/>
          </a:xfrm>
          <a:prstGeom prst="rect">
            <a:avLst/>
          </a:prstGeom>
        </p:spPr>
        <p:txBody>
          <a:bodyPr lIns="0" tIns="0" rIns="0" bIns="0" rtlCol="0" anchor="t"/>
          <a:lstStyle/>
          <a:p>
            <a:pPr lvl="0" algn="ctr">
              <a:lnSpc>
                <a:spcPct val="116199"/>
              </a:lnSpc>
            </a:pPr>
            <a:r>
              <a:rPr lang="en-US" sz="2400" b="0" i="0" u="none" strike="noStrike">
                <a:solidFill>
                  <a:srgbClr val="000000"/>
                </a:solidFill>
                <a:latin typeface="Pretendard Medium"/>
                <a:ea typeface="Pretendard Medium"/>
                <a:cs typeface="Pretendard Medium"/>
              </a:rPr>
              <a:t>서버 침투</a:t>
            </a:r>
          </a:p>
        </p:txBody>
      </p:sp>
      <p:pic>
        <p:nvPicPr>
          <p:cNvPr id="117" name="Picture 65">
            <a:extLst>
              <a:ext uri="{FF2B5EF4-FFF2-40B4-BE49-F238E27FC236}">
                <a16:creationId xmlns:a16="http://schemas.microsoft.com/office/drawing/2014/main" id="{6A0CD625-DEB0-D8CF-B375-B85E30BBBC2B}"/>
              </a:ext>
            </a:extLst>
          </p:cNvPr>
          <p:cNvPicPr>
            <a:picLocks noChangeAspect="1"/>
          </p:cNvPicPr>
          <p:nvPr/>
        </p:nvPicPr>
        <p:blipFill>
          <a:blip r:embed="rId36"/>
          <a:stretch>
            <a:fillRect/>
          </a:stretch>
        </p:blipFill>
        <p:spPr>
          <a:xfrm>
            <a:off x="8140700" y="6477000"/>
            <a:ext cx="342900" cy="342900"/>
          </a:xfrm>
          <a:prstGeom prst="rect">
            <a:avLst/>
          </a:prstGeom>
        </p:spPr>
      </p:pic>
      <p:sp>
        <p:nvSpPr>
          <p:cNvPr id="118" name="TextBox 66">
            <a:extLst>
              <a:ext uri="{FF2B5EF4-FFF2-40B4-BE49-F238E27FC236}">
                <a16:creationId xmlns:a16="http://schemas.microsoft.com/office/drawing/2014/main" id="{1E12315C-E095-23B7-4529-8E1F516412EB}"/>
              </a:ext>
            </a:extLst>
          </p:cNvPr>
          <p:cNvSpPr txBox="1"/>
          <p:nvPr/>
        </p:nvSpPr>
        <p:spPr>
          <a:xfrm>
            <a:off x="8470900" y="6426200"/>
            <a:ext cx="2108200" cy="431800"/>
          </a:xfrm>
          <a:prstGeom prst="rect">
            <a:avLst/>
          </a:prstGeom>
        </p:spPr>
        <p:txBody>
          <a:bodyPr lIns="0" tIns="0" rIns="0" bIns="0" rtlCol="0" anchor="t"/>
          <a:lstStyle/>
          <a:p>
            <a:pPr lvl="0" algn="ctr">
              <a:lnSpc>
                <a:spcPct val="116199"/>
              </a:lnSpc>
            </a:pPr>
            <a:r>
              <a:rPr lang="en-US" sz="2400" b="0" i="0" u="none" strike="noStrike">
                <a:solidFill>
                  <a:srgbClr val="000000"/>
                </a:solidFill>
                <a:latin typeface="Pretendard Medium"/>
                <a:ea typeface="Pretendard Medium"/>
                <a:cs typeface="Pretendard Medium"/>
              </a:rPr>
              <a:t>악성파일 업로드</a:t>
            </a:r>
          </a:p>
        </p:txBody>
      </p:sp>
      <p:pic>
        <p:nvPicPr>
          <p:cNvPr id="119" name="Picture 26">
            <a:extLst>
              <a:ext uri="{FF2B5EF4-FFF2-40B4-BE49-F238E27FC236}">
                <a16:creationId xmlns:a16="http://schemas.microsoft.com/office/drawing/2014/main" id="{05499747-71FD-70B4-A522-2D10B4D8C36E}"/>
              </a:ext>
            </a:extLst>
          </p:cNvPr>
          <p:cNvPicPr>
            <a:picLocks noChangeAspect="1"/>
          </p:cNvPicPr>
          <p:nvPr/>
        </p:nvPicPr>
        <p:blipFill>
          <a:blip r:embed="rId12">
            <a:alphaModFix amt="20000"/>
          </a:blip>
          <a:stretch>
            <a:fillRect/>
          </a:stretch>
        </p:blipFill>
        <p:spPr>
          <a:xfrm>
            <a:off x="8655050" y="7863681"/>
            <a:ext cx="7073902" cy="76200"/>
          </a:xfrm>
          <a:prstGeom prst="rect">
            <a:avLst/>
          </a:prstGeom>
        </p:spPr>
      </p:pic>
      <p:sp>
        <p:nvSpPr>
          <p:cNvPr id="120" name="TextBox 22">
            <a:extLst>
              <a:ext uri="{FF2B5EF4-FFF2-40B4-BE49-F238E27FC236}">
                <a16:creationId xmlns:a16="http://schemas.microsoft.com/office/drawing/2014/main" id="{D95975E9-CC6E-FED3-A0EB-995017577086}"/>
              </a:ext>
            </a:extLst>
          </p:cNvPr>
          <p:cNvSpPr txBox="1"/>
          <p:nvPr/>
        </p:nvSpPr>
        <p:spPr>
          <a:xfrm>
            <a:off x="10826750" y="8305800"/>
            <a:ext cx="3454400" cy="520700"/>
          </a:xfrm>
          <a:prstGeom prst="rect">
            <a:avLst/>
          </a:prstGeom>
        </p:spPr>
        <p:txBody>
          <a:bodyPr lIns="0" tIns="0" rIns="0" bIns="0" rtlCol="0" anchor="t"/>
          <a:lstStyle/>
          <a:p>
            <a:pPr lvl="0" algn="ctr">
              <a:lnSpc>
                <a:spcPct val="116199"/>
              </a:lnSpc>
            </a:pPr>
            <a:r>
              <a:rPr lang="en-US" sz="2933" b="0" i="0" u="none" strike="noStrike" dirty="0" err="1">
                <a:solidFill>
                  <a:srgbClr val="000000"/>
                </a:solidFill>
                <a:latin typeface="Pretendard Medium"/>
                <a:ea typeface="Pretendard Medium"/>
                <a:cs typeface="Pretendard Medium"/>
              </a:rPr>
              <a:t>내부망</a:t>
            </a:r>
            <a:r>
              <a:rPr lang="en-US" sz="2933" b="0" i="0" u="none" strike="noStrike" dirty="0">
                <a:solidFill>
                  <a:srgbClr val="000000"/>
                </a:solidFill>
                <a:latin typeface="Pretendard Medium"/>
                <a:ea typeface="Pretendard Medium"/>
                <a:cs typeface="Pretendard Medium"/>
              </a:rPr>
              <a:t> </a:t>
            </a:r>
            <a:r>
              <a:rPr lang="ko-KR" altLang="en-US" sz="2933" b="0" i="0" u="none" strike="noStrike" dirty="0">
                <a:solidFill>
                  <a:srgbClr val="000000"/>
                </a:solidFill>
                <a:latin typeface="Pretendard Medium"/>
                <a:ea typeface="Pretendard Medium"/>
                <a:cs typeface="Pretendard Medium"/>
              </a:rPr>
              <a:t>－ </a:t>
            </a:r>
            <a:r>
              <a:rPr lang="en-US" altLang="ko-KR" sz="2933" dirty="0">
                <a:solidFill>
                  <a:srgbClr val="000000"/>
                </a:solidFill>
                <a:latin typeface="Pretendard Medium"/>
                <a:ea typeface="Pretendard Medium"/>
                <a:cs typeface="Pretendard Medium"/>
              </a:rPr>
              <a:t>CI/CD</a:t>
            </a:r>
            <a:endParaRPr lang="en-US" sz="2933" b="0" i="0" u="none" strike="noStrike" dirty="0">
              <a:solidFill>
                <a:srgbClr val="000000"/>
              </a:solidFill>
              <a:latin typeface="Pretendard Medium"/>
              <a:ea typeface="Pretendard Medium"/>
              <a:cs typeface="Pretendard Medium"/>
            </a:endParaRPr>
          </a:p>
        </p:txBody>
      </p:sp>
      <p:pic>
        <p:nvPicPr>
          <p:cNvPr id="122" name="Picture 57">
            <a:extLst>
              <a:ext uri="{FF2B5EF4-FFF2-40B4-BE49-F238E27FC236}">
                <a16:creationId xmlns:a16="http://schemas.microsoft.com/office/drawing/2014/main" id="{A3939140-3E63-AF8A-6875-7352B7D80F69}"/>
              </a:ext>
            </a:extLst>
          </p:cNvPr>
          <p:cNvPicPr>
            <a:picLocks noChangeAspect="1"/>
          </p:cNvPicPr>
          <p:nvPr/>
        </p:nvPicPr>
        <p:blipFill>
          <a:blip r:embed="rId37"/>
          <a:stretch>
            <a:fillRect/>
          </a:stretch>
        </p:blipFill>
        <p:spPr>
          <a:xfrm>
            <a:off x="18053050" y="9550400"/>
            <a:ext cx="342900" cy="342900"/>
          </a:xfrm>
          <a:prstGeom prst="rect">
            <a:avLst/>
          </a:prstGeom>
        </p:spPr>
      </p:pic>
      <p:sp>
        <p:nvSpPr>
          <p:cNvPr id="123" name="TextBox 58">
            <a:extLst>
              <a:ext uri="{FF2B5EF4-FFF2-40B4-BE49-F238E27FC236}">
                <a16:creationId xmlns:a16="http://schemas.microsoft.com/office/drawing/2014/main" id="{B6DC7518-57C7-9360-9A6A-1BEECE72570D}"/>
              </a:ext>
            </a:extLst>
          </p:cNvPr>
          <p:cNvSpPr txBox="1"/>
          <p:nvPr/>
        </p:nvSpPr>
        <p:spPr>
          <a:xfrm>
            <a:off x="18262600" y="9474886"/>
            <a:ext cx="1466850" cy="431800"/>
          </a:xfrm>
          <a:prstGeom prst="rect">
            <a:avLst/>
          </a:prstGeom>
        </p:spPr>
        <p:txBody>
          <a:bodyPr lIns="0" tIns="0" rIns="0" bIns="0" rtlCol="0" anchor="t"/>
          <a:lstStyle/>
          <a:p>
            <a:pPr lvl="0" algn="ctr">
              <a:lnSpc>
                <a:spcPct val="116199"/>
              </a:lnSpc>
            </a:pPr>
            <a:r>
              <a:rPr lang="ko-KR" altLang="en-US" sz="2400" b="0" i="0" u="none" strike="noStrike">
                <a:solidFill>
                  <a:srgbClr val="000000"/>
                </a:solidFill>
                <a:latin typeface="Pretendard Medium"/>
                <a:ea typeface="Pretendard Medium"/>
                <a:cs typeface="Pretendard Medium"/>
              </a:rPr>
              <a:t>메일 확인</a:t>
            </a:r>
            <a:endParaRPr lang="en-US" sz="2400" b="0" i="0" u="none" strike="noStrike" dirty="0">
              <a:solidFill>
                <a:srgbClr val="000000"/>
              </a:solidFill>
              <a:latin typeface="Pretendard Medium"/>
              <a:ea typeface="Pretendard Medium"/>
              <a:cs typeface="Pretendard Medium"/>
            </a:endParaRPr>
          </a:p>
        </p:txBody>
      </p:sp>
      <p:pic>
        <p:nvPicPr>
          <p:cNvPr id="124" name="Picture 51">
            <a:extLst>
              <a:ext uri="{FF2B5EF4-FFF2-40B4-BE49-F238E27FC236}">
                <a16:creationId xmlns:a16="http://schemas.microsoft.com/office/drawing/2014/main" id="{FA649C2E-AA87-47E9-5DA5-CC82E0D2A417}"/>
              </a:ext>
            </a:extLst>
          </p:cNvPr>
          <p:cNvPicPr>
            <a:picLocks noChangeAspect="1"/>
          </p:cNvPicPr>
          <p:nvPr/>
        </p:nvPicPr>
        <p:blipFill>
          <a:blip r:embed="rId38"/>
          <a:stretch>
            <a:fillRect/>
          </a:stretch>
        </p:blipFill>
        <p:spPr>
          <a:xfrm>
            <a:off x="13609171" y="9598454"/>
            <a:ext cx="317500" cy="3175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1460500" y="4445000"/>
            <a:ext cx="6375400" cy="6997700"/>
          </a:xfrm>
          <a:prstGeom prst="rect">
            <a:avLst/>
          </a:prstGeom>
          <a:effectLst>
            <a:outerShdw blurRad="159261" dist="147010" dir="2700000">
              <a:srgbClr val="1A7AE1">
                <a:alpha val="15000"/>
              </a:srgbClr>
            </a:outerShdw>
          </a:effectLst>
        </p:spPr>
      </p:pic>
      <p:pic>
        <p:nvPicPr>
          <p:cNvPr id="4" name="Picture 4"/>
          <p:cNvPicPr>
            <a:picLocks noChangeAspect="1"/>
          </p:cNvPicPr>
          <p:nvPr/>
        </p:nvPicPr>
        <p:blipFill>
          <a:blip r:embed="rId3"/>
          <a:stretch>
            <a:fillRect/>
          </a:stretch>
        </p:blipFill>
        <p:spPr>
          <a:xfrm>
            <a:off x="17246600" y="4445000"/>
            <a:ext cx="6375400" cy="6997700"/>
          </a:xfrm>
          <a:prstGeom prst="rect">
            <a:avLst/>
          </a:prstGeom>
          <a:effectLst>
            <a:outerShdw blurRad="159261" dist="147010" dir="2700000">
              <a:srgbClr val="1A7AE1">
                <a:alpha val="15000"/>
              </a:srgbClr>
            </a:outerShdw>
          </a:effectLst>
        </p:spPr>
      </p:pic>
      <p:pic>
        <p:nvPicPr>
          <p:cNvPr id="5" name="Picture 5"/>
          <p:cNvPicPr>
            <a:picLocks noChangeAspect="1"/>
          </p:cNvPicPr>
          <p:nvPr/>
        </p:nvPicPr>
        <p:blipFill>
          <a:blip r:embed="rId3"/>
          <a:stretch>
            <a:fillRect/>
          </a:stretch>
        </p:blipFill>
        <p:spPr>
          <a:xfrm>
            <a:off x="9296400" y="4445000"/>
            <a:ext cx="6375400" cy="6997700"/>
          </a:xfrm>
          <a:prstGeom prst="rect">
            <a:avLst/>
          </a:prstGeom>
          <a:effectLst>
            <a:outerShdw blurRad="159261" dist="147010" dir="2700000">
              <a:srgbClr val="1A7AE1">
                <a:alpha val="15000"/>
              </a:srgbClr>
            </a:outerShdw>
          </a:effectLst>
        </p:spPr>
      </p:pic>
      <p:pic>
        <p:nvPicPr>
          <p:cNvPr id="6" name="Picture 6"/>
          <p:cNvPicPr>
            <a:picLocks noChangeAspect="1"/>
          </p:cNvPicPr>
          <p:nvPr/>
        </p:nvPicPr>
        <p:blipFill>
          <a:blip r:embed="rId4"/>
          <a:stretch>
            <a:fillRect/>
          </a:stretch>
        </p:blipFill>
        <p:spPr>
          <a:xfrm>
            <a:off x="762000" y="1092200"/>
            <a:ext cx="22860000" cy="12700"/>
          </a:xfrm>
          <a:prstGeom prst="rect">
            <a:avLst/>
          </a:prstGeom>
        </p:spPr>
      </p:pic>
      <p:pic>
        <p:nvPicPr>
          <p:cNvPr id="7" name="Picture 7"/>
          <p:cNvPicPr>
            <a:picLocks noChangeAspect="1"/>
          </p:cNvPicPr>
          <p:nvPr/>
        </p:nvPicPr>
        <p:blipFill>
          <a:blip r:embed="rId5"/>
          <a:stretch>
            <a:fillRect/>
          </a:stretch>
        </p:blipFill>
        <p:spPr>
          <a:xfrm rot="5400000">
            <a:off x="3200400" y="787400"/>
            <a:ext cx="635000" cy="12700"/>
          </a:xfrm>
          <a:prstGeom prst="rect">
            <a:avLst/>
          </a:prstGeom>
        </p:spPr>
      </p:pic>
      <p:pic>
        <p:nvPicPr>
          <p:cNvPr id="8" name="Picture 8"/>
          <p:cNvPicPr>
            <a:picLocks noChangeAspect="1"/>
          </p:cNvPicPr>
          <p:nvPr/>
        </p:nvPicPr>
        <p:blipFill>
          <a:blip r:embed="rId5"/>
          <a:stretch>
            <a:fillRect/>
          </a:stretch>
        </p:blipFill>
        <p:spPr>
          <a:xfrm rot="5400000">
            <a:off x="22225000" y="787400"/>
            <a:ext cx="635000" cy="12700"/>
          </a:xfrm>
          <a:prstGeom prst="rect">
            <a:avLst/>
          </a:prstGeom>
        </p:spPr>
      </p:pic>
      <p:pic>
        <p:nvPicPr>
          <p:cNvPr id="9" name="Picture 9"/>
          <p:cNvPicPr>
            <a:picLocks noChangeAspect="1"/>
          </p:cNvPicPr>
          <p:nvPr/>
        </p:nvPicPr>
        <p:blipFill>
          <a:blip r:embed="rId5"/>
          <a:stretch>
            <a:fillRect/>
          </a:stretch>
        </p:blipFill>
        <p:spPr>
          <a:xfrm rot="5400000">
            <a:off x="6337300" y="787400"/>
            <a:ext cx="635000" cy="12700"/>
          </a:xfrm>
          <a:prstGeom prst="rect">
            <a:avLst/>
          </a:prstGeom>
        </p:spPr>
      </p:pic>
      <p:pic>
        <p:nvPicPr>
          <p:cNvPr id="10" name="Picture 10"/>
          <p:cNvPicPr>
            <a:picLocks noChangeAspect="1"/>
          </p:cNvPicPr>
          <p:nvPr/>
        </p:nvPicPr>
        <p:blipFill>
          <a:blip r:embed="rId4"/>
          <a:stretch>
            <a:fillRect/>
          </a:stretch>
        </p:blipFill>
        <p:spPr>
          <a:xfrm>
            <a:off x="723900" y="457200"/>
            <a:ext cx="22860000" cy="12700"/>
          </a:xfrm>
          <a:prstGeom prst="rect">
            <a:avLst/>
          </a:prstGeom>
        </p:spPr>
      </p:pic>
      <p:pic>
        <p:nvPicPr>
          <p:cNvPr id="12" name="Picture 12"/>
          <p:cNvPicPr>
            <a:picLocks noChangeAspect="1"/>
          </p:cNvPicPr>
          <p:nvPr/>
        </p:nvPicPr>
        <p:blipFill>
          <a:blip r:embed="rId6"/>
          <a:stretch>
            <a:fillRect/>
          </a:stretch>
        </p:blipFill>
        <p:spPr>
          <a:xfrm>
            <a:off x="1485900" y="1612900"/>
            <a:ext cx="88900" cy="850900"/>
          </a:xfrm>
          <a:prstGeom prst="rect">
            <a:avLst/>
          </a:prstGeom>
        </p:spPr>
      </p:pic>
      <p:sp>
        <p:nvSpPr>
          <p:cNvPr id="13" name="TextBox 13"/>
          <p:cNvSpPr txBox="1"/>
          <p:nvPr/>
        </p:nvSpPr>
        <p:spPr>
          <a:xfrm>
            <a:off x="1943100" y="1409700"/>
            <a:ext cx="13423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시나리오 프로그램 환경</a:t>
            </a:r>
          </a:p>
        </p:txBody>
      </p:sp>
      <p:sp>
        <p:nvSpPr>
          <p:cNvPr id="14" name="TextBox 14"/>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a:solidFill>
                  <a:srgbClr val="024EA0"/>
                </a:solidFill>
                <a:latin typeface="Geologica Roman Light"/>
                <a:ea typeface="Geologica Roman Light"/>
                <a:cs typeface="Geologica Roman Light"/>
              </a:rPr>
              <a:t>27</a:t>
            </a:r>
          </a:p>
        </p:txBody>
      </p:sp>
      <p:sp>
        <p:nvSpPr>
          <p:cNvPr id="21" name="TextBox 21"/>
          <p:cNvSpPr txBox="1"/>
          <p:nvPr/>
        </p:nvSpPr>
        <p:spPr>
          <a:xfrm>
            <a:off x="1435100" y="4787900"/>
            <a:ext cx="6451600" cy="520700"/>
          </a:xfrm>
          <a:prstGeom prst="rect">
            <a:avLst/>
          </a:prstGeom>
        </p:spPr>
        <p:txBody>
          <a:bodyPr lIns="0" tIns="0" rIns="0" bIns="0" rtlCol="0" anchor="t"/>
          <a:lstStyle/>
          <a:p>
            <a:pPr lvl="0" algn="ctr">
              <a:lnSpc>
                <a:spcPct val="116199"/>
              </a:lnSpc>
            </a:pPr>
            <a:r>
              <a:rPr lang="en-US" sz="2933" b="0" i="0" u="none" strike="noStrike">
                <a:solidFill>
                  <a:srgbClr val="000000"/>
                </a:solidFill>
                <a:latin typeface="Pretendard Bold"/>
                <a:ea typeface="Pretendard Bold"/>
                <a:cs typeface="Pretendard Bold"/>
              </a:rPr>
              <a:t>프린트 서버(CUPS)</a:t>
            </a:r>
          </a:p>
        </p:txBody>
      </p:sp>
      <p:sp>
        <p:nvSpPr>
          <p:cNvPr id="22" name="TextBox 22"/>
          <p:cNvSpPr txBox="1"/>
          <p:nvPr/>
        </p:nvSpPr>
        <p:spPr>
          <a:xfrm>
            <a:off x="17233900" y="4787900"/>
            <a:ext cx="6451600" cy="520700"/>
          </a:xfrm>
          <a:prstGeom prst="rect">
            <a:avLst/>
          </a:prstGeom>
        </p:spPr>
        <p:txBody>
          <a:bodyPr lIns="0" tIns="0" rIns="0" bIns="0" rtlCol="0" anchor="t"/>
          <a:lstStyle/>
          <a:p>
            <a:pPr lvl="0" algn="ctr">
              <a:lnSpc>
                <a:spcPct val="116199"/>
              </a:lnSpc>
            </a:pPr>
            <a:r>
              <a:rPr lang="en-US" sz="2933" b="0" i="0" u="none" strike="noStrike">
                <a:solidFill>
                  <a:srgbClr val="000000"/>
                </a:solidFill>
                <a:latin typeface="Pretendard Bold"/>
                <a:ea typeface="Pretendard Bold"/>
                <a:cs typeface="Pretendard Bold"/>
              </a:rPr>
              <a:t>메일 서버(Zimbra)</a:t>
            </a:r>
          </a:p>
        </p:txBody>
      </p:sp>
      <p:sp>
        <p:nvSpPr>
          <p:cNvPr id="23" name="TextBox 23"/>
          <p:cNvSpPr txBox="1"/>
          <p:nvPr/>
        </p:nvSpPr>
        <p:spPr>
          <a:xfrm>
            <a:off x="1955800" y="5778500"/>
            <a:ext cx="5562600" cy="2844800"/>
          </a:xfrm>
          <a:prstGeom prst="rect">
            <a:avLst/>
          </a:prstGeom>
        </p:spPr>
        <p:txBody>
          <a:bodyPr lIns="0" tIns="0" rIns="0" bIns="0" rtlCol="0" anchor="t"/>
          <a:lstStyle/>
          <a:p>
            <a:pPr lvl="0" algn="l">
              <a:lnSpc>
                <a:spcPct val="116199"/>
              </a:lnSpc>
            </a:pPr>
            <a:r>
              <a:rPr lang="en-US" sz="2666" b="0" i="0" u="none" strike="noStrike">
                <a:solidFill>
                  <a:srgbClr val="000000"/>
                </a:solidFill>
                <a:latin typeface="Pretendard Medium"/>
                <a:ea typeface="Pretendard Medium"/>
                <a:cs typeface="Pretendard Medium"/>
              </a:rPr>
              <a:t>버전 : 1.28.15</a:t>
            </a:r>
          </a:p>
          <a:p>
            <a:pPr lvl="0" algn="l">
              <a:lnSpc>
                <a:spcPct val="116199"/>
              </a:lnSpc>
            </a:pPr>
            <a:r>
              <a:rPr lang="en-US" sz="2666" b="0" i="0" u="none" strike="noStrike">
                <a:solidFill>
                  <a:srgbClr val="000000"/>
                </a:solidFill>
                <a:latin typeface="Pretendard Medium"/>
                <a:ea typeface="Pretendard Medium"/>
                <a:cs typeface="Pretendard Medium"/>
              </a:rPr>
              <a:t>설명 : UNIX 기반 프린터 서버</a:t>
            </a:r>
          </a:p>
          <a:p>
            <a:pPr lvl="0" algn="l">
              <a:lnSpc>
                <a:spcPct val="116199"/>
              </a:lnSpc>
            </a:pPr>
            <a:r>
              <a:rPr lang="en-US" sz="2666" b="0" i="0" u="none" strike="noStrike">
                <a:solidFill>
                  <a:srgbClr val="000000"/>
                </a:solidFill>
                <a:latin typeface="Pretendard Medium"/>
                <a:ea typeface="Pretendard Medium"/>
                <a:cs typeface="Pretendard Medium"/>
              </a:rPr>
              <a:t>취약점: CVE-2024-47176</a:t>
            </a:r>
          </a:p>
          <a:p>
            <a:pPr lvl="0" algn="l">
              <a:lnSpc>
                <a:spcPct val="116199"/>
              </a:lnSpc>
            </a:pPr>
            <a:r>
              <a:rPr lang="en-US" sz="2666" b="0" i="0" u="none" strike="noStrike">
                <a:solidFill>
                  <a:srgbClr val="000000"/>
                </a:solidFill>
                <a:latin typeface="Pretendard Medium"/>
                <a:ea typeface="Pretendard Medium"/>
                <a:cs typeface="Pretendard Medium"/>
              </a:rPr>
              <a:t>             CVE-2024-47076</a:t>
            </a:r>
          </a:p>
          <a:p>
            <a:pPr lvl="0" algn="l">
              <a:lnSpc>
                <a:spcPct val="116199"/>
              </a:lnSpc>
            </a:pPr>
            <a:r>
              <a:rPr lang="en-US" sz="2666" b="0" i="0" u="none" strike="noStrike">
                <a:solidFill>
                  <a:srgbClr val="000000"/>
                </a:solidFill>
                <a:latin typeface="Pretendard Medium"/>
                <a:ea typeface="Pretendard Medium"/>
                <a:cs typeface="Pretendard Medium"/>
              </a:rPr>
              <a:t>             CVE-2024-47175</a:t>
            </a:r>
          </a:p>
          <a:p>
            <a:pPr lvl="0" algn="l">
              <a:lnSpc>
                <a:spcPct val="116199"/>
              </a:lnSpc>
            </a:pPr>
            <a:r>
              <a:rPr lang="en-US" sz="2666" b="0" i="0" u="none" strike="noStrike">
                <a:solidFill>
                  <a:srgbClr val="000000"/>
                </a:solidFill>
                <a:latin typeface="Pretendard Medium"/>
                <a:ea typeface="Pretendard Medium"/>
                <a:cs typeface="Pretendard Medium"/>
              </a:rPr>
              <a:t>             CVE-2024-47177</a:t>
            </a:r>
          </a:p>
        </p:txBody>
      </p:sp>
      <p:sp>
        <p:nvSpPr>
          <p:cNvPr id="24" name="TextBox 24"/>
          <p:cNvSpPr txBox="1"/>
          <p:nvPr/>
        </p:nvSpPr>
        <p:spPr>
          <a:xfrm>
            <a:off x="17703800" y="5778500"/>
            <a:ext cx="5562600" cy="1892300"/>
          </a:xfrm>
          <a:prstGeom prst="rect">
            <a:avLst/>
          </a:prstGeom>
        </p:spPr>
        <p:txBody>
          <a:bodyPr lIns="0" tIns="0" rIns="0" bIns="0" rtlCol="0" anchor="t"/>
          <a:lstStyle/>
          <a:p>
            <a:pPr lvl="0" algn="l">
              <a:lnSpc>
                <a:spcPct val="116199"/>
              </a:lnSpc>
            </a:pPr>
            <a:r>
              <a:rPr lang="en-US" sz="2666" b="0" i="0" u="none" strike="noStrike">
                <a:solidFill>
                  <a:srgbClr val="000000"/>
                </a:solidFill>
                <a:latin typeface="Pretendard Medium"/>
                <a:ea typeface="Pretendard Medium"/>
                <a:cs typeface="Pretendard Medium"/>
              </a:rPr>
              <a:t>버전 : 10.1.10</a:t>
            </a:r>
          </a:p>
          <a:p>
            <a:pPr lvl="0" algn="l">
              <a:lnSpc>
                <a:spcPct val="116199"/>
              </a:lnSpc>
            </a:pPr>
            <a:r>
              <a:rPr lang="en-US" sz="2666" b="0" i="0" u="none" strike="noStrike">
                <a:solidFill>
                  <a:srgbClr val="000000"/>
                </a:solidFill>
                <a:latin typeface="Pretendard Medium"/>
                <a:ea typeface="Pretendard Medium"/>
                <a:cs typeface="Pretendard Medium"/>
              </a:rPr>
              <a:t>설명 : 오픈 소스 메일서버</a:t>
            </a:r>
          </a:p>
          <a:p>
            <a:pPr lvl="0" algn="l">
              <a:lnSpc>
                <a:spcPct val="116199"/>
              </a:lnSpc>
            </a:pPr>
            <a:r>
              <a:rPr lang="en-US" sz="2666" b="0" i="0" u="none" strike="noStrike">
                <a:solidFill>
                  <a:srgbClr val="000000"/>
                </a:solidFill>
                <a:latin typeface="Pretendard Medium"/>
                <a:ea typeface="Pretendard Medium"/>
                <a:cs typeface="Pretendard Medium"/>
              </a:rPr>
              <a:t>취약점 : CVE-2025-66736</a:t>
            </a:r>
          </a:p>
          <a:p>
            <a:pPr lvl="0" algn="l">
              <a:lnSpc>
                <a:spcPct val="116199"/>
              </a:lnSpc>
            </a:pPr>
            <a:endParaRPr lang="en-US" sz="2666" b="0" i="0" u="none" strike="noStrike">
              <a:solidFill>
                <a:srgbClr val="000000"/>
              </a:solidFill>
              <a:latin typeface="Pretendard Medium"/>
              <a:ea typeface="Pretendard Medium"/>
              <a:cs typeface="Pretendard Medium"/>
            </a:endParaRPr>
          </a:p>
        </p:txBody>
      </p:sp>
      <p:sp>
        <p:nvSpPr>
          <p:cNvPr id="25" name="TextBox 25"/>
          <p:cNvSpPr txBox="1"/>
          <p:nvPr/>
        </p:nvSpPr>
        <p:spPr>
          <a:xfrm>
            <a:off x="9245600" y="4787900"/>
            <a:ext cx="6477000" cy="520700"/>
          </a:xfrm>
          <a:prstGeom prst="rect">
            <a:avLst/>
          </a:prstGeom>
        </p:spPr>
        <p:txBody>
          <a:bodyPr lIns="0" tIns="0" rIns="0" bIns="0" rtlCol="0" anchor="t"/>
          <a:lstStyle/>
          <a:p>
            <a:pPr lvl="0" algn="ctr">
              <a:lnSpc>
                <a:spcPct val="116199"/>
              </a:lnSpc>
            </a:pPr>
            <a:r>
              <a:rPr lang="en-US" sz="2933" b="0" i="0" u="none" strike="noStrike">
                <a:solidFill>
                  <a:srgbClr val="000000"/>
                </a:solidFill>
                <a:latin typeface="Pretendard Bold"/>
                <a:ea typeface="Pretendard Bold"/>
                <a:cs typeface="Pretendard Bold"/>
              </a:rPr>
              <a:t>파일 서버(WingFTP)</a:t>
            </a:r>
          </a:p>
        </p:txBody>
      </p:sp>
      <p:sp>
        <p:nvSpPr>
          <p:cNvPr id="26" name="TextBox 26"/>
          <p:cNvSpPr txBox="1"/>
          <p:nvPr/>
        </p:nvSpPr>
        <p:spPr>
          <a:xfrm>
            <a:off x="9753600" y="5778500"/>
            <a:ext cx="5562600" cy="1422400"/>
          </a:xfrm>
          <a:prstGeom prst="rect">
            <a:avLst/>
          </a:prstGeom>
        </p:spPr>
        <p:txBody>
          <a:bodyPr lIns="0" tIns="0" rIns="0" bIns="0" rtlCol="0" anchor="t"/>
          <a:lstStyle/>
          <a:p>
            <a:pPr lvl="0" algn="l">
              <a:lnSpc>
                <a:spcPct val="116199"/>
              </a:lnSpc>
            </a:pPr>
            <a:r>
              <a:rPr lang="en-US" sz="2666" b="0" i="0" u="none" strike="noStrike">
                <a:solidFill>
                  <a:srgbClr val="000000"/>
                </a:solidFill>
                <a:latin typeface="Pretendard Medium"/>
                <a:ea typeface="Pretendard Medium"/>
                <a:cs typeface="Pretendard Medium"/>
              </a:rPr>
              <a:t>버전 : 7.4.3</a:t>
            </a:r>
          </a:p>
          <a:p>
            <a:pPr lvl="0" algn="l">
              <a:lnSpc>
                <a:spcPct val="116199"/>
              </a:lnSpc>
            </a:pPr>
            <a:r>
              <a:rPr lang="en-US" sz="2666" b="0" i="0" u="none" strike="noStrike">
                <a:solidFill>
                  <a:srgbClr val="000000"/>
                </a:solidFill>
                <a:latin typeface="Pretendard Medium"/>
                <a:ea typeface="Pretendard Medium"/>
                <a:cs typeface="Pretendard Medium"/>
              </a:rPr>
              <a:t>설명 : 오픈 소스 파일서버 </a:t>
            </a:r>
          </a:p>
          <a:p>
            <a:pPr lvl="0" algn="l">
              <a:lnSpc>
                <a:spcPct val="116199"/>
              </a:lnSpc>
            </a:pPr>
            <a:r>
              <a:rPr lang="en-US" sz="2666" b="0" i="0" u="none" strike="noStrike">
                <a:solidFill>
                  <a:srgbClr val="000000"/>
                </a:solidFill>
                <a:latin typeface="Pretendard Medium"/>
                <a:ea typeface="Pretendard Medium"/>
                <a:cs typeface="Pretendard Medium"/>
              </a:rPr>
              <a:t>취약점 : CVE-2025-47812</a:t>
            </a:r>
          </a:p>
        </p:txBody>
      </p:sp>
      <p:sp>
        <p:nvSpPr>
          <p:cNvPr id="27" name="TextBox 27"/>
          <p:cNvSpPr txBox="1"/>
          <p:nvPr/>
        </p:nvSpPr>
        <p:spPr>
          <a:xfrm>
            <a:off x="17233900" y="8153400"/>
            <a:ext cx="6451600" cy="520700"/>
          </a:xfrm>
          <a:prstGeom prst="rect">
            <a:avLst/>
          </a:prstGeom>
        </p:spPr>
        <p:txBody>
          <a:bodyPr lIns="0" tIns="0" rIns="0" bIns="0" rtlCol="0" anchor="t"/>
          <a:lstStyle/>
          <a:p>
            <a:pPr lvl="0" algn="ctr">
              <a:lnSpc>
                <a:spcPct val="116199"/>
              </a:lnSpc>
            </a:pPr>
            <a:r>
              <a:rPr lang="en-US" sz="2933" b="0" i="0" u="none" strike="noStrike">
                <a:solidFill>
                  <a:srgbClr val="000000"/>
                </a:solidFill>
                <a:latin typeface="Pretendard Bold"/>
                <a:ea typeface="Pretendard Bold"/>
                <a:cs typeface="Pretendard Bold"/>
              </a:rPr>
              <a:t>브라우저(Chrome)</a:t>
            </a:r>
          </a:p>
        </p:txBody>
      </p:sp>
      <p:sp>
        <p:nvSpPr>
          <p:cNvPr id="28" name="TextBox 28"/>
          <p:cNvSpPr txBox="1"/>
          <p:nvPr/>
        </p:nvSpPr>
        <p:spPr>
          <a:xfrm>
            <a:off x="17703800" y="9144000"/>
            <a:ext cx="5562600" cy="1422400"/>
          </a:xfrm>
          <a:prstGeom prst="rect">
            <a:avLst/>
          </a:prstGeom>
        </p:spPr>
        <p:txBody>
          <a:bodyPr lIns="0" tIns="0" rIns="0" bIns="0" rtlCol="0" anchor="t"/>
          <a:lstStyle/>
          <a:p>
            <a:pPr lvl="0" algn="l">
              <a:lnSpc>
                <a:spcPct val="116199"/>
              </a:lnSpc>
            </a:pPr>
            <a:r>
              <a:rPr lang="en-US" sz="2666" b="0" i="0" u="none" strike="noStrike">
                <a:solidFill>
                  <a:srgbClr val="000000"/>
                </a:solidFill>
                <a:latin typeface="Pretendard Medium"/>
                <a:ea typeface="Pretendard Medium"/>
                <a:cs typeface="Pretendard Medium"/>
              </a:rPr>
              <a:t>버전 : 128.0.6613.138</a:t>
            </a:r>
          </a:p>
          <a:p>
            <a:pPr lvl="0" algn="l">
              <a:lnSpc>
                <a:spcPct val="116199"/>
              </a:lnSpc>
            </a:pPr>
            <a:r>
              <a:rPr lang="en-US" sz="2666" b="0" i="0" u="none" strike="noStrike">
                <a:solidFill>
                  <a:srgbClr val="000000"/>
                </a:solidFill>
                <a:latin typeface="Pretendard Medium"/>
                <a:ea typeface="Pretendard Medium"/>
                <a:cs typeface="Pretendard Medium"/>
              </a:rPr>
              <a:t>취약점 : CVE-2024-2887</a:t>
            </a:r>
          </a:p>
          <a:p>
            <a:pPr lvl="0" algn="l">
              <a:lnSpc>
                <a:spcPct val="116199"/>
              </a:lnSpc>
            </a:pPr>
            <a:r>
              <a:rPr lang="en-US" sz="2666" b="0" i="0" u="none" strike="noStrike">
                <a:solidFill>
                  <a:srgbClr val="000000"/>
                </a:solidFill>
                <a:latin typeface="Pretendard Medium"/>
                <a:ea typeface="Pretendard Medium"/>
                <a:cs typeface="Pretendard Medium"/>
              </a:rPr>
              <a:t>              CVE-2025-2783</a:t>
            </a:r>
          </a:p>
        </p:txBody>
      </p:sp>
      <p:sp>
        <p:nvSpPr>
          <p:cNvPr id="29" name="TextBox 29"/>
          <p:cNvSpPr txBox="1"/>
          <p:nvPr/>
        </p:nvSpPr>
        <p:spPr>
          <a:xfrm>
            <a:off x="9245600" y="8153400"/>
            <a:ext cx="6477000" cy="520700"/>
          </a:xfrm>
          <a:prstGeom prst="rect">
            <a:avLst/>
          </a:prstGeom>
        </p:spPr>
        <p:txBody>
          <a:bodyPr lIns="0" tIns="0" rIns="0" bIns="0" rtlCol="0" anchor="t"/>
          <a:lstStyle/>
          <a:p>
            <a:pPr lvl="0" algn="ctr">
              <a:lnSpc>
                <a:spcPct val="116199"/>
              </a:lnSpc>
            </a:pPr>
            <a:r>
              <a:rPr lang="en-US" sz="2933" b="0" i="0" u="none" strike="noStrike">
                <a:solidFill>
                  <a:srgbClr val="000000"/>
                </a:solidFill>
                <a:latin typeface="Pretendard Bold"/>
                <a:ea typeface="Pretendard Bold"/>
                <a:cs typeface="Pretendard Bold"/>
              </a:rPr>
              <a:t>OS(Windows)</a:t>
            </a:r>
          </a:p>
        </p:txBody>
      </p:sp>
      <p:sp>
        <p:nvSpPr>
          <p:cNvPr id="30" name="TextBox 30"/>
          <p:cNvSpPr txBox="1"/>
          <p:nvPr/>
        </p:nvSpPr>
        <p:spPr>
          <a:xfrm>
            <a:off x="9753600" y="9144000"/>
            <a:ext cx="5562600" cy="952500"/>
          </a:xfrm>
          <a:prstGeom prst="rect">
            <a:avLst/>
          </a:prstGeom>
        </p:spPr>
        <p:txBody>
          <a:bodyPr lIns="0" tIns="0" rIns="0" bIns="0" rtlCol="0" anchor="t"/>
          <a:lstStyle/>
          <a:p>
            <a:pPr lvl="0" algn="l">
              <a:lnSpc>
                <a:spcPct val="116199"/>
              </a:lnSpc>
            </a:pPr>
            <a:r>
              <a:rPr lang="en-US" sz="2666" b="0" i="0" u="none" strike="noStrike">
                <a:solidFill>
                  <a:srgbClr val="000000"/>
                </a:solidFill>
                <a:latin typeface="Pretendard Medium"/>
                <a:ea typeface="Pretendard Medium"/>
                <a:cs typeface="Pretendard Medium"/>
              </a:rPr>
              <a:t>버전 : Win 10 21H2 19044.1620</a:t>
            </a:r>
          </a:p>
          <a:p>
            <a:pPr lvl="0" algn="l">
              <a:lnSpc>
                <a:spcPct val="116199"/>
              </a:lnSpc>
            </a:pPr>
            <a:r>
              <a:rPr lang="en-US" sz="2666" b="0" i="0" u="none" strike="noStrike">
                <a:solidFill>
                  <a:srgbClr val="000000"/>
                </a:solidFill>
                <a:latin typeface="Pretendard Medium"/>
                <a:ea typeface="Pretendard Medium"/>
                <a:cs typeface="Pretendard Medium"/>
              </a:rPr>
              <a:t>취약점 : CVE-2024-21412</a:t>
            </a:r>
          </a:p>
        </p:txBody>
      </p:sp>
      <p:sp>
        <p:nvSpPr>
          <p:cNvPr id="32" name="TextBox 14">
            <a:extLst>
              <a:ext uri="{FF2B5EF4-FFF2-40B4-BE49-F238E27FC236}">
                <a16:creationId xmlns:a16="http://schemas.microsoft.com/office/drawing/2014/main" id="{80115703-1E19-5566-348D-A394AE556E11}"/>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33" name="TextBox 14">
            <a:extLst>
              <a:ext uri="{FF2B5EF4-FFF2-40B4-BE49-F238E27FC236}">
                <a16:creationId xmlns:a16="http://schemas.microsoft.com/office/drawing/2014/main" id="{69DFA125-F63C-D6CB-63DA-0AB4FEC6A022}"/>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34" name="Picture 2">
            <a:extLst>
              <a:ext uri="{FF2B5EF4-FFF2-40B4-BE49-F238E27FC236}">
                <a16:creationId xmlns:a16="http://schemas.microsoft.com/office/drawing/2014/main" id="{2ADAC271-44AF-809E-0F8C-22CB9F4F7D15}"/>
              </a:ext>
            </a:extLst>
          </p:cNvPr>
          <p:cNvPicPr>
            <a:picLocks noChangeAspect="1"/>
          </p:cNvPicPr>
          <p:nvPr/>
        </p:nvPicPr>
        <p:blipFill>
          <a:blip r:embed="rId7">
            <a:alphaModFix amt="85000"/>
          </a:blip>
          <a:stretch>
            <a:fillRect/>
          </a:stretch>
        </p:blipFill>
        <p:spPr>
          <a:xfrm>
            <a:off x="11201400" y="558800"/>
            <a:ext cx="2705100" cy="444500"/>
          </a:xfrm>
          <a:prstGeom prst="rect">
            <a:avLst/>
          </a:prstGeom>
        </p:spPr>
      </p:pic>
      <p:sp>
        <p:nvSpPr>
          <p:cNvPr id="35" name="TextBox 16">
            <a:extLst>
              <a:ext uri="{FF2B5EF4-FFF2-40B4-BE49-F238E27FC236}">
                <a16:creationId xmlns:a16="http://schemas.microsoft.com/office/drawing/2014/main" id="{DCC40D4D-891B-201F-1333-8E32EE0032B4}"/>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36" name="TextBox 18">
            <a:extLst>
              <a:ext uri="{FF2B5EF4-FFF2-40B4-BE49-F238E27FC236}">
                <a16:creationId xmlns:a16="http://schemas.microsoft.com/office/drawing/2014/main" id="{B72BED9F-ADA2-8BB9-5EF8-7FA66F00DCCA}"/>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37" name="TextBox 19">
            <a:extLst>
              <a:ext uri="{FF2B5EF4-FFF2-40B4-BE49-F238E27FC236}">
                <a16:creationId xmlns:a16="http://schemas.microsoft.com/office/drawing/2014/main" id="{15F0AE98-E6D4-2EA7-5DEC-2E6D9969F2DE}"/>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38" name="TextBox 20">
            <a:extLst>
              <a:ext uri="{FF2B5EF4-FFF2-40B4-BE49-F238E27FC236}">
                <a16:creationId xmlns:a16="http://schemas.microsoft.com/office/drawing/2014/main" id="{DB032381-DE55-21E1-0B8B-ABD20EBF39AA}"/>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4"/>
          <a:stretch>
            <a:fillRect/>
          </a:stretch>
        </p:blipFill>
        <p:spPr>
          <a:xfrm>
            <a:off x="7556500" y="4368800"/>
            <a:ext cx="15849600" cy="6997700"/>
          </a:xfrm>
          <a:prstGeom prst="rect">
            <a:avLst/>
          </a:prstGeom>
          <a:effectLst>
            <a:outerShdw blurRad="384862" dist="161481" dir="2700000">
              <a:srgbClr val="000000">
                <a:alpha val="15000"/>
              </a:srgbClr>
            </a:outerShdw>
          </a:effectLst>
        </p:spPr>
      </p:pic>
      <p:sp>
        <p:nvSpPr>
          <p:cNvPr id="4" name="TextBox 4"/>
          <p:cNvSpPr txBox="1"/>
          <p:nvPr/>
        </p:nvSpPr>
        <p:spPr>
          <a:xfrm>
            <a:off x="10096500" y="4800600"/>
            <a:ext cx="12496800" cy="2082800"/>
          </a:xfrm>
          <a:prstGeom prst="rect">
            <a:avLst/>
          </a:prstGeom>
        </p:spPr>
        <p:txBody>
          <a:bodyPr lIns="0" tIns="0" rIns="0" bIns="0" rtlCol="0" anchor="t"/>
          <a:lstStyle/>
          <a:p>
            <a:pPr lvl="0" algn="l">
              <a:lnSpc>
                <a:spcPct val="116199"/>
              </a:lnSpc>
            </a:pPr>
            <a:r>
              <a:rPr lang="en-US" sz="2933" b="0" i="0" u="none" strike="noStrike">
                <a:solidFill>
                  <a:srgbClr val="000000"/>
                </a:solidFill>
                <a:latin typeface="Pretendard Medium"/>
                <a:ea typeface="Pretendard Medium"/>
                <a:cs typeface="Pretendard Medium"/>
              </a:rPr>
              <a:t>CVE-2024-47176: UDP 631 무제한 수신
CVE-2024-47076: IPP 속성 검증 없이 저장
CVE-2024-47175: PPD에 악성 데이터 삽입
CVE-2024-47177: RCE</a:t>
            </a:r>
          </a:p>
        </p:txBody>
      </p:sp>
      <p:sp>
        <p:nvSpPr>
          <p:cNvPr id="5" name="TextBox 5"/>
          <p:cNvSpPr txBox="1"/>
          <p:nvPr/>
        </p:nvSpPr>
        <p:spPr>
          <a:xfrm>
            <a:off x="7988300" y="4775200"/>
            <a:ext cx="1854200" cy="571500"/>
          </a:xfrm>
          <a:prstGeom prst="rect">
            <a:avLst/>
          </a:prstGeom>
        </p:spPr>
        <p:txBody>
          <a:bodyPr lIns="0" tIns="0" rIns="0" bIns="0" rtlCol="0" anchor="t"/>
          <a:lstStyle/>
          <a:p>
            <a:pPr lvl="0" algn="l">
              <a:lnSpc>
                <a:spcPct val="116199"/>
              </a:lnSpc>
            </a:pPr>
            <a:r>
              <a:rPr lang="en-US" sz="3200" b="1" i="0" u="none" strike="noStrike">
                <a:solidFill>
                  <a:srgbClr val="000000"/>
                </a:solidFill>
                <a:latin typeface="Pretendard Medium"/>
                <a:ea typeface="Pretendard Medium"/>
                <a:cs typeface="Pretendard Medium"/>
              </a:rPr>
              <a:t>CVE 설명</a:t>
            </a:r>
          </a:p>
        </p:txBody>
      </p:sp>
      <p:pic>
        <p:nvPicPr>
          <p:cNvPr id="7" name="Picture 7"/>
          <p:cNvPicPr>
            <a:picLocks noChangeAspect="1"/>
          </p:cNvPicPr>
          <p:nvPr/>
        </p:nvPicPr>
        <p:blipFill>
          <a:blip r:embed="rId5"/>
          <a:stretch>
            <a:fillRect/>
          </a:stretch>
        </p:blipFill>
        <p:spPr>
          <a:xfrm>
            <a:off x="762000" y="1092200"/>
            <a:ext cx="22860000" cy="12700"/>
          </a:xfrm>
          <a:prstGeom prst="rect">
            <a:avLst/>
          </a:prstGeom>
        </p:spPr>
      </p:pic>
      <p:pic>
        <p:nvPicPr>
          <p:cNvPr id="8" name="Picture 8"/>
          <p:cNvPicPr>
            <a:picLocks noChangeAspect="1"/>
          </p:cNvPicPr>
          <p:nvPr/>
        </p:nvPicPr>
        <p:blipFill>
          <a:blip r:embed="rId6"/>
          <a:stretch>
            <a:fillRect/>
          </a:stretch>
        </p:blipFill>
        <p:spPr>
          <a:xfrm rot="5400000">
            <a:off x="3200400" y="787400"/>
            <a:ext cx="635000" cy="12700"/>
          </a:xfrm>
          <a:prstGeom prst="rect">
            <a:avLst/>
          </a:prstGeom>
        </p:spPr>
      </p:pic>
      <p:pic>
        <p:nvPicPr>
          <p:cNvPr id="9" name="Picture 9"/>
          <p:cNvPicPr>
            <a:picLocks noChangeAspect="1"/>
          </p:cNvPicPr>
          <p:nvPr/>
        </p:nvPicPr>
        <p:blipFill>
          <a:blip r:embed="rId6"/>
          <a:stretch>
            <a:fillRect/>
          </a:stretch>
        </p:blipFill>
        <p:spPr>
          <a:xfrm rot="5400000">
            <a:off x="22225000" y="787400"/>
            <a:ext cx="635000" cy="12700"/>
          </a:xfrm>
          <a:prstGeom prst="rect">
            <a:avLst/>
          </a:prstGeom>
        </p:spPr>
      </p:pic>
      <p:pic>
        <p:nvPicPr>
          <p:cNvPr id="10" name="Picture 10"/>
          <p:cNvPicPr>
            <a:picLocks noChangeAspect="1"/>
          </p:cNvPicPr>
          <p:nvPr/>
        </p:nvPicPr>
        <p:blipFill>
          <a:blip r:embed="rId6"/>
          <a:stretch>
            <a:fillRect/>
          </a:stretch>
        </p:blipFill>
        <p:spPr>
          <a:xfrm rot="5400000">
            <a:off x="6337300" y="787400"/>
            <a:ext cx="635000" cy="12700"/>
          </a:xfrm>
          <a:prstGeom prst="rect">
            <a:avLst/>
          </a:prstGeom>
        </p:spPr>
      </p:pic>
      <p:pic>
        <p:nvPicPr>
          <p:cNvPr id="11" name="Picture 11"/>
          <p:cNvPicPr>
            <a:picLocks noChangeAspect="1"/>
          </p:cNvPicPr>
          <p:nvPr/>
        </p:nvPicPr>
        <p:blipFill>
          <a:blip r:embed="rId5"/>
          <a:stretch>
            <a:fillRect/>
          </a:stretch>
        </p:blipFill>
        <p:spPr>
          <a:xfrm>
            <a:off x="723900" y="457200"/>
            <a:ext cx="22860000" cy="12700"/>
          </a:xfrm>
          <a:prstGeom prst="rect">
            <a:avLst/>
          </a:prstGeom>
        </p:spPr>
      </p:pic>
      <p:pic>
        <p:nvPicPr>
          <p:cNvPr id="13" name="Picture 13"/>
          <p:cNvPicPr>
            <a:picLocks noChangeAspect="1"/>
          </p:cNvPicPr>
          <p:nvPr/>
        </p:nvPicPr>
        <p:blipFill>
          <a:blip r:embed="rId7"/>
          <a:stretch>
            <a:fillRect/>
          </a:stretch>
        </p:blipFill>
        <p:spPr>
          <a:xfrm>
            <a:off x="1485900" y="1612900"/>
            <a:ext cx="88900" cy="850900"/>
          </a:xfrm>
          <a:prstGeom prst="rect">
            <a:avLst/>
          </a:prstGeom>
        </p:spPr>
      </p:pic>
      <p:sp>
        <p:nvSpPr>
          <p:cNvPr id="14" name="TextBox 14"/>
          <p:cNvSpPr txBox="1"/>
          <p:nvPr/>
        </p:nvSpPr>
        <p:spPr>
          <a:xfrm>
            <a:off x="1943100" y="1409700"/>
            <a:ext cx="13423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협력사망 경유를 통한 공급망 연쇄 침투</a:t>
            </a:r>
          </a:p>
        </p:txBody>
      </p:sp>
      <p:sp>
        <p:nvSpPr>
          <p:cNvPr id="15" name="TextBox 15"/>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a:solidFill>
                  <a:srgbClr val="024EA0"/>
                </a:solidFill>
                <a:latin typeface="Geologica Roman Light"/>
                <a:ea typeface="Geologica Roman Light"/>
                <a:cs typeface="Geologica Roman Light"/>
              </a:rPr>
              <a:t>28</a:t>
            </a:r>
          </a:p>
        </p:txBody>
      </p:sp>
      <p:sp>
        <p:nvSpPr>
          <p:cNvPr id="22" name="TextBox 22"/>
          <p:cNvSpPr txBox="1"/>
          <p:nvPr/>
        </p:nvSpPr>
        <p:spPr>
          <a:xfrm>
            <a:off x="10147300" y="7023100"/>
            <a:ext cx="12611100" cy="1562100"/>
          </a:xfrm>
          <a:prstGeom prst="rect">
            <a:avLst/>
          </a:prstGeom>
        </p:spPr>
        <p:txBody>
          <a:bodyPr lIns="0" tIns="0" rIns="0" bIns="0" rtlCol="0" anchor="t"/>
          <a:lstStyle/>
          <a:p>
            <a:pPr lvl="0" algn="l">
              <a:lnSpc>
                <a:spcPct val="116199"/>
              </a:lnSpc>
            </a:pPr>
            <a:r>
              <a:rPr lang="en-US" sz="2933" b="0" i="0" u="none" strike="noStrike">
                <a:solidFill>
                  <a:srgbClr val="000000"/>
                </a:solidFill>
                <a:latin typeface="Pretendard Medium"/>
                <a:ea typeface="Pretendard Medium"/>
                <a:cs typeface="Pretendard Medium"/>
              </a:rPr>
              <a:t>CUPS: 리눅스/유닉스 공통 인쇄 시스템</a:t>
            </a:r>
          </a:p>
          <a:p>
            <a:pPr lvl="0" algn="l">
              <a:lnSpc>
                <a:spcPct val="116199"/>
              </a:lnSpc>
            </a:pPr>
            <a:r>
              <a:rPr lang="en-US" sz="2933" b="0" i="0" u="none" strike="noStrike">
                <a:solidFill>
                  <a:srgbClr val="000000"/>
                </a:solidFill>
                <a:latin typeface="Pretendard Medium"/>
                <a:ea typeface="Pretendard Medium"/>
                <a:cs typeface="Pretendard Medium"/>
              </a:rPr>
              <a:t>IPP: 인터넷 인쇄 프로토콜 (TCP/UDP 631)</a:t>
            </a:r>
          </a:p>
          <a:p>
            <a:pPr lvl="0" algn="l">
              <a:lnSpc>
                <a:spcPct val="116199"/>
              </a:lnSpc>
            </a:pPr>
            <a:r>
              <a:rPr lang="en-US" sz="2933" b="0" i="0" u="none" strike="noStrike">
                <a:solidFill>
                  <a:srgbClr val="000000"/>
                </a:solidFill>
                <a:latin typeface="Pretendard Medium"/>
                <a:ea typeface="Pretendard Medium"/>
                <a:cs typeface="Pretendard Medium"/>
              </a:rPr>
              <a:t>PPD: 프린터 기능 기술 파일</a:t>
            </a:r>
          </a:p>
        </p:txBody>
      </p:sp>
      <p:sp>
        <p:nvSpPr>
          <p:cNvPr id="23" name="TextBox 23"/>
          <p:cNvSpPr txBox="1"/>
          <p:nvPr/>
        </p:nvSpPr>
        <p:spPr>
          <a:xfrm>
            <a:off x="7988300" y="7061200"/>
            <a:ext cx="1854200" cy="571500"/>
          </a:xfrm>
          <a:prstGeom prst="rect">
            <a:avLst/>
          </a:prstGeom>
        </p:spPr>
        <p:txBody>
          <a:bodyPr lIns="0" tIns="0" rIns="0" bIns="0" rtlCol="0" anchor="t"/>
          <a:lstStyle/>
          <a:p>
            <a:pPr lvl="0" algn="l">
              <a:lnSpc>
                <a:spcPct val="116199"/>
              </a:lnSpc>
            </a:pPr>
            <a:r>
              <a:rPr lang="en-US" sz="3199" b="1" i="0" u="none" strike="noStrike">
                <a:solidFill>
                  <a:srgbClr val="000000"/>
                </a:solidFill>
                <a:latin typeface="Pretendard Medium"/>
                <a:ea typeface="Pretendard Medium"/>
                <a:cs typeface="Pretendard Medium"/>
              </a:rPr>
              <a:t>사전 지식</a:t>
            </a:r>
          </a:p>
        </p:txBody>
      </p:sp>
      <p:sp>
        <p:nvSpPr>
          <p:cNvPr id="24" name="TextBox 24"/>
          <p:cNvSpPr txBox="1"/>
          <p:nvPr/>
        </p:nvSpPr>
        <p:spPr>
          <a:xfrm>
            <a:off x="10058400" y="9067800"/>
            <a:ext cx="12598400" cy="2082800"/>
          </a:xfrm>
          <a:prstGeom prst="rect">
            <a:avLst/>
          </a:prstGeom>
        </p:spPr>
        <p:txBody>
          <a:bodyPr lIns="0" tIns="0" rIns="0" bIns="0" rtlCol="0" anchor="t"/>
          <a:lstStyle/>
          <a:p>
            <a:pPr lvl="0" algn="l">
              <a:lnSpc>
                <a:spcPct val="116199"/>
              </a:lnSpc>
            </a:pPr>
            <a:r>
              <a:rPr lang="en-US" sz="2933" b="0" i="0" u="none" strike="noStrike" dirty="0">
                <a:solidFill>
                  <a:srgbClr val="000000"/>
                </a:solidFill>
                <a:latin typeface="Pretendard Medium"/>
                <a:ea typeface="Pretendard Medium"/>
                <a:cs typeface="Pretendard Medium"/>
              </a:rPr>
              <a:t>Ubuntu, Debian, Fedora </a:t>
            </a:r>
            <a:r>
              <a:rPr lang="en-US" sz="2933" b="0" i="0" u="none" strike="noStrike" dirty="0" err="1">
                <a:solidFill>
                  <a:srgbClr val="000000"/>
                </a:solidFill>
                <a:latin typeface="Pretendard Medium"/>
                <a:ea typeface="Pretendard Medium"/>
                <a:cs typeface="Pretendard Medium"/>
              </a:rPr>
              <a:t>기본</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탑재</a:t>
            </a:r>
            <a:endParaRPr lang="en-US" sz="2933" b="0" i="0" u="none" strike="noStrike" dirty="0">
              <a:solidFill>
                <a:srgbClr val="000000"/>
              </a:solidFill>
              <a:latin typeface="Pretendard Medium"/>
              <a:ea typeface="Pretendard Medium"/>
              <a:cs typeface="Pretendard Medium"/>
            </a:endParaRPr>
          </a:p>
          <a:p>
            <a:pPr lvl="0" algn="l">
              <a:lnSpc>
                <a:spcPct val="116199"/>
              </a:lnSpc>
            </a:pPr>
            <a:r>
              <a:rPr lang="en-US" sz="2933" b="0" i="0" u="none" strike="noStrike" dirty="0" err="1">
                <a:solidFill>
                  <a:srgbClr val="000000"/>
                </a:solidFill>
                <a:latin typeface="Pretendard Medium"/>
                <a:ea typeface="Pretendard Medium"/>
                <a:cs typeface="Pretendard Medium"/>
              </a:rPr>
              <a:t>인터넷</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노출</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취약</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시스템</a:t>
            </a:r>
            <a:r>
              <a:rPr lang="en-US" sz="2933" b="0" i="0" u="none" strike="noStrike" dirty="0">
                <a:solidFill>
                  <a:srgbClr val="000000"/>
                </a:solidFill>
                <a:latin typeface="Pretendard Medium"/>
                <a:ea typeface="Pretendard Medium"/>
                <a:cs typeface="Pretendard Medium"/>
              </a:rPr>
              <a:t>: ~20~30만 </a:t>
            </a:r>
            <a:r>
              <a:rPr lang="en-US" sz="2933" b="0" i="0" u="none" strike="noStrike" dirty="0" err="1">
                <a:solidFill>
                  <a:srgbClr val="000000"/>
                </a:solidFill>
                <a:latin typeface="Pretendard Medium"/>
                <a:ea typeface="Pretendard Medium"/>
                <a:cs typeface="Pretendard Medium"/>
              </a:rPr>
              <a:t>대</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추정</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사전</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인증</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불필요</a:t>
            </a:r>
            <a:r>
              <a:rPr lang="en-US" sz="2933" b="0" i="0" u="none" strike="noStrike" dirty="0">
                <a:solidFill>
                  <a:srgbClr val="000000"/>
                </a:solidFill>
                <a:latin typeface="Pretendard Medium"/>
                <a:ea typeface="Pretendard Medium"/>
                <a:cs typeface="Pretendard Medium"/>
              </a:rPr>
              <a:t> (UDP </a:t>
            </a:r>
            <a:r>
              <a:rPr lang="en-US" sz="2933" b="0" i="0" u="none" strike="noStrike" dirty="0" err="1">
                <a:solidFill>
                  <a:srgbClr val="000000"/>
                </a:solidFill>
                <a:latin typeface="Pretendard Medium"/>
                <a:ea typeface="Pretendard Medium"/>
                <a:cs typeface="Pretendard Medium"/>
              </a:rPr>
              <a:t>패킷</a:t>
            </a:r>
            <a:r>
              <a:rPr lang="en-US" sz="2933" b="0" i="0" u="none" strike="noStrike" dirty="0">
                <a:solidFill>
                  <a:srgbClr val="000000"/>
                </a:solidFill>
                <a:latin typeface="Pretendard Medium"/>
                <a:ea typeface="Pretendard Medium"/>
                <a:cs typeface="Pretendard Medium"/>
              </a:rPr>
              <a:t> 1개)
</a:t>
            </a:r>
            <a:r>
              <a:rPr lang="en-US" sz="2933" b="0" i="0" u="none" strike="noStrike" dirty="0" err="1">
                <a:solidFill>
                  <a:srgbClr val="000000"/>
                </a:solidFill>
                <a:latin typeface="Pretendard Medium"/>
                <a:ea typeface="Pretendard Medium"/>
                <a:cs typeface="Pretendard Medium"/>
              </a:rPr>
              <a:t>코드</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통합</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과정에서의</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보안</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검토</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부재</a:t>
            </a:r>
            <a:endParaRPr lang="en-US" sz="2933" b="0" i="0" u="none" strike="noStrike" dirty="0">
              <a:solidFill>
                <a:srgbClr val="000000"/>
              </a:solidFill>
              <a:latin typeface="Pretendard Medium"/>
              <a:ea typeface="Pretendard Medium"/>
              <a:cs typeface="Pretendard Medium"/>
            </a:endParaRPr>
          </a:p>
        </p:txBody>
      </p:sp>
      <p:sp>
        <p:nvSpPr>
          <p:cNvPr id="25" name="TextBox 25"/>
          <p:cNvSpPr txBox="1"/>
          <p:nvPr/>
        </p:nvSpPr>
        <p:spPr>
          <a:xfrm>
            <a:off x="7988300" y="9105900"/>
            <a:ext cx="1854200" cy="571500"/>
          </a:xfrm>
          <a:prstGeom prst="rect">
            <a:avLst/>
          </a:prstGeom>
        </p:spPr>
        <p:txBody>
          <a:bodyPr lIns="0" tIns="0" rIns="0" bIns="0" rtlCol="0" anchor="t"/>
          <a:lstStyle/>
          <a:p>
            <a:pPr lvl="0" algn="l">
              <a:lnSpc>
                <a:spcPct val="116199"/>
              </a:lnSpc>
            </a:pPr>
            <a:r>
              <a:rPr lang="en-US" sz="3200" b="1" i="0" u="none" strike="noStrike">
                <a:solidFill>
                  <a:srgbClr val="000000"/>
                </a:solidFill>
                <a:latin typeface="Pretendard Medium"/>
                <a:ea typeface="Pretendard Medium"/>
                <a:cs typeface="Pretendard Medium"/>
              </a:rPr>
              <a:t>선정 이유</a:t>
            </a:r>
          </a:p>
        </p:txBody>
      </p:sp>
      <p:sp>
        <p:nvSpPr>
          <p:cNvPr id="26" name="TextBox 26"/>
          <p:cNvSpPr txBox="1"/>
          <p:nvPr/>
        </p:nvSpPr>
        <p:spPr>
          <a:xfrm>
            <a:off x="1930400" y="29591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CUPS : CVE-2024-47176, 47076, 47175, 47177</a:t>
            </a:r>
          </a:p>
        </p:txBody>
      </p:sp>
      <p:sp>
        <p:nvSpPr>
          <p:cNvPr id="35" name="TextBox 14">
            <a:extLst>
              <a:ext uri="{FF2B5EF4-FFF2-40B4-BE49-F238E27FC236}">
                <a16:creationId xmlns:a16="http://schemas.microsoft.com/office/drawing/2014/main" id="{744045F0-23A3-3ED1-B954-7391693B9EB2}"/>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36" name="TextBox 14">
            <a:extLst>
              <a:ext uri="{FF2B5EF4-FFF2-40B4-BE49-F238E27FC236}">
                <a16:creationId xmlns:a16="http://schemas.microsoft.com/office/drawing/2014/main" id="{7CFF5F39-0192-5CAB-A256-BAC70F249540}"/>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37" name="Picture 2">
            <a:extLst>
              <a:ext uri="{FF2B5EF4-FFF2-40B4-BE49-F238E27FC236}">
                <a16:creationId xmlns:a16="http://schemas.microsoft.com/office/drawing/2014/main" id="{8D7173F0-6EF5-DBFE-9A3F-98CDA6729036}"/>
              </a:ext>
            </a:extLst>
          </p:cNvPr>
          <p:cNvPicPr>
            <a:picLocks noChangeAspect="1"/>
          </p:cNvPicPr>
          <p:nvPr/>
        </p:nvPicPr>
        <p:blipFill>
          <a:blip r:embed="rId8">
            <a:alphaModFix amt="85000"/>
          </a:blip>
          <a:stretch>
            <a:fillRect/>
          </a:stretch>
        </p:blipFill>
        <p:spPr>
          <a:xfrm>
            <a:off x="11201400" y="558800"/>
            <a:ext cx="2705100" cy="444500"/>
          </a:xfrm>
          <a:prstGeom prst="rect">
            <a:avLst/>
          </a:prstGeom>
        </p:spPr>
      </p:pic>
      <p:sp>
        <p:nvSpPr>
          <p:cNvPr id="38" name="TextBox 16">
            <a:extLst>
              <a:ext uri="{FF2B5EF4-FFF2-40B4-BE49-F238E27FC236}">
                <a16:creationId xmlns:a16="http://schemas.microsoft.com/office/drawing/2014/main" id="{4B0034E0-05E7-00A9-F420-B119D337C47E}"/>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39" name="TextBox 18">
            <a:extLst>
              <a:ext uri="{FF2B5EF4-FFF2-40B4-BE49-F238E27FC236}">
                <a16:creationId xmlns:a16="http://schemas.microsoft.com/office/drawing/2014/main" id="{51B022B8-9A11-1AAE-C20A-3ED6621EDE8F}"/>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40" name="TextBox 19">
            <a:extLst>
              <a:ext uri="{FF2B5EF4-FFF2-40B4-BE49-F238E27FC236}">
                <a16:creationId xmlns:a16="http://schemas.microsoft.com/office/drawing/2014/main" id="{1A6EA977-B975-0536-F0C7-D0DF1966E4B8}"/>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41" name="TextBox 20">
            <a:extLst>
              <a:ext uri="{FF2B5EF4-FFF2-40B4-BE49-F238E27FC236}">
                <a16:creationId xmlns:a16="http://schemas.microsoft.com/office/drawing/2014/main" id="{E771D415-C112-6B4E-6DC9-8B1FC1208529}"/>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pic>
        <p:nvPicPr>
          <p:cNvPr id="12" name="Picture 6">
            <a:extLst>
              <a:ext uri="{FF2B5EF4-FFF2-40B4-BE49-F238E27FC236}">
                <a16:creationId xmlns:a16="http://schemas.microsoft.com/office/drawing/2014/main" id="{72D70557-7047-863F-2916-202BBF291329}"/>
              </a:ext>
            </a:extLst>
          </p:cNvPr>
          <p:cNvPicPr>
            <a:picLocks noChangeAspect="1"/>
          </p:cNvPicPr>
          <p:nvPr/>
        </p:nvPicPr>
        <p:blipFill>
          <a:blip r:embed="rId9"/>
          <a:stretch>
            <a:fillRect/>
          </a:stretch>
        </p:blipFill>
        <p:spPr>
          <a:xfrm>
            <a:off x="1955800" y="4368800"/>
            <a:ext cx="4381500" cy="6997700"/>
          </a:xfrm>
          <a:prstGeom prst="rect">
            <a:avLst/>
          </a:prstGeom>
          <a:effectLst>
            <a:outerShdw blurRad="241107" dist="101164" dir="2700000">
              <a:srgbClr val="000000">
                <a:alpha val="15000"/>
              </a:srgbClr>
            </a:outerShdw>
          </a:effectLst>
        </p:spPr>
      </p:pic>
      <p:pic>
        <p:nvPicPr>
          <p:cNvPr id="16" name="Picture 27">
            <a:extLst>
              <a:ext uri="{FF2B5EF4-FFF2-40B4-BE49-F238E27FC236}">
                <a16:creationId xmlns:a16="http://schemas.microsoft.com/office/drawing/2014/main" id="{5D969849-DE25-8E32-53F7-56D0F68F8F2C}"/>
              </a:ext>
            </a:extLst>
          </p:cNvPr>
          <p:cNvPicPr>
            <a:picLocks noChangeAspect="1"/>
          </p:cNvPicPr>
          <p:nvPr/>
        </p:nvPicPr>
        <p:blipFill>
          <a:blip r:embed="rId10"/>
          <a:stretch>
            <a:fillRect/>
          </a:stretch>
        </p:blipFill>
        <p:spPr>
          <a:xfrm rot="5400000">
            <a:off x="2679700" y="7708900"/>
            <a:ext cx="1905000" cy="190500"/>
          </a:xfrm>
          <a:prstGeom prst="rect">
            <a:avLst/>
          </a:prstGeom>
        </p:spPr>
      </p:pic>
      <p:pic>
        <p:nvPicPr>
          <p:cNvPr id="17" name="Picture 28">
            <a:extLst>
              <a:ext uri="{FF2B5EF4-FFF2-40B4-BE49-F238E27FC236}">
                <a16:creationId xmlns:a16="http://schemas.microsoft.com/office/drawing/2014/main" id="{2A1C246C-C14F-FAA3-F225-85312AB6D19C}"/>
              </a:ext>
            </a:extLst>
          </p:cNvPr>
          <p:cNvPicPr>
            <a:picLocks noChangeAspect="1"/>
          </p:cNvPicPr>
          <p:nvPr/>
        </p:nvPicPr>
        <p:blipFill>
          <a:blip r:embed="rId11"/>
          <a:stretch>
            <a:fillRect/>
          </a:stretch>
        </p:blipFill>
        <p:spPr>
          <a:xfrm>
            <a:off x="3035300" y="4927600"/>
            <a:ext cx="1168400" cy="1130300"/>
          </a:xfrm>
          <a:prstGeom prst="rect">
            <a:avLst/>
          </a:prstGeom>
        </p:spPr>
      </p:pic>
      <p:sp>
        <p:nvSpPr>
          <p:cNvPr id="18" name="TextBox 29">
            <a:extLst>
              <a:ext uri="{FF2B5EF4-FFF2-40B4-BE49-F238E27FC236}">
                <a16:creationId xmlns:a16="http://schemas.microsoft.com/office/drawing/2014/main" id="{A7E198A8-F43F-5B15-899C-DAD3309AA780}"/>
              </a:ext>
            </a:extLst>
          </p:cNvPr>
          <p:cNvSpPr txBox="1"/>
          <p:nvPr/>
        </p:nvSpPr>
        <p:spPr>
          <a:xfrm>
            <a:off x="2489200" y="6096000"/>
            <a:ext cx="22860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Medium"/>
                <a:ea typeface="Pretendard Medium"/>
                <a:cs typeface="Pretendard Medium"/>
              </a:rPr>
              <a:t>공격자</a:t>
            </a:r>
          </a:p>
        </p:txBody>
      </p:sp>
      <p:pic>
        <p:nvPicPr>
          <p:cNvPr id="19" name="Picture 30">
            <a:extLst>
              <a:ext uri="{FF2B5EF4-FFF2-40B4-BE49-F238E27FC236}">
                <a16:creationId xmlns:a16="http://schemas.microsoft.com/office/drawing/2014/main" id="{8C807636-B2A2-4C1B-AD4E-7DC1C6F17094}"/>
              </a:ext>
            </a:extLst>
          </p:cNvPr>
          <p:cNvPicPr>
            <a:picLocks noChangeAspect="1"/>
          </p:cNvPicPr>
          <p:nvPr/>
        </p:nvPicPr>
        <p:blipFill>
          <a:blip r:embed="rId12"/>
          <a:stretch>
            <a:fillRect/>
          </a:stretch>
        </p:blipFill>
        <p:spPr>
          <a:xfrm>
            <a:off x="2921000" y="8978900"/>
            <a:ext cx="1422400" cy="1168400"/>
          </a:xfrm>
          <a:prstGeom prst="rect">
            <a:avLst/>
          </a:prstGeom>
        </p:spPr>
      </p:pic>
      <p:sp>
        <p:nvSpPr>
          <p:cNvPr id="20" name="TextBox 31">
            <a:extLst>
              <a:ext uri="{FF2B5EF4-FFF2-40B4-BE49-F238E27FC236}">
                <a16:creationId xmlns:a16="http://schemas.microsoft.com/office/drawing/2014/main" id="{7D5C2C95-A476-7267-257C-450E8D53F01B}"/>
              </a:ext>
            </a:extLst>
          </p:cNvPr>
          <p:cNvSpPr txBox="1"/>
          <p:nvPr/>
        </p:nvSpPr>
        <p:spPr>
          <a:xfrm>
            <a:off x="2705100" y="10337800"/>
            <a:ext cx="1828800" cy="469900"/>
          </a:xfrm>
          <a:prstGeom prst="rect">
            <a:avLst/>
          </a:prstGeom>
        </p:spPr>
        <p:txBody>
          <a:bodyPr lIns="0" tIns="0" rIns="0" bIns="0" rtlCol="0" anchor="t"/>
          <a:lstStyle/>
          <a:p>
            <a:pPr lvl="0" algn="ctr">
              <a:lnSpc>
                <a:spcPct val="116199"/>
              </a:lnSpc>
            </a:pPr>
            <a:r>
              <a:rPr lang="ko-KR" altLang="en-US" sz="2607" b="0" i="0" u="none" strike="noStrike" dirty="0">
                <a:solidFill>
                  <a:srgbClr val="000000"/>
                </a:solidFill>
                <a:latin typeface="Pretendard Medium"/>
                <a:ea typeface="Pretendard Medium"/>
                <a:cs typeface="Pretendard Medium"/>
              </a:rPr>
              <a:t>프린트</a:t>
            </a:r>
            <a:r>
              <a:rPr lang="en-US" sz="2607" b="0" i="0" u="none" strike="noStrike" dirty="0">
                <a:solidFill>
                  <a:srgbClr val="000000"/>
                </a:solidFill>
                <a:latin typeface="Pretendard Medium"/>
                <a:ea typeface="Pretendard Medium"/>
                <a:cs typeface="Pretendard Medium"/>
              </a:rPr>
              <a:t> </a:t>
            </a:r>
            <a:r>
              <a:rPr lang="en-US" sz="2607" b="0" i="0" u="none" strike="noStrike" dirty="0" err="1">
                <a:solidFill>
                  <a:srgbClr val="000000"/>
                </a:solidFill>
                <a:latin typeface="Pretendard Medium"/>
                <a:ea typeface="Pretendard Medium"/>
                <a:cs typeface="Pretendard Medium"/>
              </a:rPr>
              <a:t>서버</a:t>
            </a:r>
            <a:endParaRPr lang="en-US" sz="2607" b="0" i="0" u="none" strike="noStrike" dirty="0">
              <a:solidFill>
                <a:srgbClr val="000000"/>
              </a:solidFill>
              <a:latin typeface="Pretendard Medium"/>
              <a:ea typeface="Pretendard Medium"/>
              <a:cs typeface="Pretendard Medium"/>
            </a:endParaRPr>
          </a:p>
        </p:txBody>
      </p:sp>
      <p:pic>
        <p:nvPicPr>
          <p:cNvPr id="21" name="Picture 32">
            <a:extLst>
              <a:ext uri="{FF2B5EF4-FFF2-40B4-BE49-F238E27FC236}">
                <a16:creationId xmlns:a16="http://schemas.microsoft.com/office/drawing/2014/main" id="{9EC5B266-A94A-9E03-46FD-8D8427536BB4}"/>
              </a:ext>
            </a:extLst>
          </p:cNvPr>
          <p:cNvPicPr>
            <a:picLocks noChangeAspect="1"/>
          </p:cNvPicPr>
          <p:nvPr/>
        </p:nvPicPr>
        <p:blipFill>
          <a:blip r:embed="rId13"/>
          <a:stretch>
            <a:fillRect/>
          </a:stretch>
        </p:blipFill>
        <p:spPr>
          <a:xfrm>
            <a:off x="4140200" y="7594600"/>
            <a:ext cx="355600" cy="355600"/>
          </a:xfrm>
          <a:prstGeom prst="rect">
            <a:avLst/>
          </a:prstGeom>
        </p:spPr>
      </p:pic>
      <p:sp>
        <p:nvSpPr>
          <p:cNvPr id="34" name="TextBox 33">
            <a:extLst>
              <a:ext uri="{FF2B5EF4-FFF2-40B4-BE49-F238E27FC236}">
                <a16:creationId xmlns:a16="http://schemas.microsoft.com/office/drawing/2014/main" id="{902D34CC-C138-8613-A51E-A11240D139D4}"/>
              </a:ext>
            </a:extLst>
          </p:cNvPr>
          <p:cNvSpPr txBox="1"/>
          <p:nvPr/>
        </p:nvSpPr>
        <p:spPr>
          <a:xfrm>
            <a:off x="4406900" y="7556500"/>
            <a:ext cx="1422400" cy="431800"/>
          </a:xfrm>
          <a:prstGeom prst="rect">
            <a:avLst/>
          </a:prstGeom>
        </p:spPr>
        <p:txBody>
          <a:bodyPr lIns="0" tIns="0" rIns="0" bIns="0" rtlCol="0" anchor="t"/>
          <a:lstStyle/>
          <a:p>
            <a:pPr lvl="0" algn="ctr">
              <a:lnSpc>
                <a:spcPct val="116199"/>
              </a:lnSpc>
            </a:pPr>
            <a:r>
              <a:rPr lang="en-US" sz="2400" b="0" i="0" u="none" strike="noStrike" dirty="0" err="1">
                <a:solidFill>
                  <a:srgbClr val="000000"/>
                </a:solidFill>
                <a:latin typeface="Pretendard Medium"/>
                <a:ea typeface="Pretendard Medium"/>
                <a:cs typeface="Pretendard Medium"/>
              </a:rPr>
              <a:t>서버</a:t>
            </a:r>
            <a:r>
              <a:rPr lang="en-US" sz="2400" b="0" i="0" u="none" strike="noStrike" dirty="0">
                <a:solidFill>
                  <a:srgbClr val="000000"/>
                </a:solidFill>
                <a:latin typeface="Pretendard Medium"/>
                <a:ea typeface="Pretendard Medium"/>
                <a:cs typeface="Pretendard Medium"/>
              </a:rPr>
              <a:t> </a:t>
            </a:r>
            <a:r>
              <a:rPr lang="en-US" sz="2400" b="0" i="0" u="none" strike="noStrike" dirty="0" err="1">
                <a:solidFill>
                  <a:srgbClr val="000000"/>
                </a:solidFill>
                <a:latin typeface="Pretendard Medium"/>
                <a:ea typeface="Pretendard Medium"/>
                <a:cs typeface="Pretendard Medium"/>
              </a:rPr>
              <a:t>침투</a:t>
            </a:r>
            <a:endParaRPr lang="en-US" sz="2400" b="0" i="0" u="none" strike="noStrike" dirty="0">
              <a:solidFill>
                <a:srgbClr val="000000"/>
              </a:solidFill>
              <a:latin typeface="Pretendard Medium"/>
              <a:ea typeface="Pretendard Medium"/>
              <a:cs typeface="Pretendard Medium"/>
            </a:endParaRPr>
          </a:p>
        </p:txBody>
      </p:sp>
      <p:sp>
        <p:nvSpPr>
          <p:cNvPr id="42" name="TextBox 21">
            <a:extLst>
              <a:ext uri="{FF2B5EF4-FFF2-40B4-BE49-F238E27FC236}">
                <a16:creationId xmlns:a16="http://schemas.microsoft.com/office/drawing/2014/main" id="{1CEC00BE-6CC5-8C98-B6BB-FC098CC90C42}"/>
              </a:ext>
            </a:extLst>
          </p:cNvPr>
          <p:cNvSpPr txBox="1"/>
          <p:nvPr/>
        </p:nvSpPr>
        <p:spPr>
          <a:xfrm>
            <a:off x="3524250" y="5248532"/>
            <a:ext cx="3200400" cy="520700"/>
          </a:xfrm>
          <a:prstGeom prst="rect">
            <a:avLst/>
          </a:prstGeom>
        </p:spPr>
        <p:txBody>
          <a:bodyPr lIns="0" tIns="0" rIns="0" bIns="0" rtlCol="0" anchor="t"/>
          <a:lstStyle/>
          <a:p>
            <a:pPr lvl="0" algn="ctr">
              <a:lnSpc>
                <a:spcPct val="116199"/>
              </a:lnSpc>
            </a:pPr>
            <a:r>
              <a:rPr lang="en-US" sz="2600" b="0" i="0" u="none" strike="noStrike" dirty="0" err="1">
                <a:solidFill>
                  <a:srgbClr val="000000"/>
                </a:solidFill>
                <a:latin typeface="Pretendard Medium"/>
                <a:ea typeface="Pretendard Medium"/>
                <a:cs typeface="Pretendard Medium"/>
              </a:rPr>
              <a:t>외부망</a:t>
            </a:r>
            <a:endParaRPr lang="en-US" sz="2600" b="0" i="0" u="none" strike="noStrike" dirty="0">
              <a:solidFill>
                <a:srgbClr val="000000"/>
              </a:solidFill>
              <a:latin typeface="Pretendard Medium"/>
              <a:ea typeface="Pretendard Medium"/>
              <a:cs typeface="Pretendard Medium"/>
            </a:endParaRPr>
          </a:p>
        </p:txBody>
      </p:sp>
      <p:sp>
        <p:nvSpPr>
          <p:cNvPr id="43" name="TextBox 21">
            <a:extLst>
              <a:ext uri="{FF2B5EF4-FFF2-40B4-BE49-F238E27FC236}">
                <a16:creationId xmlns:a16="http://schemas.microsoft.com/office/drawing/2014/main" id="{8960F734-A0C9-DE89-8FC6-8428434CB1F9}"/>
              </a:ext>
            </a:extLst>
          </p:cNvPr>
          <p:cNvSpPr txBox="1"/>
          <p:nvPr/>
        </p:nvSpPr>
        <p:spPr>
          <a:xfrm>
            <a:off x="3575050" y="9302750"/>
            <a:ext cx="3200400" cy="520700"/>
          </a:xfrm>
          <a:prstGeom prst="rect">
            <a:avLst/>
          </a:prstGeom>
        </p:spPr>
        <p:txBody>
          <a:bodyPr lIns="0" tIns="0" rIns="0" bIns="0" rtlCol="0" anchor="t"/>
          <a:lstStyle/>
          <a:p>
            <a:pPr lvl="0" algn="ctr">
              <a:lnSpc>
                <a:spcPct val="116199"/>
              </a:lnSpc>
            </a:pPr>
            <a:r>
              <a:rPr lang="ko-KR" altLang="en-US" sz="2600" b="0" i="0" u="none" strike="noStrike" dirty="0">
                <a:solidFill>
                  <a:srgbClr val="000000"/>
                </a:solidFill>
                <a:latin typeface="Pretendard Medium"/>
                <a:ea typeface="Pretendard Medium"/>
                <a:cs typeface="Pretendard Medium"/>
              </a:rPr>
              <a:t>협력사망</a:t>
            </a:r>
            <a:endParaRPr lang="en-US" sz="2600" b="0" i="0" u="none" strike="noStrike" dirty="0">
              <a:solidFill>
                <a:srgbClr val="000000"/>
              </a:solidFill>
              <a:latin typeface="Pretendard Medium"/>
              <a:ea typeface="Pretendard Medium"/>
              <a:cs typeface="Pretendard Medium"/>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9" name="Picture 9"/>
          <p:cNvPicPr>
            <a:picLocks noChangeAspect="1"/>
          </p:cNvPicPr>
          <p:nvPr/>
        </p:nvPicPr>
        <p:blipFill>
          <a:blip r:embed="rId5"/>
          <a:stretch>
            <a:fillRect/>
          </a:stretch>
        </p:blipFill>
        <p:spPr>
          <a:xfrm>
            <a:off x="1485900" y="1612900"/>
            <a:ext cx="88900" cy="850900"/>
          </a:xfrm>
          <a:prstGeom prst="rect">
            <a:avLst/>
          </a:prstGeom>
        </p:spPr>
      </p:pic>
      <p:sp>
        <p:nvSpPr>
          <p:cNvPr id="10" name="TextBox 10"/>
          <p:cNvSpPr txBox="1"/>
          <p:nvPr/>
        </p:nvSpPr>
        <p:spPr>
          <a:xfrm>
            <a:off x="1943100" y="1409700"/>
            <a:ext cx="13423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협력사망 경유를 통한 공급망 연쇄 침투</a:t>
            </a:r>
          </a:p>
        </p:txBody>
      </p:sp>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a:solidFill>
                  <a:srgbClr val="024EA0"/>
                </a:solidFill>
                <a:latin typeface="Geologica Roman Light"/>
                <a:ea typeface="Geologica Roman Light"/>
                <a:cs typeface="Geologica Roman Light"/>
              </a:rPr>
              <a:t>29</a:t>
            </a:r>
          </a:p>
        </p:txBody>
      </p:sp>
      <p:pic>
        <p:nvPicPr>
          <p:cNvPr id="18" name="Picture 18"/>
          <p:cNvPicPr>
            <a:picLocks noChangeAspect="1"/>
          </p:cNvPicPr>
          <p:nvPr/>
        </p:nvPicPr>
        <p:blipFill>
          <a:blip r:embed="rId6"/>
          <a:stretch>
            <a:fillRect/>
          </a:stretch>
        </p:blipFill>
        <p:spPr>
          <a:xfrm>
            <a:off x="6337300" y="4241800"/>
            <a:ext cx="12039600" cy="7175500"/>
          </a:xfrm>
          <a:prstGeom prst="rect">
            <a:avLst/>
          </a:prstGeom>
          <a:effectLst>
            <a:outerShdw blurRad="394804" dist="165652" dir="2700000">
              <a:srgbClr val="000000">
                <a:alpha val="15000"/>
              </a:srgbClr>
            </a:outerShdw>
          </a:effectLst>
        </p:spPr>
      </p:pic>
      <p:sp>
        <p:nvSpPr>
          <p:cNvPr id="19" name="TextBox 19"/>
          <p:cNvSpPr txBox="1"/>
          <p:nvPr/>
        </p:nvSpPr>
        <p:spPr>
          <a:xfrm>
            <a:off x="6794500" y="4457700"/>
            <a:ext cx="11366500" cy="571500"/>
          </a:xfrm>
          <a:prstGeom prst="rect">
            <a:avLst/>
          </a:prstGeom>
        </p:spPr>
        <p:txBody>
          <a:bodyPr lIns="0" tIns="0" rIns="0" bIns="0" rtlCol="0" anchor="t"/>
          <a:lstStyle/>
          <a:p>
            <a:pPr lvl="0" algn="l">
              <a:lnSpc>
                <a:spcPct val="116199"/>
              </a:lnSpc>
            </a:pPr>
            <a:r>
              <a:rPr lang="en-US" sz="3206" b="0" i="0" u="none" strike="noStrike">
                <a:solidFill>
                  <a:srgbClr val="000000"/>
                </a:solidFill>
                <a:latin typeface="Pretendard Medium"/>
                <a:ea typeface="Pretendard Medium"/>
                <a:cs typeface="Pretendard Medium"/>
              </a:rPr>
              <a:t>체인 전체 흐름</a:t>
            </a:r>
          </a:p>
        </p:txBody>
      </p:sp>
      <p:sp>
        <p:nvSpPr>
          <p:cNvPr id="20" name="TextBox 20"/>
          <p:cNvSpPr txBox="1"/>
          <p:nvPr/>
        </p:nvSpPr>
        <p:spPr>
          <a:xfrm>
            <a:off x="6553200" y="5219700"/>
            <a:ext cx="11544300" cy="5448300"/>
          </a:xfrm>
          <a:prstGeom prst="rect">
            <a:avLst/>
          </a:prstGeom>
        </p:spPr>
        <p:txBody>
          <a:bodyPr lIns="0" tIns="0" rIns="0" bIns="0" rtlCol="0" anchor="t"/>
          <a:lstStyle/>
          <a:p>
            <a:pPr lvl="0" algn="ctr">
              <a:lnSpc>
                <a:spcPct val="116199"/>
              </a:lnSpc>
            </a:pPr>
            <a:r>
              <a:rPr lang="en-US" sz="3066" b="0" i="0" u="none" strike="noStrike">
                <a:solidFill>
                  <a:srgbClr val="000000"/>
                </a:solidFill>
                <a:latin typeface="Pretendard Medium"/>
                <a:ea typeface="Pretendard Medium"/>
                <a:cs typeface="Pretendard Medium"/>
              </a:rPr>
              <a:t>공격자 → UDP 패킷 전송 → 피해 서버 포트 631
피해 서버 cups-browsed → 공격자의 가짜 IPP 서버에 자동 접속</a:t>
            </a:r>
          </a:p>
          <a:p>
            <a:pPr lvl="0" algn="ctr">
              <a:lnSpc>
                <a:spcPct val="116199"/>
              </a:lnSpc>
            </a:pPr>
            <a:r>
              <a:rPr lang="en-US" sz="3066" b="0" i="0" u="none" strike="noStrike">
                <a:solidFill>
                  <a:srgbClr val="000000"/>
                </a:solidFill>
                <a:latin typeface="Pretendard Medium"/>
                <a:ea typeface="Pretendard Medium"/>
                <a:cs typeface="Pretendard Medium"/>
              </a:rPr>
              <a:t>공격자 IPP 서버 → 악성 프린터 속성값 응답
CUPS가 가짜 프린터 PPD 파일 생성</a:t>
            </a:r>
          </a:p>
          <a:p>
            <a:pPr lvl="0" algn="ctr">
              <a:lnSpc>
                <a:spcPct val="116199"/>
              </a:lnSpc>
            </a:pPr>
            <a:r>
              <a:rPr lang="en-US" sz="3066" b="0" i="0" u="none" strike="noStrike">
                <a:solidFill>
                  <a:srgbClr val="000000"/>
                </a:solidFill>
                <a:latin typeface="Pretendard Medium"/>
                <a:ea typeface="Pretendard Medium"/>
                <a:cs typeface="Pretendard Medium"/>
              </a:rPr>
              <a:t>악성 데이터가 PPD 파일 내 FoomaticRIPCommandLine에 삽입됨
사용자가 가짜 프린터로 인쇄 시도</a:t>
            </a:r>
          </a:p>
          <a:p>
            <a:pPr lvl="0" algn="ctr">
              <a:lnSpc>
                <a:spcPct val="116199"/>
              </a:lnSpc>
            </a:pPr>
            <a:r>
              <a:rPr lang="en-US" sz="3066" b="0" i="0" u="none" strike="noStrike">
                <a:solidFill>
                  <a:srgbClr val="000000"/>
                </a:solidFill>
                <a:latin typeface="Pretendard Medium"/>
                <a:ea typeface="Pretendard Medium"/>
                <a:cs typeface="Pretendard Medium"/>
              </a:rPr>
              <a:t>foomatic-rip이 PPD 내 악성 명령어를 쉘에서 실행</a:t>
            </a:r>
          </a:p>
        </p:txBody>
      </p:sp>
      <p:pic>
        <p:nvPicPr>
          <p:cNvPr id="21" name="Picture 21"/>
          <p:cNvPicPr>
            <a:picLocks noChangeAspect="1"/>
          </p:cNvPicPr>
          <p:nvPr/>
        </p:nvPicPr>
        <p:blipFill>
          <a:blip r:embed="rId7"/>
          <a:stretch>
            <a:fillRect/>
          </a:stretch>
        </p:blipFill>
        <p:spPr>
          <a:xfrm rot="5400000">
            <a:off x="11950700" y="5918200"/>
            <a:ext cx="393700" cy="139700"/>
          </a:xfrm>
          <a:prstGeom prst="rect">
            <a:avLst/>
          </a:prstGeom>
        </p:spPr>
      </p:pic>
      <p:pic>
        <p:nvPicPr>
          <p:cNvPr id="22" name="Picture 22"/>
          <p:cNvPicPr>
            <a:picLocks noChangeAspect="1"/>
          </p:cNvPicPr>
          <p:nvPr/>
        </p:nvPicPr>
        <p:blipFill>
          <a:blip r:embed="rId7"/>
          <a:stretch>
            <a:fillRect/>
          </a:stretch>
        </p:blipFill>
        <p:spPr>
          <a:xfrm rot="5400000">
            <a:off x="11950700" y="7569200"/>
            <a:ext cx="393700" cy="139700"/>
          </a:xfrm>
          <a:prstGeom prst="rect">
            <a:avLst/>
          </a:prstGeom>
        </p:spPr>
      </p:pic>
      <p:pic>
        <p:nvPicPr>
          <p:cNvPr id="23" name="Picture 23"/>
          <p:cNvPicPr>
            <a:picLocks noChangeAspect="1"/>
          </p:cNvPicPr>
          <p:nvPr/>
        </p:nvPicPr>
        <p:blipFill>
          <a:blip r:embed="rId7"/>
          <a:stretch>
            <a:fillRect/>
          </a:stretch>
        </p:blipFill>
        <p:spPr>
          <a:xfrm rot="5400000">
            <a:off x="12001500" y="9207500"/>
            <a:ext cx="393700" cy="139700"/>
          </a:xfrm>
          <a:prstGeom prst="rect">
            <a:avLst/>
          </a:prstGeom>
        </p:spPr>
      </p:pic>
      <p:sp>
        <p:nvSpPr>
          <p:cNvPr id="24" name="TextBox 24"/>
          <p:cNvSpPr txBox="1"/>
          <p:nvPr/>
        </p:nvSpPr>
        <p:spPr>
          <a:xfrm>
            <a:off x="1930400" y="2959100"/>
            <a:ext cx="19240500" cy="596900"/>
          </a:xfrm>
          <a:prstGeom prst="rect">
            <a:avLst/>
          </a:prstGeom>
        </p:spPr>
        <p:txBody>
          <a:bodyPr lIns="0" tIns="0" rIns="0" bIns="0" rtlCol="0" anchor="t"/>
          <a:lstStyle/>
          <a:p>
            <a:pPr lvl="0" algn="l">
              <a:lnSpc>
                <a:spcPct val="116199"/>
              </a:lnSpc>
            </a:pPr>
            <a:r>
              <a:rPr lang="en-US" sz="3333" b="0" i="0" u="none" strike="noStrike" dirty="0">
                <a:solidFill>
                  <a:srgbClr val="000000"/>
                </a:solidFill>
                <a:latin typeface="Pretendard Medium"/>
                <a:ea typeface="Pretendard Medium"/>
                <a:cs typeface="Pretendard Medium"/>
              </a:rPr>
              <a:t>CVE-2024-47176, 47076, 47175, 47177</a:t>
            </a:r>
          </a:p>
        </p:txBody>
      </p:sp>
      <p:sp>
        <p:nvSpPr>
          <p:cNvPr id="26" name="TextBox 14">
            <a:extLst>
              <a:ext uri="{FF2B5EF4-FFF2-40B4-BE49-F238E27FC236}">
                <a16:creationId xmlns:a16="http://schemas.microsoft.com/office/drawing/2014/main" id="{AFD74F8D-75CA-E54D-D959-78C2F30B1540}"/>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7" name="TextBox 14">
            <a:extLst>
              <a:ext uri="{FF2B5EF4-FFF2-40B4-BE49-F238E27FC236}">
                <a16:creationId xmlns:a16="http://schemas.microsoft.com/office/drawing/2014/main" id="{66D51D33-A66D-8FE8-DF38-9570440E3181}"/>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8" name="Picture 2">
            <a:extLst>
              <a:ext uri="{FF2B5EF4-FFF2-40B4-BE49-F238E27FC236}">
                <a16:creationId xmlns:a16="http://schemas.microsoft.com/office/drawing/2014/main" id="{C01C39AF-7E54-4D88-F9B7-D79F03643BF5}"/>
              </a:ext>
            </a:extLst>
          </p:cNvPr>
          <p:cNvPicPr>
            <a:picLocks noChangeAspect="1"/>
          </p:cNvPicPr>
          <p:nvPr/>
        </p:nvPicPr>
        <p:blipFill>
          <a:blip r:embed="rId8">
            <a:alphaModFix amt="85000"/>
          </a:blip>
          <a:stretch>
            <a:fillRect/>
          </a:stretch>
        </p:blipFill>
        <p:spPr>
          <a:xfrm>
            <a:off x="11201400" y="558800"/>
            <a:ext cx="2705100" cy="444500"/>
          </a:xfrm>
          <a:prstGeom prst="rect">
            <a:avLst/>
          </a:prstGeom>
        </p:spPr>
      </p:pic>
      <p:sp>
        <p:nvSpPr>
          <p:cNvPr id="29" name="TextBox 16">
            <a:extLst>
              <a:ext uri="{FF2B5EF4-FFF2-40B4-BE49-F238E27FC236}">
                <a16:creationId xmlns:a16="http://schemas.microsoft.com/office/drawing/2014/main" id="{8E64A8BD-F020-C0D2-9A08-87300F16DA4C}"/>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30" name="TextBox 18">
            <a:extLst>
              <a:ext uri="{FF2B5EF4-FFF2-40B4-BE49-F238E27FC236}">
                <a16:creationId xmlns:a16="http://schemas.microsoft.com/office/drawing/2014/main" id="{E2087378-B4A1-6AF2-3846-15F429F5654F}"/>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31" name="TextBox 19">
            <a:extLst>
              <a:ext uri="{FF2B5EF4-FFF2-40B4-BE49-F238E27FC236}">
                <a16:creationId xmlns:a16="http://schemas.microsoft.com/office/drawing/2014/main" id="{09194E82-077C-E5E2-56A9-B393E74D839B}"/>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32" name="TextBox 20">
            <a:extLst>
              <a:ext uri="{FF2B5EF4-FFF2-40B4-BE49-F238E27FC236}">
                <a16:creationId xmlns:a16="http://schemas.microsoft.com/office/drawing/2014/main" id="{9BCF9D76-AA06-9945-F716-F5A933636D74}"/>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556500" y="4368800"/>
            <a:ext cx="15849600" cy="6997700"/>
          </a:xfrm>
          <a:prstGeom prst="rect">
            <a:avLst/>
          </a:prstGeom>
          <a:effectLst>
            <a:outerShdw blurRad="384862" dist="161481" dir="2700000">
              <a:srgbClr val="000000">
                <a:alpha val="15000"/>
              </a:srgbClr>
            </a:outerShdw>
          </a:effectLst>
        </p:spPr>
      </p:pic>
      <p:sp>
        <p:nvSpPr>
          <p:cNvPr id="4" name="TextBox 4"/>
          <p:cNvSpPr txBox="1"/>
          <p:nvPr/>
        </p:nvSpPr>
        <p:spPr>
          <a:xfrm>
            <a:off x="10147300" y="4826000"/>
            <a:ext cx="12496800" cy="520700"/>
          </a:xfrm>
          <a:prstGeom prst="rect">
            <a:avLst/>
          </a:prstGeom>
        </p:spPr>
        <p:txBody>
          <a:bodyPr lIns="0" tIns="0" rIns="0" bIns="0" rtlCol="0" anchor="t"/>
          <a:lstStyle/>
          <a:p>
            <a:pPr lvl="0" algn="l">
              <a:lnSpc>
                <a:spcPct val="116199"/>
              </a:lnSpc>
            </a:pPr>
            <a:r>
              <a:rPr lang="en-US" sz="2933" b="0" i="0" u="none" strike="noStrike">
                <a:solidFill>
                  <a:srgbClr val="000000"/>
                </a:solidFill>
                <a:latin typeface="Pretendard Medium"/>
                <a:ea typeface="Pretendard Medium"/>
                <a:cs typeface="Pretendard Medium"/>
              </a:rPr>
              <a:t>WingFTP 서버에서 발생하는 인증  없는 원격 코드 실행 취약점</a:t>
            </a:r>
          </a:p>
        </p:txBody>
      </p:sp>
      <p:sp>
        <p:nvSpPr>
          <p:cNvPr id="5" name="TextBox 5"/>
          <p:cNvSpPr txBox="1"/>
          <p:nvPr/>
        </p:nvSpPr>
        <p:spPr>
          <a:xfrm>
            <a:off x="7988300" y="4775200"/>
            <a:ext cx="1854200" cy="571500"/>
          </a:xfrm>
          <a:prstGeom prst="rect">
            <a:avLst/>
          </a:prstGeom>
        </p:spPr>
        <p:txBody>
          <a:bodyPr lIns="0" tIns="0" rIns="0" bIns="0" rtlCol="0" anchor="t"/>
          <a:lstStyle/>
          <a:p>
            <a:pPr lvl="0" algn="l">
              <a:lnSpc>
                <a:spcPct val="116199"/>
              </a:lnSpc>
            </a:pPr>
            <a:r>
              <a:rPr lang="en-US" sz="3200" b="1" i="0" u="none" strike="noStrike">
                <a:solidFill>
                  <a:srgbClr val="000000"/>
                </a:solidFill>
                <a:latin typeface="Pretendard Medium"/>
                <a:ea typeface="Pretendard Medium"/>
                <a:cs typeface="Pretendard Medium"/>
              </a:rPr>
              <a:t>CVE 설명</a:t>
            </a:r>
          </a:p>
        </p:txBody>
      </p:sp>
      <p:pic>
        <p:nvPicPr>
          <p:cNvPr id="7" name="Picture 7"/>
          <p:cNvPicPr>
            <a:picLocks noChangeAspect="1"/>
          </p:cNvPicPr>
          <p:nvPr/>
        </p:nvPicPr>
        <p:blipFill>
          <a:blip r:embed="rId4"/>
          <a:stretch>
            <a:fillRect/>
          </a:stretch>
        </p:blipFill>
        <p:spPr>
          <a:xfrm>
            <a:off x="762000" y="1092200"/>
            <a:ext cx="22860000" cy="12700"/>
          </a:xfrm>
          <a:prstGeom prst="rect">
            <a:avLst/>
          </a:prstGeom>
        </p:spPr>
      </p:pic>
      <p:pic>
        <p:nvPicPr>
          <p:cNvPr id="8" name="Picture 8"/>
          <p:cNvPicPr>
            <a:picLocks noChangeAspect="1"/>
          </p:cNvPicPr>
          <p:nvPr/>
        </p:nvPicPr>
        <p:blipFill>
          <a:blip r:embed="rId5"/>
          <a:stretch>
            <a:fillRect/>
          </a:stretch>
        </p:blipFill>
        <p:spPr>
          <a:xfrm rot="5400000">
            <a:off x="3200400" y="787400"/>
            <a:ext cx="635000" cy="12700"/>
          </a:xfrm>
          <a:prstGeom prst="rect">
            <a:avLst/>
          </a:prstGeom>
        </p:spPr>
      </p:pic>
      <p:pic>
        <p:nvPicPr>
          <p:cNvPr id="9" name="Picture 9"/>
          <p:cNvPicPr>
            <a:picLocks noChangeAspect="1"/>
          </p:cNvPicPr>
          <p:nvPr/>
        </p:nvPicPr>
        <p:blipFill>
          <a:blip r:embed="rId5"/>
          <a:stretch>
            <a:fillRect/>
          </a:stretch>
        </p:blipFill>
        <p:spPr>
          <a:xfrm rot="5400000">
            <a:off x="22225000" y="787400"/>
            <a:ext cx="635000" cy="12700"/>
          </a:xfrm>
          <a:prstGeom prst="rect">
            <a:avLst/>
          </a:prstGeom>
        </p:spPr>
      </p:pic>
      <p:pic>
        <p:nvPicPr>
          <p:cNvPr id="10" name="Picture 10"/>
          <p:cNvPicPr>
            <a:picLocks noChangeAspect="1"/>
          </p:cNvPicPr>
          <p:nvPr/>
        </p:nvPicPr>
        <p:blipFill>
          <a:blip r:embed="rId5"/>
          <a:stretch>
            <a:fillRect/>
          </a:stretch>
        </p:blipFill>
        <p:spPr>
          <a:xfrm rot="5400000">
            <a:off x="6337300" y="787400"/>
            <a:ext cx="635000" cy="12700"/>
          </a:xfrm>
          <a:prstGeom prst="rect">
            <a:avLst/>
          </a:prstGeom>
        </p:spPr>
      </p:pic>
      <p:pic>
        <p:nvPicPr>
          <p:cNvPr id="11" name="Picture 11"/>
          <p:cNvPicPr>
            <a:picLocks noChangeAspect="1"/>
          </p:cNvPicPr>
          <p:nvPr/>
        </p:nvPicPr>
        <p:blipFill>
          <a:blip r:embed="rId4"/>
          <a:stretch>
            <a:fillRect/>
          </a:stretch>
        </p:blipFill>
        <p:spPr>
          <a:xfrm>
            <a:off x="723900" y="457200"/>
            <a:ext cx="22860000" cy="12700"/>
          </a:xfrm>
          <a:prstGeom prst="rect">
            <a:avLst/>
          </a:prstGeom>
        </p:spPr>
      </p:pic>
      <p:pic>
        <p:nvPicPr>
          <p:cNvPr id="13" name="Picture 13"/>
          <p:cNvPicPr>
            <a:picLocks noChangeAspect="1"/>
          </p:cNvPicPr>
          <p:nvPr/>
        </p:nvPicPr>
        <p:blipFill>
          <a:blip r:embed="rId6"/>
          <a:stretch>
            <a:fillRect/>
          </a:stretch>
        </p:blipFill>
        <p:spPr>
          <a:xfrm>
            <a:off x="1485900" y="1612900"/>
            <a:ext cx="88900" cy="850900"/>
          </a:xfrm>
          <a:prstGeom prst="rect">
            <a:avLst/>
          </a:prstGeom>
        </p:spPr>
      </p:pic>
      <p:sp>
        <p:nvSpPr>
          <p:cNvPr id="14" name="TextBox 14"/>
          <p:cNvSpPr txBox="1"/>
          <p:nvPr/>
        </p:nvSpPr>
        <p:spPr>
          <a:xfrm>
            <a:off x="1943100" y="1409700"/>
            <a:ext cx="13423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협력사망 경유를 통한 공급망 연쇄 침투</a:t>
            </a:r>
          </a:p>
        </p:txBody>
      </p:sp>
      <p:sp>
        <p:nvSpPr>
          <p:cNvPr id="15" name="TextBox 15"/>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a:solidFill>
                  <a:srgbClr val="024EA0"/>
                </a:solidFill>
                <a:latin typeface="Geologica Roman Light"/>
                <a:ea typeface="Geologica Roman Light"/>
                <a:cs typeface="Geologica Roman Light"/>
              </a:rPr>
              <a:t>30</a:t>
            </a:r>
          </a:p>
        </p:txBody>
      </p:sp>
      <p:sp>
        <p:nvSpPr>
          <p:cNvPr id="22" name="TextBox 22"/>
          <p:cNvSpPr txBox="1"/>
          <p:nvPr/>
        </p:nvSpPr>
        <p:spPr>
          <a:xfrm>
            <a:off x="10109200" y="6261100"/>
            <a:ext cx="12687300" cy="2603500"/>
          </a:xfrm>
          <a:prstGeom prst="rect">
            <a:avLst/>
          </a:prstGeom>
        </p:spPr>
        <p:txBody>
          <a:bodyPr lIns="0" tIns="0" rIns="0" bIns="0" rtlCol="0" anchor="t"/>
          <a:lstStyle/>
          <a:p>
            <a:pPr lvl="0" algn="l">
              <a:lnSpc>
                <a:spcPct val="116199"/>
              </a:lnSpc>
            </a:pPr>
            <a:r>
              <a:rPr lang="en-US" sz="2933" b="0" i="0" u="none" strike="noStrike" dirty="0">
                <a:solidFill>
                  <a:srgbClr val="000000"/>
                </a:solidFill>
                <a:latin typeface="Pretendard Medium"/>
                <a:ea typeface="Pretendard Medium"/>
                <a:cs typeface="Pretendard Medium"/>
              </a:rPr>
              <a:t>Null Byte </a:t>
            </a:r>
            <a:r>
              <a:rPr lang="en-US" sz="2933" b="0" i="0" u="none" strike="noStrike" dirty="0" err="1">
                <a:solidFill>
                  <a:srgbClr val="000000"/>
                </a:solidFill>
                <a:latin typeface="Pretendard Medium"/>
                <a:ea typeface="Pretendard Medium"/>
                <a:cs typeface="Pretendard Medium"/>
              </a:rPr>
              <a:t>인젝션</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원리</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문자열</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끝을</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의미하는</a:t>
            </a:r>
            <a:r>
              <a:rPr lang="en-US" sz="2933" b="0" i="0" u="none" strike="noStrike" dirty="0">
                <a:solidFill>
                  <a:srgbClr val="000000"/>
                </a:solidFill>
                <a:latin typeface="Pretendard Medium"/>
                <a:ea typeface="Pretendard Medium"/>
                <a:cs typeface="Pretendard Medium"/>
              </a:rPr>
              <a:t> 널 </a:t>
            </a:r>
            <a:r>
              <a:rPr lang="en-US" sz="2933" b="0" i="0" u="none" strike="noStrike" dirty="0" err="1">
                <a:solidFill>
                  <a:srgbClr val="000000"/>
                </a:solidFill>
                <a:latin typeface="Pretendard Medium"/>
                <a:ea typeface="Pretendard Medium"/>
                <a:cs typeface="Pretendard Medium"/>
              </a:rPr>
              <a:t>바이트를</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악용하여</a:t>
            </a:r>
            <a:r>
              <a:rPr lang="en-US" sz="2933" b="0" i="0" u="none" strike="noStrike" dirty="0">
                <a:solidFill>
                  <a:srgbClr val="000000"/>
                </a:solidFill>
                <a:latin typeface="Pretendard Medium"/>
                <a:ea typeface="Pretendard Medium"/>
                <a:cs typeface="Pretendard Medium"/>
              </a:rPr>
              <a:t>, </a:t>
            </a:r>
          </a:p>
          <a:p>
            <a:pPr lvl="0" algn="l">
              <a:lnSpc>
                <a:spcPct val="116199"/>
              </a:lnSpc>
            </a:pPr>
            <a:r>
              <a:rPr lang="en-US" sz="2933"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시스템의</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파일</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확장자나</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검증</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로직을</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우회</a:t>
            </a:r>
            <a:endParaRPr lang="en-US" sz="2933" b="0" i="0" u="none" strike="noStrike" dirty="0">
              <a:solidFill>
                <a:srgbClr val="000000"/>
              </a:solidFill>
              <a:latin typeface="Pretendard Medium"/>
              <a:ea typeface="Pretendard Medium"/>
              <a:cs typeface="Pretendard Medium"/>
            </a:endParaRPr>
          </a:p>
          <a:p>
            <a:pPr lvl="0" algn="l">
              <a:lnSpc>
                <a:spcPct val="116199"/>
              </a:lnSpc>
            </a:pPr>
            <a:r>
              <a:rPr lang="en-US" sz="2933" b="0" i="0" u="none" strike="noStrike" dirty="0" err="1">
                <a:solidFill>
                  <a:srgbClr val="000000"/>
                </a:solidFill>
                <a:latin typeface="Pretendard Medium"/>
                <a:ea typeface="Pretendard Medium"/>
                <a:cs typeface="Pretendard Medium"/>
              </a:rPr>
              <a:t>세션</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직렬화</a:t>
            </a:r>
            <a:r>
              <a:rPr lang="en-US" sz="2933" b="0" i="0" u="none" strike="noStrike" dirty="0">
                <a:solidFill>
                  <a:srgbClr val="000000"/>
                </a:solidFill>
                <a:latin typeface="Pretendard Medium"/>
                <a:ea typeface="Pretendard Medium"/>
                <a:cs typeface="Pretendard Medium"/>
              </a:rPr>
              <a:t>/</a:t>
            </a:r>
            <a:r>
              <a:rPr lang="en-US" sz="2933" b="0" i="0" u="none" strike="noStrike" dirty="0" err="1">
                <a:solidFill>
                  <a:srgbClr val="000000"/>
                </a:solidFill>
                <a:latin typeface="Pretendard Medium"/>
                <a:ea typeface="Pretendard Medium"/>
                <a:cs typeface="Pretendard Medium"/>
              </a:rPr>
              <a:t>역직렬화</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데이터</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객체를</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저장</a:t>
            </a:r>
            <a:r>
              <a:rPr lang="en-US" sz="2933" b="0" i="0" u="none" strike="noStrike" dirty="0">
                <a:solidFill>
                  <a:srgbClr val="000000"/>
                </a:solidFill>
                <a:latin typeface="Pretendard Medium"/>
                <a:ea typeface="Pretendard Medium"/>
                <a:cs typeface="Pretendard Medium"/>
              </a:rPr>
              <a:t>/</a:t>
            </a:r>
            <a:r>
              <a:rPr lang="en-US" sz="2933" b="0" i="0" u="none" strike="noStrike" dirty="0" err="1">
                <a:solidFill>
                  <a:srgbClr val="000000"/>
                </a:solidFill>
                <a:latin typeface="Pretendard Medium"/>
                <a:ea typeface="Pretendard Medium"/>
                <a:cs typeface="Pretendard Medium"/>
              </a:rPr>
              <a:t>전송하기</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위해</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바이트</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형태로</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변환하고</a:t>
            </a:r>
            <a:r>
              <a:rPr lang="en-US" sz="2933" b="0" i="0" u="none" strike="noStrike" dirty="0">
                <a:solidFill>
                  <a:srgbClr val="000000"/>
                </a:solidFill>
                <a:latin typeface="Pretendard Medium"/>
                <a:ea typeface="Pretendard Medium"/>
                <a:cs typeface="Pretendard Medium"/>
              </a:rPr>
              <a:t> </a:t>
            </a:r>
          </a:p>
          <a:p>
            <a:pPr lvl="0" algn="l">
              <a:lnSpc>
                <a:spcPct val="116199"/>
              </a:lnSpc>
            </a:pPr>
            <a:r>
              <a:rPr lang="en-US" sz="2933"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다시</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복원하는</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과정</a:t>
            </a:r>
            <a:endParaRPr lang="en-US" sz="2933" b="0" i="0" u="none" strike="noStrike" dirty="0">
              <a:solidFill>
                <a:srgbClr val="000000"/>
              </a:solidFill>
              <a:latin typeface="Pretendard Medium"/>
              <a:ea typeface="Pretendard Medium"/>
              <a:cs typeface="Pretendard Medium"/>
            </a:endParaRPr>
          </a:p>
          <a:p>
            <a:pPr lvl="0" algn="l">
              <a:lnSpc>
                <a:spcPct val="116199"/>
              </a:lnSpc>
            </a:pPr>
            <a:r>
              <a:rPr lang="en-US" sz="2933" b="0" i="0" u="none" strike="noStrike" dirty="0">
                <a:solidFill>
                  <a:srgbClr val="000000"/>
                </a:solidFill>
                <a:latin typeface="Pretendard Medium"/>
                <a:ea typeface="Pretendard Medium"/>
                <a:cs typeface="Pretendard Medium"/>
              </a:rPr>
              <a:t>Lua </a:t>
            </a:r>
            <a:r>
              <a:rPr lang="en-US" sz="2933" b="0" i="0" u="none" strike="noStrike" dirty="0" err="1">
                <a:solidFill>
                  <a:srgbClr val="000000"/>
                </a:solidFill>
                <a:latin typeface="Pretendard Medium"/>
                <a:ea typeface="Pretendard Medium"/>
                <a:cs typeface="Pretendard Medium"/>
              </a:rPr>
              <a:t>스크립트</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어플리케이션에</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내장하기</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쉬운</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경량</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스크립트</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언어</a:t>
            </a:r>
            <a:endParaRPr lang="en-US" sz="2933" b="0" i="0" u="none" strike="noStrike" dirty="0">
              <a:solidFill>
                <a:srgbClr val="000000"/>
              </a:solidFill>
              <a:latin typeface="Pretendard Medium"/>
              <a:ea typeface="Pretendard Medium"/>
              <a:cs typeface="Pretendard Medium"/>
            </a:endParaRPr>
          </a:p>
        </p:txBody>
      </p:sp>
      <p:sp>
        <p:nvSpPr>
          <p:cNvPr id="23" name="TextBox 23"/>
          <p:cNvSpPr txBox="1"/>
          <p:nvPr/>
        </p:nvSpPr>
        <p:spPr>
          <a:xfrm>
            <a:off x="7988300" y="6286500"/>
            <a:ext cx="1854200" cy="571500"/>
          </a:xfrm>
          <a:prstGeom prst="rect">
            <a:avLst/>
          </a:prstGeom>
        </p:spPr>
        <p:txBody>
          <a:bodyPr lIns="0" tIns="0" rIns="0" bIns="0" rtlCol="0" anchor="t"/>
          <a:lstStyle/>
          <a:p>
            <a:pPr lvl="0" algn="l">
              <a:lnSpc>
                <a:spcPct val="116199"/>
              </a:lnSpc>
            </a:pPr>
            <a:r>
              <a:rPr lang="en-US" sz="3199" b="1" i="0" u="none" strike="noStrike">
                <a:solidFill>
                  <a:srgbClr val="000000"/>
                </a:solidFill>
                <a:latin typeface="Pretendard Medium"/>
                <a:ea typeface="Pretendard Medium"/>
                <a:cs typeface="Pretendard Medium"/>
              </a:rPr>
              <a:t>사전 지식</a:t>
            </a:r>
          </a:p>
        </p:txBody>
      </p:sp>
      <p:sp>
        <p:nvSpPr>
          <p:cNvPr id="24" name="TextBox 24"/>
          <p:cNvSpPr txBox="1"/>
          <p:nvPr/>
        </p:nvSpPr>
        <p:spPr>
          <a:xfrm>
            <a:off x="10160000" y="9321800"/>
            <a:ext cx="12598400" cy="1041400"/>
          </a:xfrm>
          <a:prstGeom prst="rect">
            <a:avLst/>
          </a:prstGeom>
        </p:spPr>
        <p:txBody>
          <a:bodyPr lIns="0" tIns="0" rIns="0" bIns="0" rtlCol="0" anchor="t"/>
          <a:lstStyle/>
          <a:p>
            <a:pPr lvl="0" algn="l">
              <a:lnSpc>
                <a:spcPct val="116199"/>
              </a:lnSpc>
            </a:pPr>
            <a:r>
              <a:rPr lang="en-US" sz="2933" b="0" i="0" u="none" strike="noStrike">
                <a:solidFill>
                  <a:srgbClr val="000000"/>
                </a:solidFill>
                <a:latin typeface="Pretendard Medium"/>
                <a:ea typeface="Pretendard Medium"/>
                <a:cs typeface="Pretendard Medium"/>
              </a:rPr>
              <a:t>본사-협력사 간 인쇄 업무용 파일 서버 타겟팅 -&gt; 인증 없는 RCE
최종 타겟 연쇄 침투를 위한 내부망 초기 거점 장악</a:t>
            </a:r>
          </a:p>
        </p:txBody>
      </p:sp>
      <p:sp>
        <p:nvSpPr>
          <p:cNvPr id="25" name="TextBox 25"/>
          <p:cNvSpPr txBox="1"/>
          <p:nvPr/>
        </p:nvSpPr>
        <p:spPr>
          <a:xfrm>
            <a:off x="7988300" y="9321800"/>
            <a:ext cx="1854200" cy="571500"/>
          </a:xfrm>
          <a:prstGeom prst="rect">
            <a:avLst/>
          </a:prstGeom>
        </p:spPr>
        <p:txBody>
          <a:bodyPr lIns="0" tIns="0" rIns="0" bIns="0" rtlCol="0" anchor="t"/>
          <a:lstStyle/>
          <a:p>
            <a:pPr lvl="0" algn="l">
              <a:lnSpc>
                <a:spcPct val="116199"/>
              </a:lnSpc>
            </a:pPr>
            <a:r>
              <a:rPr lang="en-US" sz="3200" b="1" i="0" u="none" strike="noStrike">
                <a:solidFill>
                  <a:srgbClr val="000000"/>
                </a:solidFill>
                <a:latin typeface="Pretendard Medium"/>
                <a:ea typeface="Pretendard Medium"/>
                <a:cs typeface="Pretendard Medium"/>
              </a:rPr>
              <a:t>선정 이유</a:t>
            </a:r>
          </a:p>
        </p:txBody>
      </p:sp>
      <p:sp>
        <p:nvSpPr>
          <p:cNvPr id="26" name="TextBox 26"/>
          <p:cNvSpPr txBox="1"/>
          <p:nvPr/>
        </p:nvSpPr>
        <p:spPr>
          <a:xfrm>
            <a:off x="1930400" y="29591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WingFTP : CVE-2025-47812</a:t>
            </a:r>
          </a:p>
        </p:txBody>
      </p:sp>
      <p:sp>
        <p:nvSpPr>
          <p:cNvPr id="35" name="TextBox 14">
            <a:extLst>
              <a:ext uri="{FF2B5EF4-FFF2-40B4-BE49-F238E27FC236}">
                <a16:creationId xmlns:a16="http://schemas.microsoft.com/office/drawing/2014/main" id="{41EFD33E-0379-D032-2FDE-D35633CED230}"/>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36" name="TextBox 14">
            <a:extLst>
              <a:ext uri="{FF2B5EF4-FFF2-40B4-BE49-F238E27FC236}">
                <a16:creationId xmlns:a16="http://schemas.microsoft.com/office/drawing/2014/main" id="{C622C722-92A4-BB36-4516-7F2901CE2806}"/>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37" name="Picture 2">
            <a:extLst>
              <a:ext uri="{FF2B5EF4-FFF2-40B4-BE49-F238E27FC236}">
                <a16:creationId xmlns:a16="http://schemas.microsoft.com/office/drawing/2014/main" id="{38B1E54E-7A48-A940-34DA-041A6E27D8F7}"/>
              </a:ext>
            </a:extLst>
          </p:cNvPr>
          <p:cNvPicPr>
            <a:picLocks noChangeAspect="1"/>
          </p:cNvPicPr>
          <p:nvPr/>
        </p:nvPicPr>
        <p:blipFill>
          <a:blip r:embed="rId7">
            <a:alphaModFix amt="85000"/>
          </a:blip>
          <a:stretch>
            <a:fillRect/>
          </a:stretch>
        </p:blipFill>
        <p:spPr>
          <a:xfrm>
            <a:off x="11201400" y="558800"/>
            <a:ext cx="2705100" cy="444500"/>
          </a:xfrm>
          <a:prstGeom prst="rect">
            <a:avLst/>
          </a:prstGeom>
        </p:spPr>
      </p:pic>
      <p:sp>
        <p:nvSpPr>
          <p:cNvPr id="38" name="TextBox 16">
            <a:extLst>
              <a:ext uri="{FF2B5EF4-FFF2-40B4-BE49-F238E27FC236}">
                <a16:creationId xmlns:a16="http://schemas.microsoft.com/office/drawing/2014/main" id="{4999B97C-7A52-4425-7CFD-F8C0CD6EEAF5}"/>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39" name="TextBox 18">
            <a:extLst>
              <a:ext uri="{FF2B5EF4-FFF2-40B4-BE49-F238E27FC236}">
                <a16:creationId xmlns:a16="http://schemas.microsoft.com/office/drawing/2014/main" id="{A008534F-A017-34B3-CA37-CD839CAF8464}"/>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40" name="TextBox 19">
            <a:extLst>
              <a:ext uri="{FF2B5EF4-FFF2-40B4-BE49-F238E27FC236}">
                <a16:creationId xmlns:a16="http://schemas.microsoft.com/office/drawing/2014/main" id="{A791EC0C-64E6-7767-0FCD-C23E11A3E2DC}"/>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41" name="TextBox 20">
            <a:extLst>
              <a:ext uri="{FF2B5EF4-FFF2-40B4-BE49-F238E27FC236}">
                <a16:creationId xmlns:a16="http://schemas.microsoft.com/office/drawing/2014/main" id="{991852A2-3B11-C05E-11BE-DCEAAD33F943}"/>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pic>
        <p:nvPicPr>
          <p:cNvPr id="12" name="Picture 6">
            <a:extLst>
              <a:ext uri="{FF2B5EF4-FFF2-40B4-BE49-F238E27FC236}">
                <a16:creationId xmlns:a16="http://schemas.microsoft.com/office/drawing/2014/main" id="{AC5AB9B2-922A-73FF-1DCA-E0C7A9CC2B7F}"/>
              </a:ext>
            </a:extLst>
          </p:cNvPr>
          <p:cNvPicPr>
            <a:picLocks noChangeAspect="1"/>
          </p:cNvPicPr>
          <p:nvPr/>
        </p:nvPicPr>
        <p:blipFill>
          <a:blip r:embed="rId8"/>
          <a:stretch>
            <a:fillRect/>
          </a:stretch>
        </p:blipFill>
        <p:spPr>
          <a:xfrm>
            <a:off x="1955800" y="4368800"/>
            <a:ext cx="4381500" cy="6997700"/>
          </a:xfrm>
          <a:prstGeom prst="rect">
            <a:avLst/>
          </a:prstGeom>
          <a:effectLst>
            <a:outerShdw blurRad="241107" dist="101164" dir="2700000">
              <a:srgbClr val="000000">
                <a:alpha val="15000"/>
              </a:srgbClr>
            </a:outerShdw>
          </a:effectLst>
        </p:spPr>
      </p:pic>
      <p:pic>
        <p:nvPicPr>
          <p:cNvPr id="16" name="Picture 27">
            <a:extLst>
              <a:ext uri="{FF2B5EF4-FFF2-40B4-BE49-F238E27FC236}">
                <a16:creationId xmlns:a16="http://schemas.microsoft.com/office/drawing/2014/main" id="{E69BEBEB-4DEE-0F3A-A4FE-A467206FE56B}"/>
              </a:ext>
            </a:extLst>
          </p:cNvPr>
          <p:cNvPicPr>
            <a:picLocks noChangeAspect="1"/>
          </p:cNvPicPr>
          <p:nvPr/>
        </p:nvPicPr>
        <p:blipFill>
          <a:blip r:embed="rId9"/>
          <a:stretch>
            <a:fillRect/>
          </a:stretch>
        </p:blipFill>
        <p:spPr>
          <a:xfrm rot="5400000">
            <a:off x="2679700" y="7708900"/>
            <a:ext cx="1905000" cy="190500"/>
          </a:xfrm>
          <a:prstGeom prst="rect">
            <a:avLst/>
          </a:prstGeom>
        </p:spPr>
      </p:pic>
      <p:pic>
        <p:nvPicPr>
          <p:cNvPr id="17" name="Picture 28">
            <a:extLst>
              <a:ext uri="{FF2B5EF4-FFF2-40B4-BE49-F238E27FC236}">
                <a16:creationId xmlns:a16="http://schemas.microsoft.com/office/drawing/2014/main" id="{637105BC-F1E2-D118-59CB-A31A0A88A1A2}"/>
              </a:ext>
            </a:extLst>
          </p:cNvPr>
          <p:cNvPicPr>
            <a:picLocks noChangeAspect="1"/>
          </p:cNvPicPr>
          <p:nvPr/>
        </p:nvPicPr>
        <p:blipFill>
          <a:blip r:embed="rId10"/>
          <a:stretch>
            <a:fillRect/>
          </a:stretch>
        </p:blipFill>
        <p:spPr>
          <a:xfrm>
            <a:off x="2921000" y="4940300"/>
            <a:ext cx="1422400" cy="1168400"/>
          </a:xfrm>
          <a:prstGeom prst="rect">
            <a:avLst/>
          </a:prstGeom>
        </p:spPr>
      </p:pic>
      <p:sp>
        <p:nvSpPr>
          <p:cNvPr id="18" name="TextBox 29">
            <a:extLst>
              <a:ext uri="{FF2B5EF4-FFF2-40B4-BE49-F238E27FC236}">
                <a16:creationId xmlns:a16="http://schemas.microsoft.com/office/drawing/2014/main" id="{0A483365-D43D-FA10-E5AC-5C7EAFC78094}"/>
              </a:ext>
            </a:extLst>
          </p:cNvPr>
          <p:cNvSpPr txBox="1"/>
          <p:nvPr/>
        </p:nvSpPr>
        <p:spPr>
          <a:xfrm>
            <a:off x="2705100" y="6286500"/>
            <a:ext cx="1828800" cy="469900"/>
          </a:xfrm>
          <a:prstGeom prst="rect">
            <a:avLst/>
          </a:prstGeom>
        </p:spPr>
        <p:txBody>
          <a:bodyPr lIns="0" tIns="0" rIns="0" bIns="0" rtlCol="0" anchor="t"/>
          <a:lstStyle/>
          <a:p>
            <a:pPr lvl="0" algn="ctr">
              <a:lnSpc>
                <a:spcPct val="116199"/>
              </a:lnSpc>
            </a:pPr>
            <a:r>
              <a:rPr lang="ko-KR" altLang="en-US" sz="2607" dirty="0">
                <a:solidFill>
                  <a:srgbClr val="000000"/>
                </a:solidFill>
                <a:latin typeface="Pretendard Medium"/>
                <a:ea typeface="Pretendard Medium"/>
                <a:cs typeface="Pretendard Medium"/>
              </a:rPr>
              <a:t>프린트 </a:t>
            </a:r>
            <a:r>
              <a:rPr lang="en-US" sz="2607" b="0" i="0" u="none" strike="noStrike" dirty="0" err="1">
                <a:solidFill>
                  <a:srgbClr val="000000"/>
                </a:solidFill>
                <a:latin typeface="Pretendard Medium"/>
                <a:ea typeface="Pretendard Medium"/>
                <a:cs typeface="Pretendard Medium"/>
              </a:rPr>
              <a:t>서버</a:t>
            </a:r>
            <a:endParaRPr lang="en-US" sz="2607" b="0" i="0" u="none" strike="noStrike" dirty="0">
              <a:solidFill>
                <a:srgbClr val="000000"/>
              </a:solidFill>
              <a:latin typeface="Pretendard Medium"/>
              <a:ea typeface="Pretendard Medium"/>
              <a:cs typeface="Pretendard Medium"/>
            </a:endParaRPr>
          </a:p>
        </p:txBody>
      </p:sp>
      <p:pic>
        <p:nvPicPr>
          <p:cNvPr id="19" name="Picture 30">
            <a:extLst>
              <a:ext uri="{FF2B5EF4-FFF2-40B4-BE49-F238E27FC236}">
                <a16:creationId xmlns:a16="http://schemas.microsoft.com/office/drawing/2014/main" id="{C50A1A17-246C-C764-5F18-E75EA403A06C}"/>
              </a:ext>
            </a:extLst>
          </p:cNvPr>
          <p:cNvPicPr>
            <a:picLocks noChangeAspect="1"/>
          </p:cNvPicPr>
          <p:nvPr/>
        </p:nvPicPr>
        <p:blipFill>
          <a:blip r:embed="rId11"/>
          <a:stretch>
            <a:fillRect/>
          </a:stretch>
        </p:blipFill>
        <p:spPr>
          <a:xfrm>
            <a:off x="3048000" y="9017000"/>
            <a:ext cx="1168400" cy="1168400"/>
          </a:xfrm>
          <a:prstGeom prst="rect">
            <a:avLst/>
          </a:prstGeom>
        </p:spPr>
      </p:pic>
      <p:sp>
        <p:nvSpPr>
          <p:cNvPr id="20" name="TextBox 31">
            <a:extLst>
              <a:ext uri="{FF2B5EF4-FFF2-40B4-BE49-F238E27FC236}">
                <a16:creationId xmlns:a16="http://schemas.microsoft.com/office/drawing/2014/main" id="{2AEB0E94-C332-4EE0-E87B-7AE57FA28E2F}"/>
              </a:ext>
            </a:extLst>
          </p:cNvPr>
          <p:cNvSpPr txBox="1"/>
          <p:nvPr/>
        </p:nvSpPr>
        <p:spPr>
          <a:xfrm>
            <a:off x="2514600" y="10210800"/>
            <a:ext cx="2235200" cy="469900"/>
          </a:xfrm>
          <a:prstGeom prst="rect">
            <a:avLst/>
          </a:prstGeom>
        </p:spPr>
        <p:txBody>
          <a:bodyPr lIns="0" tIns="0" rIns="0" bIns="0" rtlCol="0" anchor="t"/>
          <a:lstStyle/>
          <a:p>
            <a:pPr lvl="0" algn="ctr">
              <a:lnSpc>
                <a:spcPct val="116199"/>
              </a:lnSpc>
            </a:pPr>
            <a:r>
              <a:rPr lang="ko-KR" altLang="en-US" sz="2607" dirty="0">
                <a:solidFill>
                  <a:srgbClr val="000000"/>
                </a:solidFill>
                <a:latin typeface="Pretendard Medium"/>
                <a:ea typeface="Pretendard Medium"/>
                <a:cs typeface="Pretendard Medium"/>
              </a:rPr>
              <a:t>파일 공유 </a:t>
            </a:r>
            <a:r>
              <a:rPr lang="en-US" sz="2607" b="0" i="0" u="none" strike="noStrike" dirty="0" err="1">
                <a:solidFill>
                  <a:srgbClr val="000000"/>
                </a:solidFill>
                <a:latin typeface="Pretendard Medium"/>
                <a:ea typeface="Pretendard Medium"/>
                <a:cs typeface="Pretendard Medium"/>
              </a:rPr>
              <a:t>서버</a:t>
            </a:r>
            <a:endParaRPr lang="en-US" sz="2607" b="0" i="0" u="none" strike="noStrike" dirty="0">
              <a:solidFill>
                <a:srgbClr val="000000"/>
              </a:solidFill>
              <a:latin typeface="Pretendard Medium"/>
              <a:ea typeface="Pretendard Medium"/>
              <a:cs typeface="Pretendard Medium"/>
            </a:endParaRPr>
          </a:p>
        </p:txBody>
      </p:sp>
      <p:pic>
        <p:nvPicPr>
          <p:cNvPr id="21" name="Picture 32">
            <a:extLst>
              <a:ext uri="{FF2B5EF4-FFF2-40B4-BE49-F238E27FC236}">
                <a16:creationId xmlns:a16="http://schemas.microsoft.com/office/drawing/2014/main" id="{CB62CEEC-5391-9E82-2DA2-B8FF3D66A63A}"/>
              </a:ext>
            </a:extLst>
          </p:cNvPr>
          <p:cNvPicPr>
            <a:picLocks noChangeAspect="1"/>
          </p:cNvPicPr>
          <p:nvPr/>
        </p:nvPicPr>
        <p:blipFill>
          <a:blip r:embed="rId12"/>
          <a:stretch>
            <a:fillRect/>
          </a:stretch>
        </p:blipFill>
        <p:spPr>
          <a:xfrm>
            <a:off x="3860800" y="7632700"/>
            <a:ext cx="342900" cy="342900"/>
          </a:xfrm>
          <a:prstGeom prst="rect">
            <a:avLst/>
          </a:prstGeom>
        </p:spPr>
      </p:pic>
      <p:sp>
        <p:nvSpPr>
          <p:cNvPr id="34" name="TextBox 33">
            <a:extLst>
              <a:ext uri="{FF2B5EF4-FFF2-40B4-BE49-F238E27FC236}">
                <a16:creationId xmlns:a16="http://schemas.microsoft.com/office/drawing/2014/main" id="{D61FD3EA-7B17-9856-1E08-B4163E52A95F}"/>
              </a:ext>
            </a:extLst>
          </p:cNvPr>
          <p:cNvSpPr txBox="1"/>
          <p:nvPr/>
        </p:nvSpPr>
        <p:spPr>
          <a:xfrm>
            <a:off x="4191000" y="7594600"/>
            <a:ext cx="2108200" cy="431800"/>
          </a:xfrm>
          <a:prstGeom prst="rect">
            <a:avLst/>
          </a:prstGeom>
        </p:spPr>
        <p:txBody>
          <a:bodyPr lIns="0" tIns="0" rIns="0" bIns="0" rtlCol="0" anchor="t"/>
          <a:lstStyle/>
          <a:p>
            <a:pPr lvl="0" algn="ctr">
              <a:lnSpc>
                <a:spcPct val="116199"/>
              </a:lnSpc>
            </a:pPr>
            <a:r>
              <a:rPr lang="en-US" sz="2400" b="0" i="0" u="none" strike="noStrike">
                <a:solidFill>
                  <a:srgbClr val="000000"/>
                </a:solidFill>
                <a:latin typeface="Pretendard Medium"/>
                <a:ea typeface="Pretendard Medium"/>
                <a:cs typeface="Pretendard Medium"/>
              </a:rPr>
              <a:t>악성파일 업로드</a:t>
            </a:r>
          </a:p>
        </p:txBody>
      </p:sp>
      <p:sp>
        <p:nvSpPr>
          <p:cNvPr id="42" name="TextBox 21">
            <a:extLst>
              <a:ext uri="{FF2B5EF4-FFF2-40B4-BE49-F238E27FC236}">
                <a16:creationId xmlns:a16="http://schemas.microsoft.com/office/drawing/2014/main" id="{D3E075CF-ED78-3D62-77B9-AC6CA37A151C}"/>
              </a:ext>
            </a:extLst>
          </p:cNvPr>
          <p:cNvSpPr txBox="1"/>
          <p:nvPr/>
        </p:nvSpPr>
        <p:spPr>
          <a:xfrm>
            <a:off x="3708400" y="5543722"/>
            <a:ext cx="3200400" cy="520700"/>
          </a:xfrm>
          <a:prstGeom prst="rect">
            <a:avLst/>
          </a:prstGeom>
        </p:spPr>
        <p:txBody>
          <a:bodyPr lIns="0" tIns="0" rIns="0" bIns="0" rtlCol="0" anchor="t"/>
          <a:lstStyle/>
          <a:p>
            <a:pPr lvl="0" algn="ctr">
              <a:lnSpc>
                <a:spcPct val="116199"/>
              </a:lnSpc>
            </a:pPr>
            <a:r>
              <a:rPr lang="ko-KR" altLang="en-US" sz="2600" b="0" i="0" u="none" strike="noStrike" dirty="0">
                <a:solidFill>
                  <a:srgbClr val="000000"/>
                </a:solidFill>
                <a:latin typeface="Pretendard Medium"/>
                <a:ea typeface="Pretendard Medium"/>
                <a:cs typeface="Pretendard Medium"/>
              </a:rPr>
              <a:t>협력사망</a:t>
            </a:r>
            <a:endParaRPr lang="en-US" sz="2600" b="0" i="0" u="none" strike="noStrike" dirty="0">
              <a:solidFill>
                <a:srgbClr val="000000"/>
              </a:solidFill>
              <a:latin typeface="Pretendard Medium"/>
              <a:ea typeface="Pretendard Medium"/>
              <a:cs typeface="Pretendard Medium"/>
            </a:endParaRPr>
          </a:p>
        </p:txBody>
      </p:sp>
      <p:sp>
        <p:nvSpPr>
          <p:cNvPr id="43" name="TextBox 21">
            <a:extLst>
              <a:ext uri="{FF2B5EF4-FFF2-40B4-BE49-F238E27FC236}">
                <a16:creationId xmlns:a16="http://schemas.microsoft.com/office/drawing/2014/main" id="{0985B101-51DB-A742-D066-C0AC436957F3}"/>
              </a:ext>
            </a:extLst>
          </p:cNvPr>
          <p:cNvSpPr txBox="1"/>
          <p:nvPr/>
        </p:nvSpPr>
        <p:spPr>
          <a:xfrm>
            <a:off x="3570759" y="9158416"/>
            <a:ext cx="3200400" cy="1009650"/>
          </a:xfrm>
          <a:prstGeom prst="rect">
            <a:avLst/>
          </a:prstGeom>
        </p:spPr>
        <p:txBody>
          <a:bodyPr lIns="0" tIns="0" rIns="0" bIns="0" rtlCol="0" anchor="t"/>
          <a:lstStyle/>
          <a:p>
            <a:pPr lvl="0" algn="ctr">
              <a:lnSpc>
                <a:spcPct val="116199"/>
              </a:lnSpc>
            </a:pPr>
            <a:r>
              <a:rPr lang="ko-KR" altLang="en-US" sz="2600" b="0" i="0" u="none" strike="noStrike" dirty="0" err="1">
                <a:solidFill>
                  <a:srgbClr val="000000"/>
                </a:solidFill>
                <a:latin typeface="Pretendard Medium"/>
                <a:ea typeface="Pretendard Medium"/>
                <a:cs typeface="Pretendard Medium"/>
              </a:rPr>
              <a:t>내부망</a:t>
            </a:r>
            <a:endParaRPr lang="en-US" altLang="ko-KR" sz="2600" b="0" i="0" u="none" strike="noStrike" dirty="0">
              <a:solidFill>
                <a:srgbClr val="000000"/>
              </a:solidFill>
              <a:latin typeface="Pretendard Medium"/>
              <a:ea typeface="Pretendard Medium"/>
              <a:cs typeface="Pretendard Medium"/>
            </a:endParaRPr>
          </a:p>
          <a:p>
            <a:pPr lvl="0" algn="ctr">
              <a:lnSpc>
                <a:spcPct val="116199"/>
              </a:lnSpc>
            </a:pPr>
            <a:r>
              <a:rPr lang="en-US" altLang="ko-KR" sz="2600" dirty="0">
                <a:solidFill>
                  <a:srgbClr val="000000"/>
                </a:solidFill>
                <a:latin typeface="Pretendard Medium"/>
                <a:ea typeface="Pretendard Medium"/>
                <a:cs typeface="Pretendard Medium"/>
              </a:rPr>
              <a:t>(DMZ)</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556500" y="4368800"/>
            <a:ext cx="15849600" cy="6997700"/>
          </a:xfrm>
          <a:prstGeom prst="rect">
            <a:avLst/>
          </a:prstGeom>
          <a:effectLst>
            <a:outerShdw blurRad="384862" dist="161481" dir="2700000">
              <a:srgbClr val="000000">
                <a:alpha val="15000"/>
              </a:srgbClr>
            </a:outerShdw>
          </a:effectLst>
        </p:spPr>
      </p:pic>
      <p:sp>
        <p:nvSpPr>
          <p:cNvPr id="4" name="TextBox 4"/>
          <p:cNvSpPr txBox="1"/>
          <p:nvPr/>
        </p:nvSpPr>
        <p:spPr>
          <a:xfrm>
            <a:off x="10160000" y="4699000"/>
            <a:ext cx="12496800" cy="1041400"/>
          </a:xfrm>
          <a:prstGeom prst="rect">
            <a:avLst/>
          </a:prstGeom>
        </p:spPr>
        <p:txBody>
          <a:bodyPr lIns="0" tIns="0" rIns="0" bIns="0" rtlCol="0" anchor="t"/>
          <a:lstStyle/>
          <a:p>
            <a:pPr lvl="0" algn="l">
              <a:lnSpc>
                <a:spcPct val="116199"/>
              </a:lnSpc>
            </a:pPr>
            <a:r>
              <a:rPr lang="en-US" sz="2933" b="0" i="0" u="none" strike="noStrike" dirty="0">
                <a:solidFill>
                  <a:srgbClr val="000000"/>
                </a:solidFill>
                <a:latin typeface="Pretendard Medium"/>
                <a:ea typeface="Pretendard Medium"/>
                <a:cs typeface="Pretendard Medium"/>
              </a:rPr>
              <a:t>Windows Defender SmartScreen </a:t>
            </a:r>
            <a:r>
              <a:rPr lang="en-US" sz="2933" b="0" i="0" u="none" strike="noStrike" dirty="0" err="1">
                <a:solidFill>
                  <a:srgbClr val="000000"/>
                </a:solidFill>
                <a:latin typeface="Pretendard Medium"/>
                <a:ea typeface="Pretendard Medium"/>
                <a:cs typeface="Pretendard Medium"/>
              </a:rPr>
              <a:t>우회</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취약점</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사용자가</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악성</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파일을</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실행할</a:t>
            </a:r>
            <a:r>
              <a:rPr lang="en-US" sz="2933" b="0" i="0" u="none" strike="noStrike" dirty="0">
                <a:solidFill>
                  <a:srgbClr val="000000"/>
                </a:solidFill>
                <a:latin typeface="Pretendard Medium"/>
                <a:ea typeface="Pretendard Medium"/>
                <a:cs typeface="Pretendard Medium"/>
              </a:rPr>
              <a:t> 때 </a:t>
            </a:r>
            <a:r>
              <a:rPr lang="en-US" sz="2933" b="0" i="0" u="none" strike="noStrike" dirty="0" err="1">
                <a:solidFill>
                  <a:srgbClr val="000000"/>
                </a:solidFill>
                <a:latin typeface="Pretendard Medium"/>
                <a:ea typeface="Pretendard Medium"/>
                <a:cs typeface="Pretendard Medium"/>
              </a:rPr>
              <a:t>나타나는</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보안</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경고창을</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무력화</a:t>
            </a:r>
            <a:r>
              <a:rPr lang="en-US" sz="2933" b="0" i="0" u="none" strike="noStrike" dirty="0">
                <a:solidFill>
                  <a:srgbClr val="000000"/>
                </a:solidFill>
                <a:latin typeface="Pretendard Medium"/>
                <a:ea typeface="Pretendard Medium"/>
                <a:cs typeface="Pretendard Medium"/>
              </a:rPr>
              <a:t> 함</a:t>
            </a:r>
          </a:p>
        </p:txBody>
      </p:sp>
      <p:sp>
        <p:nvSpPr>
          <p:cNvPr id="5" name="TextBox 5"/>
          <p:cNvSpPr txBox="1"/>
          <p:nvPr/>
        </p:nvSpPr>
        <p:spPr>
          <a:xfrm>
            <a:off x="7988300" y="4775200"/>
            <a:ext cx="1854200" cy="571500"/>
          </a:xfrm>
          <a:prstGeom prst="rect">
            <a:avLst/>
          </a:prstGeom>
        </p:spPr>
        <p:txBody>
          <a:bodyPr lIns="0" tIns="0" rIns="0" bIns="0" rtlCol="0" anchor="t"/>
          <a:lstStyle/>
          <a:p>
            <a:pPr lvl="0" algn="l">
              <a:lnSpc>
                <a:spcPct val="116199"/>
              </a:lnSpc>
            </a:pPr>
            <a:r>
              <a:rPr lang="en-US" sz="3200" b="1" i="0" u="none" strike="noStrike">
                <a:solidFill>
                  <a:srgbClr val="000000"/>
                </a:solidFill>
                <a:latin typeface="Pretendard Medium"/>
                <a:ea typeface="Pretendard Medium"/>
                <a:cs typeface="Pretendard Medium"/>
              </a:rPr>
              <a:t>CVE 설명</a:t>
            </a:r>
          </a:p>
        </p:txBody>
      </p:sp>
      <p:pic>
        <p:nvPicPr>
          <p:cNvPr id="7" name="Picture 7"/>
          <p:cNvPicPr>
            <a:picLocks noChangeAspect="1"/>
          </p:cNvPicPr>
          <p:nvPr/>
        </p:nvPicPr>
        <p:blipFill>
          <a:blip r:embed="rId4"/>
          <a:stretch>
            <a:fillRect/>
          </a:stretch>
        </p:blipFill>
        <p:spPr>
          <a:xfrm>
            <a:off x="762000" y="1092200"/>
            <a:ext cx="22860000" cy="12700"/>
          </a:xfrm>
          <a:prstGeom prst="rect">
            <a:avLst/>
          </a:prstGeom>
        </p:spPr>
      </p:pic>
      <p:pic>
        <p:nvPicPr>
          <p:cNvPr id="8" name="Picture 8"/>
          <p:cNvPicPr>
            <a:picLocks noChangeAspect="1"/>
          </p:cNvPicPr>
          <p:nvPr/>
        </p:nvPicPr>
        <p:blipFill>
          <a:blip r:embed="rId5"/>
          <a:stretch>
            <a:fillRect/>
          </a:stretch>
        </p:blipFill>
        <p:spPr>
          <a:xfrm rot="5400000">
            <a:off x="3200400" y="787400"/>
            <a:ext cx="635000" cy="12700"/>
          </a:xfrm>
          <a:prstGeom prst="rect">
            <a:avLst/>
          </a:prstGeom>
        </p:spPr>
      </p:pic>
      <p:pic>
        <p:nvPicPr>
          <p:cNvPr id="9" name="Picture 9"/>
          <p:cNvPicPr>
            <a:picLocks noChangeAspect="1"/>
          </p:cNvPicPr>
          <p:nvPr/>
        </p:nvPicPr>
        <p:blipFill>
          <a:blip r:embed="rId5"/>
          <a:stretch>
            <a:fillRect/>
          </a:stretch>
        </p:blipFill>
        <p:spPr>
          <a:xfrm rot="5400000">
            <a:off x="22225000" y="787400"/>
            <a:ext cx="635000" cy="12700"/>
          </a:xfrm>
          <a:prstGeom prst="rect">
            <a:avLst/>
          </a:prstGeom>
        </p:spPr>
      </p:pic>
      <p:pic>
        <p:nvPicPr>
          <p:cNvPr id="10" name="Picture 10"/>
          <p:cNvPicPr>
            <a:picLocks noChangeAspect="1"/>
          </p:cNvPicPr>
          <p:nvPr/>
        </p:nvPicPr>
        <p:blipFill>
          <a:blip r:embed="rId5"/>
          <a:stretch>
            <a:fillRect/>
          </a:stretch>
        </p:blipFill>
        <p:spPr>
          <a:xfrm rot="5400000">
            <a:off x="6337300" y="787400"/>
            <a:ext cx="635000" cy="12700"/>
          </a:xfrm>
          <a:prstGeom prst="rect">
            <a:avLst/>
          </a:prstGeom>
        </p:spPr>
      </p:pic>
      <p:pic>
        <p:nvPicPr>
          <p:cNvPr id="11" name="Picture 11"/>
          <p:cNvPicPr>
            <a:picLocks noChangeAspect="1"/>
          </p:cNvPicPr>
          <p:nvPr/>
        </p:nvPicPr>
        <p:blipFill>
          <a:blip r:embed="rId4"/>
          <a:stretch>
            <a:fillRect/>
          </a:stretch>
        </p:blipFill>
        <p:spPr>
          <a:xfrm>
            <a:off x="723900" y="457200"/>
            <a:ext cx="22860000" cy="12700"/>
          </a:xfrm>
          <a:prstGeom prst="rect">
            <a:avLst/>
          </a:prstGeom>
        </p:spPr>
      </p:pic>
      <p:pic>
        <p:nvPicPr>
          <p:cNvPr id="13" name="Picture 13"/>
          <p:cNvPicPr>
            <a:picLocks noChangeAspect="1"/>
          </p:cNvPicPr>
          <p:nvPr/>
        </p:nvPicPr>
        <p:blipFill>
          <a:blip r:embed="rId6"/>
          <a:stretch>
            <a:fillRect/>
          </a:stretch>
        </p:blipFill>
        <p:spPr>
          <a:xfrm>
            <a:off x="1485900" y="1612900"/>
            <a:ext cx="88900" cy="850900"/>
          </a:xfrm>
          <a:prstGeom prst="rect">
            <a:avLst/>
          </a:prstGeom>
        </p:spPr>
      </p:pic>
      <p:sp>
        <p:nvSpPr>
          <p:cNvPr id="14" name="TextBox 14"/>
          <p:cNvSpPr txBox="1"/>
          <p:nvPr/>
        </p:nvSpPr>
        <p:spPr>
          <a:xfrm>
            <a:off x="1943100" y="1409700"/>
            <a:ext cx="13423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협력사망 경유를 통한 공급망 연쇄 침투</a:t>
            </a:r>
          </a:p>
        </p:txBody>
      </p:sp>
      <p:sp>
        <p:nvSpPr>
          <p:cNvPr id="15" name="TextBox 15"/>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a:solidFill>
                  <a:srgbClr val="024EA0"/>
                </a:solidFill>
                <a:latin typeface="Geologica Roman Light"/>
                <a:ea typeface="Geologica Roman Light"/>
                <a:cs typeface="Geologica Roman Light"/>
              </a:rPr>
              <a:t>31</a:t>
            </a:r>
          </a:p>
        </p:txBody>
      </p:sp>
      <p:sp>
        <p:nvSpPr>
          <p:cNvPr id="22" name="TextBox 22"/>
          <p:cNvSpPr txBox="1"/>
          <p:nvPr/>
        </p:nvSpPr>
        <p:spPr>
          <a:xfrm>
            <a:off x="10134600" y="6261100"/>
            <a:ext cx="12636500" cy="2082800"/>
          </a:xfrm>
          <a:prstGeom prst="rect">
            <a:avLst/>
          </a:prstGeom>
        </p:spPr>
        <p:txBody>
          <a:bodyPr lIns="0" tIns="0" rIns="0" bIns="0" rtlCol="0" anchor="t"/>
          <a:lstStyle/>
          <a:p>
            <a:pPr lvl="0" algn="l">
              <a:lnSpc>
                <a:spcPct val="116199"/>
              </a:lnSpc>
            </a:pPr>
            <a:r>
              <a:rPr lang="en-US" sz="2933" b="0" i="0" u="none" strike="noStrike" dirty="0" err="1">
                <a:solidFill>
                  <a:srgbClr val="000000"/>
                </a:solidFill>
                <a:latin typeface="Pretendard Medium"/>
                <a:ea typeface="Pretendard Medium"/>
                <a:cs typeface="Pretendard Medium"/>
              </a:rPr>
              <a:t>MotW</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외부</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신뢰할</a:t>
            </a:r>
            <a:r>
              <a:rPr lang="en-US" sz="2933" b="0" i="0" u="none" strike="noStrike" dirty="0">
                <a:solidFill>
                  <a:srgbClr val="000000"/>
                </a:solidFill>
                <a:latin typeface="Pretendard Medium"/>
                <a:ea typeface="Pretendard Medium"/>
                <a:cs typeface="Pretendard Medium"/>
              </a:rPr>
              <a:t> 수 </a:t>
            </a:r>
            <a:r>
              <a:rPr lang="en-US" sz="2933" b="0" i="0" u="none" strike="noStrike" dirty="0" err="1">
                <a:solidFill>
                  <a:srgbClr val="000000"/>
                </a:solidFill>
                <a:latin typeface="Pretendard Medium"/>
                <a:ea typeface="Pretendard Medium"/>
                <a:cs typeface="Pretendard Medium"/>
              </a:rPr>
              <a:t>없는</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영역에서</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다운로드한</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파일에</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윈도우가</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부여하는</a:t>
            </a:r>
            <a:r>
              <a:rPr lang="en-US" sz="2933" b="0" i="0" u="none" strike="noStrike" dirty="0">
                <a:solidFill>
                  <a:srgbClr val="000000"/>
                </a:solidFill>
                <a:latin typeface="Pretendard Medium"/>
                <a:ea typeface="Pretendard Medium"/>
                <a:cs typeface="Pretendard Medium"/>
              </a:rPr>
              <a:t> </a:t>
            </a:r>
          </a:p>
          <a:p>
            <a:pPr lvl="0" algn="l">
              <a:lnSpc>
                <a:spcPct val="116199"/>
              </a:lnSpc>
            </a:pPr>
            <a:r>
              <a:rPr lang="en-US" sz="2933"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출처</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식별</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태그</a:t>
            </a:r>
            <a:endParaRPr lang="en-US" sz="2933" b="0" i="0" u="none" strike="noStrike" dirty="0">
              <a:solidFill>
                <a:srgbClr val="000000"/>
              </a:solidFill>
              <a:latin typeface="Pretendard Medium"/>
              <a:ea typeface="Pretendard Medium"/>
              <a:cs typeface="Pretendard Medium"/>
            </a:endParaRPr>
          </a:p>
          <a:p>
            <a:pPr lvl="0" algn="l">
              <a:lnSpc>
                <a:spcPct val="116199"/>
              </a:lnSpc>
            </a:pPr>
            <a:r>
              <a:rPr lang="en-US" sz="2933" b="0" i="0" u="none" strike="noStrike" dirty="0">
                <a:solidFill>
                  <a:srgbClr val="000000"/>
                </a:solidFill>
                <a:latin typeface="Pretendard Medium"/>
                <a:ea typeface="Pretendard Medium"/>
                <a:cs typeface="Pretendard Medium"/>
              </a:rPr>
              <a:t>SmartScreen: </a:t>
            </a:r>
            <a:r>
              <a:rPr lang="en-US" sz="2933" b="0" i="0" u="none" strike="noStrike" dirty="0" err="1">
                <a:solidFill>
                  <a:srgbClr val="000000"/>
                </a:solidFill>
                <a:latin typeface="Pretendard Medium"/>
                <a:ea typeface="Pretendard Medium"/>
                <a:cs typeface="Pretendard Medium"/>
              </a:rPr>
              <a:t>MotW</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태그가</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붙은</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파일을</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실행</a:t>
            </a:r>
            <a:r>
              <a:rPr lang="en-US" sz="2933" b="0" i="0" u="none" strike="noStrike" dirty="0">
                <a:solidFill>
                  <a:srgbClr val="000000"/>
                </a:solidFill>
                <a:latin typeface="Pretendard Medium"/>
                <a:ea typeface="Pretendard Medium"/>
                <a:cs typeface="Pretendard Medium"/>
              </a:rPr>
              <a:t> 시 </a:t>
            </a:r>
            <a:r>
              <a:rPr lang="en-US" sz="2933" b="0" i="0" u="none" strike="noStrike" dirty="0" err="1">
                <a:solidFill>
                  <a:srgbClr val="000000"/>
                </a:solidFill>
                <a:latin typeface="Pretendard Medium"/>
                <a:ea typeface="Pretendard Medium"/>
                <a:cs typeface="Pretendard Medium"/>
              </a:rPr>
              <a:t>안전성을</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분석하여</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악성일</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경우</a:t>
            </a:r>
            <a:r>
              <a:rPr lang="en-US" sz="2933" b="0" i="0" u="none" strike="noStrike" dirty="0">
                <a:solidFill>
                  <a:srgbClr val="000000"/>
                </a:solidFill>
                <a:latin typeface="Pretendard Medium"/>
                <a:ea typeface="Pretendard Medium"/>
                <a:cs typeface="Pretendard Medium"/>
              </a:rPr>
              <a:t> </a:t>
            </a:r>
          </a:p>
          <a:p>
            <a:pPr lvl="0" algn="l">
              <a:lnSpc>
                <a:spcPct val="116199"/>
              </a:lnSpc>
            </a:pPr>
            <a:r>
              <a:rPr lang="en-US" sz="2933"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실행</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차단하고</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경고창을</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띄우는</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윈도우</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방어</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메커니즘</a:t>
            </a:r>
            <a:endParaRPr lang="en-US" sz="2933" b="0" i="0" u="none" strike="noStrike" dirty="0">
              <a:solidFill>
                <a:srgbClr val="000000"/>
              </a:solidFill>
              <a:latin typeface="Pretendard Medium"/>
              <a:ea typeface="Pretendard Medium"/>
              <a:cs typeface="Pretendard Medium"/>
            </a:endParaRPr>
          </a:p>
        </p:txBody>
      </p:sp>
      <p:sp>
        <p:nvSpPr>
          <p:cNvPr id="23" name="TextBox 23"/>
          <p:cNvSpPr txBox="1"/>
          <p:nvPr/>
        </p:nvSpPr>
        <p:spPr>
          <a:xfrm>
            <a:off x="7988300" y="6286500"/>
            <a:ext cx="1854200" cy="571500"/>
          </a:xfrm>
          <a:prstGeom prst="rect">
            <a:avLst/>
          </a:prstGeom>
        </p:spPr>
        <p:txBody>
          <a:bodyPr lIns="0" tIns="0" rIns="0" bIns="0" rtlCol="0" anchor="t"/>
          <a:lstStyle/>
          <a:p>
            <a:pPr lvl="0" algn="l">
              <a:lnSpc>
                <a:spcPct val="116199"/>
              </a:lnSpc>
            </a:pPr>
            <a:r>
              <a:rPr lang="en-US" sz="3199" b="1" i="0" u="none" strike="noStrike">
                <a:solidFill>
                  <a:srgbClr val="000000"/>
                </a:solidFill>
                <a:latin typeface="Pretendard Medium"/>
                <a:ea typeface="Pretendard Medium"/>
                <a:cs typeface="Pretendard Medium"/>
              </a:rPr>
              <a:t>사전 지식</a:t>
            </a:r>
          </a:p>
        </p:txBody>
      </p:sp>
      <p:sp>
        <p:nvSpPr>
          <p:cNvPr id="24" name="TextBox 24"/>
          <p:cNvSpPr txBox="1"/>
          <p:nvPr/>
        </p:nvSpPr>
        <p:spPr>
          <a:xfrm>
            <a:off x="10160000" y="8864600"/>
            <a:ext cx="12598400" cy="1041400"/>
          </a:xfrm>
          <a:prstGeom prst="rect">
            <a:avLst/>
          </a:prstGeom>
        </p:spPr>
        <p:txBody>
          <a:bodyPr lIns="0" tIns="0" rIns="0" bIns="0" rtlCol="0" anchor="t"/>
          <a:lstStyle/>
          <a:p>
            <a:pPr lvl="0" algn="l">
              <a:lnSpc>
                <a:spcPct val="116199"/>
              </a:lnSpc>
            </a:pPr>
            <a:r>
              <a:rPr lang="en-US" sz="2933" b="0" i="0" u="none" strike="noStrike" dirty="0">
                <a:solidFill>
                  <a:srgbClr val="000000"/>
                </a:solidFill>
                <a:latin typeface="Pretendard Medium"/>
                <a:ea typeface="Pretendard Medium"/>
                <a:cs typeface="Pretendard Medium"/>
              </a:rPr>
              <a:t>Water Hydra 등 </a:t>
            </a:r>
            <a:r>
              <a:rPr lang="en-US" sz="2933" b="0" i="0" u="none" strike="noStrike" dirty="0" err="1">
                <a:solidFill>
                  <a:srgbClr val="000000"/>
                </a:solidFill>
                <a:latin typeface="Pretendard Medium"/>
                <a:ea typeface="Pretendard Medium"/>
                <a:cs typeface="Pretendard Medium"/>
              </a:rPr>
              <a:t>실제</a:t>
            </a:r>
            <a:r>
              <a:rPr lang="en-US" sz="2933" b="0" i="0" u="none" strike="noStrike" dirty="0">
                <a:solidFill>
                  <a:srgbClr val="000000"/>
                </a:solidFill>
                <a:latin typeface="Pretendard Medium"/>
                <a:ea typeface="Pretendard Medium"/>
                <a:cs typeface="Pretendard Medium"/>
              </a:rPr>
              <a:t> APT </a:t>
            </a:r>
            <a:r>
              <a:rPr lang="en-US" sz="2933" b="0" i="0" u="none" strike="noStrike" dirty="0" err="1">
                <a:solidFill>
                  <a:srgbClr val="000000"/>
                </a:solidFill>
                <a:latin typeface="Pretendard Medium"/>
                <a:ea typeface="Pretendard Medium"/>
                <a:cs typeface="Pretendard Medium"/>
              </a:rPr>
              <a:t>공격</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그룹이</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외한</a:t>
            </a:r>
            <a:r>
              <a:rPr lang="en-US" sz="2933" b="0" i="0" u="none" strike="noStrike" dirty="0">
                <a:solidFill>
                  <a:srgbClr val="000000"/>
                </a:solidFill>
                <a:latin typeface="Pretendard Medium"/>
                <a:ea typeface="Pretendard Medium"/>
                <a:cs typeface="Pretendard Medium"/>
              </a:rPr>
              <a:t>/</a:t>
            </a:r>
            <a:r>
              <a:rPr lang="en-US" sz="2933" b="0" i="0" u="none" strike="noStrike" dirty="0" err="1">
                <a:solidFill>
                  <a:srgbClr val="000000"/>
                </a:solidFill>
                <a:latin typeface="Pretendard Medium"/>
                <a:ea typeface="Pretendard Medium"/>
                <a:cs typeface="Pretendard Medium"/>
              </a:rPr>
              <a:t>금융권</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타겟을</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공격</a:t>
            </a:r>
            <a:r>
              <a:rPr lang="en-US" sz="2933" b="0" i="0" u="none" strike="noStrike" dirty="0">
                <a:solidFill>
                  <a:srgbClr val="000000"/>
                </a:solidFill>
                <a:latin typeface="Pretendard Medium"/>
                <a:ea typeface="Pretendard Medium"/>
                <a:cs typeface="Pretendard Medium"/>
              </a:rPr>
              <a:t> 시, </a:t>
            </a:r>
          </a:p>
          <a:p>
            <a:pPr lvl="0" algn="l">
              <a:lnSpc>
                <a:spcPct val="116199"/>
              </a:lnSpc>
            </a:pPr>
            <a:r>
              <a:rPr lang="en-US" sz="2933" b="0" i="0" u="none" strike="noStrike" dirty="0" err="1">
                <a:solidFill>
                  <a:srgbClr val="000000"/>
                </a:solidFill>
                <a:latin typeface="Pretendard Medium"/>
                <a:ea typeface="Pretendard Medium"/>
                <a:cs typeface="Pretendard Medium"/>
              </a:rPr>
              <a:t>보안</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솔루션</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탐지를</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피하기</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위해</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적극적으로</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악용한</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대표</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사례임</a:t>
            </a:r>
            <a:endParaRPr lang="en-US" sz="2933" b="0" i="0" u="none" strike="noStrike" dirty="0">
              <a:solidFill>
                <a:srgbClr val="000000"/>
              </a:solidFill>
              <a:latin typeface="Pretendard Medium"/>
              <a:ea typeface="Pretendard Medium"/>
              <a:cs typeface="Pretendard Medium"/>
            </a:endParaRPr>
          </a:p>
        </p:txBody>
      </p:sp>
      <p:sp>
        <p:nvSpPr>
          <p:cNvPr id="25" name="TextBox 25"/>
          <p:cNvSpPr txBox="1"/>
          <p:nvPr/>
        </p:nvSpPr>
        <p:spPr>
          <a:xfrm>
            <a:off x="7988300" y="8864600"/>
            <a:ext cx="1854200" cy="571500"/>
          </a:xfrm>
          <a:prstGeom prst="rect">
            <a:avLst/>
          </a:prstGeom>
        </p:spPr>
        <p:txBody>
          <a:bodyPr lIns="0" tIns="0" rIns="0" bIns="0" rtlCol="0" anchor="t"/>
          <a:lstStyle/>
          <a:p>
            <a:pPr lvl="0" algn="l">
              <a:lnSpc>
                <a:spcPct val="116199"/>
              </a:lnSpc>
            </a:pPr>
            <a:r>
              <a:rPr lang="en-US" sz="3200" b="1" i="0" u="none" strike="noStrike">
                <a:solidFill>
                  <a:srgbClr val="000000"/>
                </a:solidFill>
                <a:latin typeface="Pretendard Medium"/>
                <a:ea typeface="Pretendard Medium"/>
                <a:cs typeface="Pretendard Medium"/>
              </a:rPr>
              <a:t>선정 이유</a:t>
            </a:r>
          </a:p>
        </p:txBody>
      </p:sp>
      <p:sp>
        <p:nvSpPr>
          <p:cNvPr id="26" name="TextBox 26"/>
          <p:cNvSpPr txBox="1"/>
          <p:nvPr/>
        </p:nvSpPr>
        <p:spPr>
          <a:xfrm>
            <a:off x="1930400" y="29591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Windows : CVE-2024-21412</a:t>
            </a:r>
          </a:p>
        </p:txBody>
      </p:sp>
      <p:sp>
        <p:nvSpPr>
          <p:cNvPr id="35" name="TextBox 14">
            <a:extLst>
              <a:ext uri="{FF2B5EF4-FFF2-40B4-BE49-F238E27FC236}">
                <a16:creationId xmlns:a16="http://schemas.microsoft.com/office/drawing/2014/main" id="{45C56FCC-3B1C-A7B0-F84F-721CA3B9A40E}"/>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36" name="TextBox 14">
            <a:extLst>
              <a:ext uri="{FF2B5EF4-FFF2-40B4-BE49-F238E27FC236}">
                <a16:creationId xmlns:a16="http://schemas.microsoft.com/office/drawing/2014/main" id="{DA24D0B6-D32C-F9E8-B7CE-0C8F83DED67E}"/>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37" name="Picture 2">
            <a:extLst>
              <a:ext uri="{FF2B5EF4-FFF2-40B4-BE49-F238E27FC236}">
                <a16:creationId xmlns:a16="http://schemas.microsoft.com/office/drawing/2014/main" id="{DFCA55C1-3728-226B-80E8-78E9F1B28C52}"/>
              </a:ext>
            </a:extLst>
          </p:cNvPr>
          <p:cNvPicPr>
            <a:picLocks noChangeAspect="1"/>
          </p:cNvPicPr>
          <p:nvPr/>
        </p:nvPicPr>
        <p:blipFill>
          <a:blip r:embed="rId7">
            <a:alphaModFix amt="85000"/>
          </a:blip>
          <a:stretch>
            <a:fillRect/>
          </a:stretch>
        </p:blipFill>
        <p:spPr>
          <a:xfrm>
            <a:off x="11201400" y="558800"/>
            <a:ext cx="2705100" cy="444500"/>
          </a:xfrm>
          <a:prstGeom prst="rect">
            <a:avLst/>
          </a:prstGeom>
        </p:spPr>
      </p:pic>
      <p:sp>
        <p:nvSpPr>
          <p:cNvPr id="38" name="TextBox 16">
            <a:extLst>
              <a:ext uri="{FF2B5EF4-FFF2-40B4-BE49-F238E27FC236}">
                <a16:creationId xmlns:a16="http://schemas.microsoft.com/office/drawing/2014/main" id="{F4773436-EF98-2156-E220-5064FC445441}"/>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39" name="TextBox 18">
            <a:extLst>
              <a:ext uri="{FF2B5EF4-FFF2-40B4-BE49-F238E27FC236}">
                <a16:creationId xmlns:a16="http://schemas.microsoft.com/office/drawing/2014/main" id="{FC538933-4047-8C94-F438-94A8C79A3B7C}"/>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40" name="TextBox 19">
            <a:extLst>
              <a:ext uri="{FF2B5EF4-FFF2-40B4-BE49-F238E27FC236}">
                <a16:creationId xmlns:a16="http://schemas.microsoft.com/office/drawing/2014/main" id="{7DC158B2-65E8-765D-F7EC-2604A0A9143A}"/>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41" name="TextBox 20">
            <a:extLst>
              <a:ext uri="{FF2B5EF4-FFF2-40B4-BE49-F238E27FC236}">
                <a16:creationId xmlns:a16="http://schemas.microsoft.com/office/drawing/2014/main" id="{359E9357-064E-C420-D52A-10E6C43F6C61}"/>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pic>
        <p:nvPicPr>
          <p:cNvPr id="12" name="Picture 6">
            <a:extLst>
              <a:ext uri="{FF2B5EF4-FFF2-40B4-BE49-F238E27FC236}">
                <a16:creationId xmlns:a16="http://schemas.microsoft.com/office/drawing/2014/main" id="{CD9DF159-9F94-283F-CAA4-F31F70E4A800}"/>
              </a:ext>
            </a:extLst>
          </p:cNvPr>
          <p:cNvPicPr>
            <a:picLocks noChangeAspect="1"/>
          </p:cNvPicPr>
          <p:nvPr/>
        </p:nvPicPr>
        <p:blipFill>
          <a:blip r:embed="rId8"/>
          <a:stretch>
            <a:fillRect/>
          </a:stretch>
        </p:blipFill>
        <p:spPr>
          <a:xfrm>
            <a:off x="1955800" y="4368800"/>
            <a:ext cx="4381500" cy="6997700"/>
          </a:xfrm>
          <a:prstGeom prst="rect">
            <a:avLst/>
          </a:prstGeom>
          <a:effectLst>
            <a:outerShdw blurRad="241107" dist="101164" dir="2700000">
              <a:srgbClr val="000000">
                <a:alpha val="15000"/>
              </a:srgbClr>
            </a:outerShdw>
          </a:effectLst>
        </p:spPr>
      </p:pic>
      <p:pic>
        <p:nvPicPr>
          <p:cNvPr id="16" name="Picture 27">
            <a:extLst>
              <a:ext uri="{FF2B5EF4-FFF2-40B4-BE49-F238E27FC236}">
                <a16:creationId xmlns:a16="http://schemas.microsoft.com/office/drawing/2014/main" id="{2917B774-33D1-6D97-C951-39FB0D713415}"/>
              </a:ext>
            </a:extLst>
          </p:cNvPr>
          <p:cNvPicPr>
            <a:picLocks noChangeAspect="1"/>
          </p:cNvPicPr>
          <p:nvPr/>
        </p:nvPicPr>
        <p:blipFill>
          <a:blip r:embed="rId9"/>
          <a:stretch>
            <a:fillRect/>
          </a:stretch>
        </p:blipFill>
        <p:spPr>
          <a:xfrm>
            <a:off x="3048000" y="5054600"/>
            <a:ext cx="1168400" cy="1168400"/>
          </a:xfrm>
          <a:prstGeom prst="rect">
            <a:avLst/>
          </a:prstGeom>
        </p:spPr>
      </p:pic>
      <p:sp>
        <p:nvSpPr>
          <p:cNvPr id="17" name="TextBox 28">
            <a:extLst>
              <a:ext uri="{FF2B5EF4-FFF2-40B4-BE49-F238E27FC236}">
                <a16:creationId xmlns:a16="http://schemas.microsoft.com/office/drawing/2014/main" id="{7BA0E87B-AD38-EB0D-EAED-61A1B9C9D03D}"/>
              </a:ext>
            </a:extLst>
          </p:cNvPr>
          <p:cNvSpPr txBox="1"/>
          <p:nvPr/>
        </p:nvSpPr>
        <p:spPr>
          <a:xfrm>
            <a:off x="2514600" y="6248400"/>
            <a:ext cx="2235200" cy="469900"/>
          </a:xfrm>
          <a:prstGeom prst="rect">
            <a:avLst/>
          </a:prstGeom>
        </p:spPr>
        <p:txBody>
          <a:bodyPr lIns="0" tIns="0" rIns="0" bIns="0" rtlCol="0" anchor="t"/>
          <a:lstStyle/>
          <a:p>
            <a:pPr lvl="0" algn="ctr">
              <a:lnSpc>
                <a:spcPct val="116199"/>
              </a:lnSpc>
            </a:pPr>
            <a:r>
              <a:rPr lang="ko-KR" altLang="en-US" sz="2607" dirty="0">
                <a:solidFill>
                  <a:srgbClr val="000000"/>
                </a:solidFill>
                <a:latin typeface="Pretendard Medium"/>
                <a:ea typeface="Pretendard Medium"/>
                <a:cs typeface="Pretendard Medium"/>
              </a:rPr>
              <a:t>파일 공유</a:t>
            </a:r>
            <a:r>
              <a:rPr lang="en-US" sz="2607" b="0" i="0" u="none" strike="noStrike" dirty="0">
                <a:solidFill>
                  <a:srgbClr val="000000"/>
                </a:solidFill>
                <a:latin typeface="Pretendard Medium"/>
                <a:ea typeface="Pretendard Medium"/>
                <a:cs typeface="Pretendard Medium"/>
              </a:rPr>
              <a:t> </a:t>
            </a:r>
            <a:r>
              <a:rPr lang="en-US" sz="2607" b="0" i="0" u="none" strike="noStrike" dirty="0" err="1">
                <a:solidFill>
                  <a:srgbClr val="000000"/>
                </a:solidFill>
                <a:latin typeface="Pretendard Medium"/>
                <a:ea typeface="Pretendard Medium"/>
                <a:cs typeface="Pretendard Medium"/>
              </a:rPr>
              <a:t>서버</a:t>
            </a:r>
            <a:endParaRPr lang="en-US" sz="2607" b="0" i="0" u="none" strike="noStrike" dirty="0">
              <a:solidFill>
                <a:srgbClr val="000000"/>
              </a:solidFill>
              <a:latin typeface="Pretendard Medium"/>
              <a:ea typeface="Pretendard Medium"/>
              <a:cs typeface="Pretendard Medium"/>
            </a:endParaRPr>
          </a:p>
        </p:txBody>
      </p:sp>
      <p:pic>
        <p:nvPicPr>
          <p:cNvPr id="18" name="Picture 29">
            <a:extLst>
              <a:ext uri="{FF2B5EF4-FFF2-40B4-BE49-F238E27FC236}">
                <a16:creationId xmlns:a16="http://schemas.microsoft.com/office/drawing/2014/main" id="{D9639E61-5BCD-7C31-281A-181AF7CDB176}"/>
              </a:ext>
            </a:extLst>
          </p:cNvPr>
          <p:cNvPicPr>
            <a:picLocks noChangeAspect="1"/>
          </p:cNvPicPr>
          <p:nvPr/>
        </p:nvPicPr>
        <p:blipFill>
          <a:blip r:embed="rId10"/>
          <a:stretch>
            <a:fillRect/>
          </a:stretch>
        </p:blipFill>
        <p:spPr>
          <a:xfrm>
            <a:off x="2971800" y="8902700"/>
            <a:ext cx="1320800" cy="1168400"/>
          </a:xfrm>
          <a:prstGeom prst="rect">
            <a:avLst/>
          </a:prstGeom>
        </p:spPr>
      </p:pic>
      <p:sp>
        <p:nvSpPr>
          <p:cNvPr id="19" name="TextBox 30">
            <a:extLst>
              <a:ext uri="{FF2B5EF4-FFF2-40B4-BE49-F238E27FC236}">
                <a16:creationId xmlns:a16="http://schemas.microsoft.com/office/drawing/2014/main" id="{6A186F26-6485-0904-6646-1AD99AE038FC}"/>
              </a:ext>
            </a:extLst>
          </p:cNvPr>
          <p:cNvSpPr txBox="1"/>
          <p:nvPr/>
        </p:nvSpPr>
        <p:spPr>
          <a:xfrm>
            <a:off x="2514600" y="10312400"/>
            <a:ext cx="2235200" cy="469900"/>
          </a:xfrm>
          <a:prstGeom prst="rect">
            <a:avLst/>
          </a:prstGeom>
        </p:spPr>
        <p:txBody>
          <a:bodyPr lIns="0" tIns="0" rIns="0" bIns="0" rtlCol="0" anchor="t"/>
          <a:lstStyle/>
          <a:p>
            <a:pPr lvl="0" algn="ctr">
              <a:lnSpc>
                <a:spcPct val="116199"/>
              </a:lnSpc>
            </a:pPr>
            <a:r>
              <a:rPr lang="en-US" sz="2607" b="0" i="0" u="none" strike="noStrike">
                <a:solidFill>
                  <a:srgbClr val="000000"/>
                </a:solidFill>
                <a:latin typeface="Pretendard Medium"/>
                <a:ea typeface="Pretendard Medium"/>
                <a:cs typeface="Pretendard Medium"/>
              </a:rPr>
              <a:t>대외지원 관리자</a:t>
            </a:r>
          </a:p>
        </p:txBody>
      </p:sp>
      <p:pic>
        <p:nvPicPr>
          <p:cNvPr id="20" name="Picture 31">
            <a:extLst>
              <a:ext uri="{FF2B5EF4-FFF2-40B4-BE49-F238E27FC236}">
                <a16:creationId xmlns:a16="http://schemas.microsoft.com/office/drawing/2014/main" id="{959D575C-E4C4-8D40-5FD7-FEC929D9B939}"/>
              </a:ext>
            </a:extLst>
          </p:cNvPr>
          <p:cNvPicPr>
            <a:picLocks noChangeAspect="1"/>
          </p:cNvPicPr>
          <p:nvPr/>
        </p:nvPicPr>
        <p:blipFill>
          <a:blip r:embed="rId11"/>
          <a:stretch>
            <a:fillRect/>
          </a:stretch>
        </p:blipFill>
        <p:spPr>
          <a:xfrm rot="5400000">
            <a:off x="2679700" y="7708900"/>
            <a:ext cx="1905000" cy="190500"/>
          </a:xfrm>
          <a:prstGeom prst="rect">
            <a:avLst/>
          </a:prstGeom>
        </p:spPr>
      </p:pic>
      <p:sp>
        <p:nvSpPr>
          <p:cNvPr id="21" name="TextBox 32">
            <a:extLst>
              <a:ext uri="{FF2B5EF4-FFF2-40B4-BE49-F238E27FC236}">
                <a16:creationId xmlns:a16="http://schemas.microsoft.com/office/drawing/2014/main" id="{86B97F84-E0B8-832F-7344-0889BB8EF7C1}"/>
              </a:ext>
            </a:extLst>
          </p:cNvPr>
          <p:cNvSpPr txBox="1"/>
          <p:nvPr/>
        </p:nvSpPr>
        <p:spPr>
          <a:xfrm>
            <a:off x="3886200" y="7594600"/>
            <a:ext cx="2260600" cy="431800"/>
          </a:xfrm>
          <a:prstGeom prst="rect">
            <a:avLst/>
          </a:prstGeom>
        </p:spPr>
        <p:txBody>
          <a:bodyPr lIns="0" tIns="0" rIns="0" bIns="0" rtlCol="0" anchor="t"/>
          <a:lstStyle/>
          <a:p>
            <a:pPr lvl="0" algn="ctr">
              <a:lnSpc>
                <a:spcPct val="116199"/>
              </a:lnSpc>
            </a:pPr>
            <a:r>
              <a:rPr lang="en-US" sz="2400" b="0" i="0" u="none" strike="noStrike">
                <a:solidFill>
                  <a:srgbClr val="000000"/>
                </a:solidFill>
                <a:latin typeface="Pretendard Medium"/>
                <a:ea typeface="Pretendard Medium"/>
                <a:cs typeface="Pretendard Medium"/>
              </a:rPr>
              <a:t>악성파일다운로드</a:t>
            </a:r>
          </a:p>
        </p:txBody>
      </p:sp>
      <p:pic>
        <p:nvPicPr>
          <p:cNvPr id="34" name="Picture 33">
            <a:extLst>
              <a:ext uri="{FF2B5EF4-FFF2-40B4-BE49-F238E27FC236}">
                <a16:creationId xmlns:a16="http://schemas.microsoft.com/office/drawing/2014/main" id="{DBFE4FA0-BE76-9610-1C62-E612B9D6E0DC}"/>
              </a:ext>
            </a:extLst>
          </p:cNvPr>
          <p:cNvPicPr>
            <a:picLocks noChangeAspect="1"/>
          </p:cNvPicPr>
          <p:nvPr/>
        </p:nvPicPr>
        <p:blipFill>
          <a:blip r:embed="rId12"/>
          <a:stretch>
            <a:fillRect/>
          </a:stretch>
        </p:blipFill>
        <p:spPr>
          <a:xfrm>
            <a:off x="3962400" y="7112000"/>
            <a:ext cx="368300" cy="368300"/>
          </a:xfrm>
          <a:prstGeom prst="rect">
            <a:avLst/>
          </a:prstGeom>
        </p:spPr>
      </p:pic>
      <p:sp>
        <p:nvSpPr>
          <p:cNvPr id="42" name="TextBox 21">
            <a:extLst>
              <a:ext uri="{FF2B5EF4-FFF2-40B4-BE49-F238E27FC236}">
                <a16:creationId xmlns:a16="http://schemas.microsoft.com/office/drawing/2014/main" id="{C5FE97AC-34DE-AC05-FDB9-19AE235961D6}"/>
              </a:ext>
            </a:extLst>
          </p:cNvPr>
          <p:cNvSpPr txBox="1"/>
          <p:nvPr/>
        </p:nvSpPr>
        <p:spPr>
          <a:xfrm>
            <a:off x="3524250" y="5151223"/>
            <a:ext cx="3200400" cy="1009650"/>
          </a:xfrm>
          <a:prstGeom prst="rect">
            <a:avLst/>
          </a:prstGeom>
        </p:spPr>
        <p:txBody>
          <a:bodyPr lIns="0" tIns="0" rIns="0" bIns="0" rtlCol="0" anchor="t"/>
          <a:lstStyle/>
          <a:p>
            <a:pPr lvl="0" algn="ctr">
              <a:lnSpc>
                <a:spcPct val="116199"/>
              </a:lnSpc>
            </a:pPr>
            <a:r>
              <a:rPr lang="ko-KR" altLang="en-US" sz="2600" b="0" i="0" u="none" strike="noStrike" dirty="0" err="1">
                <a:solidFill>
                  <a:srgbClr val="000000"/>
                </a:solidFill>
                <a:latin typeface="Pretendard Medium"/>
                <a:ea typeface="Pretendard Medium"/>
                <a:cs typeface="Pretendard Medium"/>
              </a:rPr>
              <a:t>내부망</a:t>
            </a:r>
            <a:endParaRPr lang="en-US" altLang="ko-KR" sz="2600" b="0" i="0" u="none" strike="noStrike" dirty="0">
              <a:solidFill>
                <a:srgbClr val="000000"/>
              </a:solidFill>
              <a:latin typeface="Pretendard Medium"/>
              <a:ea typeface="Pretendard Medium"/>
              <a:cs typeface="Pretendard Medium"/>
            </a:endParaRPr>
          </a:p>
          <a:p>
            <a:pPr lvl="0" algn="ctr">
              <a:lnSpc>
                <a:spcPct val="116199"/>
              </a:lnSpc>
            </a:pPr>
            <a:r>
              <a:rPr lang="en-US" altLang="ko-KR" sz="2600" dirty="0">
                <a:solidFill>
                  <a:srgbClr val="000000"/>
                </a:solidFill>
                <a:latin typeface="Pretendard Medium"/>
                <a:ea typeface="Pretendard Medium"/>
                <a:cs typeface="Pretendard Medium"/>
              </a:rPr>
              <a:t>(DMZ)</a:t>
            </a:r>
          </a:p>
        </p:txBody>
      </p:sp>
      <p:sp>
        <p:nvSpPr>
          <p:cNvPr id="43" name="TextBox 21">
            <a:extLst>
              <a:ext uri="{FF2B5EF4-FFF2-40B4-BE49-F238E27FC236}">
                <a16:creationId xmlns:a16="http://schemas.microsoft.com/office/drawing/2014/main" id="{BF78FE23-4541-BFA5-BD37-5583EFFD864A}"/>
              </a:ext>
            </a:extLst>
          </p:cNvPr>
          <p:cNvSpPr txBox="1"/>
          <p:nvPr/>
        </p:nvSpPr>
        <p:spPr>
          <a:xfrm>
            <a:off x="3595473" y="9214622"/>
            <a:ext cx="3200400" cy="442955"/>
          </a:xfrm>
          <a:prstGeom prst="rect">
            <a:avLst/>
          </a:prstGeom>
        </p:spPr>
        <p:txBody>
          <a:bodyPr lIns="0" tIns="0" rIns="0" bIns="0" rtlCol="0" anchor="t"/>
          <a:lstStyle/>
          <a:p>
            <a:pPr lvl="0" algn="ctr">
              <a:lnSpc>
                <a:spcPct val="116199"/>
              </a:lnSpc>
            </a:pPr>
            <a:r>
              <a:rPr lang="ko-KR" altLang="en-US" sz="2600" b="0" i="0" u="none" strike="noStrike" dirty="0" err="1">
                <a:solidFill>
                  <a:srgbClr val="000000"/>
                </a:solidFill>
                <a:latin typeface="Pretendard Medium"/>
                <a:ea typeface="Pretendard Medium"/>
                <a:cs typeface="Pretendard Medium"/>
              </a:rPr>
              <a:t>본사망</a:t>
            </a:r>
            <a:endParaRPr lang="en-US" altLang="ko-KR" sz="2600" dirty="0">
              <a:solidFill>
                <a:srgbClr val="000000"/>
              </a:solidFill>
              <a:latin typeface="Pretendard Medium"/>
              <a:ea typeface="Pretendard Medium"/>
              <a:cs typeface="Pretendard Medium"/>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556500" y="4368800"/>
            <a:ext cx="15849600" cy="6997700"/>
          </a:xfrm>
          <a:prstGeom prst="rect">
            <a:avLst/>
          </a:prstGeom>
          <a:effectLst>
            <a:outerShdw blurRad="384862" dist="161481" dir="2700000">
              <a:srgbClr val="000000">
                <a:alpha val="15000"/>
              </a:srgbClr>
            </a:outerShdw>
          </a:effectLst>
        </p:spPr>
      </p:pic>
      <p:sp>
        <p:nvSpPr>
          <p:cNvPr id="4" name="TextBox 4"/>
          <p:cNvSpPr txBox="1"/>
          <p:nvPr/>
        </p:nvSpPr>
        <p:spPr>
          <a:xfrm>
            <a:off x="10160000" y="4699000"/>
            <a:ext cx="12496800" cy="1041400"/>
          </a:xfrm>
          <a:prstGeom prst="rect">
            <a:avLst/>
          </a:prstGeom>
        </p:spPr>
        <p:txBody>
          <a:bodyPr lIns="0" tIns="0" rIns="0" bIns="0" rtlCol="0" anchor="t"/>
          <a:lstStyle/>
          <a:p>
            <a:pPr lvl="0" algn="l">
              <a:lnSpc>
                <a:spcPct val="116199"/>
              </a:lnSpc>
            </a:pPr>
            <a:r>
              <a:rPr lang="en-US" sz="2933" b="0" i="0" u="none" strike="noStrike" dirty="0">
                <a:solidFill>
                  <a:srgbClr val="000000"/>
                </a:solidFill>
                <a:latin typeface="Pretendard Medium"/>
                <a:ea typeface="Pretendard Medium"/>
                <a:cs typeface="Pretendard Medium"/>
              </a:rPr>
              <a:t>Zimbra </a:t>
            </a:r>
            <a:r>
              <a:rPr lang="en-US" sz="2933" b="0" i="0" u="none" strike="noStrike" dirty="0" err="1">
                <a:solidFill>
                  <a:srgbClr val="000000"/>
                </a:solidFill>
                <a:latin typeface="Pretendard Medium"/>
                <a:ea typeface="Pretendard Medium"/>
                <a:cs typeface="Pretendard Medium"/>
              </a:rPr>
              <a:t>웹메일</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시스템에서</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입력값</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필터링</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미흡으로</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발생한</a:t>
            </a:r>
            <a:r>
              <a:rPr lang="en-US" sz="2933" b="0" i="0" u="none" strike="noStrike" dirty="0">
                <a:solidFill>
                  <a:srgbClr val="000000"/>
                </a:solidFill>
                <a:latin typeface="Pretendard Medium"/>
                <a:ea typeface="Pretendard Medium"/>
                <a:cs typeface="Pretendard Medium"/>
              </a:rPr>
              <a:t> </a:t>
            </a:r>
            <a:r>
              <a:rPr lang="en-US" sz="2933" b="1" i="0" u="none" strike="noStrike" dirty="0">
                <a:solidFill>
                  <a:srgbClr val="000000"/>
                </a:solidFill>
                <a:latin typeface="Pretendard Medium"/>
                <a:ea typeface="Pretendard Medium"/>
                <a:cs typeface="Pretendard Medium"/>
              </a:rPr>
              <a:t>Stored XSS</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취약점</a:t>
            </a:r>
            <a:br>
              <a:rPr lang="en-US" sz="2933" b="0" i="0" u="none" strike="noStrike" dirty="0">
                <a:solidFill>
                  <a:srgbClr val="000000"/>
                </a:solidFill>
                <a:latin typeface="Pretendard Medium"/>
                <a:ea typeface="Pretendard Medium"/>
                <a:cs typeface="Pretendard Medium"/>
              </a:rPr>
            </a:br>
            <a:r>
              <a:rPr lang="en-US" sz="2933" b="0" i="0" u="none" strike="noStrike" dirty="0" err="1">
                <a:solidFill>
                  <a:srgbClr val="000000"/>
                </a:solidFill>
                <a:latin typeface="Pretendard Medium"/>
                <a:ea typeface="Pretendard Medium"/>
                <a:cs typeface="Pretendard Medium"/>
              </a:rPr>
              <a:t>공격자가</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메일</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본문에</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악성</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스크립트를</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삽입하여</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실행할</a:t>
            </a:r>
            <a:r>
              <a:rPr lang="en-US" sz="2933" b="0" i="0" u="none" strike="noStrike" dirty="0">
                <a:solidFill>
                  <a:srgbClr val="000000"/>
                </a:solidFill>
                <a:latin typeface="Pretendard Medium"/>
                <a:ea typeface="Pretendard Medium"/>
                <a:cs typeface="Pretendard Medium"/>
              </a:rPr>
              <a:t> 수 </a:t>
            </a:r>
            <a:r>
              <a:rPr lang="en-US" sz="2933" b="0" i="0" u="none" strike="noStrike" dirty="0" err="1">
                <a:solidFill>
                  <a:srgbClr val="000000"/>
                </a:solidFill>
                <a:latin typeface="Pretendard Medium"/>
                <a:ea typeface="Pretendard Medium"/>
                <a:cs typeface="Pretendard Medium"/>
              </a:rPr>
              <a:t>있는</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환경을</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제공</a:t>
            </a:r>
            <a:endParaRPr lang="en-US" sz="2933" b="0" i="0" u="none" strike="noStrike" dirty="0">
              <a:solidFill>
                <a:srgbClr val="000000"/>
              </a:solidFill>
              <a:latin typeface="Pretendard Medium"/>
              <a:ea typeface="Pretendard Medium"/>
              <a:cs typeface="Pretendard Medium"/>
            </a:endParaRPr>
          </a:p>
        </p:txBody>
      </p:sp>
      <p:sp>
        <p:nvSpPr>
          <p:cNvPr id="5" name="TextBox 5"/>
          <p:cNvSpPr txBox="1"/>
          <p:nvPr/>
        </p:nvSpPr>
        <p:spPr>
          <a:xfrm>
            <a:off x="7988300" y="4775200"/>
            <a:ext cx="1854200" cy="571500"/>
          </a:xfrm>
          <a:prstGeom prst="rect">
            <a:avLst/>
          </a:prstGeom>
        </p:spPr>
        <p:txBody>
          <a:bodyPr lIns="0" tIns="0" rIns="0" bIns="0" rtlCol="0" anchor="t"/>
          <a:lstStyle/>
          <a:p>
            <a:pPr lvl="0" algn="l">
              <a:lnSpc>
                <a:spcPct val="116199"/>
              </a:lnSpc>
            </a:pPr>
            <a:r>
              <a:rPr lang="en-US" sz="3200" b="1" i="0" u="none" strike="noStrike">
                <a:solidFill>
                  <a:srgbClr val="000000"/>
                </a:solidFill>
                <a:latin typeface="Pretendard Medium"/>
                <a:ea typeface="Pretendard Medium"/>
                <a:cs typeface="Pretendard Medium"/>
              </a:rPr>
              <a:t>CVE 설명</a:t>
            </a:r>
          </a:p>
        </p:txBody>
      </p:sp>
      <p:pic>
        <p:nvPicPr>
          <p:cNvPr id="7" name="Picture 7"/>
          <p:cNvPicPr>
            <a:picLocks noChangeAspect="1"/>
          </p:cNvPicPr>
          <p:nvPr/>
        </p:nvPicPr>
        <p:blipFill>
          <a:blip r:embed="rId4"/>
          <a:stretch>
            <a:fillRect/>
          </a:stretch>
        </p:blipFill>
        <p:spPr>
          <a:xfrm>
            <a:off x="762000" y="1092200"/>
            <a:ext cx="22860000" cy="12700"/>
          </a:xfrm>
          <a:prstGeom prst="rect">
            <a:avLst/>
          </a:prstGeom>
        </p:spPr>
      </p:pic>
      <p:pic>
        <p:nvPicPr>
          <p:cNvPr id="8" name="Picture 8"/>
          <p:cNvPicPr>
            <a:picLocks noChangeAspect="1"/>
          </p:cNvPicPr>
          <p:nvPr/>
        </p:nvPicPr>
        <p:blipFill>
          <a:blip r:embed="rId5"/>
          <a:stretch>
            <a:fillRect/>
          </a:stretch>
        </p:blipFill>
        <p:spPr>
          <a:xfrm rot="5400000">
            <a:off x="3200400" y="787400"/>
            <a:ext cx="635000" cy="12700"/>
          </a:xfrm>
          <a:prstGeom prst="rect">
            <a:avLst/>
          </a:prstGeom>
        </p:spPr>
      </p:pic>
      <p:pic>
        <p:nvPicPr>
          <p:cNvPr id="9" name="Picture 9"/>
          <p:cNvPicPr>
            <a:picLocks noChangeAspect="1"/>
          </p:cNvPicPr>
          <p:nvPr/>
        </p:nvPicPr>
        <p:blipFill>
          <a:blip r:embed="rId5"/>
          <a:stretch>
            <a:fillRect/>
          </a:stretch>
        </p:blipFill>
        <p:spPr>
          <a:xfrm rot="5400000">
            <a:off x="22225000" y="787400"/>
            <a:ext cx="635000" cy="12700"/>
          </a:xfrm>
          <a:prstGeom prst="rect">
            <a:avLst/>
          </a:prstGeom>
        </p:spPr>
      </p:pic>
      <p:pic>
        <p:nvPicPr>
          <p:cNvPr id="10" name="Picture 10"/>
          <p:cNvPicPr>
            <a:picLocks noChangeAspect="1"/>
          </p:cNvPicPr>
          <p:nvPr/>
        </p:nvPicPr>
        <p:blipFill>
          <a:blip r:embed="rId5"/>
          <a:stretch>
            <a:fillRect/>
          </a:stretch>
        </p:blipFill>
        <p:spPr>
          <a:xfrm rot="5400000">
            <a:off x="6337300" y="787400"/>
            <a:ext cx="635000" cy="12700"/>
          </a:xfrm>
          <a:prstGeom prst="rect">
            <a:avLst/>
          </a:prstGeom>
        </p:spPr>
      </p:pic>
      <p:pic>
        <p:nvPicPr>
          <p:cNvPr id="11" name="Picture 11"/>
          <p:cNvPicPr>
            <a:picLocks noChangeAspect="1"/>
          </p:cNvPicPr>
          <p:nvPr/>
        </p:nvPicPr>
        <p:blipFill>
          <a:blip r:embed="rId4"/>
          <a:stretch>
            <a:fillRect/>
          </a:stretch>
        </p:blipFill>
        <p:spPr>
          <a:xfrm>
            <a:off x="723900" y="457200"/>
            <a:ext cx="22860000" cy="12700"/>
          </a:xfrm>
          <a:prstGeom prst="rect">
            <a:avLst/>
          </a:prstGeom>
        </p:spPr>
      </p:pic>
      <p:pic>
        <p:nvPicPr>
          <p:cNvPr id="13" name="Picture 13"/>
          <p:cNvPicPr>
            <a:picLocks noChangeAspect="1"/>
          </p:cNvPicPr>
          <p:nvPr/>
        </p:nvPicPr>
        <p:blipFill>
          <a:blip r:embed="rId6"/>
          <a:stretch>
            <a:fillRect/>
          </a:stretch>
        </p:blipFill>
        <p:spPr>
          <a:xfrm>
            <a:off x="1485900" y="1612900"/>
            <a:ext cx="88900" cy="850900"/>
          </a:xfrm>
          <a:prstGeom prst="rect">
            <a:avLst/>
          </a:prstGeom>
        </p:spPr>
      </p:pic>
      <p:sp>
        <p:nvSpPr>
          <p:cNvPr id="14" name="TextBox 14"/>
          <p:cNvSpPr txBox="1"/>
          <p:nvPr/>
        </p:nvSpPr>
        <p:spPr>
          <a:xfrm>
            <a:off x="1943100" y="1409700"/>
            <a:ext cx="13423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협력사망 경유를 통한 공급망 연쇄 침투</a:t>
            </a:r>
          </a:p>
        </p:txBody>
      </p:sp>
      <p:sp>
        <p:nvSpPr>
          <p:cNvPr id="15" name="TextBox 15"/>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a:solidFill>
                  <a:srgbClr val="024EA0"/>
                </a:solidFill>
                <a:latin typeface="Geologica Roman Light"/>
                <a:ea typeface="Geologica Roman Light"/>
                <a:cs typeface="Geologica Roman Light"/>
              </a:rPr>
              <a:t>32</a:t>
            </a:r>
          </a:p>
        </p:txBody>
      </p:sp>
      <p:sp>
        <p:nvSpPr>
          <p:cNvPr id="22" name="TextBox 22"/>
          <p:cNvSpPr txBox="1"/>
          <p:nvPr/>
        </p:nvSpPr>
        <p:spPr>
          <a:xfrm>
            <a:off x="10109200" y="6261100"/>
            <a:ext cx="12585700" cy="2082800"/>
          </a:xfrm>
          <a:prstGeom prst="rect">
            <a:avLst/>
          </a:prstGeom>
        </p:spPr>
        <p:txBody>
          <a:bodyPr lIns="0" tIns="0" rIns="0" bIns="0" rtlCol="0" anchor="t"/>
          <a:lstStyle/>
          <a:p>
            <a:pPr lvl="0" algn="l">
              <a:lnSpc>
                <a:spcPct val="116199"/>
              </a:lnSpc>
            </a:pPr>
            <a:r>
              <a:rPr lang="en-US" sz="2933" i="0" u="none" strike="noStrike" dirty="0" err="1">
                <a:solidFill>
                  <a:srgbClr val="000000"/>
                </a:solidFill>
                <a:latin typeface="Pretendard Medium"/>
                <a:ea typeface="Pretendard Medium"/>
                <a:cs typeface="Pretendard Medium"/>
              </a:rPr>
              <a:t>스크립트</a:t>
            </a:r>
            <a:r>
              <a:rPr lang="en-US" sz="2933" i="0" u="none" strike="noStrike" dirty="0">
                <a:solidFill>
                  <a:srgbClr val="000000"/>
                </a:solidFill>
                <a:latin typeface="Pretendard Medium"/>
                <a:ea typeface="Pretendard Medium"/>
                <a:cs typeface="Pretendard Medium"/>
              </a:rPr>
              <a:t>: </a:t>
            </a:r>
            <a:r>
              <a:rPr lang="en-US" sz="2933" i="0" u="none" strike="noStrike" dirty="0" err="1">
                <a:solidFill>
                  <a:srgbClr val="000000"/>
                </a:solidFill>
                <a:latin typeface="Pretendard Medium"/>
                <a:ea typeface="Pretendard Medium"/>
                <a:cs typeface="Pretendard Medium"/>
              </a:rPr>
              <a:t>브라우저가</a:t>
            </a:r>
            <a:r>
              <a:rPr lang="en-US" sz="2933" i="0" u="none" strike="noStrike" dirty="0">
                <a:solidFill>
                  <a:srgbClr val="000000"/>
                </a:solidFill>
                <a:latin typeface="Pretendard Medium"/>
                <a:ea typeface="Pretendard Medium"/>
                <a:cs typeface="Pretendard Medium"/>
              </a:rPr>
              <a:t> </a:t>
            </a:r>
            <a:r>
              <a:rPr lang="en-US" sz="2933" i="0" u="none" strike="noStrike" dirty="0" err="1">
                <a:solidFill>
                  <a:srgbClr val="000000"/>
                </a:solidFill>
                <a:latin typeface="Pretendard Medium"/>
                <a:ea typeface="Pretendard Medium"/>
                <a:cs typeface="Pretendard Medium"/>
              </a:rPr>
              <a:t>웹페이지를</a:t>
            </a:r>
            <a:r>
              <a:rPr lang="en-US" sz="2933" i="0" u="none" strike="noStrike" dirty="0">
                <a:solidFill>
                  <a:srgbClr val="000000"/>
                </a:solidFill>
                <a:latin typeface="Pretendard Medium"/>
                <a:ea typeface="Pretendard Medium"/>
                <a:cs typeface="Pretendard Medium"/>
              </a:rPr>
              <a:t> 열 때 </a:t>
            </a:r>
            <a:r>
              <a:rPr lang="en-US" sz="2933" i="0" u="none" strike="noStrike" dirty="0" err="1">
                <a:solidFill>
                  <a:srgbClr val="000000"/>
                </a:solidFill>
                <a:latin typeface="Pretendard Medium"/>
                <a:ea typeface="Pretendard Medium"/>
                <a:cs typeface="Pretendard Medium"/>
              </a:rPr>
              <a:t>자동으로</a:t>
            </a:r>
            <a:r>
              <a:rPr lang="en-US" sz="2933" i="0" u="none" strike="noStrike" dirty="0">
                <a:solidFill>
                  <a:srgbClr val="000000"/>
                </a:solidFill>
                <a:latin typeface="Pretendard Medium"/>
                <a:ea typeface="Pretendard Medium"/>
                <a:cs typeface="Pretendard Medium"/>
              </a:rPr>
              <a:t> </a:t>
            </a:r>
            <a:r>
              <a:rPr lang="en-US" sz="2933" i="0" u="none" strike="noStrike" dirty="0" err="1">
                <a:solidFill>
                  <a:srgbClr val="000000"/>
                </a:solidFill>
                <a:latin typeface="Pretendard Medium"/>
                <a:ea typeface="Pretendard Medium"/>
                <a:cs typeface="Pretendard Medium"/>
              </a:rPr>
              <a:t>실행되는</a:t>
            </a:r>
            <a:r>
              <a:rPr lang="en-US" sz="2933" i="0" u="none" strike="noStrike" dirty="0">
                <a:solidFill>
                  <a:srgbClr val="000000"/>
                </a:solidFill>
                <a:latin typeface="Pretendard Medium"/>
                <a:ea typeface="Pretendard Medium"/>
                <a:cs typeface="Pretendard Medium"/>
              </a:rPr>
              <a:t> </a:t>
            </a:r>
            <a:r>
              <a:rPr lang="en-US" sz="2933" i="0" u="none" strike="noStrike" dirty="0" err="1">
                <a:solidFill>
                  <a:srgbClr val="000000"/>
                </a:solidFill>
                <a:latin typeface="Pretendard Medium"/>
                <a:ea typeface="Pretendard Medium"/>
                <a:cs typeface="Pretendard Medium"/>
              </a:rPr>
              <a:t>코드</a:t>
            </a:r>
            <a:r>
              <a:rPr lang="en-US" sz="2933" i="0" u="none" strike="noStrike" dirty="0">
                <a:solidFill>
                  <a:srgbClr val="000000"/>
                </a:solidFill>
                <a:latin typeface="Pretendard Medium"/>
                <a:ea typeface="Pretendard Medium"/>
                <a:cs typeface="Pretendard Medium"/>
              </a:rPr>
              <a:t>. </a:t>
            </a:r>
            <a:r>
              <a:rPr lang="en-US" sz="2933" i="0" u="none" strike="noStrike" dirty="0" err="1">
                <a:solidFill>
                  <a:srgbClr val="000000"/>
                </a:solidFill>
                <a:latin typeface="Pretendard Medium"/>
                <a:ea typeface="Pretendard Medium"/>
                <a:cs typeface="Pretendard Medium"/>
              </a:rPr>
              <a:t>버튼</a:t>
            </a:r>
            <a:r>
              <a:rPr lang="en-US" sz="2933" i="0" u="none" strike="noStrike" dirty="0">
                <a:solidFill>
                  <a:srgbClr val="000000"/>
                </a:solidFill>
                <a:latin typeface="Pretendard Medium"/>
                <a:ea typeface="Pretendard Medium"/>
                <a:cs typeface="Pretendard Medium"/>
              </a:rPr>
              <a:t> </a:t>
            </a:r>
            <a:r>
              <a:rPr lang="en-US" sz="2933" i="0" u="none" strike="noStrike" dirty="0" err="1">
                <a:solidFill>
                  <a:srgbClr val="000000"/>
                </a:solidFill>
                <a:latin typeface="Pretendard Medium"/>
                <a:ea typeface="Pretendard Medium"/>
                <a:cs typeface="Pretendard Medium"/>
              </a:rPr>
              <a:t>클릭</a:t>
            </a:r>
            <a:r>
              <a:rPr lang="en-US" sz="2933" i="0" u="none" strike="noStrike" dirty="0">
                <a:solidFill>
                  <a:srgbClr val="000000"/>
                </a:solidFill>
                <a:latin typeface="Pretendard Medium"/>
                <a:ea typeface="Pretendard Medium"/>
                <a:cs typeface="Pretendard Medium"/>
              </a:rPr>
              <a:t>, </a:t>
            </a:r>
          </a:p>
          <a:p>
            <a:pPr lvl="0" algn="l">
              <a:lnSpc>
                <a:spcPct val="116199"/>
              </a:lnSpc>
            </a:pPr>
            <a:r>
              <a:rPr lang="en-US" sz="2933" dirty="0">
                <a:solidFill>
                  <a:srgbClr val="000000"/>
                </a:solidFill>
                <a:latin typeface="Pretendard Medium"/>
                <a:ea typeface="Pretendard Medium"/>
                <a:cs typeface="Pretendard Medium"/>
              </a:rPr>
              <a:t>	      </a:t>
            </a:r>
            <a:r>
              <a:rPr lang="en-US" sz="2933" i="0" u="none" strike="noStrike" dirty="0" err="1">
                <a:solidFill>
                  <a:srgbClr val="000000"/>
                </a:solidFill>
                <a:latin typeface="Pretendard Medium"/>
                <a:ea typeface="Pretendard Medium"/>
                <a:cs typeface="Pretendard Medium"/>
              </a:rPr>
              <a:t>팝업</a:t>
            </a:r>
            <a:r>
              <a:rPr lang="en-US" sz="2933" i="0" u="none" strike="noStrike" dirty="0">
                <a:solidFill>
                  <a:srgbClr val="000000"/>
                </a:solidFill>
                <a:latin typeface="Pretendard Medium"/>
                <a:ea typeface="Pretendard Medium"/>
                <a:cs typeface="Pretendard Medium"/>
              </a:rPr>
              <a:t> </a:t>
            </a:r>
            <a:r>
              <a:rPr lang="en-US" sz="2933" i="0" u="none" strike="noStrike" dirty="0" err="1">
                <a:solidFill>
                  <a:srgbClr val="000000"/>
                </a:solidFill>
                <a:latin typeface="Pretendard Medium"/>
                <a:ea typeface="Pretendard Medium"/>
                <a:cs typeface="Pretendard Medium"/>
              </a:rPr>
              <a:t>같은</a:t>
            </a:r>
            <a:r>
              <a:rPr lang="en-US" sz="2933" i="0" u="none" strike="noStrike" dirty="0">
                <a:solidFill>
                  <a:srgbClr val="000000"/>
                </a:solidFill>
                <a:latin typeface="Pretendard Medium"/>
                <a:ea typeface="Pretendard Medium"/>
                <a:cs typeface="Pretendard Medium"/>
              </a:rPr>
              <a:t> </a:t>
            </a:r>
            <a:r>
              <a:rPr lang="en-US" sz="2933" i="0" u="none" strike="noStrike" dirty="0" err="1">
                <a:solidFill>
                  <a:srgbClr val="000000"/>
                </a:solidFill>
                <a:latin typeface="Pretendard Medium"/>
                <a:ea typeface="Pretendard Medium"/>
                <a:cs typeface="Pretendard Medium"/>
              </a:rPr>
              <a:t>동작을</a:t>
            </a:r>
            <a:r>
              <a:rPr lang="en-US" sz="2933" i="0" u="none" strike="noStrike" dirty="0">
                <a:solidFill>
                  <a:srgbClr val="000000"/>
                </a:solidFill>
                <a:latin typeface="Pretendard Medium"/>
                <a:ea typeface="Pretendard Medium"/>
                <a:cs typeface="Pretendard Medium"/>
              </a:rPr>
              <a:t> </a:t>
            </a:r>
            <a:r>
              <a:rPr lang="en-US" sz="2933" i="0" u="none" strike="noStrike" dirty="0" err="1">
                <a:solidFill>
                  <a:srgbClr val="000000"/>
                </a:solidFill>
                <a:latin typeface="Pretendard Medium"/>
                <a:ea typeface="Pretendard Medium"/>
                <a:cs typeface="Pretendard Medium"/>
              </a:rPr>
              <a:t>만들어냄</a:t>
            </a:r>
            <a:r>
              <a:rPr lang="en-US" sz="2933" i="0" u="none" strike="noStrike" dirty="0">
                <a:solidFill>
                  <a:srgbClr val="000000"/>
                </a:solidFill>
                <a:latin typeface="Pretendard Medium"/>
                <a:ea typeface="Pretendard Medium"/>
                <a:cs typeface="Pretendard Medium"/>
              </a:rPr>
              <a:t>
웹 </a:t>
            </a:r>
            <a:r>
              <a:rPr lang="en-US" sz="2933" i="0" u="none" strike="noStrike" dirty="0" err="1">
                <a:solidFill>
                  <a:srgbClr val="000000"/>
                </a:solidFill>
                <a:latin typeface="Pretendard Medium"/>
                <a:ea typeface="Pretendard Medium"/>
                <a:cs typeface="Pretendard Medium"/>
              </a:rPr>
              <a:t>필터링</a:t>
            </a:r>
            <a:r>
              <a:rPr lang="en-US" sz="2933" i="0" u="none" strike="noStrike" dirty="0">
                <a:solidFill>
                  <a:srgbClr val="000000"/>
                </a:solidFill>
                <a:latin typeface="Pretendard Medium"/>
                <a:ea typeface="Pretendard Medium"/>
                <a:cs typeface="Pretendard Medium"/>
              </a:rPr>
              <a:t>: </a:t>
            </a:r>
            <a:r>
              <a:rPr lang="en-US" sz="2933" i="0" u="none" strike="noStrike" dirty="0" err="1">
                <a:solidFill>
                  <a:srgbClr val="000000"/>
                </a:solidFill>
                <a:latin typeface="Pretendard Medium"/>
                <a:ea typeface="Pretendard Medium"/>
                <a:cs typeface="Pretendard Medium"/>
              </a:rPr>
              <a:t>사용자가</a:t>
            </a:r>
            <a:r>
              <a:rPr lang="en-US" sz="2933" i="0" u="none" strike="noStrike" dirty="0">
                <a:solidFill>
                  <a:srgbClr val="000000"/>
                </a:solidFill>
                <a:latin typeface="Pretendard Medium"/>
                <a:ea typeface="Pretendard Medium"/>
                <a:cs typeface="Pretendard Medium"/>
              </a:rPr>
              <a:t> </a:t>
            </a:r>
            <a:r>
              <a:rPr lang="en-US" sz="2933" i="0" u="none" strike="noStrike" dirty="0" err="1">
                <a:solidFill>
                  <a:srgbClr val="000000"/>
                </a:solidFill>
                <a:latin typeface="Pretendard Medium"/>
                <a:ea typeface="Pretendard Medium"/>
                <a:cs typeface="Pretendard Medium"/>
              </a:rPr>
              <a:t>입력한</a:t>
            </a:r>
            <a:r>
              <a:rPr lang="en-US" sz="2933" i="0" u="none" strike="noStrike" dirty="0">
                <a:solidFill>
                  <a:srgbClr val="000000"/>
                </a:solidFill>
                <a:latin typeface="Pretendard Medium"/>
                <a:ea typeface="Pretendard Medium"/>
                <a:cs typeface="Pretendard Medium"/>
              </a:rPr>
              <a:t> </a:t>
            </a:r>
            <a:r>
              <a:rPr lang="en-US" sz="2933" i="0" u="none" strike="noStrike" dirty="0" err="1">
                <a:solidFill>
                  <a:srgbClr val="000000"/>
                </a:solidFill>
                <a:latin typeface="Pretendard Medium"/>
                <a:ea typeface="Pretendard Medium"/>
                <a:cs typeface="Pretendard Medium"/>
              </a:rPr>
              <a:t>값에서</a:t>
            </a:r>
            <a:r>
              <a:rPr lang="en-US" sz="2933" i="0" u="none" strike="noStrike" dirty="0">
                <a:solidFill>
                  <a:srgbClr val="000000"/>
                </a:solidFill>
                <a:latin typeface="Pretendard Medium"/>
                <a:ea typeface="Pretendard Medium"/>
                <a:cs typeface="Pretendard Medium"/>
              </a:rPr>
              <a:t> </a:t>
            </a:r>
            <a:r>
              <a:rPr lang="en-US" sz="2933" i="0" u="none" strike="noStrike" dirty="0" err="1">
                <a:solidFill>
                  <a:srgbClr val="000000"/>
                </a:solidFill>
                <a:latin typeface="Pretendard Medium"/>
                <a:ea typeface="Pretendard Medium"/>
                <a:cs typeface="Pretendard Medium"/>
              </a:rPr>
              <a:t>위험한</a:t>
            </a:r>
            <a:r>
              <a:rPr lang="en-US" sz="2933" i="0" u="none" strike="noStrike" dirty="0">
                <a:solidFill>
                  <a:srgbClr val="000000"/>
                </a:solidFill>
                <a:latin typeface="Pretendard Medium"/>
                <a:ea typeface="Pretendard Medium"/>
                <a:cs typeface="Pretendard Medium"/>
              </a:rPr>
              <a:t> </a:t>
            </a:r>
            <a:r>
              <a:rPr lang="en-US" sz="2933" i="0" u="none" strike="noStrike" dirty="0" err="1">
                <a:solidFill>
                  <a:srgbClr val="000000"/>
                </a:solidFill>
                <a:latin typeface="Pretendard Medium"/>
                <a:ea typeface="Pretendard Medium"/>
                <a:cs typeface="Pretendard Medium"/>
              </a:rPr>
              <a:t>코드를</a:t>
            </a:r>
            <a:r>
              <a:rPr lang="en-US" sz="2933" i="0" u="none" strike="noStrike" dirty="0">
                <a:solidFill>
                  <a:srgbClr val="000000"/>
                </a:solidFill>
                <a:latin typeface="Pretendard Medium"/>
                <a:ea typeface="Pretendard Medium"/>
                <a:cs typeface="Pretendard Medium"/>
              </a:rPr>
              <a:t> </a:t>
            </a:r>
            <a:r>
              <a:rPr lang="en-US" sz="2933" i="0" u="none" strike="noStrike" dirty="0" err="1">
                <a:solidFill>
                  <a:srgbClr val="000000"/>
                </a:solidFill>
                <a:latin typeface="Pretendard Medium"/>
                <a:ea typeface="Pretendard Medium"/>
                <a:cs typeface="Pretendard Medium"/>
              </a:rPr>
              <a:t>걸러내는</a:t>
            </a:r>
            <a:r>
              <a:rPr lang="en-US" sz="2933" i="0" u="none" strike="noStrike" dirty="0">
                <a:solidFill>
                  <a:srgbClr val="000000"/>
                </a:solidFill>
                <a:latin typeface="Pretendard Medium"/>
                <a:ea typeface="Pretendard Medium"/>
                <a:cs typeface="Pretendard Medium"/>
              </a:rPr>
              <a:t> </a:t>
            </a:r>
            <a:r>
              <a:rPr lang="en-US" sz="2933" i="0" u="none" strike="noStrike" dirty="0" err="1">
                <a:solidFill>
                  <a:srgbClr val="000000"/>
                </a:solidFill>
                <a:latin typeface="Pretendard Medium"/>
                <a:ea typeface="Pretendard Medium"/>
                <a:cs typeface="Pretendard Medium"/>
              </a:rPr>
              <a:t>보안</a:t>
            </a:r>
            <a:r>
              <a:rPr lang="en-US" sz="2933" i="0" u="none" strike="noStrike" dirty="0">
                <a:solidFill>
                  <a:srgbClr val="000000"/>
                </a:solidFill>
                <a:latin typeface="Pretendard Medium"/>
                <a:ea typeface="Pretendard Medium"/>
                <a:cs typeface="Pretendard Medium"/>
              </a:rPr>
              <a:t> </a:t>
            </a:r>
            <a:r>
              <a:rPr lang="en-US" sz="2933" i="0" u="none" strike="noStrike" dirty="0" err="1">
                <a:solidFill>
                  <a:srgbClr val="000000"/>
                </a:solidFill>
                <a:latin typeface="Pretendard Medium"/>
                <a:ea typeface="Pretendard Medium"/>
                <a:cs typeface="Pretendard Medium"/>
              </a:rPr>
              <a:t>장치</a:t>
            </a:r>
            <a:endParaRPr lang="en-US" sz="2933" i="0" u="none" strike="noStrike" dirty="0">
              <a:solidFill>
                <a:srgbClr val="000000"/>
              </a:solidFill>
              <a:latin typeface="Pretendard Medium"/>
              <a:ea typeface="Pretendard Medium"/>
              <a:cs typeface="Pretendard Medium"/>
            </a:endParaRPr>
          </a:p>
        </p:txBody>
      </p:sp>
      <p:sp>
        <p:nvSpPr>
          <p:cNvPr id="23" name="TextBox 23"/>
          <p:cNvSpPr txBox="1"/>
          <p:nvPr/>
        </p:nvSpPr>
        <p:spPr>
          <a:xfrm>
            <a:off x="7988300" y="6286500"/>
            <a:ext cx="1854200" cy="571500"/>
          </a:xfrm>
          <a:prstGeom prst="rect">
            <a:avLst/>
          </a:prstGeom>
        </p:spPr>
        <p:txBody>
          <a:bodyPr lIns="0" tIns="0" rIns="0" bIns="0" rtlCol="0" anchor="t"/>
          <a:lstStyle/>
          <a:p>
            <a:pPr lvl="0" algn="l">
              <a:lnSpc>
                <a:spcPct val="116199"/>
              </a:lnSpc>
            </a:pPr>
            <a:r>
              <a:rPr lang="en-US" sz="3199" b="1" i="0" u="none" strike="noStrike">
                <a:solidFill>
                  <a:srgbClr val="000000"/>
                </a:solidFill>
                <a:latin typeface="Pretendard Medium"/>
                <a:ea typeface="Pretendard Medium"/>
                <a:cs typeface="Pretendard Medium"/>
              </a:rPr>
              <a:t>사전 지식</a:t>
            </a:r>
          </a:p>
        </p:txBody>
      </p:sp>
      <p:sp>
        <p:nvSpPr>
          <p:cNvPr id="24" name="TextBox 24"/>
          <p:cNvSpPr txBox="1"/>
          <p:nvPr/>
        </p:nvSpPr>
        <p:spPr>
          <a:xfrm>
            <a:off x="10160000" y="8864600"/>
            <a:ext cx="12598400" cy="2082800"/>
          </a:xfrm>
          <a:prstGeom prst="rect">
            <a:avLst/>
          </a:prstGeom>
        </p:spPr>
        <p:txBody>
          <a:bodyPr lIns="0" tIns="0" rIns="0" bIns="0" rtlCol="0" anchor="t"/>
          <a:lstStyle/>
          <a:p>
            <a:pPr lvl="0" algn="l">
              <a:lnSpc>
                <a:spcPct val="116199"/>
              </a:lnSpc>
            </a:pPr>
            <a:r>
              <a:rPr lang="en-US" sz="2933" b="0" i="0" u="none" strike="noStrike" dirty="0" err="1">
                <a:solidFill>
                  <a:srgbClr val="000000"/>
                </a:solidFill>
                <a:latin typeface="Pretendard Medium"/>
                <a:ea typeface="Pretendard Medium"/>
                <a:cs typeface="Pretendard Medium"/>
              </a:rPr>
              <a:t>러시아-우크라이나</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전쟁</a:t>
            </a:r>
            <a:r>
              <a:rPr lang="en-US" sz="2933" b="0" i="0" u="none" strike="noStrike" dirty="0">
                <a:solidFill>
                  <a:srgbClr val="000000"/>
                </a:solidFill>
                <a:latin typeface="Pretendard Medium"/>
                <a:ea typeface="Pretendard Medium"/>
                <a:cs typeface="Pretendard Medium"/>
              </a:rPr>
              <a:t> 중 </a:t>
            </a:r>
            <a:r>
              <a:rPr lang="en-US" sz="2933" b="0" i="0" u="none" strike="noStrike" dirty="0" err="1">
                <a:solidFill>
                  <a:srgbClr val="000000"/>
                </a:solidFill>
                <a:latin typeface="Pretendard Medium"/>
                <a:ea typeface="Pretendard Medium"/>
                <a:cs typeface="Pretendard Medium"/>
              </a:rPr>
              <a:t>러시아</a:t>
            </a:r>
            <a:r>
              <a:rPr lang="en-US" sz="2933" b="0" i="0" u="none" strike="noStrike" dirty="0">
                <a:solidFill>
                  <a:srgbClr val="000000"/>
                </a:solidFill>
                <a:latin typeface="Pretendard Medium"/>
                <a:ea typeface="Pretendard Medium"/>
                <a:cs typeface="Pretendard Medium"/>
              </a:rPr>
              <a:t> APT28이 </a:t>
            </a:r>
            <a:r>
              <a:rPr lang="en-US" sz="2933" b="0" i="0" u="none" strike="noStrike" dirty="0" err="1">
                <a:solidFill>
                  <a:srgbClr val="000000"/>
                </a:solidFill>
                <a:latin typeface="Pretendard Medium"/>
                <a:ea typeface="Pretendard Medium"/>
                <a:cs typeface="Pretendard Medium"/>
              </a:rPr>
              <a:t>수행한</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고스트메일</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작전에서</a:t>
            </a:r>
            <a:r>
              <a:rPr lang="en-US" sz="2933" b="0" i="0" u="none" strike="noStrike" dirty="0">
                <a:solidFill>
                  <a:srgbClr val="000000"/>
                </a:solidFill>
                <a:latin typeface="Pretendard Medium"/>
                <a:ea typeface="Pretendard Medium"/>
                <a:cs typeface="Pretendard Medium"/>
              </a:rPr>
              <a:t> </a:t>
            </a:r>
          </a:p>
          <a:p>
            <a:pPr lvl="0" algn="l">
              <a:lnSpc>
                <a:spcPct val="116199"/>
              </a:lnSpc>
            </a:pPr>
            <a:r>
              <a:rPr lang="en-US" sz="2933" b="0" i="0" u="none" strike="noStrike" dirty="0" err="1">
                <a:solidFill>
                  <a:srgbClr val="000000"/>
                </a:solidFill>
                <a:latin typeface="Pretendard Medium"/>
                <a:ea typeface="Pretendard Medium"/>
                <a:cs typeface="Pretendard Medium"/>
              </a:rPr>
              <a:t>실제로</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사용된</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취약점</a:t>
            </a:r>
            <a:r>
              <a:rPr lang="en-US" sz="2933" b="0" i="0" u="none" strike="noStrike" dirty="0">
                <a:solidFill>
                  <a:srgbClr val="000000"/>
                </a:solidFill>
                <a:latin typeface="Pretendard Medium"/>
                <a:ea typeface="Pretendard Medium"/>
                <a:cs typeface="Pretendard Medium"/>
              </a:rPr>
              <a:t>. </a:t>
            </a:r>
          </a:p>
          <a:p>
            <a:pPr lvl="0" algn="l">
              <a:lnSpc>
                <a:spcPct val="116199"/>
              </a:lnSpc>
            </a:pPr>
            <a:r>
              <a:rPr lang="en-US" sz="2933" b="0" i="0" u="none" strike="noStrike" dirty="0" err="1">
                <a:solidFill>
                  <a:srgbClr val="000000"/>
                </a:solidFill>
                <a:latin typeface="Pretendard Medium"/>
                <a:ea typeface="Pretendard Medium"/>
                <a:cs typeface="Pretendard Medium"/>
              </a:rPr>
              <a:t>우크라이나</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정부를</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대상으로</a:t>
            </a:r>
            <a:r>
              <a:rPr lang="en-US" sz="2933" b="0" i="0" u="none" strike="noStrike" dirty="0">
                <a:solidFill>
                  <a:srgbClr val="000000"/>
                </a:solidFill>
                <a:latin typeface="Pretendard Medium"/>
                <a:ea typeface="Pretendard Medium"/>
                <a:cs typeface="Pretendard Medium"/>
              </a:rPr>
              <a:t> Zimbra </a:t>
            </a:r>
            <a:r>
              <a:rPr lang="en-US" sz="2933" b="0" i="0" u="none" strike="noStrike" dirty="0" err="1">
                <a:solidFill>
                  <a:srgbClr val="000000"/>
                </a:solidFill>
                <a:latin typeface="Pretendard Medium"/>
                <a:ea typeface="Pretendard Medium"/>
                <a:cs typeface="Pretendard Medium"/>
              </a:rPr>
              <a:t>메일을</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통해</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데이터를</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탈취함</a:t>
            </a:r>
            <a:r>
              <a:rPr lang="en-US" sz="2933" b="0" i="0" u="none" strike="noStrike" dirty="0">
                <a:solidFill>
                  <a:srgbClr val="000000"/>
                </a:solidFill>
                <a:latin typeface="Pretendard Medium"/>
                <a:ea typeface="Pretendard Medium"/>
                <a:cs typeface="Pretendard Medium"/>
              </a:rPr>
              <a:t>.</a:t>
            </a:r>
          </a:p>
          <a:p>
            <a:pPr lvl="0" algn="l">
              <a:lnSpc>
                <a:spcPct val="116199"/>
              </a:lnSpc>
            </a:pPr>
            <a:r>
              <a:rPr lang="en-US" sz="2933" b="0" i="0" u="none" strike="noStrike" dirty="0">
                <a:solidFill>
                  <a:srgbClr val="000000"/>
                </a:solidFill>
                <a:latin typeface="Pretendard Medium"/>
                <a:ea typeface="Pretendard Medium"/>
                <a:cs typeface="Pretendard Medium"/>
              </a:rPr>
              <a:t>이 </a:t>
            </a:r>
            <a:r>
              <a:rPr lang="en-US" sz="2933" b="0" i="0" u="none" strike="noStrike" dirty="0" err="1">
                <a:solidFill>
                  <a:srgbClr val="000000"/>
                </a:solidFill>
                <a:latin typeface="Pretendard Medium"/>
                <a:ea typeface="Pretendard Medium"/>
                <a:cs typeface="Pretendard Medium"/>
              </a:rPr>
              <a:t>단계의</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목표는</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이후</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악성</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코드가</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실행될</a:t>
            </a:r>
            <a:r>
              <a:rPr lang="en-US" sz="2933" b="0" i="0" u="none" strike="noStrike" dirty="0">
                <a:solidFill>
                  <a:srgbClr val="000000"/>
                </a:solidFill>
                <a:latin typeface="Pretendard Medium"/>
                <a:ea typeface="Pretendard Medium"/>
                <a:cs typeface="Pretendard Medium"/>
              </a:rPr>
              <a:t> 수 </a:t>
            </a:r>
            <a:r>
              <a:rPr lang="en-US" sz="2933" b="0" i="0" u="none" strike="noStrike" dirty="0" err="1">
                <a:solidFill>
                  <a:srgbClr val="000000"/>
                </a:solidFill>
                <a:latin typeface="Pretendard Medium"/>
                <a:ea typeface="Pretendard Medium"/>
                <a:cs typeface="Pretendard Medium"/>
              </a:rPr>
              <a:t>있는</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환경을</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만드는</a:t>
            </a:r>
            <a:r>
              <a:rPr lang="en-US" sz="2933" b="0" i="0" u="none" strike="noStrike" dirty="0">
                <a:solidFill>
                  <a:srgbClr val="000000"/>
                </a:solidFill>
                <a:latin typeface="Pretendard Medium"/>
                <a:ea typeface="Pretendard Medium"/>
                <a:cs typeface="Pretendard Medium"/>
              </a:rPr>
              <a:t> 것</a:t>
            </a:r>
          </a:p>
        </p:txBody>
      </p:sp>
      <p:sp>
        <p:nvSpPr>
          <p:cNvPr id="25" name="TextBox 25"/>
          <p:cNvSpPr txBox="1"/>
          <p:nvPr/>
        </p:nvSpPr>
        <p:spPr>
          <a:xfrm>
            <a:off x="7988300" y="8864600"/>
            <a:ext cx="1854200" cy="571500"/>
          </a:xfrm>
          <a:prstGeom prst="rect">
            <a:avLst/>
          </a:prstGeom>
        </p:spPr>
        <p:txBody>
          <a:bodyPr lIns="0" tIns="0" rIns="0" bIns="0" rtlCol="0" anchor="t"/>
          <a:lstStyle/>
          <a:p>
            <a:pPr lvl="0" algn="l">
              <a:lnSpc>
                <a:spcPct val="116199"/>
              </a:lnSpc>
            </a:pPr>
            <a:r>
              <a:rPr lang="en-US" sz="3200" b="1" i="0" u="none" strike="noStrike">
                <a:solidFill>
                  <a:srgbClr val="000000"/>
                </a:solidFill>
                <a:latin typeface="Pretendard Medium"/>
                <a:ea typeface="Pretendard Medium"/>
                <a:cs typeface="Pretendard Medium"/>
              </a:rPr>
              <a:t>선정 이유</a:t>
            </a:r>
          </a:p>
        </p:txBody>
      </p:sp>
      <p:sp>
        <p:nvSpPr>
          <p:cNvPr id="26" name="TextBox 26"/>
          <p:cNvSpPr txBox="1"/>
          <p:nvPr/>
        </p:nvSpPr>
        <p:spPr>
          <a:xfrm>
            <a:off x="1930400" y="29591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Zimbra : CVE-2025-66376</a:t>
            </a:r>
          </a:p>
        </p:txBody>
      </p:sp>
      <p:sp>
        <p:nvSpPr>
          <p:cNvPr id="37" name="TextBox 14">
            <a:extLst>
              <a:ext uri="{FF2B5EF4-FFF2-40B4-BE49-F238E27FC236}">
                <a16:creationId xmlns:a16="http://schemas.microsoft.com/office/drawing/2014/main" id="{95B512DA-5494-237B-20AD-257DFCCB3EF5}"/>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38" name="TextBox 14">
            <a:extLst>
              <a:ext uri="{FF2B5EF4-FFF2-40B4-BE49-F238E27FC236}">
                <a16:creationId xmlns:a16="http://schemas.microsoft.com/office/drawing/2014/main" id="{C155D38F-F6C1-0764-DAD1-186803452CA5}"/>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39" name="Picture 2">
            <a:extLst>
              <a:ext uri="{FF2B5EF4-FFF2-40B4-BE49-F238E27FC236}">
                <a16:creationId xmlns:a16="http://schemas.microsoft.com/office/drawing/2014/main" id="{58041E89-FB3B-9E36-400D-32C8BDA38126}"/>
              </a:ext>
            </a:extLst>
          </p:cNvPr>
          <p:cNvPicPr>
            <a:picLocks noChangeAspect="1"/>
          </p:cNvPicPr>
          <p:nvPr/>
        </p:nvPicPr>
        <p:blipFill>
          <a:blip r:embed="rId7">
            <a:alphaModFix amt="85000"/>
          </a:blip>
          <a:stretch>
            <a:fillRect/>
          </a:stretch>
        </p:blipFill>
        <p:spPr>
          <a:xfrm>
            <a:off x="11201400" y="558800"/>
            <a:ext cx="2705100" cy="444500"/>
          </a:xfrm>
          <a:prstGeom prst="rect">
            <a:avLst/>
          </a:prstGeom>
        </p:spPr>
      </p:pic>
      <p:sp>
        <p:nvSpPr>
          <p:cNvPr id="40" name="TextBox 16">
            <a:extLst>
              <a:ext uri="{FF2B5EF4-FFF2-40B4-BE49-F238E27FC236}">
                <a16:creationId xmlns:a16="http://schemas.microsoft.com/office/drawing/2014/main" id="{EEEFF707-1FFB-4E84-4A1A-13736CC37F7B}"/>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41" name="TextBox 18">
            <a:extLst>
              <a:ext uri="{FF2B5EF4-FFF2-40B4-BE49-F238E27FC236}">
                <a16:creationId xmlns:a16="http://schemas.microsoft.com/office/drawing/2014/main" id="{08C4C729-9BB5-2663-812E-4F9306258C5F}"/>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42" name="TextBox 19">
            <a:extLst>
              <a:ext uri="{FF2B5EF4-FFF2-40B4-BE49-F238E27FC236}">
                <a16:creationId xmlns:a16="http://schemas.microsoft.com/office/drawing/2014/main" id="{3D08AC29-CCB9-8781-E1F1-DC681F8D7039}"/>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43" name="TextBox 20">
            <a:extLst>
              <a:ext uri="{FF2B5EF4-FFF2-40B4-BE49-F238E27FC236}">
                <a16:creationId xmlns:a16="http://schemas.microsoft.com/office/drawing/2014/main" id="{09B7C735-DCED-D269-0B81-C7D0427F735C}"/>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pic>
        <p:nvPicPr>
          <p:cNvPr id="12" name="Picture 6">
            <a:extLst>
              <a:ext uri="{FF2B5EF4-FFF2-40B4-BE49-F238E27FC236}">
                <a16:creationId xmlns:a16="http://schemas.microsoft.com/office/drawing/2014/main" id="{5E733280-B17E-44A6-52DB-14A5F8E4A249}"/>
              </a:ext>
            </a:extLst>
          </p:cNvPr>
          <p:cNvPicPr>
            <a:picLocks noChangeAspect="1"/>
          </p:cNvPicPr>
          <p:nvPr/>
        </p:nvPicPr>
        <p:blipFill>
          <a:blip r:embed="rId8"/>
          <a:stretch>
            <a:fillRect/>
          </a:stretch>
        </p:blipFill>
        <p:spPr>
          <a:xfrm>
            <a:off x="1955800" y="4368800"/>
            <a:ext cx="4381500" cy="6997700"/>
          </a:xfrm>
          <a:prstGeom prst="rect">
            <a:avLst/>
          </a:prstGeom>
          <a:effectLst>
            <a:outerShdw blurRad="241107" dist="101164" dir="2700000">
              <a:srgbClr val="000000">
                <a:alpha val="15000"/>
              </a:srgbClr>
            </a:outerShdw>
          </a:effectLst>
        </p:spPr>
      </p:pic>
      <p:pic>
        <p:nvPicPr>
          <p:cNvPr id="16" name="Picture 27">
            <a:extLst>
              <a:ext uri="{FF2B5EF4-FFF2-40B4-BE49-F238E27FC236}">
                <a16:creationId xmlns:a16="http://schemas.microsoft.com/office/drawing/2014/main" id="{6F601DE0-53AD-C91E-6E2B-AF6C86A6A273}"/>
              </a:ext>
            </a:extLst>
          </p:cNvPr>
          <p:cNvPicPr>
            <a:picLocks noChangeAspect="1"/>
          </p:cNvPicPr>
          <p:nvPr/>
        </p:nvPicPr>
        <p:blipFill>
          <a:blip r:embed="rId9"/>
          <a:stretch>
            <a:fillRect/>
          </a:stretch>
        </p:blipFill>
        <p:spPr>
          <a:xfrm>
            <a:off x="3124200" y="4927600"/>
            <a:ext cx="1320800" cy="1168400"/>
          </a:xfrm>
          <a:prstGeom prst="rect">
            <a:avLst/>
          </a:prstGeom>
        </p:spPr>
      </p:pic>
      <p:pic>
        <p:nvPicPr>
          <p:cNvPr id="17" name="Picture 28">
            <a:extLst>
              <a:ext uri="{FF2B5EF4-FFF2-40B4-BE49-F238E27FC236}">
                <a16:creationId xmlns:a16="http://schemas.microsoft.com/office/drawing/2014/main" id="{9F20E0FB-4815-CA5B-9CA4-541F91775258}"/>
              </a:ext>
            </a:extLst>
          </p:cNvPr>
          <p:cNvPicPr>
            <a:picLocks noChangeAspect="1"/>
          </p:cNvPicPr>
          <p:nvPr/>
        </p:nvPicPr>
        <p:blipFill>
          <a:blip r:embed="rId10"/>
          <a:stretch>
            <a:fillRect/>
          </a:stretch>
        </p:blipFill>
        <p:spPr>
          <a:xfrm>
            <a:off x="2870200" y="8178800"/>
            <a:ext cx="1841500" cy="1841500"/>
          </a:xfrm>
          <a:prstGeom prst="rect">
            <a:avLst/>
          </a:prstGeom>
        </p:spPr>
      </p:pic>
      <p:sp>
        <p:nvSpPr>
          <p:cNvPr id="18" name="TextBox 29">
            <a:extLst>
              <a:ext uri="{FF2B5EF4-FFF2-40B4-BE49-F238E27FC236}">
                <a16:creationId xmlns:a16="http://schemas.microsoft.com/office/drawing/2014/main" id="{FADC293C-FE96-73F4-71FF-51E6CC251C96}"/>
              </a:ext>
            </a:extLst>
          </p:cNvPr>
          <p:cNvSpPr txBox="1"/>
          <p:nvPr/>
        </p:nvSpPr>
        <p:spPr>
          <a:xfrm>
            <a:off x="2717800" y="6337300"/>
            <a:ext cx="2235200" cy="469900"/>
          </a:xfrm>
          <a:prstGeom prst="rect">
            <a:avLst/>
          </a:prstGeom>
        </p:spPr>
        <p:txBody>
          <a:bodyPr lIns="0" tIns="0" rIns="0" bIns="0" rtlCol="0" anchor="t"/>
          <a:lstStyle/>
          <a:p>
            <a:pPr lvl="0" algn="ctr">
              <a:lnSpc>
                <a:spcPct val="116199"/>
              </a:lnSpc>
            </a:pPr>
            <a:r>
              <a:rPr lang="en-US" sz="2607" b="0" i="0" u="none" strike="noStrike">
                <a:solidFill>
                  <a:srgbClr val="000000"/>
                </a:solidFill>
                <a:latin typeface="Pretendard Medium"/>
                <a:ea typeface="Pretendard Medium"/>
                <a:cs typeface="Pretendard Medium"/>
              </a:rPr>
              <a:t>IT 관리자</a:t>
            </a:r>
          </a:p>
        </p:txBody>
      </p:sp>
      <p:sp>
        <p:nvSpPr>
          <p:cNvPr id="19" name="TextBox 30">
            <a:extLst>
              <a:ext uri="{FF2B5EF4-FFF2-40B4-BE49-F238E27FC236}">
                <a16:creationId xmlns:a16="http://schemas.microsoft.com/office/drawing/2014/main" id="{FFA9B936-15FA-BF91-D94B-1FE757DC0440}"/>
              </a:ext>
            </a:extLst>
          </p:cNvPr>
          <p:cNvSpPr txBox="1"/>
          <p:nvPr/>
        </p:nvSpPr>
        <p:spPr>
          <a:xfrm>
            <a:off x="2616200" y="10020300"/>
            <a:ext cx="2235200" cy="469900"/>
          </a:xfrm>
          <a:prstGeom prst="rect">
            <a:avLst/>
          </a:prstGeom>
        </p:spPr>
        <p:txBody>
          <a:bodyPr lIns="0" tIns="0" rIns="0" bIns="0" rtlCol="0" anchor="t"/>
          <a:lstStyle/>
          <a:p>
            <a:pPr lvl="0" algn="ctr">
              <a:lnSpc>
                <a:spcPct val="116199"/>
              </a:lnSpc>
            </a:pPr>
            <a:r>
              <a:rPr lang="en-US" sz="2607" b="0" i="0" u="none" strike="noStrike" dirty="0" err="1">
                <a:solidFill>
                  <a:srgbClr val="000000"/>
                </a:solidFill>
                <a:latin typeface="Pretendard Medium"/>
                <a:ea typeface="Pretendard Medium"/>
                <a:cs typeface="Pretendard Medium"/>
              </a:rPr>
              <a:t>메일</a:t>
            </a:r>
            <a:r>
              <a:rPr lang="en-US" sz="2607" b="0" i="0" u="none" strike="noStrike" dirty="0">
                <a:solidFill>
                  <a:srgbClr val="000000"/>
                </a:solidFill>
                <a:latin typeface="Pretendard Medium"/>
                <a:ea typeface="Pretendard Medium"/>
                <a:cs typeface="Pretendard Medium"/>
              </a:rPr>
              <a:t> </a:t>
            </a:r>
            <a:r>
              <a:rPr lang="en-US" sz="2607" b="0" i="0" u="none" strike="noStrike" dirty="0" err="1">
                <a:solidFill>
                  <a:srgbClr val="000000"/>
                </a:solidFill>
                <a:latin typeface="Pretendard Medium"/>
                <a:ea typeface="Pretendard Medium"/>
                <a:cs typeface="Pretendard Medium"/>
              </a:rPr>
              <a:t>서버</a:t>
            </a:r>
            <a:endParaRPr lang="en-US" sz="2607" b="0" i="0" u="none" strike="noStrike" dirty="0">
              <a:solidFill>
                <a:srgbClr val="000000"/>
              </a:solidFill>
              <a:latin typeface="Pretendard Medium"/>
              <a:ea typeface="Pretendard Medium"/>
              <a:cs typeface="Pretendard Medium"/>
            </a:endParaRPr>
          </a:p>
        </p:txBody>
      </p:sp>
      <p:pic>
        <p:nvPicPr>
          <p:cNvPr id="20" name="Picture 31">
            <a:extLst>
              <a:ext uri="{FF2B5EF4-FFF2-40B4-BE49-F238E27FC236}">
                <a16:creationId xmlns:a16="http://schemas.microsoft.com/office/drawing/2014/main" id="{838D584C-8117-FAD4-C0E3-87B4CC697603}"/>
              </a:ext>
            </a:extLst>
          </p:cNvPr>
          <p:cNvPicPr>
            <a:picLocks noChangeAspect="1"/>
          </p:cNvPicPr>
          <p:nvPr/>
        </p:nvPicPr>
        <p:blipFill>
          <a:blip r:embed="rId11"/>
          <a:stretch>
            <a:fillRect/>
          </a:stretch>
        </p:blipFill>
        <p:spPr>
          <a:xfrm rot="5400000">
            <a:off x="3670300" y="7277100"/>
            <a:ext cx="3733800" cy="190500"/>
          </a:xfrm>
          <a:prstGeom prst="rect">
            <a:avLst/>
          </a:prstGeom>
        </p:spPr>
      </p:pic>
      <p:pic>
        <p:nvPicPr>
          <p:cNvPr id="21" name="Picture 32">
            <a:extLst>
              <a:ext uri="{FF2B5EF4-FFF2-40B4-BE49-F238E27FC236}">
                <a16:creationId xmlns:a16="http://schemas.microsoft.com/office/drawing/2014/main" id="{7D953E6C-E027-BF55-6584-A8A3049A7E0B}"/>
              </a:ext>
            </a:extLst>
          </p:cNvPr>
          <p:cNvPicPr>
            <a:picLocks noChangeAspect="1"/>
          </p:cNvPicPr>
          <p:nvPr/>
        </p:nvPicPr>
        <p:blipFill>
          <a:blip r:embed="rId12"/>
          <a:stretch>
            <a:fillRect/>
          </a:stretch>
        </p:blipFill>
        <p:spPr>
          <a:xfrm>
            <a:off x="4533900" y="5422900"/>
            <a:ext cx="1028700" cy="190500"/>
          </a:xfrm>
          <a:prstGeom prst="rect">
            <a:avLst/>
          </a:prstGeom>
        </p:spPr>
      </p:pic>
      <p:pic>
        <p:nvPicPr>
          <p:cNvPr id="36" name="Picture 33">
            <a:extLst>
              <a:ext uri="{FF2B5EF4-FFF2-40B4-BE49-F238E27FC236}">
                <a16:creationId xmlns:a16="http://schemas.microsoft.com/office/drawing/2014/main" id="{C0AEB3D5-B931-6FAE-30B6-A36E0DEC0A03}"/>
              </a:ext>
            </a:extLst>
          </p:cNvPr>
          <p:cNvPicPr>
            <a:picLocks noChangeAspect="1"/>
          </p:cNvPicPr>
          <p:nvPr/>
        </p:nvPicPr>
        <p:blipFill>
          <a:blip r:embed="rId13"/>
          <a:stretch>
            <a:fillRect/>
          </a:stretch>
        </p:blipFill>
        <p:spPr>
          <a:xfrm rot="10800000">
            <a:off x="4533900" y="9105900"/>
            <a:ext cx="1028700" cy="190500"/>
          </a:xfrm>
          <a:prstGeom prst="rect">
            <a:avLst/>
          </a:prstGeom>
        </p:spPr>
      </p:pic>
      <p:pic>
        <p:nvPicPr>
          <p:cNvPr id="44" name="Picture 34">
            <a:extLst>
              <a:ext uri="{FF2B5EF4-FFF2-40B4-BE49-F238E27FC236}">
                <a16:creationId xmlns:a16="http://schemas.microsoft.com/office/drawing/2014/main" id="{2D0D1454-03E8-522C-39E8-218619CA64AD}"/>
              </a:ext>
            </a:extLst>
          </p:cNvPr>
          <p:cNvPicPr>
            <a:picLocks noChangeAspect="1"/>
          </p:cNvPicPr>
          <p:nvPr/>
        </p:nvPicPr>
        <p:blipFill>
          <a:blip r:embed="rId14"/>
          <a:stretch>
            <a:fillRect/>
          </a:stretch>
        </p:blipFill>
        <p:spPr>
          <a:xfrm>
            <a:off x="3835400" y="7302500"/>
            <a:ext cx="355600" cy="355600"/>
          </a:xfrm>
          <a:prstGeom prst="rect">
            <a:avLst/>
          </a:prstGeom>
        </p:spPr>
      </p:pic>
      <p:sp>
        <p:nvSpPr>
          <p:cNvPr id="45" name="TextBox 35">
            <a:extLst>
              <a:ext uri="{FF2B5EF4-FFF2-40B4-BE49-F238E27FC236}">
                <a16:creationId xmlns:a16="http://schemas.microsoft.com/office/drawing/2014/main" id="{8088A4DF-F991-EFD9-58AF-392EA0729853}"/>
              </a:ext>
            </a:extLst>
          </p:cNvPr>
          <p:cNvSpPr txBox="1"/>
          <p:nvPr/>
        </p:nvSpPr>
        <p:spPr>
          <a:xfrm>
            <a:off x="4165600" y="7264400"/>
            <a:ext cx="1270000" cy="431800"/>
          </a:xfrm>
          <a:prstGeom prst="rect">
            <a:avLst/>
          </a:prstGeom>
        </p:spPr>
        <p:txBody>
          <a:bodyPr lIns="0" tIns="0" rIns="0" bIns="0" rtlCol="0" anchor="t"/>
          <a:lstStyle/>
          <a:p>
            <a:pPr lvl="0" algn="ctr">
              <a:lnSpc>
                <a:spcPct val="116199"/>
              </a:lnSpc>
            </a:pPr>
            <a:r>
              <a:rPr lang="en-US" sz="2400" b="0" i="0" u="none" strike="noStrike">
                <a:solidFill>
                  <a:srgbClr val="000000"/>
                </a:solidFill>
                <a:latin typeface="Pretendard Medium"/>
                <a:ea typeface="Pretendard Medium"/>
                <a:cs typeface="Pretendard Medium"/>
              </a:rPr>
              <a:t>메일 전송</a:t>
            </a:r>
          </a:p>
        </p:txBody>
      </p:sp>
      <p:sp>
        <p:nvSpPr>
          <p:cNvPr id="46" name="TextBox 21">
            <a:extLst>
              <a:ext uri="{FF2B5EF4-FFF2-40B4-BE49-F238E27FC236}">
                <a16:creationId xmlns:a16="http://schemas.microsoft.com/office/drawing/2014/main" id="{D8ACDEA1-676C-0BC2-9A42-EB1F6CBBED14}"/>
              </a:ext>
            </a:extLst>
          </p:cNvPr>
          <p:cNvSpPr txBox="1"/>
          <p:nvPr/>
        </p:nvSpPr>
        <p:spPr>
          <a:xfrm>
            <a:off x="914400" y="5105400"/>
            <a:ext cx="3200400" cy="442955"/>
          </a:xfrm>
          <a:prstGeom prst="rect">
            <a:avLst/>
          </a:prstGeom>
        </p:spPr>
        <p:txBody>
          <a:bodyPr lIns="0" tIns="0" rIns="0" bIns="0" rtlCol="0" anchor="t"/>
          <a:lstStyle/>
          <a:p>
            <a:pPr lvl="0" algn="ctr">
              <a:lnSpc>
                <a:spcPct val="116199"/>
              </a:lnSpc>
            </a:pPr>
            <a:r>
              <a:rPr lang="ko-KR" altLang="en-US" sz="2600" b="0" i="0" u="none" strike="noStrike" dirty="0" err="1">
                <a:solidFill>
                  <a:srgbClr val="000000"/>
                </a:solidFill>
                <a:latin typeface="Pretendard Medium"/>
                <a:ea typeface="Pretendard Medium"/>
                <a:cs typeface="Pretendard Medium"/>
              </a:rPr>
              <a:t>본사망</a:t>
            </a:r>
            <a:endParaRPr lang="en-US" altLang="ko-KR" sz="2600" dirty="0">
              <a:solidFill>
                <a:srgbClr val="000000"/>
              </a:solidFill>
              <a:latin typeface="Pretendard Medium"/>
              <a:ea typeface="Pretendard Medium"/>
              <a:cs typeface="Pretendard Medium"/>
            </a:endParaRPr>
          </a:p>
        </p:txBody>
      </p:sp>
      <p:sp>
        <p:nvSpPr>
          <p:cNvPr id="47" name="TextBox 21">
            <a:extLst>
              <a:ext uri="{FF2B5EF4-FFF2-40B4-BE49-F238E27FC236}">
                <a16:creationId xmlns:a16="http://schemas.microsoft.com/office/drawing/2014/main" id="{6087BFDE-4F07-A166-8B3A-F8FF9B0416EB}"/>
              </a:ext>
            </a:extLst>
          </p:cNvPr>
          <p:cNvSpPr txBox="1"/>
          <p:nvPr/>
        </p:nvSpPr>
        <p:spPr>
          <a:xfrm>
            <a:off x="847982" y="8991599"/>
            <a:ext cx="3200400" cy="442955"/>
          </a:xfrm>
          <a:prstGeom prst="rect">
            <a:avLst/>
          </a:prstGeom>
        </p:spPr>
        <p:txBody>
          <a:bodyPr lIns="0" tIns="0" rIns="0" bIns="0" rtlCol="0" anchor="t"/>
          <a:lstStyle/>
          <a:p>
            <a:pPr lvl="0" algn="ctr">
              <a:lnSpc>
                <a:spcPct val="116199"/>
              </a:lnSpc>
            </a:pPr>
            <a:r>
              <a:rPr lang="ko-KR" altLang="en-US" sz="2600" b="0" i="0" u="none" strike="noStrike" dirty="0" err="1">
                <a:solidFill>
                  <a:srgbClr val="000000"/>
                </a:solidFill>
                <a:latin typeface="Pretendard Medium"/>
                <a:ea typeface="Pretendard Medium"/>
                <a:cs typeface="Pretendard Medium"/>
              </a:rPr>
              <a:t>본사망</a:t>
            </a:r>
            <a:endParaRPr lang="en-US" altLang="ko-KR" sz="2600" dirty="0">
              <a:solidFill>
                <a:srgbClr val="000000"/>
              </a:solidFill>
              <a:latin typeface="Pretendard Medium"/>
              <a:ea typeface="Pretendard Medium"/>
              <a:cs typeface="Pretendard Medium"/>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7" name="Picture 7"/>
          <p:cNvPicPr>
            <a:picLocks noChangeAspect="1"/>
          </p:cNvPicPr>
          <p:nvPr/>
        </p:nvPicPr>
        <p:blipFill>
          <a:blip r:embed="rId3"/>
          <a:stretch>
            <a:fillRect/>
          </a:stretch>
        </p:blipFill>
        <p:spPr>
          <a:xfrm>
            <a:off x="762000" y="1092200"/>
            <a:ext cx="22860000" cy="12700"/>
          </a:xfrm>
          <a:prstGeom prst="rect">
            <a:avLst/>
          </a:prstGeom>
        </p:spPr>
      </p:pic>
      <p:pic>
        <p:nvPicPr>
          <p:cNvPr id="8" name="Picture 8"/>
          <p:cNvPicPr>
            <a:picLocks noChangeAspect="1"/>
          </p:cNvPicPr>
          <p:nvPr/>
        </p:nvPicPr>
        <p:blipFill>
          <a:blip r:embed="rId4"/>
          <a:stretch>
            <a:fillRect/>
          </a:stretch>
        </p:blipFill>
        <p:spPr>
          <a:xfrm rot="5400000">
            <a:off x="3200400" y="787400"/>
            <a:ext cx="635000" cy="12700"/>
          </a:xfrm>
          <a:prstGeom prst="rect">
            <a:avLst/>
          </a:prstGeom>
        </p:spPr>
      </p:pic>
      <p:pic>
        <p:nvPicPr>
          <p:cNvPr id="9" name="Picture 9"/>
          <p:cNvPicPr>
            <a:picLocks noChangeAspect="1"/>
          </p:cNvPicPr>
          <p:nvPr/>
        </p:nvPicPr>
        <p:blipFill>
          <a:blip r:embed="rId4"/>
          <a:stretch>
            <a:fillRect/>
          </a:stretch>
        </p:blipFill>
        <p:spPr>
          <a:xfrm rot="5400000">
            <a:off x="22225000" y="787400"/>
            <a:ext cx="635000" cy="12700"/>
          </a:xfrm>
          <a:prstGeom prst="rect">
            <a:avLst/>
          </a:prstGeom>
        </p:spPr>
      </p:pic>
      <p:pic>
        <p:nvPicPr>
          <p:cNvPr id="10" name="Picture 10"/>
          <p:cNvPicPr>
            <a:picLocks noChangeAspect="1"/>
          </p:cNvPicPr>
          <p:nvPr/>
        </p:nvPicPr>
        <p:blipFill>
          <a:blip r:embed="rId4"/>
          <a:stretch>
            <a:fillRect/>
          </a:stretch>
        </p:blipFill>
        <p:spPr>
          <a:xfrm rot="5400000">
            <a:off x="6337300" y="787400"/>
            <a:ext cx="635000" cy="12700"/>
          </a:xfrm>
          <a:prstGeom prst="rect">
            <a:avLst/>
          </a:prstGeom>
        </p:spPr>
      </p:pic>
      <p:pic>
        <p:nvPicPr>
          <p:cNvPr id="11" name="Picture 11"/>
          <p:cNvPicPr>
            <a:picLocks noChangeAspect="1"/>
          </p:cNvPicPr>
          <p:nvPr/>
        </p:nvPicPr>
        <p:blipFill>
          <a:blip r:embed="rId3"/>
          <a:stretch>
            <a:fillRect/>
          </a:stretch>
        </p:blipFill>
        <p:spPr>
          <a:xfrm>
            <a:off x="723900" y="457200"/>
            <a:ext cx="22860000" cy="12700"/>
          </a:xfrm>
          <a:prstGeom prst="rect">
            <a:avLst/>
          </a:prstGeom>
        </p:spPr>
      </p:pic>
      <p:pic>
        <p:nvPicPr>
          <p:cNvPr id="13" name="Picture 13"/>
          <p:cNvPicPr>
            <a:picLocks noChangeAspect="1"/>
          </p:cNvPicPr>
          <p:nvPr/>
        </p:nvPicPr>
        <p:blipFill>
          <a:blip r:embed="rId5"/>
          <a:stretch>
            <a:fillRect/>
          </a:stretch>
        </p:blipFill>
        <p:spPr>
          <a:xfrm>
            <a:off x="1485900" y="1612900"/>
            <a:ext cx="88900" cy="850900"/>
          </a:xfrm>
          <a:prstGeom prst="rect">
            <a:avLst/>
          </a:prstGeom>
        </p:spPr>
      </p:pic>
      <p:sp>
        <p:nvSpPr>
          <p:cNvPr id="14" name="TextBox 14"/>
          <p:cNvSpPr txBox="1"/>
          <p:nvPr/>
        </p:nvSpPr>
        <p:spPr>
          <a:xfrm>
            <a:off x="1943100" y="1409700"/>
            <a:ext cx="13423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협력사망 경유를 통한 공급망 연쇄 침투</a:t>
            </a:r>
          </a:p>
        </p:txBody>
      </p:sp>
      <p:sp>
        <p:nvSpPr>
          <p:cNvPr id="15" name="TextBox 15"/>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33</a:t>
            </a:r>
          </a:p>
        </p:txBody>
      </p:sp>
      <p:sp>
        <p:nvSpPr>
          <p:cNvPr id="37" name="TextBox 14">
            <a:extLst>
              <a:ext uri="{FF2B5EF4-FFF2-40B4-BE49-F238E27FC236}">
                <a16:creationId xmlns:a16="http://schemas.microsoft.com/office/drawing/2014/main" id="{66E8BD6A-88D4-3263-D9D9-32D19780E139}"/>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38" name="TextBox 14">
            <a:extLst>
              <a:ext uri="{FF2B5EF4-FFF2-40B4-BE49-F238E27FC236}">
                <a16:creationId xmlns:a16="http://schemas.microsoft.com/office/drawing/2014/main" id="{A2A68F3B-BCB8-1464-0A62-C5C26BEAA6ED}"/>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39" name="Picture 2">
            <a:extLst>
              <a:ext uri="{FF2B5EF4-FFF2-40B4-BE49-F238E27FC236}">
                <a16:creationId xmlns:a16="http://schemas.microsoft.com/office/drawing/2014/main" id="{8C25235F-10B4-2699-90DC-35FFE515D2E0}"/>
              </a:ext>
            </a:extLst>
          </p:cNvPr>
          <p:cNvPicPr>
            <a:picLocks noChangeAspect="1"/>
          </p:cNvPicPr>
          <p:nvPr/>
        </p:nvPicPr>
        <p:blipFill>
          <a:blip r:embed="rId6">
            <a:alphaModFix amt="85000"/>
          </a:blip>
          <a:stretch>
            <a:fillRect/>
          </a:stretch>
        </p:blipFill>
        <p:spPr>
          <a:xfrm>
            <a:off x="11201400" y="558800"/>
            <a:ext cx="2705100" cy="444500"/>
          </a:xfrm>
          <a:prstGeom prst="rect">
            <a:avLst/>
          </a:prstGeom>
        </p:spPr>
      </p:pic>
      <p:sp>
        <p:nvSpPr>
          <p:cNvPr id="40" name="TextBox 16">
            <a:extLst>
              <a:ext uri="{FF2B5EF4-FFF2-40B4-BE49-F238E27FC236}">
                <a16:creationId xmlns:a16="http://schemas.microsoft.com/office/drawing/2014/main" id="{8658E162-5FD1-7B74-BEA9-550FE27B532F}"/>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41" name="TextBox 18">
            <a:extLst>
              <a:ext uri="{FF2B5EF4-FFF2-40B4-BE49-F238E27FC236}">
                <a16:creationId xmlns:a16="http://schemas.microsoft.com/office/drawing/2014/main" id="{779771B9-2723-FA36-BCF1-B978EC69C4A8}"/>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42" name="TextBox 19">
            <a:extLst>
              <a:ext uri="{FF2B5EF4-FFF2-40B4-BE49-F238E27FC236}">
                <a16:creationId xmlns:a16="http://schemas.microsoft.com/office/drawing/2014/main" id="{00E92D0D-04F8-2A11-0E1B-284A76B5E39C}"/>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43" name="TextBox 20">
            <a:extLst>
              <a:ext uri="{FF2B5EF4-FFF2-40B4-BE49-F238E27FC236}">
                <a16:creationId xmlns:a16="http://schemas.microsoft.com/office/drawing/2014/main" id="{C14522EF-40EC-0F6C-029B-DB1801F8076F}"/>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pic>
        <p:nvPicPr>
          <p:cNvPr id="12" name="Picture 3">
            <a:extLst>
              <a:ext uri="{FF2B5EF4-FFF2-40B4-BE49-F238E27FC236}">
                <a16:creationId xmlns:a16="http://schemas.microsoft.com/office/drawing/2014/main" id="{EA0ACAD3-36D9-E977-45D1-43F300286E98}"/>
              </a:ext>
            </a:extLst>
          </p:cNvPr>
          <p:cNvPicPr>
            <a:picLocks noChangeAspect="1"/>
          </p:cNvPicPr>
          <p:nvPr/>
        </p:nvPicPr>
        <p:blipFill>
          <a:blip r:embed="rId7"/>
          <a:stretch>
            <a:fillRect/>
          </a:stretch>
        </p:blipFill>
        <p:spPr>
          <a:xfrm>
            <a:off x="7556500" y="4368800"/>
            <a:ext cx="15849600" cy="6997700"/>
          </a:xfrm>
          <a:prstGeom prst="rect">
            <a:avLst/>
          </a:prstGeom>
          <a:effectLst>
            <a:outerShdw blurRad="384862" dist="161481" dir="2700000">
              <a:srgbClr val="000000">
                <a:alpha val="15000"/>
              </a:srgbClr>
            </a:outerShdw>
          </a:effectLst>
        </p:spPr>
      </p:pic>
      <p:sp>
        <p:nvSpPr>
          <p:cNvPr id="16" name="TextBox 4">
            <a:extLst>
              <a:ext uri="{FF2B5EF4-FFF2-40B4-BE49-F238E27FC236}">
                <a16:creationId xmlns:a16="http://schemas.microsoft.com/office/drawing/2014/main" id="{7F14C84C-48B8-BC08-F49B-1608D8654636}"/>
              </a:ext>
            </a:extLst>
          </p:cNvPr>
          <p:cNvSpPr txBox="1"/>
          <p:nvPr/>
        </p:nvSpPr>
        <p:spPr>
          <a:xfrm>
            <a:off x="10160000" y="4699000"/>
            <a:ext cx="12496800" cy="1041400"/>
          </a:xfrm>
          <a:prstGeom prst="rect">
            <a:avLst/>
          </a:prstGeom>
        </p:spPr>
        <p:txBody>
          <a:bodyPr lIns="0" tIns="0" rIns="0" bIns="0" rtlCol="0" anchor="t"/>
          <a:lstStyle/>
          <a:p>
            <a:pPr lvl="0" algn="l">
              <a:lnSpc>
                <a:spcPct val="116199"/>
              </a:lnSpc>
            </a:pPr>
            <a:r>
              <a:rPr lang="en-US" sz="2933" b="0" i="0" u="none" strike="noStrike" dirty="0" err="1">
                <a:solidFill>
                  <a:srgbClr val="000000"/>
                </a:solidFill>
                <a:latin typeface="Pretendard Medium"/>
                <a:ea typeface="Pretendard Medium"/>
                <a:cs typeface="Pretendard Medium"/>
              </a:rPr>
              <a:t>크롬</a:t>
            </a:r>
            <a:r>
              <a:rPr lang="en-US" sz="2933" b="0" i="0" u="none" strike="noStrike" dirty="0">
                <a:solidFill>
                  <a:srgbClr val="000000"/>
                </a:solidFill>
                <a:latin typeface="Pretendard Medium"/>
                <a:ea typeface="Pretendard Medium"/>
                <a:cs typeface="Pretendard Medium"/>
              </a:rPr>
              <a:t> V8 </a:t>
            </a:r>
            <a:r>
              <a:rPr lang="en-US" sz="2933" b="0" i="0" u="none" strike="noStrike" dirty="0" err="1">
                <a:solidFill>
                  <a:srgbClr val="000000"/>
                </a:solidFill>
                <a:latin typeface="Pretendard Medium"/>
                <a:ea typeface="Pretendard Medium"/>
                <a:cs typeface="Pretendard Medium"/>
              </a:rPr>
              <a:t>엔진의</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타입</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혼동</a:t>
            </a:r>
            <a:r>
              <a:rPr lang="en-US" sz="2933"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취약점</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공격자가</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크롬</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메모리를</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임의로</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읽고</a:t>
            </a:r>
            <a:r>
              <a:rPr lang="en-US" sz="2933" b="0" i="0" u="none" strike="noStrike" dirty="0">
                <a:solidFill>
                  <a:srgbClr val="000000"/>
                </a:solidFill>
                <a:latin typeface="Pretendard Medium"/>
                <a:ea typeface="Pretendard Medium"/>
                <a:cs typeface="Pretendard Medium"/>
              </a:rPr>
              <a:t> 쓸 수 </a:t>
            </a:r>
            <a:r>
              <a:rPr lang="en-US" sz="2933" b="0" i="0" u="none" strike="noStrike" dirty="0" err="1">
                <a:solidFill>
                  <a:srgbClr val="000000"/>
                </a:solidFill>
                <a:latin typeface="Pretendard Medium"/>
                <a:ea typeface="Pretendard Medium"/>
                <a:cs typeface="Pretendard Medium"/>
              </a:rPr>
              <a:t>있는</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권한을</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획득</a:t>
            </a:r>
            <a:endParaRPr lang="en-US" sz="2933" b="0" i="0" u="none" strike="noStrike" dirty="0">
              <a:solidFill>
                <a:srgbClr val="000000"/>
              </a:solidFill>
              <a:latin typeface="Pretendard Medium"/>
              <a:ea typeface="Pretendard Medium"/>
              <a:cs typeface="Pretendard Medium"/>
            </a:endParaRPr>
          </a:p>
        </p:txBody>
      </p:sp>
      <p:sp>
        <p:nvSpPr>
          <p:cNvPr id="17" name="TextBox 5">
            <a:extLst>
              <a:ext uri="{FF2B5EF4-FFF2-40B4-BE49-F238E27FC236}">
                <a16:creationId xmlns:a16="http://schemas.microsoft.com/office/drawing/2014/main" id="{F2055F0F-26D1-F3F2-9D1B-494DCEE87491}"/>
              </a:ext>
            </a:extLst>
          </p:cNvPr>
          <p:cNvSpPr txBox="1"/>
          <p:nvPr/>
        </p:nvSpPr>
        <p:spPr>
          <a:xfrm>
            <a:off x="7931150" y="4756150"/>
            <a:ext cx="1854200" cy="571500"/>
          </a:xfrm>
          <a:prstGeom prst="rect">
            <a:avLst/>
          </a:prstGeom>
        </p:spPr>
        <p:txBody>
          <a:bodyPr lIns="0" tIns="0" rIns="0" bIns="0" rtlCol="0" anchor="t"/>
          <a:lstStyle/>
          <a:p>
            <a:pPr lvl="0" algn="l">
              <a:lnSpc>
                <a:spcPct val="116199"/>
              </a:lnSpc>
            </a:pPr>
            <a:r>
              <a:rPr lang="en-US" sz="3200" b="1" i="0" u="none" strike="noStrike" dirty="0">
                <a:solidFill>
                  <a:srgbClr val="000000"/>
                </a:solidFill>
                <a:latin typeface="Pretendard Medium"/>
                <a:ea typeface="Pretendard Medium"/>
                <a:cs typeface="Pretendard Medium"/>
              </a:rPr>
              <a:t>CVE </a:t>
            </a:r>
            <a:r>
              <a:rPr lang="en-US" sz="3200" b="1" i="0" u="none" strike="noStrike" dirty="0" err="1">
                <a:solidFill>
                  <a:srgbClr val="000000"/>
                </a:solidFill>
                <a:latin typeface="Pretendard Medium"/>
                <a:ea typeface="Pretendard Medium"/>
                <a:cs typeface="Pretendard Medium"/>
              </a:rPr>
              <a:t>설명</a:t>
            </a:r>
            <a:endParaRPr lang="en-US" sz="3200" b="1" i="0" u="none" strike="noStrike" dirty="0">
              <a:solidFill>
                <a:srgbClr val="000000"/>
              </a:solidFill>
              <a:latin typeface="Pretendard Medium"/>
              <a:ea typeface="Pretendard Medium"/>
              <a:cs typeface="Pretendard Medium"/>
            </a:endParaRPr>
          </a:p>
        </p:txBody>
      </p:sp>
      <p:sp>
        <p:nvSpPr>
          <p:cNvPr id="19" name="TextBox 22">
            <a:extLst>
              <a:ext uri="{FF2B5EF4-FFF2-40B4-BE49-F238E27FC236}">
                <a16:creationId xmlns:a16="http://schemas.microsoft.com/office/drawing/2014/main" id="{2883EB5E-7AD2-D5E5-DDB2-D9AC65EAF5F5}"/>
              </a:ext>
            </a:extLst>
          </p:cNvPr>
          <p:cNvSpPr txBox="1"/>
          <p:nvPr/>
        </p:nvSpPr>
        <p:spPr>
          <a:xfrm>
            <a:off x="10147300" y="6261100"/>
            <a:ext cx="12496800" cy="1562100"/>
          </a:xfrm>
          <a:prstGeom prst="rect">
            <a:avLst/>
          </a:prstGeom>
        </p:spPr>
        <p:txBody>
          <a:bodyPr lIns="0" tIns="0" rIns="0" bIns="0" rtlCol="0" anchor="t"/>
          <a:lstStyle/>
          <a:p>
            <a:pPr lvl="0" algn="l">
              <a:lnSpc>
                <a:spcPct val="116199"/>
              </a:lnSpc>
            </a:pPr>
            <a:r>
              <a:rPr lang="en-US" sz="2933" b="0" i="0" u="none" strike="noStrike" dirty="0" err="1">
                <a:solidFill>
                  <a:srgbClr val="000000"/>
                </a:solidFill>
                <a:latin typeface="Pretendard Medium"/>
                <a:ea typeface="Pretendard Medium"/>
                <a:cs typeface="Pretendard Medium"/>
              </a:rPr>
              <a:t>직접</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빌드</a:t>
            </a:r>
            <a:r>
              <a:rPr lang="en-US" sz="2933" b="0" i="0" u="none" strike="noStrike" dirty="0">
                <a:solidFill>
                  <a:srgbClr val="000000"/>
                </a:solidFill>
                <a:latin typeface="Pretendard Medium"/>
                <a:ea typeface="Pretendard Medium"/>
                <a:cs typeface="Pretendard Medium"/>
              </a:rPr>
              <a:t> 한 </a:t>
            </a:r>
            <a:r>
              <a:rPr lang="en-US" sz="2933" b="0" i="0" u="none" strike="noStrike" dirty="0" err="1">
                <a:solidFill>
                  <a:srgbClr val="000000"/>
                </a:solidFill>
                <a:latin typeface="Pretendard Medium"/>
                <a:ea typeface="Pretendard Medium"/>
                <a:cs typeface="Pretendard Medium"/>
              </a:rPr>
              <a:t>WebAssembly</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모듈로</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타입을</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잘못</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판단하게</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유도</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기존의</a:t>
            </a:r>
            <a:r>
              <a:rPr lang="en-US" sz="2933" b="0" i="0" u="none" strike="noStrike" dirty="0">
                <a:solidFill>
                  <a:srgbClr val="000000"/>
                </a:solidFill>
                <a:latin typeface="Pretendard Medium"/>
                <a:ea typeface="Pretendard Medium"/>
                <a:cs typeface="Pretendard Medium"/>
              </a:rPr>
              <a:t> Read/Write </a:t>
            </a:r>
            <a:r>
              <a:rPr lang="en-US" sz="2933" b="0" i="0" u="none" strike="noStrike" dirty="0" err="1">
                <a:solidFill>
                  <a:srgbClr val="000000"/>
                </a:solidFill>
                <a:latin typeface="Pretendard Medium"/>
                <a:ea typeface="Pretendard Medium"/>
                <a:cs typeface="Pretendard Medium"/>
              </a:rPr>
              <a:t>함수를</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사용자</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정의</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함수로</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대체</a:t>
            </a:r>
            <a:r>
              <a:rPr lang="en-US" sz="2933" b="0" i="0" u="none" strike="noStrike" dirty="0">
                <a:solidFill>
                  <a:srgbClr val="000000"/>
                </a:solidFill>
                <a:latin typeface="Pretendard Medium"/>
                <a:ea typeface="Pretendard Medium"/>
                <a:cs typeface="Pretendard Medium"/>
              </a:rPr>
              <a:t>
이 </a:t>
            </a:r>
            <a:r>
              <a:rPr lang="en-US" sz="2933" b="0" i="0" u="none" strike="noStrike" dirty="0" err="1">
                <a:solidFill>
                  <a:srgbClr val="000000"/>
                </a:solidFill>
                <a:latin typeface="Pretendard Medium"/>
                <a:ea typeface="Pretendard Medium"/>
                <a:cs typeface="Pretendard Medium"/>
              </a:rPr>
              <a:t>과정에서</a:t>
            </a:r>
            <a:r>
              <a:rPr lang="en-US" sz="2933" b="0" i="0" u="none" strike="noStrike" dirty="0">
                <a:solidFill>
                  <a:srgbClr val="000000"/>
                </a:solidFill>
                <a:latin typeface="Pretendard Medium"/>
                <a:ea typeface="Pretendard Medium"/>
                <a:cs typeface="Pretendard Medium"/>
              </a:rPr>
              <a:t> V8 </a:t>
            </a:r>
            <a:r>
              <a:rPr lang="en-US" sz="2933" b="0" i="0" u="none" strike="noStrike" dirty="0" err="1">
                <a:solidFill>
                  <a:srgbClr val="000000"/>
                </a:solidFill>
                <a:latin typeface="Pretendard Medium"/>
                <a:ea typeface="Pretendard Medium"/>
                <a:cs typeface="Pretendard Medium"/>
              </a:rPr>
              <a:t>샌드박스</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탈출</a:t>
            </a:r>
            <a:r>
              <a:rPr lang="en-US" sz="2933" b="0" i="0" u="none" strike="noStrike" dirty="0">
                <a:solidFill>
                  <a:srgbClr val="000000"/>
                </a:solidFill>
                <a:latin typeface="Pretendard Medium"/>
                <a:ea typeface="Pretendard Medium"/>
                <a:cs typeface="Pretendard Medium"/>
              </a:rPr>
              <a:t> 후 </a:t>
            </a:r>
            <a:r>
              <a:rPr lang="en-US" sz="2933" b="0" i="0" u="none" strike="noStrike" dirty="0" err="1">
                <a:solidFill>
                  <a:srgbClr val="000000"/>
                </a:solidFill>
                <a:latin typeface="Pretendard Medium"/>
                <a:ea typeface="Pretendard Medium"/>
                <a:cs typeface="Pretendard Medium"/>
              </a:rPr>
              <a:t>임의</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코드</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실행</a:t>
            </a:r>
            <a:r>
              <a:rPr lang="en-US" sz="2933"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권한</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획득</a:t>
            </a:r>
            <a:endParaRPr lang="en-US" sz="2933" b="0" i="0" u="none" strike="noStrike" dirty="0">
              <a:solidFill>
                <a:srgbClr val="000000"/>
              </a:solidFill>
              <a:latin typeface="Pretendard Medium"/>
              <a:ea typeface="Pretendard Medium"/>
              <a:cs typeface="Pretendard Medium"/>
            </a:endParaRPr>
          </a:p>
        </p:txBody>
      </p:sp>
      <p:sp>
        <p:nvSpPr>
          <p:cNvPr id="20" name="TextBox 23">
            <a:extLst>
              <a:ext uri="{FF2B5EF4-FFF2-40B4-BE49-F238E27FC236}">
                <a16:creationId xmlns:a16="http://schemas.microsoft.com/office/drawing/2014/main" id="{D6D39BA6-C7A5-3487-A7CC-7BAC084D2BB3}"/>
              </a:ext>
            </a:extLst>
          </p:cNvPr>
          <p:cNvSpPr txBox="1"/>
          <p:nvPr/>
        </p:nvSpPr>
        <p:spPr>
          <a:xfrm>
            <a:off x="7931150" y="6261100"/>
            <a:ext cx="1854200" cy="571500"/>
          </a:xfrm>
          <a:prstGeom prst="rect">
            <a:avLst/>
          </a:prstGeom>
        </p:spPr>
        <p:txBody>
          <a:bodyPr lIns="0" tIns="0" rIns="0" bIns="0" rtlCol="0" anchor="t"/>
          <a:lstStyle/>
          <a:p>
            <a:pPr lvl="0" algn="l">
              <a:lnSpc>
                <a:spcPct val="116199"/>
              </a:lnSpc>
            </a:pPr>
            <a:r>
              <a:rPr lang="en-US" sz="3200" b="1" i="0" u="none" strike="noStrike" dirty="0" err="1">
                <a:solidFill>
                  <a:srgbClr val="000000"/>
                </a:solidFill>
                <a:latin typeface="Pretendard Medium"/>
                <a:ea typeface="Pretendard Medium"/>
                <a:cs typeface="Pretendard Medium"/>
              </a:rPr>
              <a:t>동작</a:t>
            </a:r>
            <a:r>
              <a:rPr lang="en-US" sz="3200" b="1" i="0" u="none" strike="noStrike" dirty="0">
                <a:solidFill>
                  <a:srgbClr val="000000"/>
                </a:solidFill>
                <a:latin typeface="Pretendard Medium"/>
                <a:ea typeface="Pretendard Medium"/>
                <a:cs typeface="Pretendard Medium"/>
              </a:rPr>
              <a:t> </a:t>
            </a:r>
            <a:r>
              <a:rPr lang="en-US" sz="3200" b="1" i="0" u="none" strike="noStrike" dirty="0" err="1">
                <a:solidFill>
                  <a:srgbClr val="000000"/>
                </a:solidFill>
                <a:latin typeface="Pretendard Medium"/>
                <a:ea typeface="Pretendard Medium"/>
                <a:cs typeface="Pretendard Medium"/>
              </a:rPr>
              <a:t>방식</a:t>
            </a:r>
            <a:endParaRPr lang="en-US" sz="3200" b="1" i="0" u="none" strike="noStrike" dirty="0">
              <a:solidFill>
                <a:srgbClr val="000000"/>
              </a:solidFill>
              <a:latin typeface="Pretendard Medium"/>
              <a:ea typeface="Pretendard Medium"/>
              <a:cs typeface="Pretendard Medium"/>
            </a:endParaRPr>
          </a:p>
        </p:txBody>
      </p:sp>
      <p:sp>
        <p:nvSpPr>
          <p:cNvPr id="21" name="TextBox 24">
            <a:extLst>
              <a:ext uri="{FF2B5EF4-FFF2-40B4-BE49-F238E27FC236}">
                <a16:creationId xmlns:a16="http://schemas.microsoft.com/office/drawing/2014/main" id="{40761FE8-210E-BFCF-6118-8BA9759E7987}"/>
              </a:ext>
            </a:extLst>
          </p:cNvPr>
          <p:cNvSpPr txBox="1"/>
          <p:nvPr/>
        </p:nvSpPr>
        <p:spPr>
          <a:xfrm>
            <a:off x="10179050" y="10102850"/>
            <a:ext cx="12598400" cy="1041400"/>
          </a:xfrm>
          <a:prstGeom prst="rect">
            <a:avLst/>
          </a:prstGeom>
        </p:spPr>
        <p:txBody>
          <a:bodyPr lIns="0" tIns="0" rIns="0" bIns="0" rtlCol="0" anchor="t"/>
          <a:lstStyle/>
          <a:p>
            <a:pPr lvl="0" algn="l">
              <a:lnSpc>
                <a:spcPct val="116199"/>
              </a:lnSpc>
            </a:pPr>
            <a:r>
              <a:rPr lang="en-US" sz="2933" b="0" i="0" u="none" strike="noStrike">
                <a:solidFill>
                  <a:srgbClr val="000000"/>
                </a:solidFill>
                <a:latin typeface="Pretendard Medium"/>
                <a:ea typeface="Pretendard Medium"/>
                <a:cs typeface="Pretendard Medium"/>
              </a:rPr>
              <a:t>Pwn2Own 2024에서 실제 사용된 제로데이 공격</a:t>
            </a:r>
          </a:p>
        </p:txBody>
      </p:sp>
      <p:sp>
        <p:nvSpPr>
          <p:cNvPr id="36" name="TextBox 25">
            <a:extLst>
              <a:ext uri="{FF2B5EF4-FFF2-40B4-BE49-F238E27FC236}">
                <a16:creationId xmlns:a16="http://schemas.microsoft.com/office/drawing/2014/main" id="{B9C2E400-C4B2-C709-6388-B595BD04CD42}"/>
              </a:ext>
            </a:extLst>
          </p:cNvPr>
          <p:cNvSpPr txBox="1"/>
          <p:nvPr/>
        </p:nvSpPr>
        <p:spPr>
          <a:xfrm>
            <a:off x="7931150" y="10058400"/>
            <a:ext cx="1854200" cy="571500"/>
          </a:xfrm>
          <a:prstGeom prst="rect">
            <a:avLst/>
          </a:prstGeom>
        </p:spPr>
        <p:txBody>
          <a:bodyPr lIns="0" tIns="0" rIns="0" bIns="0" rtlCol="0" anchor="t"/>
          <a:lstStyle/>
          <a:p>
            <a:pPr lvl="0" algn="l">
              <a:lnSpc>
                <a:spcPct val="116199"/>
              </a:lnSpc>
            </a:pPr>
            <a:r>
              <a:rPr lang="en-US" sz="3200" b="1" i="0" u="none" strike="noStrike" dirty="0" err="1">
                <a:solidFill>
                  <a:srgbClr val="000000"/>
                </a:solidFill>
                <a:latin typeface="Pretendard Medium"/>
                <a:ea typeface="Pretendard Medium"/>
                <a:cs typeface="Pretendard Medium"/>
              </a:rPr>
              <a:t>선정</a:t>
            </a:r>
            <a:r>
              <a:rPr lang="en-US" sz="3200" b="1" i="0" u="none" strike="noStrike" dirty="0">
                <a:solidFill>
                  <a:srgbClr val="000000"/>
                </a:solidFill>
                <a:latin typeface="Pretendard Medium"/>
                <a:ea typeface="Pretendard Medium"/>
                <a:cs typeface="Pretendard Medium"/>
              </a:rPr>
              <a:t> </a:t>
            </a:r>
            <a:r>
              <a:rPr lang="en-US" sz="3200" b="1" i="0" u="none" strike="noStrike" dirty="0" err="1">
                <a:solidFill>
                  <a:srgbClr val="000000"/>
                </a:solidFill>
                <a:latin typeface="Pretendard Medium"/>
                <a:ea typeface="Pretendard Medium"/>
                <a:cs typeface="Pretendard Medium"/>
              </a:rPr>
              <a:t>이유</a:t>
            </a:r>
            <a:endParaRPr lang="en-US" sz="3200" b="1" i="0" u="none" strike="noStrike" dirty="0">
              <a:solidFill>
                <a:srgbClr val="000000"/>
              </a:solidFill>
              <a:latin typeface="Pretendard Medium"/>
              <a:ea typeface="Pretendard Medium"/>
              <a:cs typeface="Pretendard Medium"/>
            </a:endParaRPr>
          </a:p>
        </p:txBody>
      </p:sp>
      <p:sp>
        <p:nvSpPr>
          <p:cNvPr id="44" name="TextBox 26">
            <a:extLst>
              <a:ext uri="{FF2B5EF4-FFF2-40B4-BE49-F238E27FC236}">
                <a16:creationId xmlns:a16="http://schemas.microsoft.com/office/drawing/2014/main" id="{31006B9E-E90D-0794-B1D5-85F7EC7EA54A}"/>
              </a:ext>
            </a:extLst>
          </p:cNvPr>
          <p:cNvSpPr txBox="1"/>
          <p:nvPr/>
        </p:nvSpPr>
        <p:spPr>
          <a:xfrm>
            <a:off x="1930400" y="29591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V8 엔진 : CVE-2024-2887</a:t>
            </a:r>
          </a:p>
        </p:txBody>
      </p:sp>
      <p:sp>
        <p:nvSpPr>
          <p:cNvPr id="54" name="TextBox 22">
            <a:extLst>
              <a:ext uri="{FF2B5EF4-FFF2-40B4-BE49-F238E27FC236}">
                <a16:creationId xmlns:a16="http://schemas.microsoft.com/office/drawing/2014/main" id="{538DB9D6-456A-952E-124E-0DD1B63B8826}"/>
              </a:ext>
            </a:extLst>
          </p:cNvPr>
          <p:cNvSpPr txBox="1"/>
          <p:nvPr/>
        </p:nvSpPr>
        <p:spPr>
          <a:xfrm>
            <a:off x="10166350" y="8331200"/>
            <a:ext cx="12496800" cy="1041400"/>
          </a:xfrm>
          <a:prstGeom prst="rect">
            <a:avLst/>
          </a:prstGeom>
        </p:spPr>
        <p:txBody>
          <a:bodyPr lIns="0" tIns="0" rIns="0" bIns="0" rtlCol="0" anchor="t"/>
          <a:lstStyle/>
          <a:p>
            <a:pPr lvl="0" algn="l">
              <a:lnSpc>
                <a:spcPct val="116199"/>
              </a:lnSpc>
            </a:pPr>
            <a:r>
              <a:rPr lang="en-US" sz="2933" b="0" i="0" u="none" strike="noStrike" dirty="0">
                <a:solidFill>
                  <a:srgbClr val="000000"/>
                </a:solidFill>
                <a:latin typeface="Pretendard Medium"/>
                <a:ea typeface="Pretendard Medium"/>
                <a:cs typeface="Pretendard Medium"/>
              </a:rPr>
              <a:t>웹 </a:t>
            </a:r>
            <a:r>
              <a:rPr lang="en-US" sz="2933" b="0" i="0" u="none" strike="noStrike" dirty="0" err="1">
                <a:solidFill>
                  <a:srgbClr val="000000"/>
                </a:solidFill>
                <a:latin typeface="Pretendard Medium"/>
                <a:ea typeface="Pretendard Medium"/>
                <a:cs typeface="Pretendard Medium"/>
              </a:rPr>
              <a:t>콘텐츠를</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시스템</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리소스와</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격리하여</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실행하는</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보안</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장치</a:t>
            </a:r>
            <a:endParaRPr lang="en-US" sz="2933" b="0" i="0" u="none" strike="noStrike" dirty="0">
              <a:solidFill>
                <a:srgbClr val="000000"/>
              </a:solidFill>
              <a:latin typeface="Pretendard Medium"/>
              <a:ea typeface="Pretendard Medium"/>
              <a:cs typeface="Pretendard Medium"/>
            </a:endParaRPr>
          </a:p>
          <a:p>
            <a:pPr lvl="0" algn="l">
              <a:lnSpc>
                <a:spcPct val="116199"/>
              </a:lnSpc>
            </a:pPr>
            <a:r>
              <a:rPr lang="en-US" sz="2933" b="0" i="0" u="none" strike="noStrike" dirty="0" err="1">
                <a:solidFill>
                  <a:srgbClr val="000000"/>
                </a:solidFill>
                <a:latin typeface="Pretendard Medium"/>
                <a:ea typeface="Pretendard Medium"/>
                <a:cs typeface="Pretendard Medium"/>
              </a:rPr>
              <a:t>프로세스</a:t>
            </a:r>
            <a:r>
              <a:rPr lang="en-US" sz="2933" b="0" i="0" u="none" strike="noStrike" dirty="0">
                <a:solidFill>
                  <a:srgbClr val="000000"/>
                </a:solidFill>
                <a:latin typeface="Pretendard Medium"/>
                <a:ea typeface="Pretendard Medium"/>
                <a:cs typeface="Pretendard Medium"/>
              </a:rPr>
              <a:t> 간 </a:t>
            </a:r>
            <a:r>
              <a:rPr lang="en-US" sz="2933" b="0" i="0" u="none" strike="noStrike" dirty="0" err="1">
                <a:solidFill>
                  <a:srgbClr val="000000"/>
                </a:solidFill>
                <a:latin typeface="Pretendard Medium"/>
                <a:ea typeface="Pretendard Medium"/>
                <a:cs typeface="Pretendard Medium"/>
              </a:rPr>
              <a:t>경계를</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설정하여</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취약점</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발생</a:t>
            </a:r>
            <a:r>
              <a:rPr lang="en-US" sz="2933" b="0" i="0" u="none" strike="noStrike" dirty="0">
                <a:solidFill>
                  <a:srgbClr val="000000"/>
                </a:solidFill>
                <a:latin typeface="Pretendard Medium"/>
                <a:ea typeface="Pretendard Medium"/>
                <a:cs typeface="Pretendard Medium"/>
              </a:rPr>
              <a:t> 시 </a:t>
            </a:r>
            <a:r>
              <a:rPr lang="en-US" sz="2933" b="0" i="0" u="none" strike="noStrike" dirty="0" err="1">
                <a:solidFill>
                  <a:srgbClr val="000000"/>
                </a:solidFill>
                <a:latin typeface="Pretendard Medium"/>
                <a:ea typeface="Pretendard Medium"/>
                <a:cs typeface="Pretendard Medium"/>
              </a:rPr>
              <a:t>피해</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범위를</a:t>
            </a:r>
            <a:r>
              <a:rPr lang="en-US" sz="2933" b="0" i="0" u="none" strike="noStrike" dirty="0">
                <a:solidFill>
                  <a:srgbClr val="000000"/>
                </a:solidFill>
                <a:latin typeface="Pretendard Medium"/>
                <a:ea typeface="Pretendard Medium"/>
                <a:cs typeface="Pretendard Medium"/>
              </a:rPr>
              <a:t> </a:t>
            </a:r>
            <a:r>
              <a:rPr lang="en-US" sz="2933" b="0" i="0" u="none" strike="noStrike" dirty="0" err="1">
                <a:solidFill>
                  <a:srgbClr val="000000"/>
                </a:solidFill>
                <a:latin typeface="Pretendard Medium"/>
                <a:ea typeface="Pretendard Medium"/>
                <a:cs typeface="Pretendard Medium"/>
              </a:rPr>
              <a:t>최소화</a:t>
            </a:r>
            <a:endParaRPr lang="en-US" sz="2933" b="0" i="0" u="none" strike="noStrike" dirty="0">
              <a:solidFill>
                <a:srgbClr val="000000"/>
              </a:solidFill>
              <a:latin typeface="Pretendard Medium"/>
              <a:ea typeface="Pretendard Medium"/>
              <a:cs typeface="Pretendard Medium"/>
            </a:endParaRPr>
          </a:p>
        </p:txBody>
      </p:sp>
      <p:sp>
        <p:nvSpPr>
          <p:cNvPr id="55" name="TextBox 23">
            <a:extLst>
              <a:ext uri="{FF2B5EF4-FFF2-40B4-BE49-F238E27FC236}">
                <a16:creationId xmlns:a16="http://schemas.microsoft.com/office/drawing/2014/main" id="{99113B1A-6038-5B8C-E1BB-10A13029908B}"/>
              </a:ext>
            </a:extLst>
          </p:cNvPr>
          <p:cNvSpPr txBox="1"/>
          <p:nvPr/>
        </p:nvSpPr>
        <p:spPr>
          <a:xfrm>
            <a:off x="7931150" y="8331200"/>
            <a:ext cx="1854200" cy="571500"/>
          </a:xfrm>
          <a:prstGeom prst="rect">
            <a:avLst/>
          </a:prstGeom>
        </p:spPr>
        <p:txBody>
          <a:bodyPr lIns="0" tIns="0" rIns="0" bIns="0" rtlCol="0" anchor="t"/>
          <a:lstStyle/>
          <a:p>
            <a:pPr lvl="0" algn="l">
              <a:lnSpc>
                <a:spcPct val="116199"/>
              </a:lnSpc>
            </a:pPr>
            <a:r>
              <a:rPr lang="en-US" sz="3200" b="1" i="0" u="none" strike="noStrike" dirty="0" err="1">
                <a:solidFill>
                  <a:srgbClr val="000000"/>
                </a:solidFill>
                <a:latin typeface="Pretendard Medium"/>
                <a:ea typeface="Pretendard Medium"/>
                <a:cs typeface="Pretendard Medium"/>
              </a:rPr>
              <a:t>샌드박스</a:t>
            </a:r>
            <a:endParaRPr lang="en-US" sz="3200" b="1" i="0" u="none" strike="noStrike" dirty="0">
              <a:solidFill>
                <a:srgbClr val="000000"/>
              </a:solidFill>
              <a:latin typeface="Pretendard Medium"/>
              <a:ea typeface="Pretendard Medium"/>
              <a:cs typeface="Pretendard Medium"/>
            </a:endParaRPr>
          </a:p>
        </p:txBody>
      </p:sp>
      <p:pic>
        <p:nvPicPr>
          <p:cNvPr id="80" name="Picture 6">
            <a:extLst>
              <a:ext uri="{FF2B5EF4-FFF2-40B4-BE49-F238E27FC236}">
                <a16:creationId xmlns:a16="http://schemas.microsoft.com/office/drawing/2014/main" id="{75595380-1783-B290-0B14-5A361381D038}"/>
              </a:ext>
            </a:extLst>
          </p:cNvPr>
          <p:cNvPicPr>
            <a:picLocks noChangeAspect="1"/>
          </p:cNvPicPr>
          <p:nvPr/>
        </p:nvPicPr>
        <p:blipFill>
          <a:blip r:embed="rId8"/>
          <a:stretch>
            <a:fillRect/>
          </a:stretch>
        </p:blipFill>
        <p:spPr>
          <a:xfrm>
            <a:off x="1955800" y="4368800"/>
            <a:ext cx="4381500" cy="6997700"/>
          </a:xfrm>
          <a:prstGeom prst="rect">
            <a:avLst/>
          </a:prstGeom>
          <a:effectLst>
            <a:outerShdw blurRad="241107" dist="101164" dir="2700000">
              <a:srgbClr val="000000">
                <a:alpha val="15000"/>
              </a:srgbClr>
            </a:outerShdw>
          </a:effectLst>
        </p:spPr>
      </p:pic>
      <p:pic>
        <p:nvPicPr>
          <p:cNvPr id="81" name="Picture 28">
            <a:extLst>
              <a:ext uri="{FF2B5EF4-FFF2-40B4-BE49-F238E27FC236}">
                <a16:creationId xmlns:a16="http://schemas.microsoft.com/office/drawing/2014/main" id="{87BF6DA0-FAB0-DAE7-AE5B-2DC7B192F5D1}"/>
              </a:ext>
            </a:extLst>
          </p:cNvPr>
          <p:cNvPicPr>
            <a:picLocks noChangeAspect="1"/>
          </p:cNvPicPr>
          <p:nvPr/>
        </p:nvPicPr>
        <p:blipFill>
          <a:blip r:embed="rId9"/>
          <a:stretch>
            <a:fillRect/>
          </a:stretch>
        </p:blipFill>
        <p:spPr>
          <a:xfrm>
            <a:off x="2914650" y="4419600"/>
            <a:ext cx="1841500" cy="1841500"/>
          </a:xfrm>
          <a:prstGeom prst="rect">
            <a:avLst/>
          </a:prstGeom>
        </p:spPr>
      </p:pic>
      <p:sp>
        <p:nvSpPr>
          <p:cNvPr id="82" name="TextBox 30">
            <a:extLst>
              <a:ext uri="{FF2B5EF4-FFF2-40B4-BE49-F238E27FC236}">
                <a16:creationId xmlns:a16="http://schemas.microsoft.com/office/drawing/2014/main" id="{55443E12-3A95-4BE4-E063-F91B11CF99CE}"/>
              </a:ext>
            </a:extLst>
          </p:cNvPr>
          <p:cNvSpPr txBox="1"/>
          <p:nvPr/>
        </p:nvSpPr>
        <p:spPr>
          <a:xfrm>
            <a:off x="2632075" y="6165851"/>
            <a:ext cx="2235200" cy="533399"/>
          </a:xfrm>
          <a:prstGeom prst="rect">
            <a:avLst/>
          </a:prstGeom>
        </p:spPr>
        <p:txBody>
          <a:bodyPr lIns="0" tIns="0" rIns="0" bIns="0" rtlCol="0" anchor="t"/>
          <a:lstStyle/>
          <a:p>
            <a:pPr lvl="0" algn="ctr">
              <a:lnSpc>
                <a:spcPct val="116199"/>
              </a:lnSpc>
            </a:pPr>
            <a:r>
              <a:rPr lang="en-US" sz="2607" b="0" i="0" u="none" strike="noStrike" dirty="0" err="1">
                <a:solidFill>
                  <a:srgbClr val="000000"/>
                </a:solidFill>
                <a:latin typeface="Pretendard Medium"/>
                <a:ea typeface="Pretendard Medium"/>
                <a:cs typeface="Pretendard Medium"/>
              </a:rPr>
              <a:t>메일</a:t>
            </a:r>
            <a:r>
              <a:rPr lang="en-US" sz="2607" b="0" i="0" u="none" strike="noStrike" dirty="0">
                <a:solidFill>
                  <a:srgbClr val="000000"/>
                </a:solidFill>
                <a:latin typeface="Pretendard Medium"/>
                <a:ea typeface="Pretendard Medium"/>
                <a:cs typeface="Pretendard Medium"/>
              </a:rPr>
              <a:t> </a:t>
            </a:r>
            <a:r>
              <a:rPr lang="en-US" sz="2607" b="0" i="0" u="none" strike="noStrike" dirty="0" err="1">
                <a:solidFill>
                  <a:srgbClr val="000000"/>
                </a:solidFill>
                <a:latin typeface="Pretendard Medium"/>
                <a:ea typeface="Pretendard Medium"/>
                <a:cs typeface="Pretendard Medium"/>
              </a:rPr>
              <a:t>서버</a:t>
            </a:r>
            <a:endParaRPr lang="en-US" sz="2607" b="0" i="0" u="none" strike="noStrike" dirty="0">
              <a:solidFill>
                <a:srgbClr val="000000"/>
              </a:solidFill>
              <a:latin typeface="Pretendard Medium"/>
              <a:ea typeface="Pretendard Medium"/>
              <a:cs typeface="Pretendard Medium"/>
            </a:endParaRPr>
          </a:p>
        </p:txBody>
      </p:sp>
      <p:pic>
        <p:nvPicPr>
          <p:cNvPr id="83" name="Picture 31">
            <a:extLst>
              <a:ext uri="{FF2B5EF4-FFF2-40B4-BE49-F238E27FC236}">
                <a16:creationId xmlns:a16="http://schemas.microsoft.com/office/drawing/2014/main" id="{F96649F6-B8F0-40BD-44AD-3456C58FDED4}"/>
              </a:ext>
            </a:extLst>
          </p:cNvPr>
          <p:cNvPicPr>
            <a:picLocks noChangeAspect="1"/>
          </p:cNvPicPr>
          <p:nvPr/>
        </p:nvPicPr>
        <p:blipFill>
          <a:blip r:embed="rId10"/>
          <a:stretch>
            <a:fillRect/>
          </a:stretch>
        </p:blipFill>
        <p:spPr>
          <a:xfrm rot="5400000">
            <a:off x="3670300" y="7277100"/>
            <a:ext cx="3733800" cy="190500"/>
          </a:xfrm>
          <a:prstGeom prst="rect">
            <a:avLst/>
          </a:prstGeom>
        </p:spPr>
      </p:pic>
      <p:pic>
        <p:nvPicPr>
          <p:cNvPr id="84" name="Picture 32">
            <a:extLst>
              <a:ext uri="{FF2B5EF4-FFF2-40B4-BE49-F238E27FC236}">
                <a16:creationId xmlns:a16="http://schemas.microsoft.com/office/drawing/2014/main" id="{F56EA2BB-8021-8D0C-2F24-81DE94D74ECA}"/>
              </a:ext>
            </a:extLst>
          </p:cNvPr>
          <p:cNvPicPr>
            <a:picLocks noChangeAspect="1"/>
          </p:cNvPicPr>
          <p:nvPr/>
        </p:nvPicPr>
        <p:blipFill>
          <a:blip r:embed="rId11"/>
          <a:stretch>
            <a:fillRect/>
          </a:stretch>
        </p:blipFill>
        <p:spPr>
          <a:xfrm>
            <a:off x="4533900" y="5422900"/>
            <a:ext cx="1028700" cy="190500"/>
          </a:xfrm>
          <a:prstGeom prst="rect">
            <a:avLst/>
          </a:prstGeom>
        </p:spPr>
      </p:pic>
      <p:pic>
        <p:nvPicPr>
          <p:cNvPr id="85" name="Picture 33">
            <a:extLst>
              <a:ext uri="{FF2B5EF4-FFF2-40B4-BE49-F238E27FC236}">
                <a16:creationId xmlns:a16="http://schemas.microsoft.com/office/drawing/2014/main" id="{5F04AE11-50EA-9850-772A-6BF17BFAEE92}"/>
              </a:ext>
            </a:extLst>
          </p:cNvPr>
          <p:cNvPicPr>
            <a:picLocks noChangeAspect="1"/>
          </p:cNvPicPr>
          <p:nvPr/>
        </p:nvPicPr>
        <p:blipFill>
          <a:blip r:embed="rId12"/>
          <a:stretch>
            <a:fillRect/>
          </a:stretch>
        </p:blipFill>
        <p:spPr>
          <a:xfrm rot="10800000">
            <a:off x="4533900" y="9105900"/>
            <a:ext cx="1028700" cy="190500"/>
          </a:xfrm>
          <a:prstGeom prst="rect">
            <a:avLst/>
          </a:prstGeom>
        </p:spPr>
      </p:pic>
      <p:sp>
        <p:nvSpPr>
          <p:cNvPr id="86" name="TextBox 35">
            <a:extLst>
              <a:ext uri="{FF2B5EF4-FFF2-40B4-BE49-F238E27FC236}">
                <a16:creationId xmlns:a16="http://schemas.microsoft.com/office/drawing/2014/main" id="{4EB6FD72-71E6-E6EB-5E19-15C8FD018C99}"/>
              </a:ext>
            </a:extLst>
          </p:cNvPr>
          <p:cNvSpPr txBox="1"/>
          <p:nvPr/>
        </p:nvSpPr>
        <p:spPr>
          <a:xfrm>
            <a:off x="4165600" y="7264400"/>
            <a:ext cx="1270000" cy="431800"/>
          </a:xfrm>
          <a:prstGeom prst="rect">
            <a:avLst/>
          </a:prstGeom>
        </p:spPr>
        <p:txBody>
          <a:bodyPr lIns="0" tIns="0" rIns="0" bIns="0" rtlCol="0" anchor="t"/>
          <a:lstStyle/>
          <a:p>
            <a:pPr lvl="0" algn="ctr">
              <a:lnSpc>
                <a:spcPct val="116199"/>
              </a:lnSpc>
            </a:pPr>
            <a:r>
              <a:rPr lang="en-US" sz="2400" b="0" i="0" u="none" strike="noStrike" dirty="0" err="1">
                <a:solidFill>
                  <a:srgbClr val="000000"/>
                </a:solidFill>
                <a:latin typeface="Pretendard Medium"/>
                <a:ea typeface="Pretendard Medium"/>
                <a:cs typeface="Pretendard Medium"/>
              </a:rPr>
              <a:t>메일</a:t>
            </a:r>
            <a:r>
              <a:rPr lang="en-US" sz="2400" b="0" i="0" u="none" strike="noStrike" dirty="0">
                <a:solidFill>
                  <a:srgbClr val="000000"/>
                </a:solidFill>
                <a:latin typeface="Pretendard Medium"/>
                <a:ea typeface="Pretendard Medium"/>
                <a:cs typeface="Pretendard Medium"/>
              </a:rPr>
              <a:t> </a:t>
            </a:r>
            <a:r>
              <a:rPr lang="ko-KR" altLang="en-US" sz="2400" dirty="0">
                <a:solidFill>
                  <a:srgbClr val="000000"/>
                </a:solidFill>
                <a:latin typeface="Pretendard Medium"/>
                <a:ea typeface="Pretendard Medium"/>
                <a:cs typeface="Pretendard Medium"/>
              </a:rPr>
              <a:t>확인</a:t>
            </a:r>
            <a:endParaRPr lang="en-US" sz="2400" b="0" i="0" u="none" strike="noStrike" dirty="0">
              <a:solidFill>
                <a:srgbClr val="000000"/>
              </a:solidFill>
              <a:latin typeface="Pretendard Medium"/>
              <a:ea typeface="Pretendard Medium"/>
              <a:cs typeface="Pretendard Medium"/>
            </a:endParaRPr>
          </a:p>
        </p:txBody>
      </p:sp>
      <p:sp>
        <p:nvSpPr>
          <p:cNvPr id="87" name="TextBox 21">
            <a:extLst>
              <a:ext uri="{FF2B5EF4-FFF2-40B4-BE49-F238E27FC236}">
                <a16:creationId xmlns:a16="http://schemas.microsoft.com/office/drawing/2014/main" id="{9108C581-2E20-8D62-9649-8CE647FE489F}"/>
              </a:ext>
            </a:extLst>
          </p:cNvPr>
          <p:cNvSpPr txBox="1"/>
          <p:nvPr/>
        </p:nvSpPr>
        <p:spPr>
          <a:xfrm>
            <a:off x="914400" y="5105400"/>
            <a:ext cx="3200400" cy="442955"/>
          </a:xfrm>
          <a:prstGeom prst="rect">
            <a:avLst/>
          </a:prstGeom>
        </p:spPr>
        <p:txBody>
          <a:bodyPr lIns="0" tIns="0" rIns="0" bIns="0" rtlCol="0" anchor="t"/>
          <a:lstStyle/>
          <a:p>
            <a:pPr lvl="0" algn="ctr">
              <a:lnSpc>
                <a:spcPct val="116199"/>
              </a:lnSpc>
            </a:pPr>
            <a:r>
              <a:rPr lang="ko-KR" altLang="en-US" sz="2600" b="0" i="0" u="none" strike="noStrike" dirty="0" err="1">
                <a:solidFill>
                  <a:srgbClr val="000000"/>
                </a:solidFill>
                <a:latin typeface="Pretendard Medium"/>
                <a:ea typeface="Pretendard Medium"/>
                <a:cs typeface="Pretendard Medium"/>
              </a:rPr>
              <a:t>본사망</a:t>
            </a:r>
            <a:endParaRPr lang="en-US" altLang="ko-KR" sz="2600" dirty="0">
              <a:solidFill>
                <a:srgbClr val="000000"/>
              </a:solidFill>
              <a:latin typeface="Pretendard Medium"/>
              <a:ea typeface="Pretendard Medium"/>
              <a:cs typeface="Pretendard Medium"/>
            </a:endParaRPr>
          </a:p>
        </p:txBody>
      </p:sp>
      <p:sp>
        <p:nvSpPr>
          <p:cNvPr id="88" name="TextBox 21">
            <a:extLst>
              <a:ext uri="{FF2B5EF4-FFF2-40B4-BE49-F238E27FC236}">
                <a16:creationId xmlns:a16="http://schemas.microsoft.com/office/drawing/2014/main" id="{B524E582-1D83-115B-A106-69503D967E95}"/>
              </a:ext>
            </a:extLst>
          </p:cNvPr>
          <p:cNvSpPr txBox="1"/>
          <p:nvPr/>
        </p:nvSpPr>
        <p:spPr>
          <a:xfrm>
            <a:off x="847982" y="8991599"/>
            <a:ext cx="3200400" cy="442955"/>
          </a:xfrm>
          <a:prstGeom prst="rect">
            <a:avLst/>
          </a:prstGeom>
        </p:spPr>
        <p:txBody>
          <a:bodyPr lIns="0" tIns="0" rIns="0" bIns="0" rtlCol="0" anchor="t"/>
          <a:lstStyle/>
          <a:p>
            <a:pPr lvl="0" algn="ctr">
              <a:lnSpc>
                <a:spcPct val="116199"/>
              </a:lnSpc>
            </a:pPr>
            <a:r>
              <a:rPr lang="ko-KR" altLang="en-US" sz="2600" b="0" i="0" u="none" strike="noStrike" dirty="0" err="1">
                <a:solidFill>
                  <a:srgbClr val="000000"/>
                </a:solidFill>
                <a:latin typeface="Pretendard Medium"/>
                <a:ea typeface="Pretendard Medium"/>
                <a:cs typeface="Pretendard Medium"/>
              </a:rPr>
              <a:t>본사망</a:t>
            </a:r>
            <a:endParaRPr lang="en-US" altLang="ko-KR" sz="2600" dirty="0">
              <a:solidFill>
                <a:srgbClr val="000000"/>
              </a:solidFill>
              <a:latin typeface="Pretendard Medium"/>
              <a:ea typeface="Pretendard Medium"/>
              <a:cs typeface="Pretendard Medium"/>
            </a:endParaRPr>
          </a:p>
        </p:txBody>
      </p:sp>
      <p:pic>
        <p:nvPicPr>
          <p:cNvPr id="89" name="Picture 27">
            <a:extLst>
              <a:ext uri="{FF2B5EF4-FFF2-40B4-BE49-F238E27FC236}">
                <a16:creationId xmlns:a16="http://schemas.microsoft.com/office/drawing/2014/main" id="{71738FFB-22EB-DA96-FB8A-0405867F4B6C}"/>
              </a:ext>
            </a:extLst>
          </p:cNvPr>
          <p:cNvPicPr>
            <a:picLocks noChangeAspect="1"/>
          </p:cNvPicPr>
          <p:nvPr/>
        </p:nvPicPr>
        <p:blipFill>
          <a:blip r:embed="rId13"/>
          <a:stretch>
            <a:fillRect/>
          </a:stretch>
        </p:blipFill>
        <p:spPr>
          <a:xfrm>
            <a:off x="3181350" y="8602534"/>
            <a:ext cx="1320800" cy="1168400"/>
          </a:xfrm>
          <a:prstGeom prst="rect">
            <a:avLst/>
          </a:prstGeom>
        </p:spPr>
      </p:pic>
      <p:sp>
        <p:nvSpPr>
          <p:cNvPr id="90" name="TextBox 29">
            <a:extLst>
              <a:ext uri="{FF2B5EF4-FFF2-40B4-BE49-F238E27FC236}">
                <a16:creationId xmlns:a16="http://schemas.microsoft.com/office/drawing/2014/main" id="{597ED78E-C013-8382-FB80-136D002C5AC0}"/>
              </a:ext>
            </a:extLst>
          </p:cNvPr>
          <p:cNvSpPr txBox="1"/>
          <p:nvPr/>
        </p:nvSpPr>
        <p:spPr>
          <a:xfrm>
            <a:off x="2774950" y="10012234"/>
            <a:ext cx="2235200" cy="469900"/>
          </a:xfrm>
          <a:prstGeom prst="rect">
            <a:avLst/>
          </a:prstGeom>
        </p:spPr>
        <p:txBody>
          <a:bodyPr lIns="0" tIns="0" rIns="0" bIns="0" rtlCol="0" anchor="t"/>
          <a:lstStyle/>
          <a:p>
            <a:pPr lvl="0" algn="ctr">
              <a:lnSpc>
                <a:spcPct val="116199"/>
              </a:lnSpc>
            </a:pPr>
            <a:r>
              <a:rPr lang="ko-KR" altLang="en-US" sz="2607" b="0" i="0" u="none" strike="noStrike" dirty="0">
                <a:solidFill>
                  <a:srgbClr val="000000"/>
                </a:solidFill>
                <a:latin typeface="Pretendard Medium"/>
                <a:ea typeface="Pretendard Medium"/>
                <a:cs typeface="Pretendard Medium"/>
              </a:rPr>
              <a:t>개발자</a:t>
            </a:r>
            <a:endParaRPr lang="en-US" sz="2607" b="0" i="0" u="none" strike="noStrike" dirty="0">
              <a:solidFill>
                <a:srgbClr val="000000"/>
              </a:solidFill>
              <a:latin typeface="Pretendard Medium"/>
              <a:ea typeface="Pretendard Medium"/>
              <a:cs typeface="Pretendard Medium"/>
            </a:endParaRPr>
          </a:p>
        </p:txBody>
      </p:sp>
      <p:pic>
        <p:nvPicPr>
          <p:cNvPr id="91" name="Picture 57">
            <a:extLst>
              <a:ext uri="{FF2B5EF4-FFF2-40B4-BE49-F238E27FC236}">
                <a16:creationId xmlns:a16="http://schemas.microsoft.com/office/drawing/2014/main" id="{2966A23D-E406-2120-1664-599B69D15EC0}"/>
              </a:ext>
            </a:extLst>
          </p:cNvPr>
          <p:cNvPicPr>
            <a:picLocks noChangeAspect="1"/>
          </p:cNvPicPr>
          <p:nvPr/>
        </p:nvPicPr>
        <p:blipFill>
          <a:blip r:embed="rId14"/>
          <a:stretch>
            <a:fillRect/>
          </a:stretch>
        </p:blipFill>
        <p:spPr>
          <a:xfrm>
            <a:off x="3867836" y="7350040"/>
            <a:ext cx="342900" cy="3429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556500" y="4368800"/>
            <a:ext cx="15849600" cy="6997700"/>
          </a:xfrm>
          <a:prstGeom prst="rect">
            <a:avLst/>
          </a:prstGeom>
          <a:effectLst>
            <a:outerShdw blurRad="384862" dist="161481" dir="2700000">
              <a:srgbClr val="000000">
                <a:alpha val="15000"/>
              </a:srgbClr>
            </a:outerShdw>
          </a:effectLst>
        </p:spPr>
      </p:pic>
      <p:sp>
        <p:nvSpPr>
          <p:cNvPr id="4" name="TextBox 4"/>
          <p:cNvSpPr txBox="1"/>
          <p:nvPr/>
        </p:nvSpPr>
        <p:spPr>
          <a:xfrm>
            <a:off x="10160000" y="4699000"/>
            <a:ext cx="12496800" cy="1041400"/>
          </a:xfrm>
          <a:prstGeom prst="rect">
            <a:avLst/>
          </a:prstGeom>
        </p:spPr>
        <p:txBody>
          <a:bodyPr lIns="0" tIns="0" rIns="0" bIns="0" rtlCol="0" anchor="t"/>
          <a:lstStyle/>
          <a:p>
            <a:pPr lvl="0" algn="l">
              <a:lnSpc>
                <a:spcPct val="116199"/>
              </a:lnSpc>
            </a:pPr>
            <a:r>
              <a:rPr lang="en-US" sz="2933" b="0" i="0" u="none" strike="noStrike">
                <a:solidFill>
                  <a:srgbClr val="000000"/>
                </a:solidFill>
                <a:latin typeface="Pretendard Medium"/>
                <a:ea typeface="Pretendard Medium"/>
                <a:cs typeface="Pretendard Medium"/>
              </a:rPr>
              <a:t>Mojo IPC를 이용한 탈출 취약점
브라우저 밖 시스템 전체를 장악할 수 있게 됨</a:t>
            </a:r>
          </a:p>
        </p:txBody>
      </p:sp>
      <p:sp>
        <p:nvSpPr>
          <p:cNvPr id="5" name="TextBox 5"/>
          <p:cNvSpPr txBox="1"/>
          <p:nvPr/>
        </p:nvSpPr>
        <p:spPr>
          <a:xfrm>
            <a:off x="7988300" y="4699000"/>
            <a:ext cx="1854200" cy="571500"/>
          </a:xfrm>
          <a:prstGeom prst="rect">
            <a:avLst/>
          </a:prstGeom>
        </p:spPr>
        <p:txBody>
          <a:bodyPr lIns="0" tIns="0" rIns="0" bIns="0" rtlCol="0" anchor="t"/>
          <a:lstStyle/>
          <a:p>
            <a:pPr lvl="0" algn="l">
              <a:lnSpc>
                <a:spcPct val="116199"/>
              </a:lnSpc>
            </a:pPr>
            <a:r>
              <a:rPr lang="en-US" sz="3200" b="1" i="0" u="none" strike="noStrike">
                <a:solidFill>
                  <a:srgbClr val="000000"/>
                </a:solidFill>
                <a:latin typeface="Pretendard Medium"/>
                <a:ea typeface="Pretendard Medium"/>
                <a:cs typeface="Pretendard Medium"/>
              </a:rPr>
              <a:t>CVE 설명</a:t>
            </a:r>
          </a:p>
        </p:txBody>
      </p:sp>
      <p:pic>
        <p:nvPicPr>
          <p:cNvPr id="7" name="Picture 7"/>
          <p:cNvPicPr>
            <a:picLocks noChangeAspect="1"/>
          </p:cNvPicPr>
          <p:nvPr/>
        </p:nvPicPr>
        <p:blipFill>
          <a:blip r:embed="rId4"/>
          <a:stretch>
            <a:fillRect/>
          </a:stretch>
        </p:blipFill>
        <p:spPr>
          <a:xfrm>
            <a:off x="762000" y="1092200"/>
            <a:ext cx="22860000" cy="12700"/>
          </a:xfrm>
          <a:prstGeom prst="rect">
            <a:avLst/>
          </a:prstGeom>
        </p:spPr>
      </p:pic>
      <p:pic>
        <p:nvPicPr>
          <p:cNvPr id="8" name="Picture 8"/>
          <p:cNvPicPr>
            <a:picLocks noChangeAspect="1"/>
          </p:cNvPicPr>
          <p:nvPr/>
        </p:nvPicPr>
        <p:blipFill>
          <a:blip r:embed="rId5"/>
          <a:stretch>
            <a:fillRect/>
          </a:stretch>
        </p:blipFill>
        <p:spPr>
          <a:xfrm rot="5400000">
            <a:off x="3200400" y="787400"/>
            <a:ext cx="635000" cy="12700"/>
          </a:xfrm>
          <a:prstGeom prst="rect">
            <a:avLst/>
          </a:prstGeom>
        </p:spPr>
      </p:pic>
      <p:pic>
        <p:nvPicPr>
          <p:cNvPr id="9" name="Picture 9"/>
          <p:cNvPicPr>
            <a:picLocks noChangeAspect="1"/>
          </p:cNvPicPr>
          <p:nvPr/>
        </p:nvPicPr>
        <p:blipFill>
          <a:blip r:embed="rId5"/>
          <a:stretch>
            <a:fillRect/>
          </a:stretch>
        </p:blipFill>
        <p:spPr>
          <a:xfrm rot="5400000">
            <a:off x="22225000" y="787400"/>
            <a:ext cx="635000" cy="12700"/>
          </a:xfrm>
          <a:prstGeom prst="rect">
            <a:avLst/>
          </a:prstGeom>
        </p:spPr>
      </p:pic>
      <p:pic>
        <p:nvPicPr>
          <p:cNvPr id="10" name="Picture 10"/>
          <p:cNvPicPr>
            <a:picLocks noChangeAspect="1"/>
          </p:cNvPicPr>
          <p:nvPr/>
        </p:nvPicPr>
        <p:blipFill>
          <a:blip r:embed="rId5"/>
          <a:stretch>
            <a:fillRect/>
          </a:stretch>
        </p:blipFill>
        <p:spPr>
          <a:xfrm rot="5400000">
            <a:off x="6337300" y="787400"/>
            <a:ext cx="635000" cy="12700"/>
          </a:xfrm>
          <a:prstGeom prst="rect">
            <a:avLst/>
          </a:prstGeom>
        </p:spPr>
      </p:pic>
      <p:pic>
        <p:nvPicPr>
          <p:cNvPr id="11" name="Picture 11"/>
          <p:cNvPicPr>
            <a:picLocks noChangeAspect="1"/>
          </p:cNvPicPr>
          <p:nvPr/>
        </p:nvPicPr>
        <p:blipFill>
          <a:blip r:embed="rId4"/>
          <a:stretch>
            <a:fillRect/>
          </a:stretch>
        </p:blipFill>
        <p:spPr>
          <a:xfrm>
            <a:off x="723900" y="457200"/>
            <a:ext cx="22860000" cy="12700"/>
          </a:xfrm>
          <a:prstGeom prst="rect">
            <a:avLst/>
          </a:prstGeom>
        </p:spPr>
      </p:pic>
      <p:pic>
        <p:nvPicPr>
          <p:cNvPr id="13" name="Picture 13"/>
          <p:cNvPicPr>
            <a:picLocks noChangeAspect="1"/>
          </p:cNvPicPr>
          <p:nvPr/>
        </p:nvPicPr>
        <p:blipFill>
          <a:blip r:embed="rId6"/>
          <a:stretch>
            <a:fillRect/>
          </a:stretch>
        </p:blipFill>
        <p:spPr>
          <a:xfrm>
            <a:off x="1485900" y="1612900"/>
            <a:ext cx="88900" cy="850900"/>
          </a:xfrm>
          <a:prstGeom prst="rect">
            <a:avLst/>
          </a:prstGeom>
        </p:spPr>
      </p:pic>
      <p:sp>
        <p:nvSpPr>
          <p:cNvPr id="14" name="TextBox 14"/>
          <p:cNvSpPr txBox="1"/>
          <p:nvPr/>
        </p:nvSpPr>
        <p:spPr>
          <a:xfrm>
            <a:off x="1943100" y="1409700"/>
            <a:ext cx="13423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협력사망 경유를 통한 공급망 연쇄 침투</a:t>
            </a:r>
          </a:p>
        </p:txBody>
      </p:sp>
      <p:sp>
        <p:nvSpPr>
          <p:cNvPr id="15" name="TextBox 15"/>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34</a:t>
            </a:r>
          </a:p>
        </p:txBody>
      </p:sp>
      <p:sp>
        <p:nvSpPr>
          <p:cNvPr id="22" name="TextBox 22"/>
          <p:cNvSpPr txBox="1"/>
          <p:nvPr/>
        </p:nvSpPr>
        <p:spPr>
          <a:xfrm>
            <a:off x="10147300" y="6261100"/>
            <a:ext cx="12496800" cy="1562100"/>
          </a:xfrm>
          <a:prstGeom prst="rect">
            <a:avLst/>
          </a:prstGeom>
        </p:spPr>
        <p:txBody>
          <a:bodyPr lIns="0" tIns="0" rIns="0" bIns="0" rtlCol="0" anchor="t"/>
          <a:lstStyle/>
          <a:p>
            <a:pPr lvl="0" algn="l">
              <a:lnSpc>
                <a:spcPct val="116199"/>
              </a:lnSpc>
            </a:pPr>
            <a:r>
              <a:rPr lang="en-US" sz="2933" b="0" i="0" u="none" strike="noStrike">
                <a:solidFill>
                  <a:srgbClr val="000000"/>
                </a:solidFill>
                <a:latin typeface="Pretendard Medium"/>
                <a:ea typeface="Pretendard Medium"/>
                <a:cs typeface="Pretendard Medium"/>
              </a:rPr>
              <a:t>IPC 보안 검사 우회 → 타이밍 오류 이용 → 샌드박스 탈출 → 시스템 완전 장악</a:t>
            </a:r>
          </a:p>
        </p:txBody>
      </p:sp>
      <p:sp>
        <p:nvSpPr>
          <p:cNvPr id="23" name="TextBox 23"/>
          <p:cNvSpPr txBox="1"/>
          <p:nvPr/>
        </p:nvSpPr>
        <p:spPr>
          <a:xfrm>
            <a:off x="7988300" y="6261100"/>
            <a:ext cx="1854200" cy="571500"/>
          </a:xfrm>
          <a:prstGeom prst="rect">
            <a:avLst/>
          </a:prstGeom>
        </p:spPr>
        <p:txBody>
          <a:bodyPr lIns="0" tIns="0" rIns="0" bIns="0" rtlCol="0" anchor="t"/>
          <a:lstStyle/>
          <a:p>
            <a:pPr lvl="0" algn="l">
              <a:lnSpc>
                <a:spcPct val="116199"/>
              </a:lnSpc>
            </a:pPr>
            <a:r>
              <a:rPr lang="en-US" sz="3200" b="1" i="0" u="none" strike="noStrike">
                <a:solidFill>
                  <a:srgbClr val="000000"/>
                </a:solidFill>
                <a:latin typeface="Pretendard Medium"/>
                <a:ea typeface="Pretendard Medium"/>
                <a:cs typeface="Pretendard Medium"/>
              </a:rPr>
              <a:t>동작 방식</a:t>
            </a:r>
          </a:p>
        </p:txBody>
      </p:sp>
      <p:sp>
        <p:nvSpPr>
          <p:cNvPr id="24" name="TextBox 24"/>
          <p:cNvSpPr txBox="1"/>
          <p:nvPr/>
        </p:nvSpPr>
        <p:spPr>
          <a:xfrm>
            <a:off x="10160000" y="8851900"/>
            <a:ext cx="12598400" cy="520700"/>
          </a:xfrm>
          <a:prstGeom prst="rect">
            <a:avLst/>
          </a:prstGeom>
        </p:spPr>
        <p:txBody>
          <a:bodyPr lIns="0" tIns="0" rIns="0" bIns="0" rtlCol="0" anchor="t"/>
          <a:lstStyle/>
          <a:p>
            <a:pPr lvl="0" algn="l">
              <a:lnSpc>
                <a:spcPct val="116199"/>
              </a:lnSpc>
            </a:pPr>
            <a:r>
              <a:rPr lang="en-US" sz="2933" b="0" i="0" u="none" strike="noStrike">
                <a:solidFill>
                  <a:srgbClr val="000000"/>
                </a:solidFill>
                <a:latin typeface="Pretendard Medium"/>
                <a:ea typeface="Pretendard Medium"/>
                <a:cs typeface="Pretendard Medium"/>
              </a:rPr>
              <a:t>오퍼레이션 포럼트롤 (러시아 국가지원 해킹그룹)</a:t>
            </a:r>
          </a:p>
        </p:txBody>
      </p:sp>
      <p:sp>
        <p:nvSpPr>
          <p:cNvPr id="25" name="TextBox 25"/>
          <p:cNvSpPr txBox="1"/>
          <p:nvPr/>
        </p:nvSpPr>
        <p:spPr>
          <a:xfrm>
            <a:off x="7988300" y="8851900"/>
            <a:ext cx="1854200" cy="571500"/>
          </a:xfrm>
          <a:prstGeom prst="rect">
            <a:avLst/>
          </a:prstGeom>
        </p:spPr>
        <p:txBody>
          <a:bodyPr lIns="0" tIns="0" rIns="0" bIns="0" rtlCol="0" anchor="t"/>
          <a:lstStyle/>
          <a:p>
            <a:pPr lvl="0" algn="l">
              <a:lnSpc>
                <a:spcPct val="116199"/>
              </a:lnSpc>
            </a:pPr>
            <a:r>
              <a:rPr lang="en-US" sz="3200" b="1" i="0" u="none" strike="noStrike">
                <a:solidFill>
                  <a:srgbClr val="000000"/>
                </a:solidFill>
                <a:latin typeface="Pretendard Medium"/>
                <a:ea typeface="Pretendard Medium"/>
                <a:cs typeface="Pretendard Medium"/>
              </a:rPr>
              <a:t>선정 이유</a:t>
            </a:r>
          </a:p>
        </p:txBody>
      </p:sp>
      <p:sp>
        <p:nvSpPr>
          <p:cNvPr id="26" name="TextBox 26"/>
          <p:cNvSpPr txBox="1"/>
          <p:nvPr/>
        </p:nvSpPr>
        <p:spPr>
          <a:xfrm>
            <a:off x="1930400" y="29591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크롬 브라우저 : CVE-2025-2783</a:t>
            </a:r>
          </a:p>
        </p:txBody>
      </p:sp>
      <p:sp>
        <p:nvSpPr>
          <p:cNvPr id="36" name="TextBox 36"/>
          <p:cNvSpPr txBox="1"/>
          <p:nvPr/>
        </p:nvSpPr>
        <p:spPr>
          <a:xfrm>
            <a:off x="10160000" y="7594600"/>
            <a:ext cx="12496800" cy="520700"/>
          </a:xfrm>
          <a:prstGeom prst="rect">
            <a:avLst/>
          </a:prstGeom>
        </p:spPr>
        <p:txBody>
          <a:bodyPr lIns="0" tIns="0" rIns="0" bIns="0" rtlCol="0" anchor="t"/>
          <a:lstStyle/>
          <a:p>
            <a:pPr lvl="0" algn="l">
              <a:lnSpc>
                <a:spcPct val="116199"/>
              </a:lnSpc>
            </a:pPr>
            <a:r>
              <a:rPr lang="en-US" sz="2933" b="0" i="0" u="none" strike="noStrike">
                <a:solidFill>
                  <a:srgbClr val="000000"/>
                </a:solidFill>
                <a:latin typeface="Pretendard Medium"/>
                <a:ea typeface="Pretendard Medium"/>
                <a:cs typeface="Pretendard Medium"/>
              </a:rPr>
              <a:t>Mojo IPC : 크롬 샌드박스와 시스템간의 통신을 위한 프로세스 간 통신 프레임워크</a:t>
            </a:r>
          </a:p>
        </p:txBody>
      </p:sp>
      <p:sp>
        <p:nvSpPr>
          <p:cNvPr id="37" name="TextBox 37"/>
          <p:cNvSpPr txBox="1"/>
          <p:nvPr/>
        </p:nvSpPr>
        <p:spPr>
          <a:xfrm>
            <a:off x="7988300" y="7594600"/>
            <a:ext cx="1854200" cy="571500"/>
          </a:xfrm>
          <a:prstGeom prst="rect">
            <a:avLst/>
          </a:prstGeom>
        </p:spPr>
        <p:txBody>
          <a:bodyPr lIns="0" tIns="0" rIns="0" bIns="0" rtlCol="0" anchor="t"/>
          <a:lstStyle/>
          <a:p>
            <a:pPr lvl="0" algn="l">
              <a:lnSpc>
                <a:spcPct val="116199"/>
              </a:lnSpc>
            </a:pPr>
            <a:r>
              <a:rPr lang="en-US" sz="3200" b="1" i="0" u="none" strike="noStrike">
                <a:solidFill>
                  <a:srgbClr val="000000"/>
                </a:solidFill>
                <a:latin typeface="Pretendard Medium"/>
                <a:ea typeface="Pretendard Medium"/>
                <a:cs typeface="Pretendard Medium"/>
              </a:rPr>
              <a:t>사전 지식</a:t>
            </a:r>
          </a:p>
        </p:txBody>
      </p:sp>
      <p:sp>
        <p:nvSpPr>
          <p:cNvPr id="39" name="TextBox 14">
            <a:extLst>
              <a:ext uri="{FF2B5EF4-FFF2-40B4-BE49-F238E27FC236}">
                <a16:creationId xmlns:a16="http://schemas.microsoft.com/office/drawing/2014/main" id="{5EAE54AA-7847-A709-8B11-1A1196C78EFF}"/>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40" name="TextBox 14">
            <a:extLst>
              <a:ext uri="{FF2B5EF4-FFF2-40B4-BE49-F238E27FC236}">
                <a16:creationId xmlns:a16="http://schemas.microsoft.com/office/drawing/2014/main" id="{767DFBEE-2054-79A9-C6D2-5B6B655D4CB8}"/>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41" name="Picture 2">
            <a:extLst>
              <a:ext uri="{FF2B5EF4-FFF2-40B4-BE49-F238E27FC236}">
                <a16:creationId xmlns:a16="http://schemas.microsoft.com/office/drawing/2014/main" id="{4328FBDF-F7BD-41F2-497C-63FEC0C0531F}"/>
              </a:ext>
            </a:extLst>
          </p:cNvPr>
          <p:cNvPicPr>
            <a:picLocks noChangeAspect="1"/>
          </p:cNvPicPr>
          <p:nvPr/>
        </p:nvPicPr>
        <p:blipFill>
          <a:blip r:embed="rId7">
            <a:alphaModFix amt="85000"/>
          </a:blip>
          <a:stretch>
            <a:fillRect/>
          </a:stretch>
        </p:blipFill>
        <p:spPr>
          <a:xfrm>
            <a:off x="11201400" y="558800"/>
            <a:ext cx="2705100" cy="444500"/>
          </a:xfrm>
          <a:prstGeom prst="rect">
            <a:avLst/>
          </a:prstGeom>
        </p:spPr>
      </p:pic>
      <p:sp>
        <p:nvSpPr>
          <p:cNvPr id="42" name="TextBox 16">
            <a:extLst>
              <a:ext uri="{FF2B5EF4-FFF2-40B4-BE49-F238E27FC236}">
                <a16:creationId xmlns:a16="http://schemas.microsoft.com/office/drawing/2014/main" id="{3CFC75C3-BEB0-0667-9854-8BFEE7DFE2CE}"/>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43" name="TextBox 18">
            <a:extLst>
              <a:ext uri="{FF2B5EF4-FFF2-40B4-BE49-F238E27FC236}">
                <a16:creationId xmlns:a16="http://schemas.microsoft.com/office/drawing/2014/main" id="{3C939577-4643-7439-B272-68FD89301904}"/>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44" name="TextBox 19">
            <a:extLst>
              <a:ext uri="{FF2B5EF4-FFF2-40B4-BE49-F238E27FC236}">
                <a16:creationId xmlns:a16="http://schemas.microsoft.com/office/drawing/2014/main" id="{56840AA3-0C6A-6B6D-39FF-66F3B441D025}"/>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45" name="TextBox 20">
            <a:extLst>
              <a:ext uri="{FF2B5EF4-FFF2-40B4-BE49-F238E27FC236}">
                <a16:creationId xmlns:a16="http://schemas.microsoft.com/office/drawing/2014/main" id="{43B5AA87-9605-0B10-252B-87A35FEB4D0C}"/>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pic>
        <p:nvPicPr>
          <p:cNvPr id="62" name="Picture 6">
            <a:extLst>
              <a:ext uri="{FF2B5EF4-FFF2-40B4-BE49-F238E27FC236}">
                <a16:creationId xmlns:a16="http://schemas.microsoft.com/office/drawing/2014/main" id="{8D98BE2C-5191-21DE-EFB4-E65509940417}"/>
              </a:ext>
            </a:extLst>
          </p:cNvPr>
          <p:cNvPicPr>
            <a:picLocks noChangeAspect="1"/>
          </p:cNvPicPr>
          <p:nvPr/>
        </p:nvPicPr>
        <p:blipFill>
          <a:blip r:embed="rId8"/>
          <a:stretch>
            <a:fillRect/>
          </a:stretch>
        </p:blipFill>
        <p:spPr>
          <a:xfrm>
            <a:off x="1955800" y="4368800"/>
            <a:ext cx="4381500" cy="6997700"/>
          </a:xfrm>
          <a:prstGeom prst="rect">
            <a:avLst/>
          </a:prstGeom>
          <a:effectLst>
            <a:outerShdw blurRad="241107" dist="101164" dir="2700000">
              <a:srgbClr val="000000">
                <a:alpha val="15000"/>
              </a:srgbClr>
            </a:outerShdw>
          </a:effectLst>
        </p:spPr>
      </p:pic>
      <p:pic>
        <p:nvPicPr>
          <p:cNvPr id="63" name="Picture 28">
            <a:extLst>
              <a:ext uri="{FF2B5EF4-FFF2-40B4-BE49-F238E27FC236}">
                <a16:creationId xmlns:a16="http://schemas.microsoft.com/office/drawing/2014/main" id="{2B548464-DCA5-EE95-567E-0989A1564B9F}"/>
              </a:ext>
            </a:extLst>
          </p:cNvPr>
          <p:cNvPicPr>
            <a:picLocks noChangeAspect="1"/>
          </p:cNvPicPr>
          <p:nvPr/>
        </p:nvPicPr>
        <p:blipFill>
          <a:blip r:embed="rId9"/>
          <a:stretch>
            <a:fillRect/>
          </a:stretch>
        </p:blipFill>
        <p:spPr>
          <a:xfrm>
            <a:off x="2914650" y="4419600"/>
            <a:ext cx="1841500" cy="1841500"/>
          </a:xfrm>
          <a:prstGeom prst="rect">
            <a:avLst/>
          </a:prstGeom>
        </p:spPr>
      </p:pic>
      <p:sp>
        <p:nvSpPr>
          <p:cNvPr id="64" name="TextBox 30">
            <a:extLst>
              <a:ext uri="{FF2B5EF4-FFF2-40B4-BE49-F238E27FC236}">
                <a16:creationId xmlns:a16="http://schemas.microsoft.com/office/drawing/2014/main" id="{BA6745C4-6D0F-6286-F402-558C83F09B4F}"/>
              </a:ext>
            </a:extLst>
          </p:cNvPr>
          <p:cNvSpPr txBox="1"/>
          <p:nvPr/>
        </p:nvSpPr>
        <p:spPr>
          <a:xfrm>
            <a:off x="2632075" y="6165851"/>
            <a:ext cx="2235200" cy="533399"/>
          </a:xfrm>
          <a:prstGeom prst="rect">
            <a:avLst/>
          </a:prstGeom>
        </p:spPr>
        <p:txBody>
          <a:bodyPr lIns="0" tIns="0" rIns="0" bIns="0" rtlCol="0" anchor="t"/>
          <a:lstStyle/>
          <a:p>
            <a:pPr lvl="0" algn="ctr">
              <a:lnSpc>
                <a:spcPct val="116199"/>
              </a:lnSpc>
            </a:pPr>
            <a:r>
              <a:rPr lang="en-US" sz="2607" b="0" i="0" u="none" strike="noStrike" dirty="0" err="1">
                <a:solidFill>
                  <a:srgbClr val="000000"/>
                </a:solidFill>
                <a:latin typeface="Pretendard Medium"/>
                <a:ea typeface="Pretendard Medium"/>
                <a:cs typeface="Pretendard Medium"/>
              </a:rPr>
              <a:t>메일</a:t>
            </a:r>
            <a:r>
              <a:rPr lang="en-US" sz="2607" b="0" i="0" u="none" strike="noStrike" dirty="0">
                <a:solidFill>
                  <a:srgbClr val="000000"/>
                </a:solidFill>
                <a:latin typeface="Pretendard Medium"/>
                <a:ea typeface="Pretendard Medium"/>
                <a:cs typeface="Pretendard Medium"/>
              </a:rPr>
              <a:t> </a:t>
            </a:r>
            <a:r>
              <a:rPr lang="en-US" sz="2607" b="0" i="0" u="none" strike="noStrike" dirty="0" err="1">
                <a:solidFill>
                  <a:srgbClr val="000000"/>
                </a:solidFill>
                <a:latin typeface="Pretendard Medium"/>
                <a:ea typeface="Pretendard Medium"/>
                <a:cs typeface="Pretendard Medium"/>
              </a:rPr>
              <a:t>서버</a:t>
            </a:r>
            <a:endParaRPr lang="en-US" sz="2607" b="0" i="0" u="none" strike="noStrike" dirty="0">
              <a:solidFill>
                <a:srgbClr val="000000"/>
              </a:solidFill>
              <a:latin typeface="Pretendard Medium"/>
              <a:ea typeface="Pretendard Medium"/>
              <a:cs typeface="Pretendard Medium"/>
            </a:endParaRPr>
          </a:p>
        </p:txBody>
      </p:sp>
      <p:pic>
        <p:nvPicPr>
          <p:cNvPr id="65" name="Picture 31">
            <a:extLst>
              <a:ext uri="{FF2B5EF4-FFF2-40B4-BE49-F238E27FC236}">
                <a16:creationId xmlns:a16="http://schemas.microsoft.com/office/drawing/2014/main" id="{4F623D49-34A2-6397-37C0-2822D3EBFC83}"/>
              </a:ext>
            </a:extLst>
          </p:cNvPr>
          <p:cNvPicPr>
            <a:picLocks noChangeAspect="1"/>
          </p:cNvPicPr>
          <p:nvPr/>
        </p:nvPicPr>
        <p:blipFill>
          <a:blip r:embed="rId10"/>
          <a:stretch>
            <a:fillRect/>
          </a:stretch>
        </p:blipFill>
        <p:spPr>
          <a:xfrm rot="5400000">
            <a:off x="3670300" y="7277100"/>
            <a:ext cx="3733800" cy="190500"/>
          </a:xfrm>
          <a:prstGeom prst="rect">
            <a:avLst/>
          </a:prstGeom>
        </p:spPr>
      </p:pic>
      <p:pic>
        <p:nvPicPr>
          <p:cNvPr id="66" name="Picture 32">
            <a:extLst>
              <a:ext uri="{FF2B5EF4-FFF2-40B4-BE49-F238E27FC236}">
                <a16:creationId xmlns:a16="http://schemas.microsoft.com/office/drawing/2014/main" id="{698C8C2B-3760-57B7-B18A-55524AFFF0CE}"/>
              </a:ext>
            </a:extLst>
          </p:cNvPr>
          <p:cNvPicPr>
            <a:picLocks noChangeAspect="1"/>
          </p:cNvPicPr>
          <p:nvPr/>
        </p:nvPicPr>
        <p:blipFill>
          <a:blip r:embed="rId11"/>
          <a:stretch>
            <a:fillRect/>
          </a:stretch>
        </p:blipFill>
        <p:spPr>
          <a:xfrm>
            <a:off x="4533900" y="5422900"/>
            <a:ext cx="1028700" cy="190500"/>
          </a:xfrm>
          <a:prstGeom prst="rect">
            <a:avLst/>
          </a:prstGeom>
        </p:spPr>
      </p:pic>
      <p:pic>
        <p:nvPicPr>
          <p:cNvPr id="67" name="Picture 33">
            <a:extLst>
              <a:ext uri="{FF2B5EF4-FFF2-40B4-BE49-F238E27FC236}">
                <a16:creationId xmlns:a16="http://schemas.microsoft.com/office/drawing/2014/main" id="{B6AF2BDC-8E46-187C-CDDC-A90C47D3CF96}"/>
              </a:ext>
            </a:extLst>
          </p:cNvPr>
          <p:cNvPicPr>
            <a:picLocks noChangeAspect="1"/>
          </p:cNvPicPr>
          <p:nvPr/>
        </p:nvPicPr>
        <p:blipFill>
          <a:blip r:embed="rId12"/>
          <a:stretch>
            <a:fillRect/>
          </a:stretch>
        </p:blipFill>
        <p:spPr>
          <a:xfrm rot="10800000">
            <a:off x="4533900" y="9105900"/>
            <a:ext cx="1028700" cy="190500"/>
          </a:xfrm>
          <a:prstGeom prst="rect">
            <a:avLst/>
          </a:prstGeom>
        </p:spPr>
      </p:pic>
      <p:sp>
        <p:nvSpPr>
          <p:cNvPr id="68" name="TextBox 35">
            <a:extLst>
              <a:ext uri="{FF2B5EF4-FFF2-40B4-BE49-F238E27FC236}">
                <a16:creationId xmlns:a16="http://schemas.microsoft.com/office/drawing/2014/main" id="{90D98AB3-7A3F-F359-2B44-6C9A253C252D}"/>
              </a:ext>
            </a:extLst>
          </p:cNvPr>
          <p:cNvSpPr txBox="1"/>
          <p:nvPr/>
        </p:nvSpPr>
        <p:spPr>
          <a:xfrm>
            <a:off x="4165600" y="7264400"/>
            <a:ext cx="1270000" cy="431800"/>
          </a:xfrm>
          <a:prstGeom prst="rect">
            <a:avLst/>
          </a:prstGeom>
        </p:spPr>
        <p:txBody>
          <a:bodyPr lIns="0" tIns="0" rIns="0" bIns="0" rtlCol="0" anchor="t"/>
          <a:lstStyle/>
          <a:p>
            <a:pPr lvl="0" algn="ctr">
              <a:lnSpc>
                <a:spcPct val="116199"/>
              </a:lnSpc>
            </a:pPr>
            <a:r>
              <a:rPr lang="en-US" sz="2400" b="0" i="0" u="none" strike="noStrike" dirty="0" err="1">
                <a:solidFill>
                  <a:srgbClr val="000000"/>
                </a:solidFill>
                <a:latin typeface="Pretendard Medium"/>
                <a:ea typeface="Pretendard Medium"/>
                <a:cs typeface="Pretendard Medium"/>
              </a:rPr>
              <a:t>메일</a:t>
            </a:r>
            <a:r>
              <a:rPr lang="en-US" sz="2400" b="0" i="0" u="none" strike="noStrike" dirty="0">
                <a:solidFill>
                  <a:srgbClr val="000000"/>
                </a:solidFill>
                <a:latin typeface="Pretendard Medium"/>
                <a:ea typeface="Pretendard Medium"/>
                <a:cs typeface="Pretendard Medium"/>
              </a:rPr>
              <a:t> </a:t>
            </a:r>
            <a:r>
              <a:rPr lang="ko-KR" altLang="en-US" sz="2400" dirty="0">
                <a:solidFill>
                  <a:srgbClr val="000000"/>
                </a:solidFill>
                <a:latin typeface="Pretendard Medium"/>
                <a:ea typeface="Pretendard Medium"/>
                <a:cs typeface="Pretendard Medium"/>
              </a:rPr>
              <a:t>확인</a:t>
            </a:r>
            <a:endParaRPr lang="en-US" sz="2400" b="0" i="0" u="none" strike="noStrike" dirty="0">
              <a:solidFill>
                <a:srgbClr val="000000"/>
              </a:solidFill>
              <a:latin typeface="Pretendard Medium"/>
              <a:ea typeface="Pretendard Medium"/>
              <a:cs typeface="Pretendard Medium"/>
            </a:endParaRPr>
          </a:p>
        </p:txBody>
      </p:sp>
      <p:sp>
        <p:nvSpPr>
          <p:cNvPr id="69" name="TextBox 21">
            <a:extLst>
              <a:ext uri="{FF2B5EF4-FFF2-40B4-BE49-F238E27FC236}">
                <a16:creationId xmlns:a16="http://schemas.microsoft.com/office/drawing/2014/main" id="{9E479AF7-9B8B-426E-5125-579A71F1E117}"/>
              </a:ext>
            </a:extLst>
          </p:cNvPr>
          <p:cNvSpPr txBox="1"/>
          <p:nvPr/>
        </p:nvSpPr>
        <p:spPr>
          <a:xfrm>
            <a:off x="914400" y="5105400"/>
            <a:ext cx="3200400" cy="442955"/>
          </a:xfrm>
          <a:prstGeom prst="rect">
            <a:avLst/>
          </a:prstGeom>
        </p:spPr>
        <p:txBody>
          <a:bodyPr lIns="0" tIns="0" rIns="0" bIns="0" rtlCol="0" anchor="t"/>
          <a:lstStyle/>
          <a:p>
            <a:pPr lvl="0" algn="ctr">
              <a:lnSpc>
                <a:spcPct val="116199"/>
              </a:lnSpc>
            </a:pPr>
            <a:r>
              <a:rPr lang="ko-KR" altLang="en-US" sz="2600" b="0" i="0" u="none" strike="noStrike" dirty="0" err="1">
                <a:solidFill>
                  <a:srgbClr val="000000"/>
                </a:solidFill>
                <a:latin typeface="Pretendard Medium"/>
                <a:ea typeface="Pretendard Medium"/>
                <a:cs typeface="Pretendard Medium"/>
              </a:rPr>
              <a:t>본사망</a:t>
            </a:r>
            <a:endParaRPr lang="en-US" altLang="ko-KR" sz="2600" dirty="0">
              <a:solidFill>
                <a:srgbClr val="000000"/>
              </a:solidFill>
              <a:latin typeface="Pretendard Medium"/>
              <a:ea typeface="Pretendard Medium"/>
              <a:cs typeface="Pretendard Medium"/>
            </a:endParaRPr>
          </a:p>
        </p:txBody>
      </p:sp>
      <p:sp>
        <p:nvSpPr>
          <p:cNvPr id="70" name="TextBox 21">
            <a:extLst>
              <a:ext uri="{FF2B5EF4-FFF2-40B4-BE49-F238E27FC236}">
                <a16:creationId xmlns:a16="http://schemas.microsoft.com/office/drawing/2014/main" id="{7B6959DB-3723-B84C-BD7F-A8C306F04092}"/>
              </a:ext>
            </a:extLst>
          </p:cNvPr>
          <p:cNvSpPr txBox="1"/>
          <p:nvPr/>
        </p:nvSpPr>
        <p:spPr>
          <a:xfrm>
            <a:off x="847982" y="8991599"/>
            <a:ext cx="3200400" cy="442955"/>
          </a:xfrm>
          <a:prstGeom prst="rect">
            <a:avLst/>
          </a:prstGeom>
        </p:spPr>
        <p:txBody>
          <a:bodyPr lIns="0" tIns="0" rIns="0" bIns="0" rtlCol="0" anchor="t"/>
          <a:lstStyle/>
          <a:p>
            <a:pPr lvl="0" algn="ctr">
              <a:lnSpc>
                <a:spcPct val="116199"/>
              </a:lnSpc>
            </a:pPr>
            <a:r>
              <a:rPr lang="ko-KR" altLang="en-US" sz="2600" b="0" i="0" u="none" strike="noStrike" dirty="0" err="1">
                <a:solidFill>
                  <a:srgbClr val="000000"/>
                </a:solidFill>
                <a:latin typeface="Pretendard Medium"/>
                <a:ea typeface="Pretendard Medium"/>
                <a:cs typeface="Pretendard Medium"/>
              </a:rPr>
              <a:t>본사망</a:t>
            </a:r>
            <a:endParaRPr lang="en-US" altLang="ko-KR" sz="2600" dirty="0">
              <a:solidFill>
                <a:srgbClr val="000000"/>
              </a:solidFill>
              <a:latin typeface="Pretendard Medium"/>
              <a:ea typeface="Pretendard Medium"/>
              <a:cs typeface="Pretendard Medium"/>
            </a:endParaRPr>
          </a:p>
        </p:txBody>
      </p:sp>
      <p:pic>
        <p:nvPicPr>
          <p:cNvPr id="71" name="Picture 27">
            <a:extLst>
              <a:ext uri="{FF2B5EF4-FFF2-40B4-BE49-F238E27FC236}">
                <a16:creationId xmlns:a16="http://schemas.microsoft.com/office/drawing/2014/main" id="{4B9C41C1-6C89-0315-6C5E-D4ABBE34E9EC}"/>
              </a:ext>
            </a:extLst>
          </p:cNvPr>
          <p:cNvPicPr>
            <a:picLocks noChangeAspect="1"/>
          </p:cNvPicPr>
          <p:nvPr/>
        </p:nvPicPr>
        <p:blipFill>
          <a:blip r:embed="rId13"/>
          <a:stretch>
            <a:fillRect/>
          </a:stretch>
        </p:blipFill>
        <p:spPr>
          <a:xfrm>
            <a:off x="3181350" y="8602534"/>
            <a:ext cx="1320800" cy="1168400"/>
          </a:xfrm>
          <a:prstGeom prst="rect">
            <a:avLst/>
          </a:prstGeom>
        </p:spPr>
      </p:pic>
      <p:sp>
        <p:nvSpPr>
          <p:cNvPr id="72" name="TextBox 29">
            <a:extLst>
              <a:ext uri="{FF2B5EF4-FFF2-40B4-BE49-F238E27FC236}">
                <a16:creationId xmlns:a16="http://schemas.microsoft.com/office/drawing/2014/main" id="{AAAEB8D3-D2A2-308C-3C30-9FC1174CE833}"/>
              </a:ext>
            </a:extLst>
          </p:cNvPr>
          <p:cNvSpPr txBox="1"/>
          <p:nvPr/>
        </p:nvSpPr>
        <p:spPr>
          <a:xfrm>
            <a:off x="2774950" y="10012234"/>
            <a:ext cx="2235200" cy="469900"/>
          </a:xfrm>
          <a:prstGeom prst="rect">
            <a:avLst/>
          </a:prstGeom>
        </p:spPr>
        <p:txBody>
          <a:bodyPr lIns="0" tIns="0" rIns="0" bIns="0" rtlCol="0" anchor="t"/>
          <a:lstStyle/>
          <a:p>
            <a:pPr lvl="0" algn="ctr">
              <a:lnSpc>
                <a:spcPct val="116199"/>
              </a:lnSpc>
            </a:pPr>
            <a:r>
              <a:rPr lang="ko-KR" altLang="en-US" sz="2607" b="0" i="0" u="none" strike="noStrike" dirty="0">
                <a:solidFill>
                  <a:srgbClr val="000000"/>
                </a:solidFill>
                <a:latin typeface="Pretendard Medium"/>
                <a:ea typeface="Pretendard Medium"/>
                <a:cs typeface="Pretendard Medium"/>
              </a:rPr>
              <a:t>개발자</a:t>
            </a:r>
            <a:endParaRPr lang="en-US" sz="2607" b="0" i="0" u="none" strike="noStrike" dirty="0">
              <a:solidFill>
                <a:srgbClr val="000000"/>
              </a:solidFill>
              <a:latin typeface="Pretendard Medium"/>
              <a:ea typeface="Pretendard Medium"/>
              <a:cs typeface="Pretendard Medium"/>
            </a:endParaRPr>
          </a:p>
        </p:txBody>
      </p:sp>
      <p:pic>
        <p:nvPicPr>
          <p:cNvPr id="73" name="Picture 57">
            <a:extLst>
              <a:ext uri="{FF2B5EF4-FFF2-40B4-BE49-F238E27FC236}">
                <a16:creationId xmlns:a16="http://schemas.microsoft.com/office/drawing/2014/main" id="{ED5F6DD6-D865-8628-F244-5D623CA30AEE}"/>
              </a:ext>
            </a:extLst>
          </p:cNvPr>
          <p:cNvPicPr>
            <a:picLocks noChangeAspect="1"/>
          </p:cNvPicPr>
          <p:nvPr/>
        </p:nvPicPr>
        <p:blipFill>
          <a:blip r:embed="rId14"/>
          <a:stretch>
            <a:fillRect/>
          </a:stretch>
        </p:blipFill>
        <p:spPr>
          <a:xfrm>
            <a:off x="3867836" y="7350040"/>
            <a:ext cx="342900" cy="3429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9" name="Picture 9"/>
          <p:cNvPicPr>
            <a:picLocks noChangeAspect="1"/>
          </p:cNvPicPr>
          <p:nvPr/>
        </p:nvPicPr>
        <p:blipFill>
          <a:blip r:embed="rId5"/>
          <a:stretch>
            <a:fillRect/>
          </a:stretch>
        </p:blipFill>
        <p:spPr>
          <a:xfrm>
            <a:off x="1485900" y="1612900"/>
            <a:ext cx="88900" cy="850900"/>
          </a:xfrm>
          <a:prstGeom prst="rect">
            <a:avLst/>
          </a:prstGeom>
        </p:spPr>
      </p:pic>
      <p:sp>
        <p:nvSpPr>
          <p:cNvPr id="10" name="TextBox 10"/>
          <p:cNvSpPr txBox="1"/>
          <p:nvPr/>
        </p:nvSpPr>
        <p:spPr>
          <a:xfrm>
            <a:off x="1943100" y="1409700"/>
            <a:ext cx="13423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협력사망 경유를 통한 공급망 연쇄 침투</a:t>
            </a:r>
          </a:p>
        </p:txBody>
      </p:sp>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35</a:t>
            </a:r>
          </a:p>
        </p:txBody>
      </p:sp>
      <p:sp>
        <p:nvSpPr>
          <p:cNvPr id="12" name="TextBox 12"/>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1. Shodan이나 OSINT를 통해서 631포트 중 열려 있는 협력사의 CUPS 서버 확인</a:t>
            </a:r>
          </a:p>
        </p:txBody>
      </p:sp>
      <p:pic>
        <p:nvPicPr>
          <p:cNvPr id="19" name="Picture 19"/>
          <p:cNvPicPr>
            <a:picLocks noChangeAspect="1"/>
          </p:cNvPicPr>
          <p:nvPr/>
        </p:nvPicPr>
        <p:blipFill>
          <a:blip r:embed="rId6"/>
          <a:stretch>
            <a:fillRect/>
          </a:stretch>
        </p:blipFill>
        <p:spPr>
          <a:xfrm>
            <a:off x="2120900" y="3873500"/>
            <a:ext cx="11912600" cy="8509000"/>
          </a:xfrm>
          <a:prstGeom prst="rect">
            <a:avLst/>
          </a:prstGeom>
        </p:spPr>
      </p:pic>
      <p:sp>
        <p:nvSpPr>
          <p:cNvPr id="20" name="TextBox 20"/>
          <p:cNvSpPr txBox="1"/>
          <p:nvPr/>
        </p:nvSpPr>
        <p:spPr>
          <a:xfrm>
            <a:off x="15100300" y="3873500"/>
            <a:ext cx="8420100" cy="4178300"/>
          </a:xfrm>
          <a:prstGeom prst="rect">
            <a:avLst/>
          </a:prstGeom>
        </p:spPr>
        <p:txBody>
          <a:bodyPr lIns="0" tIns="0" rIns="0" bIns="0" rtlCol="0" anchor="t"/>
          <a:lstStyle/>
          <a:p>
            <a:pPr lvl="0" algn="l">
              <a:lnSpc>
                <a:spcPct val="116199"/>
              </a:lnSpc>
            </a:pPr>
            <a:r>
              <a:rPr lang="en-US" sz="2933" b="0" i="0" u="none" strike="noStrike">
                <a:solidFill>
                  <a:srgbClr val="000000"/>
                </a:solidFill>
                <a:latin typeface="Pretendard Medium"/>
                <a:ea typeface="Pretendard Medium"/>
                <a:cs typeface="Pretendard Medium"/>
              </a:rPr>
              <a:t>본격적인 공급망 연쇄 침투에 앞서, 타겟과 연결된 취약한 협력사를 찾아내는 초기 정찰 단계이다.</a:t>
            </a:r>
          </a:p>
          <a:p>
            <a:pPr lvl="0" algn="l">
              <a:lnSpc>
                <a:spcPct val="116199"/>
              </a:lnSpc>
            </a:pPr>
            <a:endParaRPr lang="en-US" sz="2933" b="0" i="0" u="none" strike="noStrike">
              <a:solidFill>
                <a:srgbClr val="000000"/>
              </a:solidFill>
              <a:latin typeface="Pretendard Medium"/>
              <a:ea typeface="Pretendard Medium"/>
              <a:cs typeface="Pretendard Medium"/>
            </a:endParaRPr>
          </a:p>
          <a:p>
            <a:pPr lvl="0" algn="l">
              <a:lnSpc>
                <a:spcPct val="116199"/>
              </a:lnSpc>
            </a:pPr>
            <a:r>
              <a:rPr lang="en-US" sz="2933" b="0" i="0" u="none" strike="noStrike">
                <a:solidFill>
                  <a:srgbClr val="000000"/>
                </a:solidFill>
                <a:latin typeface="Pretendard Medium"/>
                <a:ea typeface="Pretendard Medium"/>
                <a:cs typeface="Pretendard Medium"/>
              </a:rPr>
              <a:t>공격자는 위협 인텔리전스 검색 엔진인 Shodan을 통해 국내에 노출된 CUPS 서버를 탐색한다.</a:t>
            </a:r>
          </a:p>
          <a:p>
            <a:pPr lvl="0" algn="l">
              <a:lnSpc>
                <a:spcPct val="116199"/>
              </a:lnSpc>
            </a:pPr>
            <a:endParaRPr lang="en-US" sz="2933" b="0" i="0" u="none" strike="noStrike">
              <a:solidFill>
                <a:srgbClr val="000000"/>
              </a:solidFill>
              <a:latin typeface="Pretendard Medium"/>
              <a:ea typeface="Pretendard Medium"/>
              <a:cs typeface="Pretendard Medium"/>
            </a:endParaRPr>
          </a:p>
          <a:p>
            <a:pPr lvl="0" algn="l">
              <a:lnSpc>
                <a:spcPct val="116199"/>
              </a:lnSpc>
            </a:pPr>
            <a:r>
              <a:rPr lang="en-US" sz="2933" b="0" i="0" u="none" strike="noStrike">
                <a:solidFill>
                  <a:srgbClr val="000000"/>
                </a:solidFill>
                <a:latin typeface="Pretendard Medium"/>
                <a:ea typeface="Pretendard Medium"/>
                <a:cs typeface="Pretendard Medium"/>
              </a:rPr>
              <a:t>검색 결과 약 19,000개 이상의 서버가 인터넷에 노출된 것을 확인한다.</a:t>
            </a:r>
          </a:p>
        </p:txBody>
      </p:sp>
      <p:sp>
        <p:nvSpPr>
          <p:cNvPr id="22" name="TextBox 14">
            <a:extLst>
              <a:ext uri="{FF2B5EF4-FFF2-40B4-BE49-F238E27FC236}">
                <a16:creationId xmlns:a16="http://schemas.microsoft.com/office/drawing/2014/main" id="{CB9871B2-4694-DA8C-09E9-C2214DEF1BE5}"/>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3" name="TextBox 14">
            <a:extLst>
              <a:ext uri="{FF2B5EF4-FFF2-40B4-BE49-F238E27FC236}">
                <a16:creationId xmlns:a16="http://schemas.microsoft.com/office/drawing/2014/main" id="{00953195-7DFF-0EF4-2BFA-B5DD13550C10}"/>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4" name="Picture 2">
            <a:extLst>
              <a:ext uri="{FF2B5EF4-FFF2-40B4-BE49-F238E27FC236}">
                <a16:creationId xmlns:a16="http://schemas.microsoft.com/office/drawing/2014/main" id="{7A29697C-67AE-A51D-EA92-AB78D458C7B6}"/>
              </a:ext>
            </a:extLst>
          </p:cNvPr>
          <p:cNvPicPr>
            <a:picLocks noChangeAspect="1"/>
          </p:cNvPicPr>
          <p:nvPr/>
        </p:nvPicPr>
        <p:blipFill>
          <a:blip r:embed="rId7">
            <a:alphaModFix amt="85000"/>
          </a:blip>
          <a:stretch>
            <a:fillRect/>
          </a:stretch>
        </p:blipFill>
        <p:spPr>
          <a:xfrm>
            <a:off x="11201400" y="558800"/>
            <a:ext cx="2705100" cy="444500"/>
          </a:xfrm>
          <a:prstGeom prst="rect">
            <a:avLst/>
          </a:prstGeom>
        </p:spPr>
      </p:pic>
      <p:sp>
        <p:nvSpPr>
          <p:cNvPr id="25" name="TextBox 16">
            <a:extLst>
              <a:ext uri="{FF2B5EF4-FFF2-40B4-BE49-F238E27FC236}">
                <a16:creationId xmlns:a16="http://schemas.microsoft.com/office/drawing/2014/main" id="{CA230E4F-6630-61AE-1118-3EB69AB93D57}"/>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6" name="TextBox 18">
            <a:extLst>
              <a:ext uri="{FF2B5EF4-FFF2-40B4-BE49-F238E27FC236}">
                <a16:creationId xmlns:a16="http://schemas.microsoft.com/office/drawing/2014/main" id="{7A54AA3A-FC59-FB7D-33E7-B916769BF040}"/>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27" name="TextBox 19">
            <a:extLst>
              <a:ext uri="{FF2B5EF4-FFF2-40B4-BE49-F238E27FC236}">
                <a16:creationId xmlns:a16="http://schemas.microsoft.com/office/drawing/2014/main" id="{DC252B40-63EE-E8E2-39C2-E4BEF587378B}"/>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28" name="TextBox 20">
            <a:extLst>
              <a:ext uri="{FF2B5EF4-FFF2-40B4-BE49-F238E27FC236}">
                <a16:creationId xmlns:a16="http://schemas.microsoft.com/office/drawing/2014/main" id="{84164741-BAC2-785A-79BC-ECD07B7F73D9}"/>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9" name="Picture 9"/>
          <p:cNvPicPr>
            <a:picLocks noChangeAspect="1"/>
          </p:cNvPicPr>
          <p:nvPr/>
        </p:nvPicPr>
        <p:blipFill>
          <a:blip r:embed="rId5"/>
          <a:stretch>
            <a:fillRect/>
          </a:stretch>
        </p:blipFill>
        <p:spPr>
          <a:xfrm>
            <a:off x="1485900" y="1612900"/>
            <a:ext cx="88900" cy="850900"/>
          </a:xfrm>
          <a:prstGeom prst="rect">
            <a:avLst/>
          </a:prstGeom>
        </p:spPr>
      </p:pic>
      <p:sp>
        <p:nvSpPr>
          <p:cNvPr id="10" name="TextBox 10"/>
          <p:cNvSpPr txBox="1"/>
          <p:nvPr/>
        </p:nvSpPr>
        <p:spPr>
          <a:xfrm>
            <a:off x="1943100" y="1409700"/>
            <a:ext cx="13423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협력사망 경유를 통한 공급망 연쇄 침투</a:t>
            </a:r>
          </a:p>
        </p:txBody>
      </p:sp>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36</a:t>
            </a:r>
          </a:p>
        </p:txBody>
      </p:sp>
      <p:sp>
        <p:nvSpPr>
          <p:cNvPr id="12" name="TextBox 12"/>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2. CUPS 연쇄 취약점 체인(CVE-2024-47176, 47076, 47175, 47177)을 사용하여  CUPS의 LP 권한을 획득</a:t>
            </a:r>
          </a:p>
        </p:txBody>
      </p:sp>
      <p:sp>
        <p:nvSpPr>
          <p:cNvPr id="19" name="TextBox 19"/>
          <p:cNvSpPr txBox="1"/>
          <p:nvPr/>
        </p:nvSpPr>
        <p:spPr>
          <a:xfrm>
            <a:off x="14617700" y="3873500"/>
            <a:ext cx="8915400" cy="70866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CVE-2024-47176</a:t>
            </a:r>
          </a:p>
          <a:p>
            <a:pPr lvl="0" algn="l">
              <a:lnSpc>
                <a:spcPct val="116199"/>
              </a:lnSpc>
            </a:pPr>
            <a:r>
              <a:rPr lang="en-US" sz="3066" b="0" i="0" u="none" strike="noStrike">
                <a:solidFill>
                  <a:srgbClr val="000000"/>
                </a:solidFill>
                <a:latin typeface="Pretendard Medium"/>
                <a:ea typeface="Pretendard Medium"/>
                <a:cs typeface="Pretendard Medium"/>
              </a:rPr>
              <a:t>cups-browsed가 UDP 631포트로 들어오는 외부 패킷을 맹목적으로 신뢰하여 타겟 서버가 공격자의 악성 IPP 서버로 프린터 속성을 요청하도록 유도함.</a:t>
            </a:r>
          </a:p>
          <a:p>
            <a:pPr lvl="0" algn="l">
              <a:lnSpc>
                <a:spcPct val="116199"/>
              </a:lnSpc>
            </a:pPr>
            <a:endParaRPr lang="en-US" sz="3066" b="0" i="0" u="none" strike="noStrike">
              <a:solidFill>
                <a:srgbClr val="000000"/>
              </a:solidFill>
              <a:latin typeface="Pretendard Medium"/>
              <a:ea typeface="Pretendard Medium"/>
              <a:cs typeface="Pretendard Medium"/>
            </a:endParaRPr>
          </a:p>
          <a:p>
            <a:pPr lvl="0" algn="l">
              <a:lnSpc>
                <a:spcPct val="116199"/>
              </a:lnSpc>
            </a:pPr>
            <a:r>
              <a:rPr lang="en-US" sz="3066" b="0" i="0" u="none" strike="noStrike">
                <a:solidFill>
                  <a:srgbClr val="000000"/>
                </a:solidFill>
                <a:latin typeface="Pretendard Medium"/>
                <a:ea typeface="Pretendard Medium"/>
                <a:cs typeface="Pretendard Medium"/>
              </a:rPr>
              <a:t>CVE-2024-47076</a:t>
            </a:r>
          </a:p>
          <a:p>
            <a:pPr lvl="0" algn="l">
              <a:lnSpc>
                <a:spcPct val="116199"/>
              </a:lnSpc>
            </a:pPr>
            <a:r>
              <a:rPr lang="en-US" sz="3066" b="0" i="0" u="none" strike="noStrike">
                <a:solidFill>
                  <a:srgbClr val="000000"/>
                </a:solidFill>
                <a:latin typeface="Pretendard Medium"/>
                <a:ea typeface="Pretendard Medium"/>
                <a:cs typeface="Pretendard Medium"/>
              </a:rPr>
              <a:t> libcupsfilters가 악성 IPP 서버로부터 응답받은 프린터 속성값을 적절히 필터링 하지 않고 시스템 내부로 수용함.</a:t>
            </a:r>
          </a:p>
          <a:p>
            <a:pPr lvl="0" algn="l">
              <a:lnSpc>
                <a:spcPct val="116199"/>
              </a:lnSpc>
            </a:pPr>
            <a:endParaRPr lang="en-US" sz="3066" b="0" i="0" u="none" strike="noStrike">
              <a:solidFill>
                <a:srgbClr val="000000"/>
              </a:solidFill>
              <a:latin typeface="Pretendard Medium"/>
              <a:ea typeface="Pretendard Medium"/>
              <a:cs typeface="Pretendard Medium"/>
            </a:endParaRPr>
          </a:p>
          <a:p>
            <a:pPr lvl="0" algn="l">
              <a:lnSpc>
                <a:spcPct val="116199"/>
              </a:lnSpc>
            </a:pPr>
            <a:r>
              <a:rPr lang="en-US" sz="3066" b="0" i="0" u="none" strike="noStrike">
                <a:solidFill>
                  <a:srgbClr val="000000"/>
                </a:solidFill>
                <a:latin typeface="Pretendard Medium"/>
                <a:ea typeface="Pretendard Medium"/>
                <a:cs typeface="Pretendard Medium"/>
              </a:rPr>
              <a:t>CVE-2024-47175</a:t>
            </a:r>
          </a:p>
          <a:p>
            <a:pPr lvl="0" algn="l">
              <a:lnSpc>
                <a:spcPct val="116199"/>
              </a:lnSpc>
            </a:pPr>
            <a:r>
              <a:rPr lang="en-US" sz="3066" b="0" i="0" u="none" strike="noStrike">
                <a:solidFill>
                  <a:srgbClr val="000000"/>
                </a:solidFill>
                <a:latin typeface="Pretendard Medium"/>
                <a:ea typeface="Pretendard Medium"/>
                <a:cs typeface="Pretendard Medium"/>
              </a:rPr>
              <a:t>libppd가 오염된 IPP 속성 데이터를 '/etc/cups/ppd/'에 필터링 없이 그대로 저장하여 파일 내부에 악의적인 페이로드가 주입함.</a:t>
            </a:r>
          </a:p>
        </p:txBody>
      </p:sp>
      <p:pic>
        <p:nvPicPr>
          <p:cNvPr id="20" name="Picture 20"/>
          <p:cNvPicPr>
            <a:picLocks noChangeAspect="1"/>
          </p:cNvPicPr>
          <p:nvPr/>
        </p:nvPicPr>
        <p:blipFill>
          <a:blip r:embed="rId6"/>
          <a:stretch>
            <a:fillRect/>
          </a:stretch>
        </p:blipFill>
        <p:spPr>
          <a:xfrm>
            <a:off x="2057400" y="3873500"/>
            <a:ext cx="11684000" cy="9410700"/>
          </a:xfrm>
          <a:prstGeom prst="rect">
            <a:avLst/>
          </a:prstGeom>
        </p:spPr>
      </p:pic>
      <p:pic>
        <p:nvPicPr>
          <p:cNvPr id="21" name="Picture 21"/>
          <p:cNvPicPr>
            <a:picLocks noChangeAspect="1"/>
          </p:cNvPicPr>
          <p:nvPr/>
        </p:nvPicPr>
        <p:blipFill>
          <a:blip r:embed="rId7"/>
          <a:stretch>
            <a:fillRect/>
          </a:stretch>
        </p:blipFill>
        <p:spPr>
          <a:xfrm>
            <a:off x="3048000" y="6858000"/>
            <a:ext cx="5892800" cy="558800"/>
          </a:xfrm>
          <a:prstGeom prst="rect">
            <a:avLst/>
          </a:prstGeom>
        </p:spPr>
      </p:pic>
      <p:sp>
        <p:nvSpPr>
          <p:cNvPr id="23" name="TextBox 14">
            <a:extLst>
              <a:ext uri="{FF2B5EF4-FFF2-40B4-BE49-F238E27FC236}">
                <a16:creationId xmlns:a16="http://schemas.microsoft.com/office/drawing/2014/main" id="{4AC26E6E-58BE-A9DF-66A8-A2799768B9E4}"/>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4" name="TextBox 14">
            <a:extLst>
              <a:ext uri="{FF2B5EF4-FFF2-40B4-BE49-F238E27FC236}">
                <a16:creationId xmlns:a16="http://schemas.microsoft.com/office/drawing/2014/main" id="{F47BEAA4-2398-096A-A4C9-BA0AB0011A59}"/>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5" name="Picture 2">
            <a:extLst>
              <a:ext uri="{FF2B5EF4-FFF2-40B4-BE49-F238E27FC236}">
                <a16:creationId xmlns:a16="http://schemas.microsoft.com/office/drawing/2014/main" id="{3764A9E6-4BE6-67B8-DC13-5365E39E4C12}"/>
              </a:ext>
            </a:extLst>
          </p:cNvPr>
          <p:cNvPicPr>
            <a:picLocks noChangeAspect="1"/>
          </p:cNvPicPr>
          <p:nvPr/>
        </p:nvPicPr>
        <p:blipFill>
          <a:blip r:embed="rId8">
            <a:alphaModFix amt="85000"/>
          </a:blip>
          <a:stretch>
            <a:fillRect/>
          </a:stretch>
        </p:blipFill>
        <p:spPr>
          <a:xfrm>
            <a:off x="11201400" y="558800"/>
            <a:ext cx="2705100" cy="444500"/>
          </a:xfrm>
          <a:prstGeom prst="rect">
            <a:avLst/>
          </a:prstGeom>
        </p:spPr>
      </p:pic>
      <p:sp>
        <p:nvSpPr>
          <p:cNvPr id="26" name="TextBox 16">
            <a:extLst>
              <a:ext uri="{FF2B5EF4-FFF2-40B4-BE49-F238E27FC236}">
                <a16:creationId xmlns:a16="http://schemas.microsoft.com/office/drawing/2014/main" id="{F4834629-9161-C43A-766F-605AAC03C178}"/>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7" name="TextBox 18">
            <a:extLst>
              <a:ext uri="{FF2B5EF4-FFF2-40B4-BE49-F238E27FC236}">
                <a16:creationId xmlns:a16="http://schemas.microsoft.com/office/drawing/2014/main" id="{89ED4D40-A4B5-9318-03FD-2931B8F2FEC1}"/>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28" name="TextBox 19">
            <a:extLst>
              <a:ext uri="{FF2B5EF4-FFF2-40B4-BE49-F238E27FC236}">
                <a16:creationId xmlns:a16="http://schemas.microsoft.com/office/drawing/2014/main" id="{3A330B32-2D80-3485-30F8-C84A7649BFEE}"/>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29" name="TextBox 20">
            <a:extLst>
              <a:ext uri="{FF2B5EF4-FFF2-40B4-BE49-F238E27FC236}">
                <a16:creationId xmlns:a16="http://schemas.microsoft.com/office/drawing/2014/main" id="{A22303E1-4BB0-B1ED-454B-FE7F73E9DEC3}"/>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9" name="Picture 9"/>
          <p:cNvPicPr>
            <a:picLocks noChangeAspect="1"/>
          </p:cNvPicPr>
          <p:nvPr/>
        </p:nvPicPr>
        <p:blipFill>
          <a:blip r:embed="rId5"/>
          <a:stretch>
            <a:fillRect/>
          </a:stretch>
        </p:blipFill>
        <p:spPr>
          <a:xfrm>
            <a:off x="1485900" y="1612900"/>
            <a:ext cx="88900" cy="850900"/>
          </a:xfrm>
          <a:prstGeom prst="rect">
            <a:avLst/>
          </a:prstGeom>
        </p:spPr>
      </p:pic>
      <p:sp>
        <p:nvSpPr>
          <p:cNvPr id="10" name="TextBox 10"/>
          <p:cNvSpPr txBox="1"/>
          <p:nvPr/>
        </p:nvSpPr>
        <p:spPr>
          <a:xfrm>
            <a:off x="1943100" y="1409700"/>
            <a:ext cx="13423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협력사망 경유를 통한 공급망 연쇄 침투</a:t>
            </a:r>
          </a:p>
        </p:txBody>
      </p:sp>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37</a:t>
            </a:r>
          </a:p>
        </p:txBody>
      </p:sp>
      <p:sp>
        <p:nvSpPr>
          <p:cNvPr id="12" name="TextBox 12"/>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2. CUPS 연쇄 취약점 체인(CVE-2024-47176, 47076, 47175, 47177)을 사용하여  CUPS의 LP 권한을 획득</a:t>
            </a:r>
          </a:p>
        </p:txBody>
      </p:sp>
      <p:pic>
        <p:nvPicPr>
          <p:cNvPr id="19" name="Picture 19"/>
          <p:cNvPicPr>
            <a:picLocks noChangeAspect="1"/>
          </p:cNvPicPr>
          <p:nvPr/>
        </p:nvPicPr>
        <p:blipFill>
          <a:blip r:embed="rId6"/>
          <a:stretch>
            <a:fillRect/>
          </a:stretch>
        </p:blipFill>
        <p:spPr>
          <a:xfrm>
            <a:off x="2133600" y="3873500"/>
            <a:ext cx="9385300" cy="5676900"/>
          </a:xfrm>
          <a:prstGeom prst="rect">
            <a:avLst/>
          </a:prstGeom>
          <a:effectLst>
            <a:outerShdw blurRad="312553" dist="131141" dir="2700000">
              <a:srgbClr val="000000">
                <a:alpha val="23000"/>
              </a:srgbClr>
            </a:outerShdw>
          </a:effectLst>
        </p:spPr>
      </p:pic>
      <p:pic>
        <p:nvPicPr>
          <p:cNvPr id="20" name="Picture 20"/>
          <p:cNvPicPr>
            <a:picLocks noChangeAspect="1"/>
          </p:cNvPicPr>
          <p:nvPr/>
        </p:nvPicPr>
        <p:blipFill>
          <a:blip r:embed="rId7"/>
          <a:stretch>
            <a:fillRect/>
          </a:stretch>
        </p:blipFill>
        <p:spPr>
          <a:xfrm>
            <a:off x="3200400" y="6718300"/>
            <a:ext cx="10299700" cy="6172200"/>
          </a:xfrm>
          <a:prstGeom prst="rect">
            <a:avLst/>
          </a:prstGeom>
          <a:effectLst>
            <a:outerShdw blurRad="339141" dist="94865" dir="2700000">
              <a:srgbClr val="000000">
                <a:alpha val="23000"/>
              </a:srgbClr>
            </a:outerShdw>
          </a:effectLst>
        </p:spPr>
      </p:pic>
      <p:sp>
        <p:nvSpPr>
          <p:cNvPr id="21" name="TextBox 21"/>
          <p:cNvSpPr txBox="1"/>
          <p:nvPr/>
        </p:nvSpPr>
        <p:spPr>
          <a:xfrm>
            <a:off x="14554200" y="3873500"/>
            <a:ext cx="9017000" cy="21844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CVE-2024-47177</a:t>
            </a:r>
          </a:p>
          <a:p>
            <a:pPr lvl="0" algn="l">
              <a:lnSpc>
                <a:spcPct val="116199"/>
              </a:lnSpc>
            </a:pPr>
            <a:r>
              <a:rPr lang="en-US" sz="3066" b="0" i="0" u="none" strike="noStrike">
                <a:solidFill>
                  <a:srgbClr val="000000"/>
                </a:solidFill>
                <a:latin typeface="Pretendard Medium"/>
                <a:ea typeface="Pretendard Medium"/>
                <a:cs typeface="Pretendard Medium"/>
              </a:rPr>
              <a:t>cups-filters가 오염된 PPD 파일 내의 지시자를 통해 시스템 명령어가 삽입되며, 피해자가 공격자 프린터로 인쇄를 시도할 때 임의 명령어가 실행되어 lp 권한의 쉘을 획득함.</a:t>
            </a:r>
          </a:p>
        </p:txBody>
      </p:sp>
      <p:pic>
        <p:nvPicPr>
          <p:cNvPr id="22" name="Picture 22"/>
          <p:cNvPicPr>
            <a:picLocks noChangeAspect="1"/>
          </p:cNvPicPr>
          <p:nvPr/>
        </p:nvPicPr>
        <p:blipFill>
          <a:blip r:embed="rId8"/>
          <a:stretch>
            <a:fillRect/>
          </a:stretch>
        </p:blipFill>
        <p:spPr>
          <a:xfrm>
            <a:off x="3200400" y="9842500"/>
            <a:ext cx="6540500" cy="1625600"/>
          </a:xfrm>
          <a:prstGeom prst="rect">
            <a:avLst/>
          </a:prstGeom>
        </p:spPr>
      </p:pic>
      <p:pic>
        <p:nvPicPr>
          <p:cNvPr id="23" name="Picture 23"/>
          <p:cNvPicPr>
            <a:picLocks noChangeAspect="1"/>
          </p:cNvPicPr>
          <p:nvPr/>
        </p:nvPicPr>
        <p:blipFill>
          <a:blip r:embed="rId9"/>
          <a:stretch>
            <a:fillRect/>
          </a:stretch>
        </p:blipFill>
        <p:spPr>
          <a:xfrm>
            <a:off x="3162300" y="10566400"/>
            <a:ext cx="6172200" cy="482600"/>
          </a:xfrm>
          <a:prstGeom prst="rect">
            <a:avLst/>
          </a:prstGeom>
        </p:spPr>
      </p:pic>
      <p:sp>
        <p:nvSpPr>
          <p:cNvPr id="25" name="TextBox 14">
            <a:extLst>
              <a:ext uri="{FF2B5EF4-FFF2-40B4-BE49-F238E27FC236}">
                <a16:creationId xmlns:a16="http://schemas.microsoft.com/office/drawing/2014/main" id="{1CF29F29-EB8E-CC24-E60C-5A8AFF0CFB16}"/>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6" name="TextBox 14">
            <a:extLst>
              <a:ext uri="{FF2B5EF4-FFF2-40B4-BE49-F238E27FC236}">
                <a16:creationId xmlns:a16="http://schemas.microsoft.com/office/drawing/2014/main" id="{DC61FEBA-521A-DAE6-86AD-D95AB4BC2AF2}"/>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7" name="Picture 2">
            <a:extLst>
              <a:ext uri="{FF2B5EF4-FFF2-40B4-BE49-F238E27FC236}">
                <a16:creationId xmlns:a16="http://schemas.microsoft.com/office/drawing/2014/main" id="{ECE6AB17-F84E-93B9-C106-539242525696}"/>
              </a:ext>
            </a:extLst>
          </p:cNvPr>
          <p:cNvPicPr>
            <a:picLocks noChangeAspect="1"/>
          </p:cNvPicPr>
          <p:nvPr/>
        </p:nvPicPr>
        <p:blipFill>
          <a:blip r:embed="rId10">
            <a:alphaModFix amt="85000"/>
          </a:blip>
          <a:stretch>
            <a:fillRect/>
          </a:stretch>
        </p:blipFill>
        <p:spPr>
          <a:xfrm>
            <a:off x="11201400" y="558800"/>
            <a:ext cx="2705100" cy="444500"/>
          </a:xfrm>
          <a:prstGeom prst="rect">
            <a:avLst/>
          </a:prstGeom>
        </p:spPr>
      </p:pic>
      <p:sp>
        <p:nvSpPr>
          <p:cNvPr id="28" name="TextBox 16">
            <a:extLst>
              <a:ext uri="{FF2B5EF4-FFF2-40B4-BE49-F238E27FC236}">
                <a16:creationId xmlns:a16="http://schemas.microsoft.com/office/drawing/2014/main" id="{7C48C2D4-3770-2900-39FD-12EF7E1F8B74}"/>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9" name="TextBox 18">
            <a:extLst>
              <a:ext uri="{FF2B5EF4-FFF2-40B4-BE49-F238E27FC236}">
                <a16:creationId xmlns:a16="http://schemas.microsoft.com/office/drawing/2014/main" id="{69E1CDB5-BB84-4314-C8C1-6C51CB1C0D74}"/>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30" name="TextBox 19">
            <a:extLst>
              <a:ext uri="{FF2B5EF4-FFF2-40B4-BE49-F238E27FC236}">
                <a16:creationId xmlns:a16="http://schemas.microsoft.com/office/drawing/2014/main" id="{2E3B11A0-26FD-34AD-7B14-9AD5AD665A57}"/>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31" name="TextBox 20">
            <a:extLst>
              <a:ext uri="{FF2B5EF4-FFF2-40B4-BE49-F238E27FC236}">
                <a16:creationId xmlns:a16="http://schemas.microsoft.com/office/drawing/2014/main" id="{3A5DFCB3-3B31-6DBA-6827-B14D7C22F007}"/>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9" name="Picture 9"/>
          <p:cNvPicPr>
            <a:picLocks noChangeAspect="1"/>
          </p:cNvPicPr>
          <p:nvPr/>
        </p:nvPicPr>
        <p:blipFill>
          <a:blip r:embed="rId5"/>
          <a:stretch>
            <a:fillRect/>
          </a:stretch>
        </p:blipFill>
        <p:spPr>
          <a:xfrm>
            <a:off x="1485900" y="1612900"/>
            <a:ext cx="88900" cy="850900"/>
          </a:xfrm>
          <a:prstGeom prst="rect">
            <a:avLst/>
          </a:prstGeom>
        </p:spPr>
      </p:pic>
      <p:sp>
        <p:nvSpPr>
          <p:cNvPr id="10" name="TextBox 10"/>
          <p:cNvSpPr txBox="1"/>
          <p:nvPr/>
        </p:nvSpPr>
        <p:spPr>
          <a:xfrm>
            <a:off x="1943100" y="1409700"/>
            <a:ext cx="13423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협력사망 경유를 통한 공급망 연쇄 침투</a:t>
            </a:r>
          </a:p>
        </p:txBody>
      </p:sp>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cap="all" dirty="0">
                <a:solidFill>
                  <a:srgbClr val="024EA0"/>
                </a:solidFill>
                <a:latin typeface="Geologica Roman Light"/>
                <a:ea typeface="Geologica Roman Light"/>
                <a:cs typeface="Geologica Roman Light"/>
              </a:rPr>
              <a:t>38</a:t>
            </a:r>
            <a:endParaRPr lang="en-US" sz="2133" b="0" i="0" u="none" strike="noStrike" cap="all" dirty="0">
              <a:solidFill>
                <a:srgbClr val="024EA0"/>
              </a:solidFill>
              <a:latin typeface="Geologica Roman Light"/>
              <a:ea typeface="Geologica Roman Light"/>
              <a:cs typeface="Geologica Roman Light"/>
            </a:endParaRPr>
          </a:p>
        </p:txBody>
      </p:sp>
      <p:sp>
        <p:nvSpPr>
          <p:cNvPr id="12" name="TextBox 12"/>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3. 내부 자동화 스크립트를 확인하여 WingFTP의 주소를 확인</a:t>
            </a:r>
          </a:p>
        </p:txBody>
      </p:sp>
      <p:sp>
        <p:nvSpPr>
          <p:cNvPr id="19" name="TextBox 19"/>
          <p:cNvSpPr txBox="1"/>
          <p:nvPr/>
        </p:nvSpPr>
        <p:spPr>
          <a:xfrm>
            <a:off x="14617700" y="3873500"/>
            <a:ext cx="8915400" cy="16383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정보 수집하는 과정에서 정기적으로 실행되는 추정되는 내부 동기화 스크립트가 존재하는 것을 확인하고 도메인 식별을 위해 '/etc/hosts/' 파일을 열람하여 IP 주소를 확보함.</a:t>
            </a:r>
          </a:p>
        </p:txBody>
      </p:sp>
      <p:pic>
        <p:nvPicPr>
          <p:cNvPr id="20" name="Picture 20"/>
          <p:cNvPicPr>
            <a:picLocks noChangeAspect="1"/>
          </p:cNvPicPr>
          <p:nvPr/>
        </p:nvPicPr>
        <p:blipFill>
          <a:blip r:embed="rId6"/>
          <a:stretch>
            <a:fillRect/>
          </a:stretch>
        </p:blipFill>
        <p:spPr>
          <a:xfrm>
            <a:off x="2120900" y="3873500"/>
            <a:ext cx="9232900" cy="5867400"/>
          </a:xfrm>
          <a:prstGeom prst="rect">
            <a:avLst/>
          </a:prstGeom>
        </p:spPr>
      </p:pic>
      <p:pic>
        <p:nvPicPr>
          <p:cNvPr id="21" name="Picture 21"/>
          <p:cNvPicPr>
            <a:picLocks noChangeAspect="1"/>
          </p:cNvPicPr>
          <p:nvPr/>
        </p:nvPicPr>
        <p:blipFill>
          <a:blip r:embed="rId7"/>
          <a:stretch>
            <a:fillRect/>
          </a:stretch>
        </p:blipFill>
        <p:spPr>
          <a:xfrm>
            <a:off x="4495800" y="7239000"/>
            <a:ext cx="8991600" cy="4203700"/>
          </a:xfrm>
          <a:prstGeom prst="rect">
            <a:avLst/>
          </a:prstGeom>
        </p:spPr>
      </p:pic>
      <p:pic>
        <p:nvPicPr>
          <p:cNvPr id="22" name="Picture 22"/>
          <p:cNvPicPr>
            <a:picLocks noChangeAspect="1"/>
          </p:cNvPicPr>
          <p:nvPr/>
        </p:nvPicPr>
        <p:blipFill>
          <a:blip r:embed="rId8"/>
          <a:stretch>
            <a:fillRect/>
          </a:stretch>
        </p:blipFill>
        <p:spPr>
          <a:xfrm>
            <a:off x="4495800" y="11125200"/>
            <a:ext cx="6426200" cy="368300"/>
          </a:xfrm>
          <a:prstGeom prst="rect">
            <a:avLst/>
          </a:prstGeom>
        </p:spPr>
      </p:pic>
      <p:pic>
        <p:nvPicPr>
          <p:cNvPr id="23" name="Picture 23"/>
          <p:cNvPicPr>
            <a:picLocks noChangeAspect="1"/>
          </p:cNvPicPr>
          <p:nvPr/>
        </p:nvPicPr>
        <p:blipFill>
          <a:blip r:embed="rId9"/>
          <a:stretch>
            <a:fillRect/>
          </a:stretch>
        </p:blipFill>
        <p:spPr>
          <a:xfrm>
            <a:off x="6946900" y="6705600"/>
            <a:ext cx="3454400" cy="381000"/>
          </a:xfrm>
          <a:prstGeom prst="rect">
            <a:avLst/>
          </a:prstGeom>
        </p:spPr>
      </p:pic>
      <p:sp>
        <p:nvSpPr>
          <p:cNvPr id="25" name="TextBox 14">
            <a:extLst>
              <a:ext uri="{FF2B5EF4-FFF2-40B4-BE49-F238E27FC236}">
                <a16:creationId xmlns:a16="http://schemas.microsoft.com/office/drawing/2014/main" id="{CF7E0A74-9115-7D8F-BC06-2F36623F3B8A}"/>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6" name="TextBox 14">
            <a:extLst>
              <a:ext uri="{FF2B5EF4-FFF2-40B4-BE49-F238E27FC236}">
                <a16:creationId xmlns:a16="http://schemas.microsoft.com/office/drawing/2014/main" id="{AA9D9856-49A9-3355-1017-CB14C290BCF8}"/>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7" name="Picture 2">
            <a:extLst>
              <a:ext uri="{FF2B5EF4-FFF2-40B4-BE49-F238E27FC236}">
                <a16:creationId xmlns:a16="http://schemas.microsoft.com/office/drawing/2014/main" id="{3E2F0570-E2CB-B5D1-3BD5-3B6BBF346796}"/>
              </a:ext>
            </a:extLst>
          </p:cNvPr>
          <p:cNvPicPr>
            <a:picLocks noChangeAspect="1"/>
          </p:cNvPicPr>
          <p:nvPr/>
        </p:nvPicPr>
        <p:blipFill>
          <a:blip r:embed="rId10">
            <a:alphaModFix amt="85000"/>
          </a:blip>
          <a:stretch>
            <a:fillRect/>
          </a:stretch>
        </p:blipFill>
        <p:spPr>
          <a:xfrm>
            <a:off x="11201400" y="558800"/>
            <a:ext cx="2705100" cy="444500"/>
          </a:xfrm>
          <a:prstGeom prst="rect">
            <a:avLst/>
          </a:prstGeom>
        </p:spPr>
      </p:pic>
      <p:sp>
        <p:nvSpPr>
          <p:cNvPr id="28" name="TextBox 16">
            <a:extLst>
              <a:ext uri="{FF2B5EF4-FFF2-40B4-BE49-F238E27FC236}">
                <a16:creationId xmlns:a16="http://schemas.microsoft.com/office/drawing/2014/main" id="{4AAD01B3-A03D-49F2-CCBE-1D66C24A023F}"/>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9" name="TextBox 18">
            <a:extLst>
              <a:ext uri="{FF2B5EF4-FFF2-40B4-BE49-F238E27FC236}">
                <a16:creationId xmlns:a16="http://schemas.microsoft.com/office/drawing/2014/main" id="{CF0E835A-0FE6-55C0-D8F9-9A8A54DCDEA5}"/>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30" name="TextBox 19">
            <a:extLst>
              <a:ext uri="{FF2B5EF4-FFF2-40B4-BE49-F238E27FC236}">
                <a16:creationId xmlns:a16="http://schemas.microsoft.com/office/drawing/2014/main" id="{6B80D356-7DE1-EF8F-E5F9-7F5ADE4F0FAF}"/>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31" name="TextBox 20">
            <a:extLst>
              <a:ext uri="{FF2B5EF4-FFF2-40B4-BE49-F238E27FC236}">
                <a16:creationId xmlns:a16="http://schemas.microsoft.com/office/drawing/2014/main" id="{20EBABF0-2297-30C3-977D-8F2DD71A0259}"/>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9" name="Picture 9"/>
          <p:cNvPicPr>
            <a:picLocks noChangeAspect="1"/>
          </p:cNvPicPr>
          <p:nvPr/>
        </p:nvPicPr>
        <p:blipFill>
          <a:blip r:embed="rId5"/>
          <a:stretch>
            <a:fillRect/>
          </a:stretch>
        </p:blipFill>
        <p:spPr>
          <a:xfrm>
            <a:off x="1485900" y="1612900"/>
            <a:ext cx="88900" cy="850900"/>
          </a:xfrm>
          <a:prstGeom prst="rect">
            <a:avLst/>
          </a:prstGeom>
        </p:spPr>
      </p:pic>
      <p:sp>
        <p:nvSpPr>
          <p:cNvPr id="10" name="TextBox 10"/>
          <p:cNvSpPr txBox="1"/>
          <p:nvPr/>
        </p:nvSpPr>
        <p:spPr>
          <a:xfrm>
            <a:off x="1943100" y="1409700"/>
            <a:ext cx="13423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협력사망 경유를 통한 공급망 연쇄 침투</a:t>
            </a:r>
          </a:p>
        </p:txBody>
      </p:sp>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cap="all" dirty="0">
                <a:solidFill>
                  <a:srgbClr val="024EA0"/>
                </a:solidFill>
                <a:latin typeface="Geologica Roman Light"/>
                <a:ea typeface="Geologica Roman Light"/>
                <a:cs typeface="Geologica Roman Light"/>
              </a:rPr>
              <a:t>39</a:t>
            </a:r>
            <a:endParaRPr lang="en-US" sz="2133" b="0" i="0" u="none" strike="noStrike" cap="all" dirty="0">
              <a:solidFill>
                <a:srgbClr val="024EA0"/>
              </a:solidFill>
              <a:latin typeface="Geologica Roman Light"/>
              <a:ea typeface="Geologica Roman Light"/>
              <a:cs typeface="Geologica Roman Light"/>
            </a:endParaRPr>
          </a:p>
        </p:txBody>
      </p:sp>
      <p:sp>
        <p:nvSpPr>
          <p:cNvPr id="12" name="TextBox 12"/>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4. Kali에서 WingFTP로 접속하기 위한 터널링 작업</a:t>
            </a:r>
          </a:p>
        </p:txBody>
      </p:sp>
      <p:sp>
        <p:nvSpPr>
          <p:cNvPr id="19" name="TextBox 19"/>
          <p:cNvSpPr txBox="1"/>
          <p:nvPr/>
        </p:nvSpPr>
        <p:spPr>
          <a:xfrm>
            <a:off x="14617700" y="3873500"/>
            <a:ext cx="8915400" cy="27305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좌측 코드는 Kali에서 WingFTP로의 통신을 위한 터널링을 뚫기 위한 코드 중 발췌한 이미지임.</a:t>
            </a:r>
          </a:p>
          <a:p>
            <a:pPr lvl="0" algn="l">
              <a:lnSpc>
                <a:spcPct val="116199"/>
              </a:lnSpc>
            </a:pPr>
            <a:endParaRPr lang="en-US" sz="3066" b="0" i="0" u="none" strike="noStrike">
              <a:solidFill>
                <a:srgbClr val="000000"/>
              </a:solidFill>
              <a:latin typeface="Pretendard Medium"/>
              <a:ea typeface="Pretendard Medium"/>
              <a:cs typeface="Pretendard Medium"/>
            </a:endParaRPr>
          </a:p>
          <a:p>
            <a:pPr lvl="0" algn="l">
              <a:lnSpc>
                <a:spcPct val="116199"/>
              </a:lnSpc>
            </a:pPr>
            <a:r>
              <a:rPr lang="en-US" sz="3066" b="0" i="0" u="none" strike="noStrike">
                <a:solidFill>
                  <a:srgbClr val="000000"/>
                </a:solidFill>
                <a:latin typeface="Pretendard Medium"/>
                <a:ea typeface="Pretendard Medium"/>
                <a:cs typeface="Pretendard Medium"/>
              </a:rPr>
              <a:t>Kali -&gt; WingFTP접속을 위해  relay.py를 작성하여 터널을 뚫음.</a:t>
            </a:r>
          </a:p>
        </p:txBody>
      </p:sp>
      <p:pic>
        <p:nvPicPr>
          <p:cNvPr id="20" name="Picture 20"/>
          <p:cNvPicPr>
            <a:picLocks noChangeAspect="1"/>
          </p:cNvPicPr>
          <p:nvPr/>
        </p:nvPicPr>
        <p:blipFill>
          <a:blip r:embed="rId6"/>
          <a:stretch>
            <a:fillRect/>
          </a:stretch>
        </p:blipFill>
        <p:spPr>
          <a:xfrm>
            <a:off x="2120900" y="6362700"/>
            <a:ext cx="11099800" cy="3403600"/>
          </a:xfrm>
          <a:prstGeom prst="rect">
            <a:avLst/>
          </a:prstGeom>
        </p:spPr>
      </p:pic>
      <p:pic>
        <p:nvPicPr>
          <p:cNvPr id="21" name="Picture 21"/>
          <p:cNvPicPr>
            <a:picLocks noChangeAspect="1"/>
          </p:cNvPicPr>
          <p:nvPr/>
        </p:nvPicPr>
        <p:blipFill>
          <a:blip r:embed="rId7"/>
          <a:stretch>
            <a:fillRect/>
          </a:stretch>
        </p:blipFill>
        <p:spPr>
          <a:xfrm>
            <a:off x="7023100" y="7632700"/>
            <a:ext cx="5930900" cy="469900"/>
          </a:xfrm>
          <a:prstGeom prst="rect">
            <a:avLst/>
          </a:prstGeom>
        </p:spPr>
      </p:pic>
      <p:pic>
        <p:nvPicPr>
          <p:cNvPr id="22" name="Picture 22"/>
          <p:cNvPicPr>
            <a:picLocks noChangeAspect="1"/>
          </p:cNvPicPr>
          <p:nvPr/>
        </p:nvPicPr>
        <p:blipFill>
          <a:blip r:embed="rId8"/>
          <a:stretch>
            <a:fillRect/>
          </a:stretch>
        </p:blipFill>
        <p:spPr>
          <a:xfrm>
            <a:off x="2120900" y="8064500"/>
            <a:ext cx="5346700" cy="444500"/>
          </a:xfrm>
          <a:prstGeom prst="rect">
            <a:avLst/>
          </a:prstGeom>
        </p:spPr>
      </p:pic>
      <p:pic>
        <p:nvPicPr>
          <p:cNvPr id="23" name="Picture 23"/>
          <p:cNvPicPr>
            <a:picLocks noChangeAspect="1"/>
          </p:cNvPicPr>
          <p:nvPr/>
        </p:nvPicPr>
        <p:blipFill>
          <a:blip r:embed="rId9"/>
          <a:stretch>
            <a:fillRect/>
          </a:stretch>
        </p:blipFill>
        <p:spPr>
          <a:xfrm>
            <a:off x="2120900" y="3924300"/>
            <a:ext cx="11099800" cy="2082800"/>
          </a:xfrm>
          <a:prstGeom prst="rect">
            <a:avLst/>
          </a:prstGeom>
        </p:spPr>
      </p:pic>
      <p:sp>
        <p:nvSpPr>
          <p:cNvPr id="25" name="TextBox 14">
            <a:extLst>
              <a:ext uri="{FF2B5EF4-FFF2-40B4-BE49-F238E27FC236}">
                <a16:creationId xmlns:a16="http://schemas.microsoft.com/office/drawing/2014/main" id="{AC578149-87DD-0D91-0561-876B36BC008C}"/>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6" name="TextBox 14">
            <a:extLst>
              <a:ext uri="{FF2B5EF4-FFF2-40B4-BE49-F238E27FC236}">
                <a16:creationId xmlns:a16="http://schemas.microsoft.com/office/drawing/2014/main" id="{727B9BCE-D052-3AF8-43C7-F38EDC6503B0}"/>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7" name="Picture 2">
            <a:extLst>
              <a:ext uri="{FF2B5EF4-FFF2-40B4-BE49-F238E27FC236}">
                <a16:creationId xmlns:a16="http://schemas.microsoft.com/office/drawing/2014/main" id="{FCCF4A44-2706-B092-F00D-DB4D93F24909}"/>
              </a:ext>
            </a:extLst>
          </p:cNvPr>
          <p:cNvPicPr>
            <a:picLocks noChangeAspect="1"/>
          </p:cNvPicPr>
          <p:nvPr/>
        </p:nvPicPr>
        <p:blipFill>
          <a:blip r:embed="rId10">
            <a:alphaModFix amt="85000"/>
          </a:blip>
          <a:stretch>
            <a:fillRect/>
          </a:stretch>
        </p:blipFill>
        <p:spPr>
          <a:xfrm>
            <a:off x="11201400" y="558800"/>
            <a:ext cx="2705100" cy="444500"/>
          </a:xfrm>
          <a:prstGeom prst="rect">
            <a:avLst/>
          </a:prstGeom>
        </p:spPr>
      </p:pic>
      <p:sp>
        <p:nvSpPr>
          <p:cNvPr id="28" name="TextBox 16">
            <a:extLst>
              <a:ext uri="{FF2B5EF4-FFF2-40B4-BE49-F238E27FC236}">
                <a16:creationId xmlns:a16="http://schemas.microsoft.com/office/drawing/2014/main" id="{CEE57AF2-F801-BF8F-6D33-5A078C1E37FF}"/>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9" name="TextBox 18">
            <a:extLst>
              <a:ext uri="{FF2B5EF4-FFF2-40B4-BE49-F238E27FC236}">
                <a16:creationId xmlns:a16="http://schemas.microsoft.com/office/drawing/2014/main" id="{ABFAADCC-08E1-47ED-8F5A-E879EA72BC7F}"/>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30" name="TextBox 19">
            <a:extLst>
              <a:ext uri="{FF2B5EF4-FFF2-40B4-BE49-F238E27FC236}">
                <a16:creationId xmlns:a16="http://schemas.microsoft.com/office/drawing/2014/main" id="{1C08AE8D-7C28-2D23-9530-CF912D484088}"/>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31" name="TextBox 20">
            <a:extLst>
              <a:ext uri="{FF2B5EF4-FFF2-40B4-BE49-F238E27FC236}">
                <a16:creationId xmlns:a16="http://schemas.microsoft.com/office/drawing/2014/main" id="{44135360-4B0A-5FDF-40BD-651504D2D8F2}"/>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9" name="Picture 9"/>
          <p:cNvPicPr>
            <a:picLocks noChangeAspect="1"/>
          </p:cNvPicPr>
          <p:nvPr/>
        </p:nvPicPr>
        <p:blipFill>
          <a:blip r:embed="rId5"/>
          <a:stretch>
            <a:fillRect/>
          </a:stretch>
        </p:blipFill>
        <p:spPr>
          <a:xfrm>
            <a:off x="1485900" y="1612900"/>
            <a:ext cx="88900" cy="850900"/>
          </a:xfrm>
          <a:prstGeom prst="rect">
            <a:avLst/>
          </a:prstGeom>
        </p:spPr>
      </p:pic>
      <p:sp>
        <p:nvSpPr>
          <p:cNvPr id="10" name="TextBox 10"/>
          <p:cNvSpPr txBox="1"/>
          <p:nvPr/>
        </p:nvSpPr>
        <p:spPr>
          <a:xfrm>
            <a:off x="1943100" y="1409700"/>
            <a:ext cx="13423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협력사망 경유를 통한 공급망 연쇄 침투</a:t>
            </a:r>
          </a:p>
        </p:txBody>
      </p:sp>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40</a:t>
            </a:r>
          </a:p>
        </p:txBody>
      </p:sp>
      <p:sp>
        <p:nvSpPr>
          <p:cNvPr id="12" name="TextBox 12"/>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5. WingFTP 취약점(CVE-2025-47812)를 활용하여 루트권한 쉘을 획득</a:t>
            </a:r>
          </a:p>
        </p:txBody>
      </p:sp>
      <p:pic>
        <p:nvPicPr>
          <p:cNvPr id="19" name="Picture 19"/>
          <p:cNvPicPr>
            <a:picLocks noChangeAspect="1"/>
          </p:cNvPicPr>
          <p:nvPr/>
        </p:nvPicPr>
        <p:blipFill>
          <a:blip r:embed="rId6"/>
          <a:stretch>
            <a:fillRect/>
          </a:stretch>
        </p:blipFill>
        <p:spPr>
          <a:xfrm>
            <a:off x="2120900" y="3898900"/>
            <a:ext cx="11760200" cy="5918200"/>
          </a:xfrm>
          <a:prstGeom prst="rect">
            <a:avLst/>
          </a:prstGeom>
        </p:spPr>
      </p:pic>
      <p:pic>
        <p:nvPicPr>
          <p:cNvPr id="20" name="Picture 20"/>
          <p:cNvPicPr>
            <a:picLocks noChangeAspect="1"/>
          </p:cNvPicPr>
          <p:nvPr/>
        </p:nvPicPr>
        <p:blipFill>
          <a:blip r:embed="rId7"/>
          <a:stretch>
            <a:fillRect/>
          </a:stretch>
        </p:blipFill>
        <p:spPr>
          <a:xfrm>
            <a:off x="2120900" y="9055100"/>
            <a:ext cx="6362700" cy="520700"/>
          </a:xfrm>
          <a:prstGeom prst="rect">
            <a:avLst/>
          </a:prstGeom>
        </p:spPr>
      </p:pic>
      <p:sp>
        <p:nvSpPr>
          <p:cNvPr id="21" name="TextBox 21"/>
          <p:cNvSpPr txBox="1"/>
          <p:nvPr/>
        </p:nvSpPr>
        <p:spPr>
          <a:xfrm>
            <a:off x="14617700" y="3873500"/>
            <a:ext cx="8915400" cy="32766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CVE-2025-47812</a:t>
            </a:r>
          </a:p>
          <a:p>
            <a:pPr lvl="0" algn="l">
              <a:lnSpc>
                <a:spcPct val="116199"/>
              </a:lnSpc>
            </a:pPr>
            <a:r>
              <a:rPr lang="en-US" sz="3066" b="0" i="0" u="none" strike="noStrike">
                <a:solidFill>
                  <a:srgbClr val="000000"/>
                </a:solidFill>
                <a:latin typeface="Pretendard Medium"/>
                <a:ea typeface="Pretendard Medium"/>
                <a:cs typeface="Pretendard Medium"/>
              </a:rPr>
              <a:t>외부로 노출된 익명 계정을 통해 접근한 뒤, ID 입력란에 NULL 바이트와 악성 명령어를 포함하여 전송함.</a:t>
            </a:r>
          </a:p>
          <a:p>
            <a:pPr lvl="0" algn="l">
              <a:lnSpc>
                <a:spcPct val="116199"/>
              </a:lnSpc>
            </a:pPr>
            <a:endParaRPr lang="en-US" sz="3066" b="0" i="0" u="none" strike="noStrike">
              <a:solidFill>
                <a:srgbClr val="000000"/>
              </a:solidFill>
              <a:latin typeface="Pretendard Medium"/>
              <a:ea typeface="Pretendard Medium"/>
              <a:cs typeface="Pretendard Medium"/>
            </a:endParaRPr>
          </a:p>
          <a:p>
            <a:pPr lvl="0" algn="l">
              <a:lnSpc>
                <a:spcPct val="116199"/>
              </a:lnSpc>
            </a:pPr>
            <a:r>
              <a:rPr lang="en-US" sz="3066" b="0" i="0" u="none" strike="noStrike">
                <a:solidFill>
                  <a:srgbClr val="000000"/>
                </a:solidFill>
                <a:latin typeface="Pretendard Medium"/>
                <a:ea typeface="Pretendard Medium"/>
                <a:cs typeface="Pretendard Medium"/>
              </a:rPr>
              <a:t> 이 과정에서 서버의 세션 처리 로직이 오작동하여 별도의 인증 없이 최고 권한 셸을 획득함.</a:t>
            </a:r>
          </a:p>
        </p:txBody>
      </p:sp>
      <p:sp>
        <p:nvSpPr>
          <p:cNvPr id="23" name="TextBox 14">
            <a:extLst>
              <a:ext uri="{FF2B5EF4-FFF2-40B4-BE49-F238E27FC236}">
                <a16:creationId xmlns:a16="http://schemas.microsoft.com/office/drawing/2014/main" id="{687B3A28-C055-CB2C-D616-2858AD045DB9}"/>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4" name="TextBox 14">
            <a:extLst>
              <a:ext uri="{FF2B5EF4-FFF2-40B4-BE49-F238E27FC236}">
                <a16:creationId xmlns:a16="http://schemas.microsoft.com/office/drawing/2014/main" id="{15D56C48-D871-1E69-AF57-78E87241FA66}"/>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5" name="Picture 2">
            <a:extLst>
              <a:ext uri="{FF2B5EF4-FFF2-40B4-BE49-F238E27FC236}">
                <a16:creationId xmlns:a16="http://schemas.microsoft.com/office/drawing/2014/main" id="{0FBCE5CD-D0E4-3140-92C5-BD6AB66B4B72}"/>
              </a:ext>
            </a:extLst>
          </p:cNvPr>
          <p:cNvPicPr>
            <a:picLocks noChangeAspect="1"/>
          </p:cNvPicPr>
          <p:nvPr/>
        </p:nvPicPr>
        <p:blipFill>
          <a:blip r:embed="rId8">
            <a:alphaModFix amt="85000"/>
          </a:blip>
          <a:stretch>
            <a:fillRect/>
          </a:stretch>
        </p:blipFill>
        <p:spPr>
          <a:xfrm>
            <a:off x="11201400" y="558800"/>
            <a:ext cx="2705100" cy="444500"/>
          </a:xfrm>
          <a:prstGeom prst="rect">
            <a:avLst/>
          </a:prstGeom>
        </p:spPr>
      </p:pic>
      <p:sp>
        <p:nvSpPr>
          <p:cNvPr id="26" name="TextBox 16">
            <a:extLst>
              <a:ext uri="{FF2B5EF4-FFF2-40B4-BE49-F238E27FC236}">
                <a16:creationId xmlns:a16="http://schemas.microsoft.com/office/drawing/2014/main" id="{1909A88E-1D79-AD19-ADA2-CAB41B64C757}"/>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7" name="TextBox 18">
            <a:extLst>
              <a:ext uri="{FF2B5EF4-FFF2-40B4-BE49-F238E27FC236}">
                <a16:creationId xmlns:a16="http://schemas.microsoft.com/office/drawing/2014/main" id="{7AECE6E7-67C8-3FC5-516C-5242FF5203FC}"/>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28" name="TextBox 19">
            <a:extLst>
              <a:ext uri="{FF2B5EF4-FFF2-40B4-BE49-F238E27FC236}">
                <a16:creationId xmlns:a16="http://schemas.microsoft.com/office/drawing/2014/main" id="{7452BCFD-F629-9AEF-CAEC-246527AB4965}"/>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29" name="TextBox 20">
            <a:extLst>
              <a:ext uri="{FF2B5EF4-FFF2-40B4-BE49-F238E27FC236}">
                <a16:creationId xmlns:a16="http://schemas.microsoft.com/office/drawing/2014/main" id="{4EC1F13D-4512-4F0D-89FA-2FB291348416}"/>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9" name="Picture 9"/>
          <p:cNvPicPr>
            <a:picLocks noChangeAspect="1"/>
          </p:cNvPicPr>
          <p:nvPr/>
        </p:nvPicPr>
        <p:blipFill>
          <a:blip r:embed="rId5"/>
          <a:stretch>
            <a:fillRect/>
          </a:stretch>
        </p:blipFill>
        <p:spPr>
          <a:xfrm>
            <a:off x="1485900" y="1612900"/>
            <a:ext cx="88900" cy="850900"/>
          </a:xfrm>
          <a:prstGeom prst="rect">
            <a:avLst/>
          </a:prstGeom>
        </p:spPr>
      </p:pic>
      <p:sp>
        <p:nvSpPr>
          <p:cNvPr id="10" name="TextBox 10"/>
          <p:cNvSpPr txBox="1"/>
          <p:nvPr/>
        </p:nvSpPr>
        <p:spPr>
          <a:xfrm>
            <a:off x="1943100" y="1409700"/>
            <a:ext cx="13423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협력사망 경유를 통한 공급망 연쇄 침투</a:t>
            </a:r>
          </a:p>
        </p:txBody>
      </p:sp>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4</a:t>
            </a:r>
            <a:r>
              <a:rPr lang="en-US" sz="2133" cap="all" dirty="0">
                <a:solidFill>
                  <a:srgbClr val="024EA0"/>
                </a:solidFill>
                <a:latin typeface="Geologica Roman Light"/>
                <a:ea typeface="Geologica Roman Light"/>
                <a:cs typeface="Geologica Roman Light"/>
              </a:rPr>
              <a:t>1</a:t>
            </a:r>
            <a:endParaRPr lang="en-US" sz="2133" b="0" i="0" u="none" strike="noStrike" cap="all" dirty="0">
              <a:solidFill>
                <a:srgbClr val="024EA0"/>
              </a:solidFill>
              <a:latin typeface="Geologica Roman Light"/>
              <a:ea typeface="Geologica Roman Light"/>
              <a:cs typeface="Geologica Roman Light"/>
            </a:endParaRPr>
          </a:p>
        </p:txBody>
      </p:sp>
      <p:sp>
        <p:nvSpPr>
          <p:cNvPr id="12" name="TextBox 12"/>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6. 획득한 쉘을 사용하여 관리자의 비밀번호를 변경</a:t>
            </a:r>
          </a:p>
        </p:txBody>
      </p:sp>
      <p:sp>
        <p:nvSpPr>
          <p:cNvPr id="19" name="TextBox 19"/>
          <p:cNvSpPr txBox="1"/>
          <p:nvPr/>
        </p:nvSpPr>
        <p:spPr>
          <a:xfrm>
            <a:off x="14617700" y="3873500"/>
            <a:ext cx="8915400" cy="27305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최고 권한을 이용해 서버의 관리가 설정 파일을 변조하여 비밀번호를 강제 변경함.</a:t>
            </a:r>
          </a:p>
          <a:p>
            <a:pPr lvl="0" algn="l">
              <a:lnSpc>
                <a:spcPct val="116199"/>
              </a:lnSpc>
            </a:pPr>
            <a:endParaRPr lang="en-US" sz="3066" b="0" i="0" u="none" strike="noStrike">
              <a:solidFill>
                <a:srgbClr val="000000"/>
              </a:solidFill>
              <a:latin typeface="Pretendard Medium"/>
              <a:ea typeface="Pretendard Medium"/>
              <a:cs typeface="Pretendard Medium"/>
            </a:endParaRPr>
          </a:p>
          <a:p>
            <a:pPr lvl="0" algn="l">
              <a:lnSpc>
                <a:spcPct val="116199"/>
              </a:lnSpc>
            </a:pPr>
            <a:r>
              <a:rPr lang="en-US" sz="3066" b="0" i="0" u="none" strike="noStrike">
                <a:solidFill>
                  <a:srgbClr val="000000"/>
                </a:solidFill>
                <a:latin typeface="Pretendard Medium"/>
                <a:ea typeface="Pretendard Medium"/>
                <a:cs typeface="Pretendard Medium"/>
              </a:rPr>
              <a:t>이는 단순한 권한 탈취를 넘어 해당 서버를 타겟 내부망 침투를 위한 전략적 거점으로 삼기 위함임.</a:t>
            </a:r>
          </a:p>
        </p:txBody>
      </p:sp>
      <p:pic>
        <p:nvPicPr>
          <p:cNvPr id="20" name="Picture 20"/>
          <p:cNvPicPr>
            <a:picLocks noChangeAspect="1"/>
          </p:cNvPicPr>
          <p:nvPr/>
        </p:nvPicPr>
        <p:blipFill>
          <a:blip r:embed="rId6"/>
          <a:stretch>
            <a:fillRect/>
          </a:stretch>
        </p:blipFill>
        <p:spPr>
          <a:xfrm>
            <a:off x="2120900" y="3873500"/>
            <a:ext cx="11874500" cy="6604000"/>
          </a:xfrm>
          <a:prstGeom prst="rect">
            <a:avLst/>
          </a:prstGeom>
        </p:spPr>
      </p:pic>
      <p:pic>
        <p:nvPicPr>
          <p:cNvPr id="21" name="Picture 21"/>
          <p:cNvPicPr>
            <a:picLocks noChangeAspect="1"/>
          </p:cNvPicPr>
          <p:nvPr/>
        </p:nvPicPr>
        <p:blipFill>
          <a:blip r:embed="rId7"/>
          <a:stretch>
            <a:fillRect/>
          </a:stretch>
        </p:blipFill>
        <p:spPr>
          <a:xfrm>
            <a:off x="2171700" y="4800600"/>
            <a:ext cx="11645900" cy="850900"/>
          </a:xfrm>
          <a:prstGeom prst="rect">
            <a:avLst/>
          </a:prstGeom>
        </p:spPr>
      </p:pic>
      <p:pic>
        <p:nvPicPr>
          <p:cNvPr id="22" name="Picture 22"/>
          <p:cNvPicPr>
            <a:picLocks noChangeAspect="1"/>
          </p:cNvPicPr>
          <p:nvPr/>
        </p:nvPicPr>
        <p:blipFill>
          <a:blip r:embed="rId8"/>
          <a:stretch>
            <a:fillRect/>
          </a:stretch>
        </p:blipFill>
        <p:spPr>
          <a:xfrm>
            <a:off x="9664700" y="6502400"/>
            <a:ext cx="4140200" cy="533400"/>
          </a:xfrm>
          <a:prstGeom prst="rect">
            <a:avLst/>
          </a:prstGeom>
        </p:spPr>
      </p:pic>
      <p:pic>
        <p:nvPicPr>
          <p:cNvPr id="23" name="Picture 23"/>
          <p:cNvPicPr>
            <a:picLocks noChangeAspect="1"/>
          </p:cNvPicPr>
          <p:nvPr/>
        </p:nvPicPr>
        <p:blipFill>
          <a:blip r:embed="rId9"/>
          <a:stretch>
            <a:fillRect/>
          </a:stretch>
        </p:blipFill>
        <p:spPr>
          <a:xfrm>
            <a:off x="2120900" y="6985000"/>
            <a:ext cx="9766300" cy="495300"/>
          </a:xfrm>
          <a:prstGeom prst="rect">
            <a:avLst/>
          </a:prstGeom>
        </p:spPr>
      </p:pic>
      <p:sp>
        <p:nvSpPr>
          <p:cNvPr id="25" name="TextBox 14">
            <a:extLst>
              <a:ext uri="{FF2B5EF4-FFF2-40B4-BE49-F238E27FC236}">
                <a16:creationId xmlns:a16="http://schemas.microsoft.com/office/drawing/2014/main" id="{720F6AB9-00E2-717E-F8F1-D3F8D6321DEE}"/>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6" name="TextBox 14">
            <a:extLst>
              <a:ext uri="{FF2B5EF4-FFF2-40B4-BE49-F238E27FC236}">
                <a16:creationId xmlns:a16="http://schemas.microsoft.com/office/drawing/2014/main" id="{277F0D44-D41A-F4EE-7329-951459F3DC8E}"/>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7" name="Picture 2">
            <a:extLst>
              <a:ext uri="{FF2B5EF4-FFF2-40B4-BE49-F238E27FC236}">
                <a16:creationId xmlns:a16="http://schemas.microsoft.com/office/drawing/2014/main" id="{66D8BD46-E266-3080-5CA1-576FC940C97E}"/>
              </a:ext>
            </a:extLst>
          </p:cNvPr>
          <p:cNvPicPr>
            <a:picLocks noChangeAspect="1"/>
          </p:cNvPicPr>
          <p:nvPr/>
        </p:nvPicPr>
        <p:blipFill>
          <a:blip r:embed="rId10">
            <a:alphaModFix amt="85000"/>
          </a:blip>
          <a:stretch>
            <a:fillRect/>
          </a:stretch>
        </p:blipFill>
        <p:spPr>
          <a:xfrm>
            <a:off x="11201400" y="558800"/>
            <a:ext cx="2705100" cy="444500"/>
          </a:xfrm>
          <a:prstGeom prst="rect">
            <a:avLst/>
          </a:prstGeom>
        </p:spPr>
      </p:pic>
      <p:sp>
        <p:nvSpPr>
          <p:cNvPr id="28" name="TextBox 16">
            <a:extLst>
              <a:ext uri="{FF2B5EF4-FFF2-40B4-BE49-F238E27FC236}">
                <a16:creationId xmlns:a16="http://schemas.microsoft.com/office/drawing/2014/main" id="{3CA263C6-0C5E-937F-4178-4D08D57B04FA}"/>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9" name="TextBox 18">
            <a:extLst>
              <a:ext uri="{FF2B5EF4-FFF2-40B4-BE49-F238E27FC236}">
                <a16:creationId xmlns:a16="http://schemas.microsoft.com/office/drawing/2014/main" id="{7C55EAB9-FDF0-E3BC-8C72-347C415D393F}"/>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30" name="TextBox 19">
            <a:extLst>
              <a:ext uri="{FF2B5EF4-FFF2-40B4-BE49-F238E27FC236}">
                <a16:creationId xmlns:a16="http://schemas.microsoft.com/office/drawing/2014/main" id="{0650E0AD-3810-CA53-EEA6-2CD7492ECA1E}"/>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31" name="TextBox 20">
            <a:extLst>
              <a:ext uri="{FF2B5EF4-FFF2-40B4-BE49-F238E27FC236}">
                <a16:creationId xmlns:a16="http://schemas.microsoft.com/office/drawing/2014/main" id="{F1BDACE6-B76A-F72E-ECA7-A17AE8ABE388}"/>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9" name="Picture 9"/>
          <p:cNvPicPr>
            <a:picLocks noChangeAspect="1"/>
          </p:cNvPicPr>
          <p:nvPr/>
        </p:nvPicPr>
        <p:blipFill>
          <a:blip r:embed="rId5"/>
          <a:stretch>
            <a:fillRect/>
          </a:stretch>
        </p:blipFill>
        <p:spPr>
          <a:xfrm>
            <a:off x="1485900" y="1612900"/>
            <a:ext cx="88900" cy="850900"/>
          </a:xfrm>
          <a:prstGeom prst="rect">
            <a:avLst/>
          </a:prstGeom>
        </p:spPr>
      </p:pic>
      <p:sp>
        <p:nvSpPr>
          <p:cNvPr id="10" name="TextBox 10"/>
          <p:cNvSpPr txBox="1"/>
          <p:nvPr/>
        </p:nvSpPr>
        <p:spPr>
          <a:xfrm>
            <a:off x="1943100" y="1409700"/>
            <a:ext cx="13423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협력사망 경유를 통한 공급망 연쇄 침투</a:t>
            </a:r>
          </a:p>
        </p:txBody>
      </p:sp>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42</a:t>
            </a:r>
          </a:p>
        </p:txBody>
      </p:sp>
      <p:sp>
        <p:nvSpPr>
          <p:cNvPr id="12" name="TextBox 12"/>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7. Webdav 및 터널링을 위한 포트를 변경 </a:t>
            </a:r>
          </a:p>
        </p:txBody>
      </p:sp>
      <p:sp>
        <p:nvSpPr>
          <p:cNvPr id="19" name="TextBox 19"/>
          <p:cNvSpPr txBox="1"/>
          <p:nvPr/>
        </p:nvSpPr>
        <p:spPr>
          <a:xfrm>
            <a:off x="14617700" y="3873500"/>
            <a:ext cx="8039100" cy="38227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관리자 페이지에 접속하여 기존에 할당되어 있던 서비스 포트(80, 990)를 임의의 비표준 포트(800, 9900)로 변경함.</a:t>
            </a:r>
          </a:p>
          <a:p>
            <a:pPr lvl="0" algn="l">
              <a:lnSpc>
                <a:spcPct val="116199"/>
              </a:lnSpc>
            </a:pPr>
            <a:endParaRPr lang="en-US" sz="3066" b="0" i="0" u="none" strike="noStrike">
              <a:solidFill>
                <a:srgbClr val="000000"/>
              </a:solidFill>
              <a:latin typeface="Pretendard Medium"/>
              <a:ea typeface="Pretendard Medium"/>
              <a:cs typeface="Pretendard Medium"/>
            </a:endParaRPr>
          </a:p>
          <a:p>
            <a:pPr lvl="0" algn="l">
              <a:lnSpc>
                <a:spcPct val="116199"/>
              </a:lnSpc>
            </a:pPr>
            <a:r>
              <a:rPr lang="en-US" sz="3066" b="0" i="0" u="none" strike="noStrike">
                <a:solidFill>
                  <a:srgbClr val="000000"/>
                </a:solidFill>
                <a:latin typeface="Pretendard Medium"/>
                <a:ea typeface="Pretendard Medium"/>
                <a:cs typeface="Pretendard Medium"/>
              </a:rPr>
              <a:t> 이는 이어질 CVE-2024-21412을 위한 Webdav 서버를 포트 충돌 없이 안정적으로 구동하기 위한 필수 사전 작업임.</a:t>
            </a:r>
          </a:p>
        </p:txBody>
      </p:sp>
      <p:pic>
        <p:nvPicPr>
          <p:cNvPr id="20" name="Picture 20"/>
          <p:cNvPicPr>
            <a:picLocks noChangeAspect="1"/>
          </p:cNvPicPr>
          <p:nvPr/>
        </p:nvPicPr>
        <p:blipFill>
          <a:blip r:embed="rId6"/>
          <a:stretch>
            <a:fillRect/>
          </a:stretch>
        </p:blipFill>
        <p:spPr>
          <a:xfrm>
            <a:off x="2120900" y="3873500"/>
            <a:ext cx="11976100" cy="7493000"/>
          </a:xfrm>
          <a:prstGeom prst="rect">
            <a:avLst/>
          </a:prstGeom>
        </p:spPr>
      </p:pic>
      <p:pic>
        <p:nvPicPr>
          <p:cNvPr id="21" name="Picture 21"/>
          <p:cNvPicPr>
            <a:picLocks noChangeAspect="1"/>
          </p:cNvPicPr>
          <p:nvPr/>
        </p:nvPicPr>
        <p:blipFill>
          <a:blip r:embed="rId7"/>
          <a:stretch>
            <a:fillRect/>
          </a:stretch>
        </p:blipFill>
        <p:spPr>
          <a:xfrm>
            <a:off x="5588000" y="5041900"/>
            <a:ext cx="6083300" cy="5143500"/>
          </a:xfrm>
          <a:prstGeom prst="rect">
            <a:avLst/>
          </a:prstGeom>
        </p:spPr>
      </p:pic>
      <p:pic>
        <p:nvPicPr>
          <p:cNvPr id="22" name="Picture 22"/>
          <p:cNvPicPr>
            <a:picLocks noChangeAspect="1"/>
          </p:cNvPicPr>
          <p:nvPr/>
        </p:nvPicPr>
        <p:blipFill>
          <a:blip r:embed="rId8"/>
          <a:stretch>
            <a:fillRect/>
          </a:stretch>
        </p:blipFill>
        <p:spPr>
          <a:xfrm>
            <a:off x="9258300" y="7023100"/>
            <a:ext cx="660400" cy="596900"/>
          </a:xfrm>
          <a:prstGeom prst="rect">
            <a:avLst/>
          </a:prstGeom>
        </p:spPr>
      </p:pic>
      <p:sp>
        <p:nvSpPr>
          <p:cNvPr id="24" name="TextBox 14">
            <a:extLst>
              <a:ext uri="{FF2B5EF4-FFF2-40B4-BE49-F238E27FC236}">
                <a16:creationId xmlns:a16="http://schemas.microsoft.com/office/drawing/2014/main" id="{3BB25807-4B03-8267-9FA8-A352ACFE440B}"/>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5" name="TextBox 14">
            <a:extLst>
              <a:ext uri="{FF2B5EF4-FFF2-40B4-BE49-F238E27FC236}">
                <a16:creationId xmlns:a16="http://schemas.microsoft.com/office/drawing/2014/main" id="{B6D42EAB-618C-5491-C50D-1570CEFB0FFC}"/>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6" name="Picture 2">
            <a:extLst>
              <a:ext uri="{FF2B5EF4-FFF2-40B4-BE49-F238E27FC236}">
                <a16:creationId xmlns:a16="http://schemas.microsoft.com/office/drawing/2014/main" id="{A739BF0D-4616-69DA-0DA3-F2FA2D578523}"/>
              </a:ext>
            </a:extLst>
          </p:cNvPr>
          <p:cNvPicPr>
            <a:picLocks noChangeAspect="1"/>
          </p:cNvPicPr>
          <p:nvPr/>
        </p:nvPicPr>
        <p:blipFill>
          <a:blip r:embed="rId9">
            <a:alphaModFix amt="85000"/>
          </a:blip>
          <a:stretch>
            <a:fillRect/>
          </a:stretch>
        </p:blipFill>
        <p:spPr>
          <a:xfrm>
            <a:off x="11201400" y="558800"/>
            <a:ext cx="2705100" cy="444500"/>
          </a:xfrm>
          <a:prstGeom prst="rect">
            <a:avLst/>
          </a:prstGeom>
        </p:spPr>
      </p:pic>
      <p:sp>
        <p:nvSpPr>
          <p:cNvPr id="27" name="TextBox 16">
            <a:extLst>
              <a:ext uri="{FF2B5EF4-FFF2-40B4-BE49-F238E27FC236}">
                <a16:creationId xmlns:a16="http://schemas.microsoft.com/office/drawing/2014/main" id="{7FA4B250-433F-46E8-9331-828D83EAA0E3}"/>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8" name="TextBox 18">
            <a:extLst>
              <a:ext uri="{FF2B5EF4-FFF2-40B4-BE49-F238E27FC236}">
                <a16:creationId xmlns:a16="http://schemas.microsoft.com/office/drawing/2014/main" id="{C583A2A9-2E40-2AFA-4B25-DDE57851C490}"/>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29" name="TextBox 19">
            <a:extLst>
              <a:ext uri="{FF2B5EF4-FFF2-40B4-BE49-F238E27FC236}">
                <a16:creationId xmlns:a16="http://schemas.microsoft.com/office/drawing/2014/main" id="{1249F444-19CD-28D4-86DE-99DCCB5CCB87}"/>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30" name="TextBox 20">
            <a:extLst>
              <a:ext uri="{FF2B5EF4-FFF2-40B4-BE49-F238E27FC236}">
                <a16:creationId xmlns:a16="http://schemas.microsoft.com/office/drawing/2014/main" id="{B339FCD7-252C-222A-0E97-9AA188944764}"/>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9" name="Picture 9"/>
          <p:cNvPicPr>
            <a:picLocks noChangeAspect="1"/>
          </p:cNvPicPr>
          <p:nvPr/>
        </p:nvPicPr>
        <p:blipFill>
          <a:blip r:embed="rId5"/>
          <a:stretch>
            <a:fillRect/>
          </a:stretch>
        </p:blipFill>
        <p:spPr>
          <a:xfrm>
            <a:off x="1485900" y="1612900"/>
            <a:ext cx="88900" cy="850900"/>
          </a:xfrm>
          <a:prstGeom prst="rect">
            <a:avLst/>
          </a:prstGeom>
        </p:spPr>
      </p:pic>
      <p:sp>
        <p:nvSpPr>
          <p:cNvPr id="10" name="TextBox 10"/>
          <p:cNvSpPr txBox="1"/>
          <p:nvPr/>
        </p:nvSpPr>
        <p:spPr>
          <a:xfrm>
            <a:off x="1943100" y="1409700"/>
            <a:ext cx="13423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협력사망 경유를 통한 공급망 연쇄 침투</a:t>
            </a:r>
          </a:p>
        </p:txBody>
      </p:sp>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4</a:t>
            </a:r>
            <a:r>
              <a:rPr lang="en-US" sz="2133" cap="all" dirty="0">
                <a:solidFill>
                  <a:srgbClr val="024EA0"/>
                </a:solidFill>
                <a:latin typeface="Geologica Roman Light"/>
                <a:ea typeface="Geologica Roman Light"/>
                <a:cs typeface="Geologica Roman Light"/>
              </a:rPr>
              <a:t>3</a:t>
            </a:r>
            <a:endParaRPr lang="en-US" sz="2133" b="0" i="0" u="none" strike="noStrike" cap="all" dirty="0">
              <a:solidFill>
                <a:srgbClr val="024EA0"/>
              </a:solidFill>
              <a:latin typeface="Geologica Roman Light"/>
              <a:ea typeface="Geologica Roman Light"/>
              <a:cs typeface="Geologica Roman Light"/>
            </a:endParaRPr>
          </a:p>
        </p:txBody>
      </p:sp>
      <p:sp>
        <p:nvSpPr>
          <p:cNvPr id="12" name="TextBox 12"/>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8. CVE-2024-21412를 위한 파일 업로드 및 Webdav 실행</a:t>
            </a:r>
          </a:p>
        </p:txBody>
      </p:sp>
      <p:sp>
        <p:nvSpPr>
          <p:cNvPr id="19" name="TextBox 19"/>
          <p:cNvSpPr txBox="1"/>
          <p:nvPr/>
        </p:nvSpPr>
        <p:spPr>
          <a:xfrm>
            <a:off x="14579600" y="3873500"/>
            <a:ext cx="8102600" cy="43561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피해자를 속일 미끼 파일(report_0427.zip)과 실제 시스템을 장악할 파일들(2.url 등)을 분리하여 업로드함.</a:t>
            </a:r>
          </a:p>
          <a:p>
            <a:pPr lvl="0" algn="l">
              <a:lnSpc>
                <a:spcPct val="116199"/>
              </a:lnSpc>
            </a:pPr>
            <a:endParaRPr lang="en-US" sz="3066" b="0" i="0" u="none" strike="noStrike">
              <a:solidFill>
                <a:srgbClr val="000000"/>
              </a:solidFill>
              <a:latin typeface="Pretendard Medium"/>
              <a:ea typeface="Pretendard Medium"/>
              <a:cs typeface="Pretendard Medium"/>
            </a:endParaRPr>
          </a:p>
          <a:p>
            <a:pPr lvl="0" algn="l">
              <a:lnSpc>
                <a:spcPct val="116199"/>
              </a:lnSpc>
            </a:pPr>
            <a:r>
              <a:rPr lang="en-US" sz="3066" b="0" i="0" u="none" strike="noStrike">
                <a:solidFill>
                  <a:srgbClr val="000000"/>
                </a:solidFill>
                <a:latin typeface="Pretendard Medium"/>
                <a:ea typeface="Pretendard Medium"/>
                <a:cs typeface="Pretendard Medium"/>
              </a:rPr>
              <a:t>이후 앞선 단게에서 확보해둔 80번 포트를 이용하여 Webdav 서버를 실행함으로써 타겟 PC가 Windows의 보안 검증을 우회하여 내부망에서 알아서 악성파일을 다운로드 하도록 유도할 준비를 함.</a:t>
            </a:r>
          </a:p>
        </p:txBody>
      </p:sp>
      <p:pic>
        <p:nvPicPr>
          <p:cNvPr id="20" name="Picture 20"/>
          <p:cNvPicPr>
            <a:picLocks noChangeAspect="1"/>
          </p:cNvPicPr>
          <p:nvPr/>
        </p:nvPicPr>
        <p:blipFill>
          <a:blip r:embed="rId6"/>
          <a:stretch>
            <a:fillRect/>
          </a:stretch>
        </p:blipFill>
        <p:spPr>
          <a:xfrm>
            <a:off x="2120900" y="3873500"/>
            <a:ext cx="10680700" cy="8178800"/>
          </a:xfrm>
          <a:prstGeom prst="rect">
            <a:avLst/>
          </a:prstGeom>
        </p:spPr>
      </p:pic>
      <p:pic>
        <p:nvPicPr>
          <p:cNvPr id="21" name="Picture 21"/>
          <p:cNvPicPr>
            <a:picLocks noChangeAspect="1"/>
          </p:cNvPicPr>
          <p:nvPr/>
        </p:nvPicPr>
        <p:blipFill>
          <a:blip r:embed="rId7"/>
          <a:stretch>
            <a:fillRect/>
          </a:stretch>
        </p:blipFill>
        <p:spPr>
          <a:xfrm>
            <a:off x="2120900" y="7797800"/>
            <a:ext cx="10426700" cy="800100"/>
          </a:xfrm>
          <a:prstGeom prst="rect">
            <a:avLst/>
          </a:prstGeom>
        </p:spPr>
      </p:pic>
      <p:pic>
        <p:nvPicPr>
          <p:cNvPr id="22" name="Picture 22"/>
          <p:cNvPicPr>
            <a:picLocks noChangeAspect="1"/>
          </p:cNvPicPr>
          <p:nvPr/>
        </p:nvPicPr>
        <p:blipFill>
          <a:blip r:embed="rId8"/>
          <a:stretch>
            <a:fillRect/>
          </a:stretch>
        </p:blipFill>
        <p:spPr>
          <a:xfrm>
            <a:off x="10756900" y="10109200"/>
            <a:ext cx="1790700" cy="1930400"/>
          </a:xfrm>
          <a:prstGeom prst="rect">
            <a:avLst/>
          </a:prstGeom>
        </p:spPr>
      </p:pic>
      <p:sp>
        <p:nvSpPr>
          <p:cNvPr id="24" name="TextBox 14">
            <a:extLst>
              <a:ext uri="{FF2B5EF4-FFF2-40B4-BE49-F238E27FC236}">
                <a16:creationId xmlns:a16="http://schemas.microsoft.com/office/drawing/2014/main" id="{E80A375F-CC03-2A53-4B1B-382CCBAC14F0}"/>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5" name="TextBox 14">
            <a:extLst>
              <a:ext uri="{FF2B5EF4-FFF2-40B4-BE49-F238E27FC236}">
                <a16:creationId xmlns:a16="http://schemas.microsoft.com/office/drawing/2014/main" id="{EC32ED3E-A1E1-954A-0D80-A1AC909AB8C8}"/>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6" name="Picture 2">
            <a:extLst>
              <a:ext uri="{FF2B5EF4-FFF2-40B4-BE49-F238E27FC236}">
                <a16:creationId xmlns:a16="http://schemas.microsoft.com/office/drawing/2014/main" id="{55559D4A-384E-D2F2-82E5-322A08763A51}"/>
              </a:ext>
            </a:extLst>
          </p:cNvPr>
          <p:cNvPicPr>
            <a:picLocks noChangeAspect="1"/>
          </p:cNvPicPr>
          <p:nvPr/>
        </p:nvPicPr>
        <p:blipFill>
          <a:blip r:embed="rId9">
            <a:alphaModFix amt="85000"/>
          </a:blip>
          <a:stretch>
            <a:fillRect/>
          </a:stretch>
        </p:blipFill>
        <p:spPr>
          <a:xfrm>
            <a:off x="11201400" y="558800"/>
            <a:ext cx="2705100" cy="444500"/>
          </a:xfrm>
          <a:prstGeom prst="rect">
            <a:avLst/>
          </a:prstGeom>
        </p:spPr>
      </p:pic>
      <p:sp>
        <p:nvSpPr>
          <p:cNvPr id="27" name="TextBox 16">
            <a:extLst>
              <a:ext uri="{FF2B5EF4-FFF2-40B4-BE49-F238E27FC236}">
                <a16:creationId xmlns:a16="http://schemas.microsoft.com/office/drawing/2014/main" id="{DD1FC741-7183-1DAE-7320-1C7E3143402C}"/>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8" name="TextBox 18">
            <a:extLst>
              <a:ext uri="{FF2B5EF4-FFF2-40B4-BE49-F238E27FC236}">
                <a16:creationId xmlns:a16="http://schemas.microsoft.com/office/drawing/2014/main" id="{2E56DAA5-CC29-3CCD-CDC8-42CA6B7D4342}"/>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29" name="TextBox 19">
            <a:extLst>
              <a:ext uri="{FF2B5EF4-FFF2-40B4-BE49-F238E27FC236}">
                <a16:creationId xmlns:a16="http://schemas.microsoft.com/office/drawing/2014/main" id="{46BE9C80-BC51-51AC-00C0-58217BE9F435}"/>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30" name="TextBox 20">
            <a:extLst>
              <a:ext uri="{FF2B5EF4-FFF2-40B4-BE49-F238E27FC236}">
                <a16:creationId xmlns:a16="http://schemas.microsoft.com/office/drawing/2014/main" id="{C8B8AB9E-E858-2D71-F5A0-566C986419E5}"/>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9" name="Picture 9"/>
          <p:cNvPicPr>
            <a:picLocks noChangeAspect="1"/>
          </p:cNvPicPr>
          <p:nvPr/>
        </p:nvPicPr>
        <p:blipFill>
          <a:blip r:embed="rId5"/>
          <a:stretch>
            <a:fillRect/>
          </a:stretch>
        </p:blipFill>
        <p:spPr>
          <a:xfrm>
            <a:off x="1485900" y="1612900"/>
            <a:ext cx="88900" cy="850900"/>
          </a:xfrm>
          <a:prstGeom prst="rect">
            <a:avLst/>
          </a:prstGeom>
        </p:spPr>
      </p:pic>
      <p:sp>
        <p:nvSpPr>
          <p:cNvPr id="10" name="TextBox 10"/>
          <p:cNvSpPr txBox="1"/>
          <p:nvPr/>
        </p:nvSpPr>
        <p:spPr>
          <a:xfrm>
            <a:off x="1943100" y="1409700"/>
            <a:ext cx="13423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협력사망 경유를 통한 공급망 연쇄 침투</a:t>
            </a:r>
          </a:p>
        </p:txBody>
      </p:sp>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44</a:t>
            </a:r>
          </a:p>
        </p:txBody>
      </p:sp>
      <p:sp>
        <p:nvSpPr>
          <p:cNvPr id="12" name="TextBox 12"/>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9. 관리자가 파일을 다운받아 실행하게 되면 공격자는 내부망 대외지원 관리자 PC의 쉘을 획득</a:t>
            </a:r>
          </a:p>
        </p:txBody>
      </p:sp>
      <p:sp>
        <p:nvSpPr>
          <p:cNvPr id="19" name="TextBox 19"/>
          <p:cNvSpPr txBox="1"/>
          <p:nvPr/>
        </p:nvSpPr>
        <p:spPr>
          <a:xfrm>
            <a:off x="14554200" y="3873500"/>
            <a:ext cx="8140700" cy="38227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피해자가 악성 '.url' 파일을 실행하게 되면, 시각적으로는 정상적인 문서가 열려 별도의 의심을하지 못하게 만듦.</a:t>
            </a:r>
          </a:p>
          <a:p>
            <a:pPr lvl="0" algn="l">
              <a:lnSpc>
                <a:spcPct val="116199"/>
              </a:lnSpc>
            </a:pPr>
            <a:endParaRPr lang="en-US" sz="3066" b="0" i="0" u="none" strike="noStrike">
              <a:solidFill>
                <a:srgbClr val="000000"/>
              </a:solidFill>
              <a:latin typeface="Pretendard Medium"/>
              <a:ea typeface="Pretendard Medium"/>
              <a:cs typeface="Pretendard Medium"/>
            </a:endParaRPr>
          </a:p>
          <a:p>
            <a:pPr lvl="0" algn="l">
              <a:lnSpc>
                <a:spcPct val="116199"/>
              </a:lnSpc>
            </a:pPr>
            <a:r>
              <a:rPr lang="en-US" sz="3066" b="0" i="0" u="none" strike="noStrike">
                <a:solidFill>
                  <a:srgbClr val="000000"/>
                </a:solidFill>
                <a:latin typeface="Pretendard Medium"/>
                <a:ea typeface="Pretendard Medium"/>
                <a:cs typeface="Pretendard Medium"/>
              </a:rPr>
              <a:t>하지만 사용자가 문서를 읽는 백그라운드에서는 보안 경고 없이 취약점이 발동되어, 공격자의 WebDAV 서버로부터 악성 쉘이 다운로드 및 실행함.</a:t>
            </a:r>
          </a:p>
        </p:txBody>
      </p:sp>
      <p:pic>
        <p:nvPicPr>
          <p:cNvPr id="20" name="Picture 20"/>
          <p:cNvPicPr>
            <a:picLocks noChangeAspect="1"/>
          </p:cNvPicPr>
          <p:nvPr/>
        </p:nvPicPr>
        <p:blipFill>
          <a:blip r:embed="rId6"/>
          <a:stretch>
            <a:fillRect/>
          </a:stretch>
        </p:blipFill>
        <p:spPr>
          <a:xfrm>
            <a:off x="4902200" y="3873500"/>
            <a:ext cx="6565900" cy="8991600"/>
          </a:xfrm>
          <a:prstGeom prst="rect">
            <a:avLst/>
          </a:prstGeom>
        </p:spPr>
      </p:pic>
      <p:pic>
        <p:nvPicPr>
          <p:cNvPr id="21" name="Picture 21"/>
          <p:cNvPicPr>
            <a:picLocks noChangeAspect="1"/>
          </p:cNvPicPr>
          <p:nvPr/>
        </p:nvPicPr>
        <p:blipFill>
          <a:blip r:embed="rId7"/>
          <a:stretch>
            <a:fillRect/>
          </a:stretch>
        </p:blipFill>
        <p:spPr>
          <a:xfrm>
            <a:off x="6108700" y="5715000"/>
            <a:ext cx="4178300" cy="419100"/>
          </a:xfrm>
          <a:prstGeom prst="rect">
            <a:avLst/>
          </a:prstGeom>
        </p:spPr>
      </p:pic>
      <p:sp>
        <p:nvSpPr>
          <p:cNvPr id="23" name="TextBox 14">
            <a:extLst>
              <a:ext uri="{FF2B5EF4-FFF2-40B4-BE49-F238E27FC236}">
                <a16:creationId xmlns:a16="http://schemas.microsoft.com/office/drawing/2014/main" id="{6C162AEF-2C7F-7ACB-80A9-209527A2E7D8}"/>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4" name="TextBox 14">
            <a:extLst>
              <a:ext uri="{FF2B5EF4-FFF2-40B4-BE49-F238E27FC236}">
                <a16:creationId xmlns:a16="http://schemas.microsoft.com/office/drawing/2014/main" id="{264B4A59-D6FC-2B8F-3385-CED40E8D7AB1}"/>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5" name="Picture 2">
            <a:extLst>
              <a:ext uri="{FF2B5EF4-FFF2-40B4-BE49-F238E27FC236}">
                <a16:creationId xmlns:a16="http://schemas.microsoft.com/office/drawing/2014/main" id="{39B8C0EB-699D-73FB-71F1-357CA373E8B4}"/>
              </a:ext>
            </a:extLst>
          </p:cNvPr>
          <p:cNvPicPr>
            <a:picLocks noChangeAspect="1"/>
          </p:cNvPicPr>
          <p:nvPr/>
        </p:nvPicPr>
        <p:blipFill>
          <a:blip r:embed="rId8">
            <a:alphaModFix amt="85000"/>
          </a:blip>
          <a:stretch>
            <a:fillRect/>
          </a:stretch>
        </p:blipFill>
        <p:spPr>
          <a:xfrm>
            <a:off x="11201400" y="558800"/>
            <a:ext cx="2705100" cy="444500"/>
          </a:xfrm>
          <a:prstGeom prst="rect">
            <a:avLst/>
          </a:prstGeom>
        </p:spPr>
      </p:pic>
      <p:sp>
        <p:nvSpPr>
          <p:cNvPr id="26" name="TextBox 16">
            <a:extLst>
              <a:ext uri="{FF2B5EF4-FFF2-40B4-BE49-F238E27FC236}">
                <a16:creationId xmlns:a16="http://schemas.microsoft.com/office/drawing/2014/main" id="{6745F5E2-256A-C8C6-9A65-774CD8B80292}"/>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7" name="TextBox 18">
            <a:extLst>
              <a:ext uri="{FF2B5EF4-FFF2-40B4-BE49-F238E27FC236}">
                <a16:creationId xmlns:a16="http://schemas.microsoft.com/office/drawing/2014/main" id="{8DCB5991-F1C3-9956-0272-773D0AECFA28}"/>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28" name="TextBox 19">
            <a:extLst>
              <a:ext uri="{FF2B5EF4-FFF2-40B4-BE49-F238E27FC236}">
                <a16:creationId xmlns:a16="http://schemas.microsoft.com/office/drawing/2014/main" id="{8FBD91C6-7DFD-8118-2DCD-C38AC3007235}"/>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29" name="TextBox 20">
            <a:extLst>
              <a:ext uri="{FF2B5EF4-FFF2-40B4-BE49-F238E27FC236}">
                <a16:creationId xmlns:a16="http://schemas.microsoft.com/office/drawing/2014/main" id="{281B6314-3BDA-63ED-D17B-16AB46864A36}"/>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9" name="Picture 9"/>
          <p:cNvPicPr>
            <a:picLocks noChangeAspect="1"/>
          </p:cNvPicPr>
          <p:nvPr/>
        </p:nvPicPr>
        <p:blipFill>
          <a:blip r:embed="rId5"/>
          <a:stretch>
            <a:fillRect/>
          </a:stretch>
        </p:blipFill>
        <p:spPr>
          <a:xfrm>
            <a:off x="1485900" y="1612900"/>
            <a:ext cx="88900" cy="850900"/>
          </a:xfrm>
          <a:prstGeom prst="rect">
            <a:avLst/>
          </a:prstGeom>
        </p:spPr>
      </p:pic>
      <p:sp>
        <p:nvSpPr>
          <p:cNvPr id="10" name="TextBox 10"/>
          <p:cNvSpPr txBox="1"/>
          <p:nvPr/>
        </p:nvSpPr>
        <p:spPr>
          <a:xfrm>
            <a:off x="1943100" y="1409700"/>
            <a:ext cx="13423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협력사망 경유를 통한 공급망 연쇄 침투</a:t>
            </a:r>
          </a:p>
        </p:txBody>
      </p:sp>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45</a:t>
            </a:r>
          </a:p>
        </p:txBody>
      </p:sp>
      <p:sp>
        <p:nvSpPr>
          <p:cNvPr id="12" name="TextBox 12"/>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10. 관리자가 파일을 다운받아 실행하게 되면 공격자는 내부망 대외지원 관리자 PC의 쉘을 획득</a:t>
            </a:r>
          </a:p>
        </p:txBody>
      </p:sp>
      <p:pic>
        <p:nvPicPr>
          <p:cNvPr id="19" name="Picture 19"/>
          <p:cNvPicPr>
            <a:picLocks noChangeAspect="1"/>
          </p:cNvPicPr>
          <p:nvPr/>
        </p:nvPicPr>
        <p:blipFill>
          <a:blip r:embed="rId6"/>
          <a:stretch>
            <a:fillRect/>
          </a:stretch>
        </p:blipFill>
        <p:spPr>
          <a:xfrm>
            <a:off x="2120900" y="3873500"/>
            <a:ext cx="10236200" cy="9080500"/>
          </a:xfrm>
          <a:prstGeom prst="rect">
            <a:avLst/>
          </a:prstGeom>
        </p:spPr>
      </p:pic>
      <p:sp>
        <p:nvSpPr>
          <p:cNvPr id="20" name="TextBox 20"/>
          <p:cNvSpPr txBox="1"/>
          <p:nvPr/>
        </p:nvSpPr>
        <p:spPr>
          <a:xfrm>
            <a:off x="14617700" y="3873500"/>
            <a:ext cx="8039100" cy="49022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피해자가 위장된 보고서를 열람하는 순간, 백그라운드에서는 악성 페이로드가 실행되어 공격자에게 리버스 커넥션을 시도함.</a:t>
            </a:r>
          </a:p>
          <a:p>
            <a:pPr lvl="0" algn="l">
              <a:lnSpc>
                <a:spcPct val="116199"/>
              </a:lnSpc>
            </a:pPr>
            <a:endParaRPr lang="en-US" sz="3066" b="0" i="0" u="none" strike="noStrike">
              <a:solidFill>
                <a:srgbClr val="000000"/>
              </a:solidFill>
              <a:latin typeface="Pretendard Medium"/>
              <a:ea typeface="Pretendard Medium"/>
              <a:cs typeface="Pretendard Medium"/>
            </a:endParaRPr>
          </a:p>
          <a:p>
            <a:pPr lvl="0" algn="l">
              <a:lnSpc>
                <a:spcPct val="116199"/>
              </a:lnSpc>
            </a:pPr>
            <a:r>
              <a:rPr lang="en-US" sz="3066" b="0" i="0" u="none" strike="noStrike">
                <a:solidFill>
                  <a:srgbClr val="000000"/>
                </a:solidFill>
                <a:latin typeface="Pretendard Medium"/>
                <a:ea typeface="Pretendard Medium"/>
                <a:cs typeface="Pretendard Medium"/>
              </a:rPr>
              <a:t>그 결과, 공격자는 방화벽 인바운드 정책을 우회하여 타겟 PC에 강력한 원격 제어권을 탈취함.</a:t>
            </a:r>
          </a:p>
          <a:p>
            <a:pPr lvl="0" algn="l">
              <a:lnSpc>
                <a:spcPct val="116199"/>
              </a:lnSpc>
            </a:pPr>
            <a:endParaRPr lang="en-US" sz="3066" b="0" i="0" u="none" strike="noStrike">
              <a:solidFill>
                <a:srgbClr val="000000"/>
              </a:solidFill>
              <a:latin typeface="Pretendard Medium"/>
              <a:ea typeface="Pretendard Medium"/>
              <a:cs typeface="Pretendard Medium"/>
            </a:endParaRPr>
          </a:p>
          <a:p>
            <a:pPr lvl="0" algn="l">
              <a:lnSpc>
                <a:spcPct val="116199"/>
              </a:lnSpc>
            </a:pPr>
            <a:r>
              <a:rPr lang="en-US" sz="3066" b="0" i="0" u="none" strike="noStrike">
                <a:solidFill>
                  <a:srgbClr val="000000"/>
                </a:solidFill>
                <a:latin typeface="Pretendard Medium"/>
                <a:ea typeface="Pretendard Medium"/>
                <a:cs typeface="Pretendard Medium"/>
              </a:rPr>
              <a:t>직후 시스템 정보를 조회하여 탈취한 PC가 Shellbank 내부 도메인 관리자 단말기임을 식별함.</a:t>
            </a:r>
          </a:p>
        </p:txBody>
      </p:sp>
      <p:pic>
        <p:nvPicPr>
          <p:cNvPr id="21" name="Picture 21"/>
          <p:cNvPicPr>
            <a:picLocks noChangeAspect="1"/>
          </p:cNvPicPr>
          <p:nvPr/>
        </p:nvPicPr>
        <p:blipFill>
          <a:blip r:embed="rId7"/>
          <a:stretch>
            <a:fillRect/>
          </a:stretch>
        </p:blipFill>
        <p:spPr>
          <a:xfrm>
            <a:off x="5257800" y="10096500"/>
            <a:ext cx="1981200" cy="342900"/>
          </a:xfrm>
          <a:prstGeom prst="rect">
            <a:avLst/>
          </a:prstGeom>
        </p:spPr>
      </p:pic>
      <p:sp>
        <p:nvSpPr>
          <p:cNvPr id="23" name="TextBox 14">
            <a:extLst>
              <a:ext uri="{FF2B5EF4-FFF2-40B4-BE49-F238E27FC236}">
                <a16:creationId xmlns:a16="http://schemas.microsoft.com/office/drawing/2014/main" id="{3923EFE6-552D-9C27-042E-FD985E0DC8B7}"/>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4" name="TextBox 14">
            <a:extLst>
              <a:ext uri="{FF2B5EF4-FFF2-40B4-BE49-F238E27FC236}">
                <a16:creationId xmlns:a16="http://schemas.microsoft.com/office/drawing/2014/main" id="{4CF9DB35-E523-7E03-C1B4-1BD3BF89BC7E}"/>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5" name="Picture 2">
            <a:extLst>
              <a:ext uri="{FF2B5EF4-FFF2-40B4-BE49-F238E27FC236}">
                <a16:creationId xmlns:a16="http://schemas.microsoft.com/office/drawing/2014/main" id="{96F0891E-8DD9-E7D3-6596-E4C7CC4BC318}"/>
              </a:ext>
            </a:extLst>
          </p:cNvPr>
          <p:cNvPicPr>
            <a:picLocks noChangeAspect="1"/>
          </p:cNvPicPr>
          <p:nvPr/>
        </p:nvPicPr>
        <p:blipFill>
          <a:blip r:embed="rId8">
            <a:alphaModFix amt="85000"/>
          </a:blip>
          <a:stretch>
            <a:fillRect/>
          </a:stretch>
        </p:blipFill>
        <p:spPr>
          <a:xfrm>
            <a:off x="11201400" y="558800"/>
            <a:ext cx="2705100" cy="444500"/>
          </a:xfrm>
          <a:prstGeom prst="rect">
            <a:avLst/>
          </a:prstGeom>
        </p:spPr>
      </p:pic>
      <p:sp>
        <p:nvSpPr>
          <p:cNvPr id="26" name="TextBox 16">
            <a:extLst>
              <a:ext uri="{FF2B5EF4-FFF2-40B4-BE49-F238E27FC236}">
                <a16:creationId xmlns:a16="http://schemas.microsoft.com/office/drawing/2014/main" id="{18B92527-FBB3-705D-B323-9664A45E9F5B}"/>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7" name="TextBox 18">
            <a:extLst>
              <a:ext uri="{FF2B5EF4-FFF2-40B4-BE49-F238E27FC236}">
                <a16:creationId xmlns:a16="http://schemas.microsoft.com/office/drawing/2014/main" id="{51A90A71-0E50-1032-17DB-2F4E425CC963}"/>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28" name="TextBox 19">
            <a:extLst>
              <a:ext uri="{FF2B5EF4-FFF2-40B4-BE49-F238E27FC236}">
                <a16:creationId xmlns:a16="http://schemas.microsoft.com/office/drawing/2014/main" id="{4D0EDD1C-13BA-4B07-A2E0-207D0BEF34E2}"/>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29" name="TextBox 20">
            <a:extLst>
              <a:ext uri="{FF2B5EF4-FFF2-40B4-BE49-F238E27FC236}">
                <a16:creationId xmlns:a16="http://schemas.microsoft.com/office/drawing/2014/main" id="{1A5A980B-8F46-33BF-81BD-526C00E236F4}"/>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9" name="Picture 9"/>
          <p:cNvPicPr>
            <a:picLocks noChangeAspect="1"/>
          </p:cNvPicPr>
          <p:nvPr/>
        </p:nvPicPr>
        <p:blipFill>
          <a:blip r:embed="rId5"/>
          <a:stretch>
            <a:fillRect/>
          </a:stretch>
        </p:blipFill>
        <p:spPr>
          <a:xfrm>
            <a:off x="1485900" y="1612900"/>
            <a:ext cx="88900" cy="850900"/>
          </a:xfrm>
          <a:prstGeom prst="rect">
            <a:avLst/>
          </a:prstGeom>
        </p:spPr>
      </p:pic>
      <p:sp>
        <p:nvSpPr>
          <p:cNvPr id="10" name="TextBox 10"/>
          <p:cNvSpPr txBox="1"/>
          <p:nvPr/>
        </p:nvSpPr>
        <p:spPr>
          <a:xfrm>
            <a:off x="1943100" y="1409700"/>
            <a:ext cx="13423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협력사망 경유를 통한 공급망 연쇄 침투</a:t>
            </a:r>
          </a:p>
        </p:txBody>
      </p:sp>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46</a:t>
            </a:r>
          </a:p>
        </p:txBody>
      </p:sp>
      <p:sp>
        <p:nvSpPr>
          <p:cNvPr id="12" name="TextBox 12"/>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11. 내부 스캔을 통해 IP 주소 스캔</a:t>
            </a:r>
          </a:p>
        </p:txBody>
      </p:sp>
      <p:pic>
        <p:nvPicPr>
          <p:cNvPr id="19" name="Picture 19"/>
          <p:cNvPicPr>
            <a:picLocks noChangeAspect="1"/>
          </p:cNvPicPr>
          <p:nvPr/>
        </p:nvPicPr>
        <p:blipFill>
          <a:blip r:embed="rId6"/>
          <a:stretch>
            <a:fillRect/>
          </a:stretch>
        </p:blipFill>
        <p:spPr>
          <a:xfrm>
            <a:off x="2120900" y="3873500"/>
            <a:ext cx="11506200" cy="7747000"/>
          </a:xfrm>
          <a:prstGeom prst="rect">
            <a:avLst/>
          </a:prstGeom>
        </p:spPr>
      </p:pic>
      <p:sp>
        <p:nvSpPr>
          <p:cNvPr id="20" name="TextBox 20"/>
          <p:cNvSpPr txBox="1"/>
          <p:nvPr/>
        </p:nvSpPr>
        <p:spPr>
          <a:xfrm>
            <a:off x="14617700" y="3873500"/>
            <a:ext cx="8039100" cy="38227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장악한 대외지원 관리자 PC를 거점 삼아, 외부망에서는 보이지 않는 내부 네트워크 구조를 파악하는 단계임.</a:t>
            </a:r>
          </a:p>
          <a:p>
            <a:pPr lvl="0" algn="l">
              <a:lnSpc>
                <a:spcPct val="116199"/>
              </a:lnSpc>
            </a:pPr>
            <a:endParaRPr lang="en-US" sz="3066" b="0" i="0" u="none" strike="noStrike">
              <a:solidFill>
                <a:srgbClr val="000000"/>
              </a:solidFill>
              <a:latin typeface="Pretendard Medium"/>
              <a:ea typeface="Pretendard Medium"/>
              <a:cs typeface="Pretendard Medium"/>
            </a:endParaRPr>
          </a:p>
          <a:p>
            <a:pPr lvl="0" algn="l">
              <a:lnSpc>
                <a:spcPct val="116199"/>
              </a:lnSpc>
            </a:pPr>
            <a:r>
              <a:rPr lang="en-US" sz="3066" b="0" i="0" u="none" strike="noStrike">
                <a:solidFill>
                  <a:srgbClr val="000000"/>
                </a:solidFill>
                <a:latin typeface="Pretendard Medium"/>
                <a:ea typeface="Pretendard Medium"/>
                <a:cs typeface="Pretendard Medium"/>
              </a:rPr>
              <a:t>공격자는 획득한 세션을 통해 내부망 전체에 Ping Sweep을 수행하여 살아있는 시스템의  IP를 모두 식별함.</a:t>
            </a:r>
          </a:p>
        </p:txBody>
      </p:sp>
      <p:sp>
        <p:nvSpPr>
          <p:cNvPr id="24" name="TextBox 14">
            <a:extLst>
              <a:ext uri="{FF2B5EF4-FFF2-40B4-BE49-F238E27FC236}">
                <a16:creationId xmlns:a16="http://schemas.microsoft.com/office/drawing/2014/main" id="{43AB7572-2A5A-09F5-2335-AF565DB574F2}"/>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5" name="TextBox 14">
            <a:extLst>
              <a:ext uri="{FF2B5EF4-FFF2-40B4-BE49-F238E27FC236}">
                <a16:creationId xmlns:a16="http://schemas.microsoft.com/office/drawing/2014/main" id="{AE334146-8921-910F-AE49-75E9B23D2691}"/>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6" name="Picture 2">
            <a:extLst>
              <a:ext uri="{FF2B5EF4-FFF2-40B4-BE49-F238E27FC236}">
                <a16:creationId xmlns:a16="http://schemas.microsoft.com/office/drawing/2014/main" id="{7C93B9C8-B3BC-0632-7207-22C62329A493}"/>
              </a:ext>
            </a:extLst>
          </p:cNvPr>
          <p:cNvPicPr>
            <a:picLocks noChangeAspect="1"/>
          </p:cNvPicPr>
          <p:nvPr/>
        </p:nvPicPr>
        <p:blipFill>
          <a:blip r:embed="rId7">
            <a:alphaModFix amt="85000"/>
          </a:blip>
          <a:stretch>
            <a:fillRect/>
          </a:stretch>
        </p:blipFill>
        <p:spPr>
          <a:xfrm>
            <a:off x="11201400" y="558800"/>
            <a:ext cx="2705100" cy="444500"/>
          </a:xfrm>
          <a:prstGeom prst="rect">
            <a:avLst/>
          </a:prstGeom>
        </p:spPr>
      </p:pic>
      <p:sp>
        <p:nvSpPr>
          <p:cNvPr id="27" name="TextBox 16">
            <a:extLst>
              <a:ext uri="{FF2B5EF4-FFF2-40B4-BE49-F238E27FC236}">
                <a16:creationId xmlns:a16="http://schemas.microsoft.com/office/drawing/2014/main" id="{E43F3850-1160-7733-9467-D71A3B3D3118}"/>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8" name="TextBox 18">
            <a:extLst>
              <a:ext uri="{FF2B5EF4-FFF2-40B4-BE49-F238E27FC236}">
                <a16:creationId xmlns:a16="http://schemas.microsoft.com/office/drawing/2014/main" id="{2C507E51-6B0E-B6F9-5AB5-A3AE505B6C6D}"/>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29" name="TextBox 19">
            <a:extLst>
              <a:ext uri="{FF2B5EF4-FFF2-40B4-BE49-F238E27FC236}">
                <a16:creationId xmlns:a16="http://schemas.microsoft.com/office/drawing/2014/main" id="{807FB4CD-CB8C-88B5-4783-78B3673335A8}"/>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30" name="TextBox 20">
            <a:extLst>
              <a:ext uri="{FF2B5EF4-FFF2-40B4-BE49-F238E27FC236}">
                <a16:creationId xmlns:a16="http://schemas.microsoft.com/office/drawing/2014/main" id="{94163561-88D8-23D7-40B9-00BF977B4561}"/>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9" name="Picture 9"/>
          <p:cNvPicPr>
            <a:picLocks noChangeAspect="1"/>
          </p:cNvPicPr>
          <p:nvPr/>
        </p:nvPicPr>
        <p:blipFill>
          <a:blip r:embed="rId5"/>
          <a:stretch>
            <a:fillRect/>
          </a:stretch>
        </p:blipFill>
        <p:spPr>
          <a:xfrm>
            <a:off x="1485900" y="1612900"/>
            <a:ext cx="88900" cy="850900"/>
          </a:xfrm>
          <a:prstGeom prst="rect">
            <a:avLst/>
          </a:prstGeom>
        </p:spPr>
      </p:pic>
      <p:sp>
        <p:nvSpPr>
          <p:cNvPr id="10" name="TextBox 10"/>
          <p:cNvSpPr txBox="1"/>
          <p:nvPr/>
        </p:nvSpPr>
        <p:spPr>
          <a:xfrm>
            <a:off x="1943100" y="1409700"/>
            <a:ext cx="13423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협력사망 경유를 통한 공급망 연쇄 침투</a:t>
            </a:r>
          </a:p>
        </p:txBody>
      </p:sp>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47</a:t>
            </a:r>
          </a:p>
        </p:txBody>
      </p:sp>
      <p:sp>
        <p:nvSpPr>
          <p:cNvPr id="12" name="TextBox 12"/>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12. 해당 IP에 Ping을 보내 PC 이름 확보</a:t>
            </a:r>
          </a:p>
        </p:txBody>
      </p:sp>
      <p:pic>
        <p:nvPicPr>
          <p:cNvPr id="19" name="Picture 19"/>
          <p:cNvPicPr>
            <a:picLocks noChangeAspect="1"/>
          </p:cNvPicPr>
          <p:nvPr/>
        </p:nvPicPr>
        <p:blipFill>
          <a:blip r:embed="rId6"/>
          <a:stretch>
            <a:fillRect/>
          </a:stretch>
        </p:blipFill>
        <p:spPr>
          <a:xfrm>
            <a:off x="2120900" y="3873500"/>
            <a:ext cx="9131300" cy="7150100"/>
          </a:xfrm>
          <a:prstGeom prst="rect">
            <a:avLst/>
          </a:prstGeom>
        </p:spPr>
      </p:pic>
      <p:pic>
        <p:nvPicPr>
          <p:cNvPr id="20" name="Picture 20"/>
          <p:cNvPicPr>
            <a:picLocks noChangeAspect="1"/>
          </p:cNvPicPr>
          <p:nvPr/>
        </p:nvPicPr>
        <p:blipFill>
          <a:blip r:embed="rId7"/>
          <a:stretch>
            <a:fillRect/>
          </a:stretch>
        </p:blipFill>
        <p:spPr>
          <a:xfrm>
            <a:off x="2120900" y="9893300"/>
            <a:ext cx="9131300" cy="2667000"/>
          </a:xfrm>
          <a:prstGeom prst="rect">
            <a:avLst/>
          </a:prstGeom>
        </p:spPr>
      </p:pic>
      <p:pic>
        <p:nvPicPr>
          <p:cNvPr id="21" name="Picture 21"/>
          <p:cNvPicPr>
            <a:picLocks noChangeAspect="1"/>
          </p:cNvPicPr>
          <p:nvPr/>
        </p:nvPicPr>
        <p:blipFill>
          <a:blip r:embed="rId8"/>
          <a:stretch>
            <a:fillRect/>
          </a:stretch>
        </p:blipFill>
        <p:spPr>
          <a:xfrm>
            <a:off x="3162300" y="5308600"/>
            <a:ext cx="5524500" cy="431800"/>
          </a:xfrm>
          <a:prstGeom prst="rect">
            <a:avLst/>
          </a:prstGeom>
        </p:spPr>
      </p:pic>
      <p:pic>
        <p:nvPicPr>
          <p:cNvPr id="22" name="Picture 22"/>
          <p:cNvPicPr>
            <a:picLocks noChangeAspect="1"/>
          </p:cNvPicPr>
          <p:nvPr/>
        </p:nvPicPr>
        <p:blipFill>
          <a:blip r:embed="rId9"/>
          <a:stretch>
            <a:fillRect/>
          </a:stretch>
        </p:blipFill>
        <p:spPr>
          <a:xfrm>
            <a:off x="3162300" y="9271000"/>
            <a:ext cx="4889500" cy="431800"/>
          </a:xfrm>
          <a:prstGeom prst="rect">
            <a:avLst/>
          </a:prstGeom>
        </p:spPr>
      </p:pic>
      <p:pic>
        <p:nvPicPr>
          <p:cNvPr id="23" name="Picture 23"/>
          <p:cNvPicPr>
            <a:picLocks noChangeAspect="1"/>
          </p:cNvPicPr>
          <p:nvPr/>
        </p:nvPicPr>
        <p:blipFill>
          <a:blip r:embed="rId10"/>
          <a:stretch>
            <a:fillRect/>
          </a:stretch>
        </p:blipFill>
        <p:spPr>
          <a:xfrm>
            <a:off x="3200400" y="11023600"/>
            <a:ext cx="4978400" cy="355600"/>
          </a:xfrm>
          <a:prstGeom prst="rect">
            <a:avLst/>
          </a:prstGeom>
        </p:spPr>
      </p:pic>
      <p:sp>
        <p:nvSpPr>
          <p:cNvPr id="24" name="TextBox 24"/>
          <p:cNvSpPr txBox="1"/>
          <p:nvPr/>
        </p:nvSpPr>
        <p:spPr>
          <a:xfrm>
            <a:off x="14617700" y="3873500"/>
            <a:ext cx="8039100" cy="38227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단순 IP 주소만으로는 타겟 시스템의 중요도를 알 수 없으므로, ping -a 옵션을 활용하여 shellbank.local 내부망 시스템들의 실제 호스트명을 파악하는 고도화된 정보 수집 단계임.</a:t>
            </a:r>
          </a:p>
          <a:p>
            <a:pPr lvl="0" algn="l">
              <a:lnSpc>
                <a:spcPct val="116199"/>
              </a:lnSpc>
            </a:pPr>
            <a:endParaRPr lang="en-US" sz="3066" b="0" i="0" u="none" strike="noStrike">
              <a:solidFill>
                <a:srgbClr val="000000"/>
              </a:solidFill>
              <a:latin typeface="Pretendard Medium"/>
              <a:ea typeface="Pretendard Medium"/>
              <a:cs typeface="Pretendard Medium"/>
            </a:endParaRPr>
          </a:p>
          <a:p>
            <a:pPr lvl="0" algn="l">
              <a:lnSpc>
                <a:spcPct val="116199"/>
              </a:lnSpc>
            </a:pPr>
            <a:r>
              <a:rPr lang="en-US" sz="3066" b="0" i="0" u="none" strike="noStrike">
                <a:solidFill>
                  <a:srgbClr val="000000"/>
                </a:solidFill>
                <a:latin typeface="Pretendard Medium"/>
                <a:ea typeface="Pretendard Medium"/>
                <a:cs typeface="Pretendard Medium"/>
              </a:rPr>
              <a:t>이를 통해 IT 관리자 단말기, 개발자 PC, 사내 메일서버 등 보안상 가장 치명적인 타겟들의 위치를 식별임.</a:t>
            </a:r>
          </a:p>
        </p:txBody>
      </p:sp>
      <p:sp>
        <p:nvSpPr>
          <p:cNvPr id="26" name="TextBox 14">
            <a:extLst>
              <a:ext uri="{FF2B5EF4-FFF2-40B4-BE49-F238E27FC236}">
                <a16:creationId xmlns:a16="http://schemas.microsoft.com/office/drawing/2014/main" id="{7D2255C6-BDDD-9263-7677-450A1BB9E083}"/>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7" name="TextBox 14">
            <a:extLst>
              <a:ext uri="{FF2B5EF4-FFF2-40B4-BE49-F238E27FC236}">
                <a16:creationId xmlns:a16="http://schemas.microsoft.com/office/drawing/2014/main" id="{257050A2-570D-E9A7-EEC8-044ACBCBD4C6}"/>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8" name="Picture 2">
            <a:extLst>
              <a:ext uri="{FF2B5EF4-FFF2-40B4-BE49-F238E27FC236}">
                <a16:creationId xmlns:a16="http://schemas.microsoft.com/office/drawing/2014/main" id="{4B96AF82-FEE3-8B59-19A7-6A4EAB4C5988}"/>
              </a:ext>
            </a:extLst>
          </p:cNvPr>
          <p:cNvPicPr>
            <a:picLocks noChangeAspect="1"/>
          </p:cNvPicPr>
          <p:nvPr/>
        </p:nvPicPr>
        <p:blipFill>
          <a:blip r:embed="rId11">
            <a:alphaModFix amt="85000"/>
          </a:blip>
          <a:stretch>
            <a:fillRect/>
          </a:stretch>
        </p:blipFill>
        <p:spPr>
          <a:xfrm>
            <a:off x="11201400" y="558800"/>
            <a:ext cx="2705100" cy="444500"/>
          </a:xfrm>
          <a:prstGeom prst="rect">
            <a:avLst/>
          </a:prstGeom>
        </p:spPr>
      </p:pic>
      <p:sp>
        <p:nvSpPr>
          <p:cNvPr id="29" name="TextBox 16">
            <a:extLst>
              <a:ext uri="{FF2B5EF4-FFF2-40B4-BE49-F238E27FC236}">
                <a16:creationId xmlns:a16="http://schemas.microsoft.com/office/drawing/2014/main" id="{2B55151B-6465-B317-4E08-B8F4B937A5CE}"/>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30" name="TextBox 18">
            <a:extLst>
              <a:ext uri="{FF2B5EF4-FFF2-40B4-BE49-F238E27FC236}">
                <a16:creationId xmlns:a16="http://schemas.microsoft.com/office/drawing/2014/main" id="{C3B6790D-D867-9993-DCF4-EF79F6692671}"/>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31" name="TextBox 19">
            <a:extLst>
              <a:ext uri="{FF2B5EF4-FFF2-40B4-BE49-F238E27FC236}">
                <a16:creationId xmlns:a16="http://schemas.microsoft.com/office/drawing/2014/main" id="{492365EA-AD83-67E1-B64E-DD9F0E240F3C}"/>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32" name="TextBox 20">
            <a:extLst>
              <a:ext uri="{FF2B5EF4-FFF2-40B4-BE49-F238E27FC236}">
                <a16:creationId xmlns:a16="http://schemas.microsoft.com/office/drawing/2014/main" id="{8514D519-8E36-5F1D-50EC-538D580E7BC3}"/>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10" name="Picture 10"/>
          <p:cNvPicPr>
            <a:picLocks noChangeAspect="1"/>
          </p:cNvPicPr>
          <p:nvPr/>
        </p:nvPicPr>
        <p:blipFill>
          <a:blip r:embed="rId5"/>
          <a:stretch>
            <a:fillRect/>
          </a:stretch>
        </p:blipFill>
        <p:spPr>
          <a:xfrm>
            <a:off x="1485900" y="1612900"/>
            <a:ext cx="88900" cy="850900"/>
          </a:xfrm>
          <a:prstGeom prst="rect">
            <a:avLst/>
          </a:prstGeom>
        </p:spPr>
      </p:pic>
      <p:sp>
        <p:nvSpPr>
          <p:cNvPr id="11" name="TextBox 11"/>
          <p:cNvSpPr txBox="1"/>
          <p:nvPr/>
        </p:nvSpPr>
        <p:spPr>
          <a:xfrm>
            <a:off x="1943100" y="1409700"/>
            <a:ext cx="13423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협력사망 경유를 통한 공급망 연쇄 침투</a:t>
            </a:r>
          </a:p>
        </p:txBody>
      </p:sp>
      <p:sp>
        <p:nvSpPr>
          <p:cNvPr id="12" name="TextBox 12"/>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cap="all" dirty="0">
                <a:solidFill>
                  <a:srgbClr val="024EA0"/>
                </a:solidFill>
                <a:latin typeface="Geologica Roman Light"/>
                <a:ea typeface="Geologica Roman Light"/>
                <a:cs typeface="Geologica Roman Light"/>
              </a:rPr>
              <a:t>48</a:t>
            </a:r>
            <a:endParaRPr lang="en-US" sz="2133" b="0" i="0" u="none" strike="noStrike" cap="all" dirty="0">
              <a:solidFill>
                <a:srgbClr val="024EA0"/>
              </a:solidFill>
              <a:latin typeface="Geologica Roman Light"/>
              <a:ea typeface="Geologica Roman Light"/>
              <a:cs typeface="Geologica Roman Light"/>
            </a:endParaRPr>
          </a:p>
        </p:txBody>
      </p:sp>
      <p:sp>
        <p:nvSpPr>
          <p:cNvPr id="13" name="TextBox 13"/>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13. 획득한 대외지원 관리자 PC의 LAPS 권한을 확인</a:t>
            </a:r>
          </a:p>
        </p:txBody>
      </p:sp>
      <p:pic>
        <p:nvPicPr>
          <p:cNvPr id="20" name="Picture 20"/>
          <p:cNvPicPr>
            <a:picLocks noChangeAspect="1"/>
          </p:cNvPicPr>
          <p:nvPr/>
        </p:nvPicPr>
        <p:blipFill>
          <a:blip r:embed="rId6"/>
          <a:stretch>
            <a:fillRect/>
          </a:stretch>
        </p:blipFill>
        <p:spPr>
          <a:xfrm>
            <a:off x="2120900" y="3873500"/>
            <a:ext cx="10312400" cy="3403600"/>
          </a:xfrm>
          <a:prstGeom prst="rect">
            <a:avLst/>
          </a:prstGeom>
        </p:spPr>
      </p:pic>
      <p:pic>
        <p:nvPicPr>
          <p:cNvPr id="21" name="Picture 21"/>
          <p:cNvPicPr>
            <a:picLocks noChangeAspect="1"/>
          </p:cNvPicPr>
          <p:nvPr/>
        </p:nvPicPr>
        <p:blipFill>
          <a:blip r:embed="rId7"/>
          <a:stretch>
            <a:fillRect/>
          </a:stretch>
        </p:blipFill>
        <p:spPr>
          <a:xfrm>
            <a:off x="2120900" y="7112000"/>
            <a:ext cx="10312400" cy="5435600"/>
          </a:xfrm>
          <a:prstGeom prst="rect">
            <a:avLst/>
          </a:prstGeom>
        </p:spPr>
      </p:pic>
      <p:pic>
        <p:nvPicPr>
          <p:cNvPr id="22" name="Picture 22"/>
          <p:cNvPicPr>
            <a:picLocks noChangeAspect="1"/>
          </p:cNvPicPr>
          <p:nvPr/>
        </p:nvPicPr>
        <p:blipFill>
          <a:blip r:embed="rId8"/>
          <a:stretch>
            <a:fillRect/>
          </a:stretch>
        </p:blipFill>
        <p:spPr>
          <a:xfrm>
            <a:off x="3327400" y="7835900"/>
            <a:ext cx="1993900" cy="355600"/>
          </a:xfrm>
          <a:prstGeom prst="rect">
            <a:avLst/>
          </a:prstGeom>
        </p:spPr>
      </p:pic>
      <p:sp>
        <p:nvSpPr>
          <p:cNvPr id="23" name="TextBox 23"/>
          <p:cNvSpPr txBox="1"/>
          <p:nvPr/>
        </p:nvSpPr>
        <p:spPr>
          <a:xfrm>
            <a:off x="14617700" y="3873500"/>
            <a:ext cx="8039100" cy="21844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현재 탈취한 대외지원 관리자 PC가 사내망에서 어느정도 권한을 가지는지 확인을 통하여 AD의 최고 권한인 Domain Admins 그룹에 속해있는 치명적인 보안 허점을 발견함.</a:t>
            </a:r>
          </a:p>
        </p:txBody>
      </p:sp>
      <p:sp>
        <p:nvSpPr>
          <p:cNvPr id="24" name="TextBox 14">
            <a:extLst>
              <a:ext uri="{FF2B5EF4-FFF2-40B4-BE49-F238E27FC236}">
                <a16:creationId xmlns:a16="http://schemas.microsoft.com/office/drawing/2014/main" id="{CDF9F5D2-418E-46B8-B217-A79D646087FE}"/>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5" name="TextBox 14">
            <a:extLst>
              <a:ext uri="{FF2B5EF4-FFF2-40B4-BE49-F238E27FC236}">
                <a16:creationId xmlns:a16="http://schemas.microsoft.com/office/drawing/2014/main" id="{64D36A0D-02E4-F797-3998-547505C85A22}"/>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6" name="Picture 2">
            <a:extLst>
              <a:ext uri="{FF2B5EF4-FFF2-40B4-BE49-F238E27FC236}">
                <a16:creationId xmlns:a16="http://schemas.microsoft.com/office/drawing/2014/main" id="{8B71480C-1609-EB3C-4C9B-CC4F203617DA}"/>
              </a:ext>
            </a:extLst>
          </p:cNvPr>
          <p:cNvPicPr>
            <a:picLocks noChangeAspect="1"/>
          </p:cNvPicPr>
          <p:nvPr/>
        </p:nvPicPr>
        <p:blipFill>
          <a:blip r:embed="rId9">
            <a:alphaModFix amt="85000"/>
          </a:blip>
          <a:stretch>
            <a:fillRect/>
          </a:stretch>
        </p:blipFill>
        <p:spPr>
          <a:xfrm>
            <a:off x="11201400" y="558800"/>
            <a:ext cx="2705100" cy="444500"/>
          </a:xfrm>
          <a:prstGeom prst="rect">
            <a:avLst/>
          </a:prstGeom>
        </p:spPr>
      </p:pic>
      <p:sp>
        <p:nvSpPr>
          <p:cNvPr id="27" name="TextBox 16">
            <a:extLst>
              <a:ext uri="{FF2B5EF4-FFF2-40B4-BE49-F238E27FC236}">
                <a16:creationId xmlns:a16="http://schemas.microsoft.com/office/drawing/2014/main" id="{9E2BC51A-8496-AF47-6897-BD2586E640AD}"/>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8" name="TextBox 18">
            <a:extLst>
              <a:ext uri="{FF2B5EF4-FFF2-40B4-BE49-F238E27FC236}">
                <a16:creationId xmlns:a16="http://schemas.microsoft.com/office/drawing/2014/main" id="{88415C60-565D-F6BF-4D25-B008FE90A7F1}"/>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29" name="TextBox 19">
            <a:extLst>
              <a:ext uri="{FF2B5EF4-FFF2-40B4-BE49-F238E27FC236}">
                <a16:creationId xmlns:a16="http://schemas.microsoft.com/office/drawing/2014/main" id="{3B62680C-F9CC-915A-3FBF-EBD7690FC788}"/>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30" name="TextBox 20">
            <a:extLst>
              <a:ext uri="{FF2B5EF4-FFF2-40B4-BE49-F238E27FC236}">
                <a16:creationId xmlns:a16="http://schemas.microsoft.com/office/drawing/2014/main" id="{6BD71DB7-C8E1-1F12-495F-E7D8766756B9}"/>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10" name="Picture 10"/>
          <p:cNvPicPr>
            <a:picLocks noChangeAspect="1"/>
          </p:cNvPicPr>
          <p:nvPr/>
        </p:nvPicPr>
        <p:blipFill>
          <a:blip r:embed="rId5"/>
          <a:stretch>
            <a:fillRect/>
          </a:stretch>
        </p:blipFill>
        <p:spPr>
          <a:xfrm>
            <a:off x="1485900" y="1612900"/>
            <a:ext cx="88900" cy="850900"/>
          </a:xfrm>
          <a:prstGeom prst="rect">
            <a:avLst/>
          </a:prstGeom>
        </p:spPr>
      </p:pic>
      <p:sp>
        <p:nvSpPr>
          <p:cNvPr id="11" name="TextBox 11"/>
          <p:cNvSpPr txBox="1"/>
          <p:nvPr/>
        </p:nvSpPr>
        <p:spPr>
          <a:xfrm>
            <a:off x="1943100" y="1409700"/>
            <a:ext cx="13423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협력사망 경유를 통한 공급망 연쇄 침투</a:t>
            </a:r>
          </a:p>
        </p:txBody>
      </p:sp>
      <p:sp>
        <p:nvSpPr>
          <p:cNvPr id="12" name="TextBox 12"/>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cap="all" dirty="0">
                <a:solidFill>
                  <a:srgbClr val="024EA0"/>
                </a:solidFill>
                <a:latin typeface="Geologica Roman Light"/>
                <a:ea typeface="Geologica Roman Light"/>
                <a:cs typeface="Geologica Roman Light"/>
              </a:rPr>
              <a:t>49</a:t>
            </a:r>
            <a:endParaRPr lang="en-US" sz="2133" b="0" i="0" u="none" strike="noStrike" cap="all" dirty="0">
              <a:solidFill>
                <a:srgbClr val="024EA0"/>
              </a:solidFill>
              <a:latin typeface="Geologica Roman Light"/>
              <a:ea typeface="Geologica Roman Light"/>
              <a:cs typeface="Geologica Roman Light"/>
            </a:endParaRPr>
          </a:p>
        </p:txBody>
      </p:sp>
      <p:sp>
        <p:nvSpPr>
          <p:cNvPr id="13" name="TextBox 13"/>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14. IT 관리자로 의심되는 PC 비밀번호 획득</a:t>
            </a:r>
          </a:p>
        </p:txBody>
      </p:sp>
      <p:pic>
        <p:nvPicPr>
          <p:cNvPr id="20" name="Picture 20"/>
          <p:cNvPicPr>
            <a:picLocks noChangeAspect="1"/>
          </p:cNvPicPr>
          <p:nvPr/>
        </p:nvPicPr>
        <p:blipFill>
          <a:blip r:embed="rId6"/>
          <a:stretch>
            <a:fillRect/>
          </a:stretch>
        </p:blipFill>
        <p:spPr>
          <a:xfrm>
            <a:off x="2120900" y="3873500"/>
            <a:ext cx="11976100" cy="5321300"/>
          </a:xfrm>
          <a:prstGeom prst="rect">
            <a:avLst/>
          </a:prstGeom>
        </p:spPr>
      </p:pic>
      <p:sp>
        <p:nvSpPr>
          <p:cNvPr id="21" name="TextBox 21"/>
          <p:cNvSpPr txBox="1"/>
          <p:nvPr/>
        </p:nvSpPr>
        <p:spPr>
          <a:xfrm>
            <a:off x="14617700" y="3873500"/>
            <a:ext cx="8915400" cy="27305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앞선 내부망 스캔에서 점찍어둔 최우선 타겟인 IT 관리자 PC(SB-IT-ADMIN)를 장악하기 위해, AD에 저장된 LAPS 비밀번호 속성값을 직접 조회함.</a:t>
            </a:r>
          </a:p>
          <a:p>
            <a:pPr lvl="0" algn="l">
              <a:lnSpc>
                <a:spcPct val="116199"/>
              </a:lnSpc>
            </a:pPr>
            <a:endParaRPr lang="en-US" sz="3066" b="0" i="0" u="none" strike="noStrike">
              <a:solidFill>
                <a:srgbClr val="000000"/>
              </a:solidFill>
              <a:latin typeface="Pretendard Medium"/>
              <a:ea typeface="Pretendard Medium"/>
              <a:cs typeface="Pretendard Medium"/>
            </a:endParaRPr>
          </a:p>
          <a:p>
            <a:pPr lvl="0" algn="l">
              <a:lnSpc>
                <a:spcPct val="116199"/>
              </a:lnSpc>
            </a:pPr>
            <a:r>
              <a:rPr lang="en-US" sz="3066" b="0" i="0" u="none" strike="noStrike">
                <a:solidFill>
                  <a:srgbClr val="000000"/>
                </a:solidFill>
                <a:latin typeface="Pretendard Medium"/>
                <a:ea typeface="Pretendard Medium"/>
                <a:cs typeface="Pretendard Medium"/>
              </a:rPr>
              <a:t>그 결과 비밀번호를 획득함.</a:t>
            </a:r>
          </a:p>
        </p:txBody>
      </p:sp>
      <p:pic>
        <p:nvPicPr>
          <p:cNvPr id="22" name="Picture 22"/>
          <p:cNvPicPr>
            <a:picLocks noChangeAspect="1"/>
          </p:cNvPicPr>
          <p:nvPr/>
        </p:nvPicPr>
        <p:blipFill>
          <a:blip r:embed="rId7"/>
          <a:stretch>
            <a:fillRect/>
          </a:stretch>
        </p:blipFill>
        <p:spPr>
          <a:xfrm>
            <a:off x="2209800" y="8191500"/>
            <a:ext cx="2146300" cy="444500"/>
          </a:xfrm>
          <a:prstGeom prst="rect">
            <a:avLst/>
          </a:prstGeom>
        </p:spPr>
      </p:pic>
      <p:sp>
        <p:nvSpPr>
          <p:cNvPr id="23" name="TextBox 14">
            <a:extLst>
              <a:ext uri="{FF2B5EF4-FFF2-40B4-BE49-F238E27FC236}">
                <a16:creationId xmlns:a16="http://schemas.microsoft.com/office/drawing/2014/main" id="{E51DCD4F-6E37-1688-6202-ADEB54ABA0E4}"/>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4" name="TextBox 14">
            <a:extLst>
              <a:ext uri="{FF2B5EF4-FFF2-40B4-BE49-F238E27FC236}">
                <a16:creationId xmlns:a16="http://schemas.microsoft.com/office/drawing/2014/main" id="{ADF7CEA6-C76B-323D-E706-74487F9AD5B6}"/>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5" name="Picture 2">
            <a:extLst>
              <a:ext uri="{FF2B5EF4-FFF2-40B4-BE49-F238E27FC236}">
                <a16:creationId xmlns:a16="http://schemas.microsoft.com/office/drawing/2014/main" id="{FC85F3E8-F41A-39A8-E2ED-170C31F052D9}"/>
              </a:ext>
            </a:extLst>
          </p:cNvPr>
          <p:cNvPicPr>
            <a:picLocks noChangeAspect="1"/>
          </p:cNvPicPr>
          <p:nvPr/>
        </p:nvPicPr>
        <p:blipFill>
          <a:blip r:embed="rId8">
            <a:alphaModFix amt="85000"/>
          </a:blip>
          <a:stretch>
            <a:fillRect/>
          </a:stretch>
        </p:blipFill>
        <p:spPr>
          <a:xfrm>
            <a:off x="11201400" y="558800"/>
            <a:ext cx="2705100" cy="444500"/>
          </a:xfrm>
          <a:prstGeom prst="rect">
            <a:avLst/>
          </a:prstGeom>
        </p:spPr>
      </p:pic>
      <p:sp>
        <p:nvSpPr>
          <p:cNvPr id="26" name="TextBox 16">
            <a:extLst>
              <a:ext uri="{FF2B5EF4-FFF2-40B4-BE49-F238E27FC236}">
                <a16:creationId xmlns:a16="http://schemas.microsoft.com/office/drawing/2014/main" id="{22A9D3E1-860C-76E0-1601-104CE2C9D9DF}"/>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7" name="TextBox 18">
            <a:extLst>
              <a:ext uri="{FF2B5EF4-FFF2-40B4-BE49-F238E27FC236}">
                <a16:creationId xmlns:a16="http://schemas.microsoft.com/office/drawing/2014/main" id="{46888FC6-7FD1-140F-3F3C-786845EB9736}"/>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28" name="TextBox 19">
            <a:extLst>
              <a:ext uri="{FF2B5EF4-FFF2-40B4-BE49-F238E27FC236}">
                <a16:creationId xmlns:a16="http://schemas.microsoft.com/office/drawing/2014/main" id="{6CA9B157-02F4-95E7-DC28-CCACF1997F98}"/>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29" name="TextBox 20">
            <a:extLst>
              <a:ext uri="{FF2B5EF4-FFF2-40B4-BE49-F238E27FC236}">
                <a16:creationId xmlns:a16="http://schemas.microsoft.com/office/drawing/2014/main" id="{5E1AABB4-3709-2A47-22B6-5F00C775698F}"/>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10" name="Picture 10"/>
          <p:cNvPicPr>
            <a:picLocks noChangeAspect="1"/>
          </p:cNvPicPr>
          <p:nvPr/>
        </p:nvPicPr>
        <p:blipFill>
          <a:blip r:embed="rId5"/>
          <a:stretch>
            <a:fillRect/>
          </a:stretch>
        </p:blipFill>
        <p:spPr>
          <a:xfrm>
            <a:off x="1485900" y="1612900"/>
            <a:ext cx="88900" cy="850900"/>
          </a:xfrm>
          <a:prstGeom prst="rect">
            <a:avLst/>
          </a:prstGeom>
        </p:spPr>
      </p:pic>
      <p:sp>
        <p:nvSpPr>
          <p:cNvPr id="11" name="TextBox 11"/>
          <p:cNvSpPr txBox="1"/>
          <p:nvPr/>
        </p:nvSpPr>
        <p:spPr>
          <a:xfrm>
            <a:off x="1943100" y="1409700"/>
            <a:ext cx="13423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협력사망 경유를 통한 공급망 연쇄 침투</a:t>
            </a:r>
          </a:p>
        </p:txBody>
      </p:sp>
      <p:sp>
        <p:nvSpPr>
          <p:cNvPr id="12" name="TextBox 12"/>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50</a:t>
            </a:r>
          </a:p>
        </p:txBody>
      </p:sp>
      <p:sp>
        <p:nvSpPr>
          <p:cNvPr id="13" name="TextBox 13"/>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15. 내부 관리자로 횡이동</a:t>
            </a:r>
          </a:p>
        </p:txBody>
      </p:sp>
      <p:sp>
        <p:nvSpPr>
          <p:cNvPr id="20" name="TextBox 20"/>
          <p:cNvSpPr txBox="1"/>
          <p:nvPr/>
        </p:nvSpPr>
        <p:spPr>
          <a:xfrm>
            <a:off x="14528800" y="3873500"/>
            <a:ext cx="8216900" cy="43561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앞서 획득한 LAPS 평문 비밀번호를 이용해 공격자는 폐쇄망 내부로의 접근을 위해 1차로 장악한 대외지원 PC를 프록시로 삼아 공격 트래픽을 우회함.</a:t>
            </a:r>
          </a:p>
          <a:p>
            <a:pPr lvl="0" algn="l">
              <a:lnSpc>
                <a:spcPct val="116199"/>
              </a:lnSpc>
            </a:pPr>
            <a:endParaRPr lang="en-US" sz="3066" b="0" i="0" u="none" strike="noStrike">
              <a:solidFill>
                <a:srgbClr val="000000"/>
              </a:solidFill>
              <a:latin typeface="Pretendard Medium"/>
              <a:ea typeface="Pretendard Medium"/>
              <a:cs typeface="Pretendard Medium"/>
            </a:endParaRPr>
          </a:p>
          <a:p>
            <a:pPr lvl="0" algn="l">
              <a:lnSpc>
                <a:spcPct val="116199"/>
              </a:lnSpc>
            </a:pPr>
            <a:r>
              <a:rPr lang="en-US" sz="3066" b="0" i="0" u="none" strike="noStrike">
                <a:solidFill>
                  <a:srgbClr val="000000"/>
                </a:solidFill>
                <a:latin typeface="Pretendard Medium"/>
                <a:ea typeface="Pretendard Medium"/>
                <a:cs typeface="Pretendard Medium"/>
              </a:rPr>
              <a:t>이후 정상 관리 도구인 PsExec 모듈을 악용하여 탈취한 계정으로 인증을 통과하였으며, 내부 시스템 간의 통신만 허용하는 Bind TCP 셸을 생성하여 IT 관리자 PC와의 세션 연결에 성공함.</a:t>
            </a:r>
          </a:p>
        </p:txBody>
      </p:sp>
      <p:pic>
        <p:nvPicPr>
          <p:cNvPr id="21" name="Picture 21"/>
          <p:cNvPicPr>
            <a:picLocks noChangeAspect="1"/>
          </p:cNvPicPr>
          <p:nvPr/>
        </p:nvPicPr>
        <p:blipFill>
          <a:blip r:embed="rId6"/>
          <a:stretch>
            <a:fillRect/>
          </a:stretch>
        </p:blipFill>
        <p:spPr>
          <a:xfrm>
            <a:off x="2146300" y="3873500"/>
            <a:ext cx="9029700" cy="4914900"/>
          </a:xfrm>
          <a:prstGeom prst="rect">
            <a:avLst/>
          </a:prstGeom>
        </p:spPr>
      </p:pic>
      <p:pic>
        <p:nvPicPr>
          <p:cNvPr id="22" name="Picture 22"/>
          <p:cNvPicPr>
            <a:picLocks noChangeAspect="1"/>
          </p:cNvPicPr>
          <p:nvPr/>
        </p:nvPicPr>
        <p:blipFill>
          <a:blip r:embed="rId7"/>
          <a:stretch>
            <a:fillRect/>
          </a:stretch>
        </p:blipFill>
        <p:spPr>
          <a:xfrm>
            <a:off x="2159000" y="8128000"/>
            <a:ext cx="9017000" cy="647700"/>
          </a:xfrm>
          <a:prstGeom prst="rect">
            <a:avLst/>
          </a:prstGeom>
        </p:spPr>
      </p:pic>
      <p:pic>
        <p:nvPicPr>
          <p:cNvPr id="23" name="Picture 23"/>
          <p:cNvPicPr>
            <a:picLocks noChangeAspect="1"/>
          </p:cNvPicPr>
          <p:nvPr/>
        </p:nvPicPr>
        <p:blipFill>
          <a:blip r:embed="rId8"/>
          <a:stretch>
            <a:fillRect/>
          </a:stretch>
        </p:blipFill>
        <p:spPr>
          <a:xfrm>
            <a:off x="2146300" y="8788400"/>
            <a:ext cx="9029700" cy="3568700"/>
          </a:xfrm>
          <a:prstGeom prst="rect">
            <a:avLst/>
          </a:prstGeom>
        </p:spPr>
      </p:pic>
      <p:pic>
        <p:nvPicPr>
          <p:cNvPr id="24" name="Picture 24"/>
          <p:cNvPicPr>
            <a:picLocks noChangeAspect="1"/>
          </p:cNvPicPr>
          <p:nvPr/>
        </p:nvPicPr>
        <p:blipFill>
          <a:blip r:embed="rId9"/>
          <a:stretch>
            <a:fillRect/>
          </a:stretch>
        </p:blipFill>
        <p:spPr>
          <a:xfrm>
            <a:off x="4432300" y="10464800"/>
            <a:ext cx="2146300" cy="368300"/>
          </a:xfrm>
          <a:prstGeom prst="rect">
            <a:avLst/>
          </a:prstGeom>
        </p:spPr>
      </p:pic>
      <p:sp>
        <p:nvSpPr>
          <p:cNvPr id="25" name="TextBox 14">
            <a:extLst>
              <a:ext uri="{FF2B5EF4-FFF2-40B4-BE49-F238E27FC236}">
                <a16:creationId xmlns:a16="http://schemas.microsoft.com/office/drawing/2014/main" id="{C3E63DF3-AF39-F494-EC1A-F60B3A8A3AA3}"/>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6" name="TextBox 14">
            <a:extLst>
              <a:ext uri="{FF2B5EF4-FFF2-40B4-BE49-F238E27FC236}">
                <a16:creationId xmlns:a16="http://schemas.microsoft.com/office/drawing/2014/main" id="{F2A3E3BF-36BE-721F-1205-117620C9CAC9}"/>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7" name="Picture 2">
            <a:extLst>
              <a:ext uri="{FF2B5EF4-FFF2-40B4-BE49-F238E27FC236}">
                <a16:creationId xmlns:a16="http://schemas.microsoft.com/office/drawing/2014/main" id="{8FE2215A-5D6D-DA31-88CF-91E704222446}"/>
              </a:ext>
            </a:extLst>
          </p:cNvPr>
          <p:cNvPicPr>
            <a:picLocks noChangeAspect="1"/>
          </p:cNvPicPr>
          <p:nvPr/>
        </p:nvPicPr>
        <p:blipFill>
          <a:blip r:embed="rId10">
            <a:alphaModFix amt="85000"/>
          </a:blip>
          <a:stretch>
            <a:fillRect/>
          </a:stretch>
        </p:blipFill>
        <p:spPr>
          <a:xfrm>
            <a:off x="11201400" y="558800"/>
            <a:ext cx="2705100" cy="444500"/>
          </a:xfrm>
          <a:prstGeom prst="rect">
            <a:avLst/>
          </a:prstGeom>
        </p:spPr>
      </p:pic>
      <p:sp>
        <p:nvSpPr>
          <p:cNvPr id="28" name="TextBox 16">
            <a:extLst>
              <a:ext uri="{FF2B5EF4-FFF2-40B4-BE49-F238E27FC236}">
                <a16:creationId xmlns:a16="http://schemas.microsoft.com/office/drawing/2014/main" id="{564564C7-2969-E0F6-65EF-297F948933A5}"/>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9" name="TextBox 18">
            <a:extLst>
              <a:ext uri="{FF2B5EF4-FFF2-40B4-BE49-F238E27FC236}">
                <a16:creationId xmlns:a16="http://schemas.microsoft.com/office/drawing/2014/main" id="{3E9F62D6-6565-1918-D273-F356AA875BC6}"/>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30" name="TextBox 19">
            <a:extLst>
              <a:ext uri="{FF2B5EF4-FFF2-40B4-BE49-F238E27FC236}">
                <a16:creationId xmlns:a16="http://schemas.microsoft.com/office/drawing/2014/main" id="{5ECA6B87-777A-48A6-214B-EC37AB459323}"/>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31" name="TextBox 20">
            <a:extLst>
              <a:ext uri="{FF2B5EF4-FFF2-40B4-BE49-F238E27FC236}">
                <a16:creationId xmlns:a16="http://schemas.microsoft.com/office/drawing/2014/main" id="{FE209AF2-E826-0486-F481-533F70756B28}"/>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10" name="Picture 10"/>
          <p:cNvPicPr>
            <a:picLocks noChangeAspect="1"/>
          </p:cNvPicPr>
          <p:nvPr/>
        </p:nvPicPr>
        <p:blipFill>
          <a:blip r:embed="rId5"/>
          <a:stretch>
            <a:fillRect/>
          </a:stretch>
        </p:blipFill>
        <p:spPr>
          <a:xfrm>
            <a:off x="1485900" y="1612900"/>
            <a:ext cx="88900" cy="850900"/>
          </a:xfrm>
          <a:prstGeom prst="rect">
            <a:avLst/>
          </a:prstGeom>
        </p:spPr>
      </p:pic>
      <p:sp>
        <p:nvSpPr>
          <p:cNvPr id="11" name="TextBox 11"/>
          <p:cNvSpPr txBox="1"/>
          <p:nvPr/>
        </p:nvSpPr>
        <p:spPr>
          <a:xfrm>
            <a:off x="1943100" y="1409700"/>
            <a:ext cx="13423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협력사망 경유를 통한 공급망 연쇄 침투</a:t>
            </a:r>
          </a:p>
        </p:txBody>
      </p:sp>
      <p:sp>
        <p:nvSpPr>
          <p:cNvPr id="12" name="TextBox 12"/>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51</a:t>
            </a:r>
          </a:p>
        </p:txBody>
      </p:sp>
      <p:sp>
        <p:nvSpPr>
          <p:cNvPr id="13" name="TextBox 13"/>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16. 메일 서버 대상 포트 스캔</a:t>
            </a:r>
          </a:p>
        </p:txBody>
      </p:sp>
      <p:sp>
        <p:nvSpPr>
          <p:cNvPr id="20" name="TextBox 20"/>
          <p:cNvSpPr txBox="1"/>
          <p:nvPr/>
        </p:nvSpPr>
        <p:spPr>
          <a:xfrm>
            <a:off x="14579600" y="3873500"/>
            <a:ext cx="8115300" cy="16383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메일 서버들이 자주쓰는 포트와 Zimbra에서 사용하는 포트들을 스캔하여 열려있는 포트를 확인 22, 25, 80, 443, 7071번이 열려있는것을 확인함.</a:t>
            </a:r>
          </a:p>
        </p:txBody>
      </p:sp>
      <p:pic>
        <p:nvPicPr>
          <p:cNvPr id="21" name="Picture 21"/>
          <p:cNvPicPr>
            <a:picLocks noChangeAspect="1"/>
          </p:cNvPicPr>
          <p:nvPr/>
        </p:nvPicPr>
        <p:blipFill>
          <a:blip r:embed="rId6"/>
          <a:stretch>
            <a:fillRect/>
          </a:stretch>
        </p:blipFill>
        <p:spPr>
          <a:xfrm>
            <a:off x="2120900" y="3873500"/>
            <a:ext cx="11976100" cy="4991100"/>
          </a:xfrm>
          <a:prstGeom prst="rect">
            <a:avLst/>
          </a:prstGeom>
        </p:spPr>
      </p:pic>
      <p:sp>
        <p:nvSpPr>
          <p:cNvPr id="22" name="TextBox 14">
            <a:extLst>
              <a:ext uri="{FF2B5EF4-FFF2-40B4-BE49-F238E27FC236}">
                <a16:creationId xmlns:a16="http://schemas.microsoft.com/office/drawing/2014/main" id="{2E3BFD22-1549-ED05-7485-58EBA976B69C}"/>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3" name="TextBox 14">
            <a:extLst>
              <a:ext uri="{FF2B5EF4-FFF2-40B4-BE49-F238E27FC236}">
                <a16:creationId xmlns:a16="http://schemas.microsoft.com/office/drawing/2014/main" id="{EBDA9539-8481-48B2-EC74-27091C4D72C7}"/>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4" name="Picture 2">
            <a:extLst>
              <a:ext uri="{FF2B5EF4-FFF2-40B4-BE49-F238E27FC236}">
                <a16:creationId xmlns:a16="http://schemas.microsoft.com/office/drawing/2014/main" id="{F38E0423-8364-E3CC-5AB1-D268766D6E0A}"/>
              </a:ext>
            </a:extLst>
          </p:cNvPr>
          <p:cNvPicPr>
            <a:picLocks noChangeAspect="1"/>
          </p:cNvPicPr>
          <p:nvPr/>
        </p:nvPicPr>
        <p:blipFill>
          <a:blip r:embed="rId7">
            <a:alphaModFix amt="85000"/>
          </a:blip>
          <a:stretch>
            <a:fillRect/>
          </a:stretch>
        </p:blipFill>
        <p:spPr>
          <a:xfrm>
            <a:off x="11201400" y="558800"/>
            <a:ext cx="2705100" cy="444500"/>
          </a:xfrm>
          <a:prstGeom prst="rect">
            <a:avLst/>
          </a:prstGeom>
        </p:spPr>
      </p:pic>
      <p:sp>
        <p:nvSpPr>
          <p:cNvPr id="25" name="TextBox 16">
            <a:extLst>
              <a:ext uri="{FF2B5EF4-FFF2-40B4-BE49-F238E27FC236}">
                <a16:creationId xmlns:a16="http://schemas.microsoft.com/office/drawing/2014/main" id="{7E8DDC28-44A5-3F67-5E1A-77E8F690079B}"/>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6" name="TextBox 18">
            <a:extLst>
              <a:ext uri="{FF2B5EF4-FFF2-40B4-BE49-F238E27FC236}">
                <a16:creationId xmlns:a16="http://schemas.microsoft.com/office/drawing/2014/main" id="{132E1C02-485E-1B79-618D-E26F9E6AA903}"/>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27" name="TextBox 19">
            <a:extLst>
              <a:ext uri="{FF2B5EF4-FFF2-40B4-BE49-F238E27FC236}">
                <a16:creationId xmlns:a16="http://schemas.microsoft.com/office/drawing/2014/main" id="{9B4F89AA-7C39-B7C9-EDDD-0B1D09A24818}"/>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28" name="TextBox 20">
            <a:extLst>
              <a:ext uri="{FF2B5EF4-FFF2-40B4-BE49-F238E27FC236}">
                <a16:creationId xmlns:a16="http://schemas.microsoft.com/office/drawing/2014/main" id="{0BEB5E8C-1358-082A-AE43-9C0E84D6E0C2}"/>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10" name="Picture 10"/>
          <p:cNvPicPr>
            <a:picLocks noChangeAspect="1"/>
          </p:cNvPicPr>
          <p:nvPr/>
        </p:nvPicPr>
        <p:blipFill>
          <a:blip r:embed="rId5"/>
          <a:stretch>
            <a:fillRect/>
          </a:stretch>
        </p:blipFill>
        <p:spPr>
          <a:xfrm>
            <a:off x="1485900" y="1612900"/>
            <a:ext cx="88900" cy="850900"/>
          </a:xfrm>
          <a:prstGeom prst="rect">
            <a:avLst/>
          </a:prstGeom>
        </p:spPr>
      </p:pic>
      <p:sp>
        <p:nvSpPr>
          <p:cNvPr id="11" name="TextBox 11"/>
          <p:cNvSpPr txBox="1"/>
          <p:nvPr/>
        </p:nvSpPr>
        <p:spPr>
          <a:xfrm>
            <a:off x="1943100" y="1409700"/>
            <a:ext cx="13423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협력사망 경유를 통한 공급망 연쇄 침투</a:t>
            </a:r>
          </a:p>
        </p:txBody>
      </p:sp>
      <p:sp>
        <p:nvSpPr>
          <p:cNvPr id="12" name="TextBox 12"/>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52</a:t>
            </a:r>
          </a:p>
        </p:txBody>
      </p:sp>
      <p:sp>
        <p:nvSpPr>
          <p:cNvPr id="13" name="TextBox 13"/>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17. 메일 전송 용 포트포워딩</a:t>
            </a:r>
          </a:p>
        </p:txBody>
      </p:sp>
      <p:sp>
        <p:nvSpPr>
          <p:cNvPr id="20" name="TextBox 20"/>
          <p:cNvSpPr txBox="1"/>
          <p:nvPr/>
        </p:nvSpPr>
        <p:spPr>
          <a:xfrm>
            <a:off x="14554200" y="3873500"/>
            <a:ext cx="8166100" cy="49022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내부망 폐쇄형 서비스인 메일 서버를 외부에서 제어하기 위해 횡적 이동 거점을 '통신 중계기'로 변조하는 단계입니다. Meterpreter의 portfwd 기능을 이용해 공격자 PC의 2525번 포트와 내부 메일 서버의 25번 포트를 논리적으로 연결함.</a:t>
            </a:r>
          </a:p>
          <a:p>
            <a:pPr lvl="0" algn="l">
              <a:lnSpc>
                <a:spcPct val="116199"/>
              </a:lnSpc>
            </a:pPr>
            <a:endParaRPr lang="en-US" sz="3066" b="0" i="0" u="none" strike="noStrike">
              <a:solidFill>
                <a:srgbClr val="000000"/>
              </a:solidFill>
              <a:latin typeface="Pretendard Medium"/>
              <a:ea typeface="Pretendard Medium"/>
              <a:cs typeface="Pretendard Medium"/>
            </a:endParaRPr>
          </a:p>
          <a:p>
            <a:pPr lvl="0" algn="l">
              <a:lnSpc>
                <a:spcPct val="116199"/>
              </a:lnSpc>
            </a:pPr>
            <a:r>
              <a:rPr lang="en-US" sz="3066" b="0" i="0" u="none" strike="noStrike">
                <a:solidFill>
                  <a:srgbClr val="000000"/>
                </a:solidFill>
                <a:latin typeface="Pretendard Medium"/>
                <a:ea typeface="Pretendard Medium"/>
                <a:cs typeface="Pretendard Medium"/>
              </a:rPr>
              <a:t>이를 통해 공격자는 외부망에 있으면서도 마치 내부망 사용자인 것처럼 메일 서버에 접속하여 메일을 발송할 수 있는 권한을 획득함.</a:t>
            </a:r>
          </a:p>
        </p:txBody>
      </p:sp>
      <p:pic>
        <p:nvPicPr>
          <p:cNvPr id="21" name="Picture 21"/>
          <p:cNvPicPr>
            <a:picLocks noChangeAspect="1"/>
          </p:cNvPicPr>
          <p:nvPr/>
        </p:nvPicPr>
        <p:blipFill>
          <a:blip r:embed="rId6"/>
          <a:stretch>
            <a:fillRect/>
          </a:stretch>
        </p:blipFill>
        <p:spPr>
          <a:xfrm>
            <a:off x="2120900" y="3873500"/>
            <a:ext cx="10947400" cy="9321800"/>
          </a:xfrm>
          <a:prstGeom prst="rect">
            <a:avLst/>
          </a:prstGeom>
        </p:spPr>
      </p:pic>
      <p:pic>
        <p:nvPicPr>
          <p:cNvPr id="22" name="Picture 22"/>
          <p:cNvPicPr>
            <a:picLocks noChangeAspect="1"/>
          </p:cNvPicPr>
          <p:nvPr/>
        </p:nvPicPr>
        <p:blipFill>
          <a:blip r:embed="rId7"/>
          <a:stretch>
            <a:fillRect/>
          </a:stretch>
        </p:blipFill>
        <p:spPr>
          <a:xfrm>
            <a:off x="2743200" y="11277600"/>
            <a:ext cx="9029700" cy="1206500"/>
          </a:xfrm>
          <a:prstGeom prst="rect">
            <a:avLst/>
          </a:prstGeom>
        </p:spPr>
      </p:pic>
      <p:sp>
        <p:nvSpPr>
          <p:cNvPr id="23" name="TextBox 14">
            <a:extLst>
              <a:ext uri="{FF2B5EF4-FFF2-40B4-BE49-F238E27FC236}">
                <a16:creationId xmlns:a16="http://schemas.microsoft.com/office/drawing/2014/main" id="{725D4375-F228-9023-6593-9C4C5D4B10CD}"/>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4" name="TextBox 14">
            <a:extLst>
              <a:ext uri="{FF2B5EF4-FFF2-40B4-BE49-F238E27FC236}">
                <a16:creationId xmlns:a16="http://schemas.microsoft.com/office/drawing/2014/main" id="{3F1A83BD-8C16-76A1-FC58-BAFB4B355741}"/>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5" name="Picture 2">
            <a:extLst>
              <a:ext uri="{FF2B5EF4-FFF2-40B4-BE49-F238E27FC236}">
                <a16:creationId xmlns:a16="http://schemas.microsoft.com/office/drawing/2014/main" id="{54A640D6-1BC4-B03E-14AE-77D48A10FC2B}"/>
              </a:ext>
            </a:extLst>
          </p:cNvPr>
          <p:cNvPicPr>
            <a:picLocks noChangeAspect="1"/>
          </p:cNvPicPr>
          <p:nvPr/>
        </p:nvPicPr>
        <p:blipFill>
          <a:blip r:embed="rId8">
            <a:alphaModFix amt="85000"/>
          </a:blip>
          <a:stretch>
            <a:fillRect/>
          </a:stretch>
        </p:blipFill>
        <p:spPr>
          <a:xfrm>
            <a:off x="11201400" y="558800"/>
            <a:ext cx="2705100" cy="444500"/>
          </a:xfrm>
          <a:prstGeom prst="rect">
            <a:avLst/>
          </a:prstGeom>
        </p:spPr>
      </p:pic>
      <p:sp>
        <p:nvSpPr>
          <p:cNvPr id="26" name="TextBox 16">
            <a:extLst>
              <a:ext uri="{FF2B5EF4-FFF2-40B4-BE49-F238E27FC236}">
                <a16:creationId xmlns:a16="http://schemas.microsoft.com/office/drawing/2014/main" id="{7231DE3D-B979-DCF8-FA43-A6399F2BEC43}"/>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7" name="TextBox 18">
            <a:extLst>
              <a:ext uri="{FF2B5EF4-FFF2-40B4-BE49-F238E27FC236}">
                <a16:creationId xmlns:a16="http://schemas.microsoft.com/office/drawing/2014/main" id="{7592CFD1-ABDC-9B94-FCA5-BDF6074EDE44}"/>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28" name="TextBox 19">
            <a:extLst>
              <a:ext uri="{FF2B5EF4-FFF2-40B4-BE49-F238E27FC236}">
                <a16:creationId xmlns:a16="http://schemas.microsoft.com/office/drawing/2014/main" id="{FEF6740A-1048-275B-8BC8-7261E6ED7F0E}"/>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29" name="TextBox 20">
            <a:extLst>
              <a:ext uri="{FF2B5EF4-FFF2-40B4-BE49-F238E27FC236}">
                <a16:creationId xmlns:a16="http://schemas.microsoft.com/office/drawing/2014/main" id="{5F914655-2B95-D4D7-CC3D-D9286328C2C1}"/>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10" name="Picture 10"/>
          <p:cNvPicPr>
            <a:picLocks noChangeAspect="1"/>
          </p:cNvPicPr>
          <p:nvPr/>
        </p:nvPicPr>
        <p:blipFill>
          <a:blip r:embed="rId5"/>
          <a:stretch>
            <a:fillRect/>
          </a:stretch>
        </p:blipFill>
        <p:spPr>
          <a:xfrm>
            <a:off x="1485900" y="1612900"/>
            <a:ext cx="88900" cy="850900"/>
          </a:xfrm>
          <a:prstGeom prst="rect">
            <a:avLst/>
          </a:prstGeom>
        </p:spPr>
      </p:pic>
      <p:sp>
        <p:nvSpPr>
          <p:cNvPr id="11" name="TextBox 11"/>
          <p:cNvSpPr txBox="1"/>
          <p:nvPr/>
        </p:nvSpPr>
        <p:spPr>
          <a:xfrm>
            <a:off x="1943100" y="1409700"/>
            <a:ext cx="13423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협력사망 경유를 통한 공급망 연쇄 침투</a:t>
            </a:r>
          </a:p>
        </p:txBody>
      </p:sp>
      <p:sp>
        <p:nvSpPr>
          <p:cNvPr id="12" name="TextBox 12"/>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53</a:t>
            </a:r>
          </a:p>
        </p:txBody>
      </p:sp>
      <p:sp>
        <p:nvSpPr>
          <p:cNvPr id="13" name="TextBox 13"/>
          <p:cNvSpPr txBox="1"/>
          <p:nvPr/>
        </p:nvSpPr>
        <p:spPr>
          <a:xfrm>
            <a:off x="2120900" y="2971800"/>
            <a:ext cx="21082000" cy="571500"/>
          </a:xfrm>
          <a:prstGeom prst="rect">
            <a:avLst/>
          </a:prstGeom>
        </p:spPr>
        <p:txBody>
          <a:bodyPr lIns="0" tIns="0" rIns="0" bIns="0" rtlCol="0" anchor="t"/>
          <a:lstStyle/>
          <a:p>
            <a:pPr lvl="0" algn="l">
              <a:lnSpc>
                <a:spcPct val="116199"/>
              </a:lnSpc>
            </a:pPr>
            <a:r>
              <a:rPr lang="en-US" sz="3200" b="0" i="0" u="none" strike="noStrike">
                <a:solidFill>
                  <a:srgbClr val="000000"/>
                </a:solidFill>
                <a:latin typeface="Pretendard Medium"/>
                <a:ea typeface="Pretendard Medium"/>
                <a:cs typeface="Pretendard Medium"/>
              </a:rPr>
              <a:t>18.  Zimbra (CVE-2025-66376) 및 크롬 취약점(CVE-2025-2783, 2024-2887)를 사용 개발자 PC로의 PC 메일을 발송</a:t>
            </a:r>
          </a:p>
        </p:txBody>
      </p:sp>
      <p:pic>
        <p:nvPicPr>
          <p:cNvPr id="20" name="Picture 20"/>
          <p:cNvPicPr>
            <a:picLocks noChangeAspect="1"/>
          </p:cNvPicPr>
          <p:nvPr/>
        </p:nvPicPr>
        <p:blipFill>
          <a:blip r:embed="rId6"/>
          <a:stretch>
            <a:fillRect/>
          </a:stretch>
        </p:blipFill>
        <p:spPr>
          <a:xfrm>
            <a:off x="1447800" y="4203700"/>
            <a:ext cx="21399500" cy="7937500"/>
          </a:xfrm>
          <a:prstGeom prst="rect">
            <a:avLst/>
          </a:prstGeom>
        </p:spPr>
      </p:pic>
      <p:sp>
        <p:nvSpPr>
          <p:cNvPr id="21" name="TextBox 14">
            <a:extLst>
              <a:ext uri="{FF2B5EF4-FFF2-40B4-BE49-F238E27FC236}">
                <a16:creationId xmlns:a16="http://schemas.microsoft.com/office/drawing/2014/main" id="{2A1C307F-9BC2-5002-5CB7-9BB4EA19965B}"/>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2" name="TextBox 14">
            <a:extLst>
              <a:ext uri="{FF2B5EF4-FFF2-40B4-BE49-F238E27FC236}">
                <a16:creationId xmlns:a16="http://schemas.microsoft.com/office/drawing/2014/main" id="{DB6FD8F2-7844-D341-9EF8-AFEF2EB000C5}"/>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3" name="Picture 2">
            <a:extLst>
              <a:ext uri="{FF2B5EF4-FFF2-40B4-BE49-F238E27FC236}">
                <a16:creationId xmlns:a16="http://schemas.microsoft.com/office/drawing/2014/main" id="{57A8D893-AABC-7487-DDCE-833A06CEB58E}"/>
              </a:ext>
            </a:extLst>
          </p:cNvPr>
          <p:cNvPicPr>
            <a:picLocks noChangeAspect="1"/>
          </p:cNvPicPr>
          <p:nvPr/>
        </p:nvPicPr>
        <p:blipFill>
          <a:blip r:embed="rId7">
            <a:alphaModFix amt="85000"/>
          </a:blip>
          <a:stretch>
            <a:fillRect/>
          </a:stretch>
        </p:blipFill>
        <p:spPr>
          <a:xfrm>
            <a:off x="11201400" y="558800"/>
            <a:ext cx="2705100" cy="444500"/>
          </a:xfrm>
          <a:prstGeom prst="rect">
            <a:avLst/>
          </a:prstGeom>
        </p:spPr>
      </p:pic>
      <p:sp>
        <p:nvSpPr>
          <p:cNvPr id="24" name="TextBox 16">
            <a:extLst>
              <a:ext uri="{FF2B5EF4-FFF2-40B4-BE49-F238E27FC236}">
                <a16:creationId xmlns:a16="http://schemas.microsoft.com/office/drawing/2014/main" id="{E5C9A360-0216-8EF8-D2EA-AC3FE8263768}"/>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5" name="TextBox 18">
            <a:extLst>
              <a:ext uri="{FF2B5EF4-FFF2-40B4-BE49-F238E27FC236}">
                <a16:creationId xmlns:a16="http://schemas.microsoft.com/office/drawing/2014/main" id="{A7C449FF-86BF-96E0-00DF-B8351D289241}"/>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26" name="TextBox 19">
            <a:extLst>
              <a:ext uri="{FF2B5EF4-FFF2-40B4-BE49-F238E27FC236}">
                <a16:creationId xmlns:a16="http://schemas.microsoft.com/office/drawing/2014/main" id="{F7C382FE-8B0B-138E-AD26-D30A84E5CB9D}"/>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27" name="TextBox 20">
            <a:extLst>
              <a:ext uri="{FF2B5EF4-FFF2-40B4-BE49-F238E27FC236}">
                <a16:creationId xmlns:a16="http://schemas.microsoft.com/office/drawing/2014/main" id="{F2373E60-3F2D-E243-566A-FC8E08957299}"/>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10" name="Picture 10"/>
          <p:cNvPicPr>
            <a:picLocks noChangeAspect="1"/>
          </p:cNvPicPr>
          <p:nvPr/>
        </p:nvPicPr>
        <p:blipFill>
          <a:blip r:embed="rId5"/>
          <a:stretch>
            <a:fillRect/>
          </a:stretch>
        </p:blipFill>
        <p:spPr>
          <a:xfrm>
            <a:off x="1485900" y="1612900"/>
            <a:ext cx="88900" cy="850900"/>
          </a:xfrm>
          <a:prstGeom prst="rect">
            <a:avLst/>
          </a:prstGeom>
        </p:spPr>
      </p:pic>
      <p:sp>
        <p:nvSpPr>
          <p:cNvPr id="11" name="TextBox 11"/>
          <p:cNvSpPr txBox="1"/>
          <p:nvPr/>
        </p:nvSpPr>
        <p:spPr>
          <a:xfrm>
            <a:off x="1943100" y="1409700"/>
            <a:ext cx="13423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협력사망 경유를 통한 공급망 연쇄 침투</a:t>
            </a:r>
          </a:p>
        </p:txBody>
      </p:sp>
      <p:sp>
        <p:nvSpPr>
          <p:cNvPr id="12" name="TextBox 12"/>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54</a:t>
            </a:r>
          </a:p>
        </p:txBody>
      </p:sp>
      <p:sp>
        <p:nvSpPr>
          <p:cNvPr id="13" name="TextBox 13"/>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19. 개발자 PC의 쉘을 획득 후 개발자가 가지고 있는 개발 자격증명을 탈취</a:t>
            </a:r>
          </a:p>
        </p:txBody>
      </p:sp>
      <p:pic>
        <p:nvPicPr>
          <p:cNvPr id="20" name="Picture 20"/>
          <p:cNvPicPr>
            <a:picLocks noChangeAspect="1"/>
          </p:cNvPicPr>
          <p:nvPr/>
        </p:nvPicPr>
        <p:blipFill>
          <a:blip r:embed="rId6"/>
          <a:stretch>
            <a:fillRect/>
          </a:stretch>
        </p:blipFill>
        <p:spPr>
          <a:xfrm>
            <a:off x="2120900" y="3873500"/>
            <a:ext cx="11976100" cy="7988300"/>
          </a:xfrm>
          <a:prstGeom prst="rect">
            <a:avLst/>
          </a:prstGeom>
        </p:spPr>
      </p:pic>
      <p:sp>
        <p:nvSpPr>
          <p:cNvPr id="21" name="TextBox 21"/>
          <p:cNvSpPr txBox="1"/>
          <p:nvPr/>
        </p:nvSpPr>
        <p:spPr>
          <a:xfrm>
            <a:off x="14617700" y="3873500"/>
            <a:ext cx="9080500" cy="59944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내부 스피어 피싱을 통해 최종 타겟인 개발자 PC 침투에 성공한 직후, 시스템 내부의 중요 정보를 수집하는 포스트 익스플로잇 단계임.</a:t>
            </a:r>
          </a:p>
          <a:p>
            <a:pPr lvl="0" algn="l">
              <a:lnSpc>
                <a:spcPct val="116199"/>
              </a:lnSpc>
            </a:pPr>
            <a:endParaRPr lang="en-US" sz="3066" b="0" i="0" u="none" strike="noStrike">
              <a:solidFill>
                <a:srgbClr val="000000"/>
              </a:solidFill>
              <a:latin typeface="Pretendard Medium"/>
              <a:ea typeface="Pretendard Medium"/>
              <a:cs typeface="Pretendard Medium"/>
            </a:endParaRPr>
          </a:p>
          <a:p>
            <a:pPr lvl="0" algn="l">
              <a:lnSpc>
                <a:spcPct val="116199"/>
              </a:lnSpc>
            </a:pPr>
            <a:r>
              <a:rPr lang="en-US" sz="3066" b="0" i="0" u="none" strike="noStrike">
                <a:solidFill>
                  <a:srgbClr val="000000"/>
                </a:solidFill>
                <a:latin typeface="Pretendard Medium"/>
                <a:ea typeface="Pretendard Medium"/>
                <a:cs typeface="Pretendard Medium"/>
              </a:rPr>
              <a:t>개발자가 인증 편의를 위해 로컬에 남겨둔 .git-credentials와 .netrc 파일을 열람하여, 사내 GitLab 서버에 접근할 수 있는 마스터키인 인증 토큰(glpat)과 패스워드를 평문으로 탈취함.</a:t>
            </a:r>
          </a:p>
          <a:p>
            <a:pPr lvl="0" algn="l">
              <a:lnSpc>
                <a:spcPct val="116199"/>
              </a:lnSpc>
            </a:pPr>
            <a:endParaRPr lang="en-US" sz="3066" b="0" i="0" u="none" strike="noStrike">
              <a:solidFill>
                <a:srgbClr val="000000"/>
              </a:solidFill>
              <a:latin typeface="Pretendard Medium"/>
              <a:ea typeface="Pretendard Medium"/>
              <a:cs typeface="Pretendard Medium"/>
            </a:endParaRPr>
          </a:p>
          <a:p>
            <a:pPr lvl="0" algn="l">
              <a:lnSpc>
                <a:spcPct val="116199"/>
              </a:lnSpc>
            </a:pPr>
            <a:r>
              <a:rPr lang="en-US" sz="3066" b="0" i="0" u="none" strike="noStrike">
                <a:solidFill>
                  <a:srgbClr val="000000"/>
                </a:solidFill>
                <a:latin typeface="Pretendard Medium"/>
                <a:ea typeface="Pretendard Medium"/>
                <a:cs typeface="Pretendard Medium"/>
              </a:rPr>
              <a:t>이로써 공격자는 Shell Bank의 가장 핵심 자산인 금융 서비스 소스코드에 마음대로 접근하고 변조할 수 있게 됨.</a:t>
            </a:r>
          </a:p>
        </p:txBody>
      </p:sp>
      <p:pic>
        <p:nvPicPr>
          <p:cNvPr id="22" name="Picture 22"/>
          <p:cNvPicPr>
            <a:picLocks noChangeAspect="1"/>
          </p:cNvPicPr>
          <p:nvPr/>
        </p:nvPicPr>
        <p:blipFill>
          <a:blip r:embed="rId7"/>
          <a:stretch>
            <a:fillRect/>
          </a:stretch>
        </p:blipFill>
        <p:spPr>
          <a:xfrm>
            <a:off x="3632200" y="5207000"/>
            <a:ext cx="3009900" cy="457200"/>
          </a:xfrm>
          <a:prstGeom prst="rect">
            <a:avLst/>
          </a:prstGeom>
        </p:spPr>
      </p:pic>
      <p:pic>
        <p:nvPicPr>
          <p:cNvPr id="23" name="Picture 23"/>
          <p:cNvPicPr>
            <a:picLocks noChangeAspect="1"/>
          </p:cNvPicPr>
          <p:nvPr/>
        </p:nvPicPr>
        <p:blipFill>
          <a:blip r:embed="rId8"/>
          <a:stretch>
            <a:fillRect/>
          </a:stretch>
        </p:blipFill>
        <p:spPr>
          <a:xfrm>
            <a:off x="2260600" y="7734300"/>
            <a:ext cx="11506200" cy="838200"/>
          </a:xfrm>
          <a:prstGeom prst="rect">
            <a:avLst/>
          </a:prstGeom>
        </p:spPr>
      </p:pic>
      <p:pic>
        <p:nvPicPr>
          <p:cNvPr id="24" name="Picture 24"/>
          <p:cNvPicPr>
            <a:picLocks noChangeAspect="1"/>
          </p:cNvPicPr>
          <p:nvPr/>
        </p:nvPicPr>
        <p:blipFill>
          <a:blip r:embed="rId9"/>
          <a:stretch>
            <a:fillRect/>
          </a:stretch>
        </p:blipFill>
        <p:spPr>
          <a:xfrm>
            <a:off x="2260600" y="10236200"/>
            <a:ext cx="3302000" cy="520700"/>
          </a:xfrm>
          <a:prstGeom prst="rect">
            <a:avLst/>
          </a:prstGeom>
        </p:spPr>
      </p:pic>
      <p:sp>
        <p:nvSpPr>
          <p:cNvPr id="25" name="TextBox 14">
            <a:extLst>
              <a:ext uri="{FF2B5EF4-FFF2-40B4-BE49-F238E27FC236}">
                <a16:creationId xmlns:a16="http://schemas.microsoft.com/office/drawing/2014/main" id="{DB546E55-D667-ACED-EE89-93C190CAB8A4}"/>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6" name="TextBox 14">
            <a:extLst>
              <a:ext uri="{FF2B5EF4-FFF2-40B4-BE49-F238E27FC236}">
                <a16:creationId xmlns:a16="http://schemas.microsoft.com/office/drawing/2014/main" id="{03B45C03-C949-CA15-BAD9-BE675F8672A5}"/>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7" name="Picture 2">
            <a:extLst>
              <a:ext uri="{FF2B5EF4-FFF2-40B4-BE49-F238E27FC236}">
                <a16:creationId xmlns:a16="http://schemas.microsoft.com/office/drawing/2014/main" id="{EA747339-2D10-80BB-3695-A2AFC5ACB1D8}"/>
              </a:ext>
            </a:extLst>
          </p:cNvPr>
          <p:cNvPicPr>
            <a:picLocks noChangeAspect="1"/>
          </p:cNvPicPr>
          <p:nvPr/>
        </p:nvPicPr>
        <p:blipFill>
          <a:blip r:embed="rId10">
            <a:alphaModFix amt="85000"/>
          </a:blip>
          <a:stretch>
            <a:fillRect/>
          </a:stretch>
        </p:blipFill>
        <p:spPr>
          <a:xfrm>
            <a:off x="11201400" y="558800"/>
            <a:ext cx="2705100" cy="444500"/>
          </a:xfrm>
          <a:prstGeom prst="rect">
            <a:avLst/>
          </a:prstGeom>
        </p:spPr>
      </p:pic>
      <p:sp>
        <p:nvSpPr>
          <p:cNvPr id="28" name="TextBox 16">
            <a:extLst>
              <a:ext uri="{FF2B5EF4-FFF2-40B4-BE49-F238E27FC236}">
                <a16:creationId xmlns:a16="http://schemas.microsoft.com/office/drawing/2014/main" id="{B4122D07-C711-DD76-5DF0-50A7606A11C8}"/>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9" name="TextBox 18">
            <a:extLst>
              <a:ext uri="{FF2B5EF4-FFF2-40B4-BE49-F238E27FC236}">
                <a16:creationId xmlns:a16="http://schemas.microsoft.com/office/drawing/2014/main" id="{DD29EBCC-7426-B302-2977-A59509E7A900}"/>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30" name="TextBox 19">
            <a:extLst>
              <a:ext uri="{FF2B5EF4-FFF2-40B4-BE49-F238E27FC236}">
                <a16:creationId xmlns:a16="http://schemas.microsoft.com/office/drawing/2014/main" id="{AEBFDE21-28DE-5F93-40AF-F4AA9C2FEFF8}"/>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31" name="TextBox 20">
            <a:extLst>
              <a:ext uri="{FF2B5EF4-FFF2-40B4-BE49-F238E27FC236}">
                <a16:creationId xmlns:a16="http://schemas.microsoft.com/office/drawing/2014/main" id="{55E1ABD0-A16E-38A8-4EC9-3AD4057C2929}"/>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3" name="Picture 3"/>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9" name="Picture 12">
            <a:extLst>
              <a:ext uri="{FF2B5EF4-FFF2-40B4-BE49-F238E27FC236}">
                <a16:creationId xmlns:a16="http://schemas.microsoft.com/office/drawing/2014/main" id="{29A9E1BC-705F-7DF2-71BA-ECFA0070C00A}"/>
              </a:ext>
            </a:extLst>
          </p:cNvPr>
          <p:cNvPicPr>
            <a:picLocks noChangeAspect="1"/>
          </p:cNvPicPr>
          <p:nvPr/>
        </p:nvPicPr>
        <p:blipFill>
          <a:blip r:embed="rId3"/>
          <a:stretch>
            <a:fillRect/>
          </a:stretch>
        </p:blipFill>
        <p:spPr>
          <a:xfrm>
            <a:off x="3759200" y="3340100"/>
            <a:ext cx="15963900" cy="3517900"/>
          </a:xfrm>
          <a:prstGeom prst="rect">
            <a:avLst/>
          </a:prstGeom>
          <a:effectLst>
            <a:outerShdw blurRad="193432" dist="81160" dir="2700000">
              <a:srgbClr val="000000">
                <a:alpha val="23000"/>
              </a:srgbClr>
            </a:outerShdw>
          </a:effectLst>
        </p:spPr>
      </p:pic>
      <p:pic>
        <p:nvPicPr>
          <p:cNvPr id="4" name="Picture 4"/>
          <p:cNvPicPr>
            <a:picLocks noChangeAspect="1"/>
          </p:cNvPicPr>
          <p:nvPr/>
        </p:nvPicPr>
        <p:blipFill>
          <a:blip r:embed="rId4"/>
          <a:stretch>
            <a:fillRect/>
          </a:stretch>
        </p:blipFill>
        <p:spPr>
          <a:xfrm>
            <a:off x="762000" y="1092200"/>
            <a:ext cx="22860000" cy="12700"/>
          </a:xfrm>
          <a:prstGeom prst="rect">
            <a:avLst/>
          </a:prstGeom>
        </p:spPr>
      </p:pic>
      <p:pic>
        <p:nvPicPr>
          <p:cNvPr id="5" name="Picture 5"/>
          <p:cNvPicPr>
            <a:picLocks noChangeAspect="1"/>
          </p:cNvPicPr>
          <p:nvPr/>
        </p:nvPicPr>
        <p:blipFill>
          <a:blip r:embed="rId5"/>
          <a:stretch>
            <a:fillRect/>
          </a:stretch>
        </p:blipFill>
        <p:spPr>
          <a:xfrm rot="5400000">
            <a:off x="3200400" y="787400"/>
            <a:ext cx="635000" cy="12700"/>
          </a:xfrm>
          <a:prstGeom prst="rect">
            <a:avLst/>
          </a:prstGeom>
        </p:spPr>
      </p:pic>
      <p:pic>
        <p:nvPicPr>
          <p:cNvPr id="6" name="Picture 6"/>
          <p:cNvPicPr>
            <a:picLocks noChangeAspect="1"/>
          </p:cNvPicPr>
          <p:nvPr/>
        </p:nvPicPr>
        <p:blipFill>
          <a:blip r:embed="rId5"/>
          <a:stretch>
            <a:fillRect/>
          </a:stretch>
        </p:blipFill>
        <p:spPr>
          <a:xfrm rot="5400000">
            <a:off x="22225000" y="787400"/>
            <a:ext cx="635000" cy="12700"/>
          </a:xfrm>
          <a:prstGeom prst="rect">
            <a:avLst/>
          </a:prstGeom>
        </p:spPr>
      </p:pic>
      <p:pic>
        <p:nvPicPr>
          <p:cNvPr id="7" name="Picture 7"/>
          <p:cNvPicPr>
            <a:picLocks noChangeAspect="1"/>
          </p:cNvPicPr>
          <p:nvPr/>
        </p:nvPicPr>
        <p:blipFill>
          <a:blip r:embed="rId5"/>
          <a:stretch>
            <a:fillRect/>
          </a:stretch>
        </p:blipFill>
        <p:spPr>
          <a:xfrm rot="5400000">
            <a:off x="6337300" y="787400"/>
            <a:ext cx="635000" cy="12700"/>
          </a:xfrm>
          <a:prstGeom prst="rect">
            <a:avLst/>
          </a:prstGeom>
        </p:spPr>
      </p:pic>
      <p:pic>
        <p:nvPicPr>
          <p:cNvPr id="8" name="Picture 8"/>
          <p:cNvPicPr>
            <a:picLocks noChangeAspect="1"/>
          </p:cNvPicPr>
          <p:nvPr/>
        </p:nvPicPr>
        <p:blipFill>
          <a:blip r:embed="rId4"/>
          <a:stretch>
            <a:fillRect/>
          </a:stretch>
        </p:blipFill>
        <p:spPr>
          <a:xfrm>
            <a:off x="723900" y="457200"/>
            <a:ext cx="22860000" cy="12700"/>
          </a:xfrm>
          <a:prstGeom prst="rect">
            <a:avLst/>
          </a:prstGeom>
        </p:spPr>
      </p:pic>
      <p:pic>
        <p:nvPicPr>
          <p:cNvPr id="11" name="Picture 11"/>
          <p:cNvPicPr>
            <a:picLocks noChangeAspect="1"/>
          </p:cNvPicPr>
          <p:nvPr/>
        </p:nvPicPr>
        <p:blipFill>
          <a:blip r:embed="rId6"/>
          <a:stretch>
            <a:fillRect/>
          </a:stretch>
        </p:blipFill>
        <p:spPr>
          <a:xfrm>
            <a:off x="1485900" y="1612900"/>
            <a:ext cx="88900" cy="850900"/>
          </a:xfrm>
          <a:prstGeom prst="rect">
            <a:avLst/>
          </a:prstGeom>
        </p:spPr>
      </p:pic>
      <p:sp>
        <p:nvSpPr>
          <p:cNvPr id="12" name="TextBox 12"/>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55</a:t>
            </a:r>
          </a:p>
        </p:txBody>
      </p:sp>
      <p:sp>
        <p:nvSpPr>
          <p:cNvPr id="19" name="TextBox 19"/>
          <p:cNvSpPr txBox="1"/>
          <p:nvPr/>
        </p:nvSpPr>
        <p:spPr>
          <a:xfrm>
            <a:off x="5035550" y="3676650"/>
            <a:ext cx="3098800" cy="711200"/>
          </a:xfrm>
          <a:prstGeom prst="rect">
            <a:avLst/>
          </a:prstGeom>
        </p:spPr>
        <p:txBody>
          <a:bodyPr lIns="0" tIns="0" rIns="0" bIns="0" rtlCol="0" anchor="t"/>
          <a:lstStyle/>
          <a:p>
            <a:pPr lvl="0" algn="l">
              <a:lnSpc>
                <a:spcPct val="116199"/>
              </a:lnSpc>
            </a:pPr>
            <a:r>
              <a:rPr lang="en-US" sz="4000" b="0" i="0" u="none" strike="noStrike" dirty="0" err="1">
                <a:solidFill>
                  <a:srgbClr val="000000"/>
                </a:solidFill>
                <a:latin typeface="Pretendard Medium"/>
                <a:ea typeface="Pretendard Medium"/>
                <a:cs typeface="Pretendard Medium"/>
              </a:rPr>
              <a:t>시나리오</a:t>
            </a:r>
            <a:r>
              <a:rPr lang="en-US" sz="4000" b="0" i="0" u="none" strike="noStrike" dirty="0">
                <a:solidFill>
                  <a:srgbClr val="000000"/>
                </a:solidFill>
                <a:latin typeface="Pretendard Medium"/>
                <a:ea typeface="Pretendard Medium"/>
                <a:cs typeface="Pretendard Medium"/>
              </a:rPr>
              <a:t> </a:t>
            </a:r>
            <a:r>
              <a:rPr lang="en-US" sz="4000" b="0" i="0" u="none" strike="noStrike" dirty="0" err="1">
                <a:solidFill>
                  <a:srgbClr val="000000"/>
                </a:solidFill>
                <a:latin typeface="Pretendard Medium"/>
                <a:ea typeface="Pretendard Medium"/>
                <a:cs typeface="Pretendard Medium"/>
              </a:rPr>
              <a:t>요약</a:t>
            </a:r>
            <a:endParaRPr lang="en-US" sz="4000" b="0" i="0" u="none" strike="noStrike" dirty="0">
              <a:solidFill>
                <a:srgbClr val="000000"/>
              </a:solidFill>
              <a:latin typeface="Pretendard Medium"/>
              <a:ea typeface="Pretendard Medium"/>
              <a:cs typeface="Pretendard Medium"/>
            </a:endParaRPr>
          </a:p>
        </p:txBody>
      </p:sp>
      <p:sp>
        <p:nvSpPr>
          <p:cNvPr id="20" name="TextBox 20"/>
          <p:cNvSpPr txBox="1"/>
          <p:nvPr/>
        </p:nvSpPr>
        <p:spPr>
          <a:xfrm>
            <a:off x="5054600" y="4413250"/>
            <a:ext cx="14503400" cy="2082800"/>
          </a:xfrm>
          <a:prstGeom prst="rect">
            <a:avLst/>
          </a:prstGeom>
        </p:spPr>
        <p:txBody>
          <a:bodyPr lIns="0" tIns="0" rIns="0" bIns="0" rtlCol="0" anchor="t"/>
          <a:lstStyle/>
          <a:p>
            <a:pPr lvl="0" algn="l">
              <a:lnSpc>
                <a:spcPct val="116199"/>
              </a:lnSpc>
            </a:pPr>
            <a:r>
              <a:rPr lang="en-US" sz="3066" b="0" i="0" u="none" strike="noStrike" dirty="0" err="1">
                <a:solidFill>
                  <a:srgbClr val="000000"/>
                </a:solidFill>
                <a:latin typeface="Pretendard Medium"/>
                <a:ea typeface="Pretendard Medium"/>
                <a:cs typeface="Pretendard Medium"/>
              </a:rPr>
              <a:t>파일</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업로드</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취약점을</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통해</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서버</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초기</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침투</a:t>
            </a:r>
            <a:r>
              <a:rPr lang="en-US" sz="3066" b="0" i="0" u="none" strike="noStrike" dirty="0">
                <a:solidFill>
                  <a:srgbClr val="000000"/>
                </a:solidFill>
                <a:latin typeface="Pretendard Medium"/>
                <a:ea typeface="Pretendard Medium"/>
                <a:cs typeface="Pretendard Medium"/>
              </a:rPr>
              <a:t> 후, </a:t>
            </a:r>
            <a:r>
              <a:rPr lang="en-US" sz="3066" b="0" i="0" u="none" strike="noStrike" dirty="0" err="1">
                <a:solidFill>
                  <a:srgbClr val="000000"/>
                </a:solidFill>
                <a:latin typeface="Pretendard Medium"/>
                <a:ea typeface="Pretendard Medium"/>
                <a:cs typeface="Pretendard Medium"/>
              </a:rPr>
              <a:t>내부망</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이동</a:t>
            </a:r>
            <a:r>
              <a:rPr lang="en-US" sz="3066" b="0" i="0" u="none" strike="noStrike" dirty="0">
                <a:solidFill>
                  <a:srgbClr val="000000"/>
                </a:solidFill>
                <a:latin typeface="Pretendard Medium"/>
                <a:ea typeface="Pretendard Medium"/>
                <a:cs typeface="Pretendard Medium"/>
              </a:rPr>
              <a:t> 및 n8n </a:t>
            </a:r>
            <a:r>
              <a:rPr lang="en-US" sz="3066" b="0" i="0" u="none" strike="noStrike" dirty="0" err="1">
                <a:solidFill>
                  <a:srgbClr val="000000"/>
                </a:solidFill>
                <a:latin typeface="Pretendard Medium"/>
                <a:ea typeface="Pretendard Medium"/>
                <a:cs typeface="Pretendard Medium"/>
              </a:rPr>
              <a:t>취약점</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악용으로</a:t>
            </a:r>
            <a:r>
              <a:rPr lang="en-US" sz="3066" b="0" i="0" u="none" strike="noStrike" dirty="0">
                <a:solidFill>
                  <a:srgbClr val="000000"/>
                </a:solidFill>
                <a:latin typeface="Pretendard Medium"/>
                <a:ea typeface="Pretendard Medium"/>
                <a:cs typeface="Pretendard Medium"/>
              </a:rPr>
              <a:t> FDS를 </a:t>
            </a:r>
            <a:r>
              <a:rPr lang="en-US" sz="3066" b="0" i="0" u="none" strike="noStrike" dirty="0" err="1">
                <a:solidFill>
                  <a:srgbClr val="000000"/>
                </a:solidFill>
                <a:latin typeface="Pretendard Medium"/>
                <a:ea typeface="Pretendard Medium"/>
                <a:cs typeface="Pretendard Medium"/>
              </a:rPr>
              <a:t>무력화하고</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핵심</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인프라를</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장악</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이후</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고객센터</a:t>
            </a:r>
            <a:r>
              <a:rPr lang="en-US" sz="3066" b="0" i="0" u="none" strike="noStrike" dirty="0">
                <a:solidFill>
                  <a:srgbClr val="000000"/>
                </a:solidFill>
                <a:latin typeface="Pretendard Medium"/>
                <a:ea typeface="Pretendard Medium"/>
                <a:cs typeface="Pretendard Medium"/>
              </a:rPr>
              <a:t> XSS와 </a:t>
            </a:r>
            <a:r>
              <a:rPr lang="en-US" sz="3066" b="0" i="0" u="none" strike="noStrike" dirty="0" err="1">
                <a:solidFill>
                  <a:srgbClr val="000000"/>
                </a:solidFill>
                <a:latin typeface="Pretendard Medium"/>
                <a:ea typeface="Pretendard Medium"/>
                <a:cs typeface="Pretendard Medium"/>
              </a:rPr>
              <a:t>음성</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데이터</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분석을</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통해</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계좌</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비밀번호를</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탈취하고</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딥보이스</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기반</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자동화</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피싱으로</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실제</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자금</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탈취까지</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이어지는</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공격</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시나리오</a:t>
            </a:r>
            <a:endParaRPr lang="en-US" sz="3066" b="0" i="0" u="none" strike="noStrike" dirty="0">
              <a:solidFill>
                <a:srgbClr val="000000"/>
              </a:solidFill>
              <a:latin typeface="Pretendard Medium"/>
              <a:ea typeface="Pretendard Medium"/>
              <a:cs typeface="Pretendard Medium"/>
            </a:endParaRPr>
          </a:p>
        </p:txBody>
      </p:sp>
      <p:pic>
        <p:nvPicPr>
          <p:cNvPr id="21" name="Picture 21"/>
          <p:cNvPicPr>
            <a:picLocks noChangeAspect="1"/>
          </p:cNvPicPr>
          <p:nvPr/>
        </p:nvPicPr>
        <p:blipFill>
          <a:blip r:embed="rId7">
            <a:alphaModFix amt="70000"/>
          </a:blip>
          <a:stretch>
            <a:fillRect/>
          </a:stretch>
        </p:blipFill>
        <p:spPr>
          <a:xfrm rot="2400000">
            <a:off x="6477000" y="10172700"/>
            <a:ext cx="990600" cy="12700"/>
          </a:xfrm>
          <a:prstGeom prst="rect">
            <a:avLst/>
          </a:prstGeom>
        </p:spPr>
      </p:pic>
      <p:pic>
        <p:nvPicPr>
          <p:cNvPr id="22" name="Picture 22"/>
          <p:cNvPicPr>
            <a:picLocks noChangeAspect="1"/>
          </p:cNvPicPr>
          <p:nvPr/>
        </p:nvPicPr>
        <p:blipFill>
          <a:blip r:embed="rId8">
            <a:alphaModFix amt="70000"/>
          </a:blip>
          <a:stretch>
            <a:fillRect/>
          </a:stretch>
        </p:blipFill>
        <p:spPr>
          <a:xfrm rot="2400000">
            <a:off x="12827000" y="10172700"/>
            <a:ext cx="990600" cy="12700"/>
          </a:xfrm>
          <a:prstGeom prst="rect">
            <a:avLst/>
          </a:prstGeom>
        </p:spPr>
      </p:pic>
      <p:pic>
        <p:nvPicPr>
          <p:cNvPr id="23" name="Picture 23"/>
          <p:cNvPicPr>
            <a:picLocks noChangeAspect="1"/>
          </p:cNvPicPr>
          <p:nvPr/>
        </p:nvPicPr>
        <p:blipFill>
          <a:blip r:embed="rId9">
            <a:alphaModFix amt="70000"/>
          </a:blip>
          <a:stretch>
            <a:fillRect/>
          </a:stretch>
        </p:blipFill>
        <p:spPr>
          <a:xfrm rot="-2400000">
            <a:off x="16014700" y="10172700"/>
            <a:ext cx="990600" cy="12700"/>
          </a:xfrm>
          <a:prstGeom prst="rect">
            <a:avLst/>
          </a:prstGeom>
        </p:spPr>
      </p:pic>
      <p:pic>
        <p:nvPicPr>
          <p:cNvPr id="24" name="Picture 24"/>
          <p:cNvPicPr>
            <a:picLocks noChangeAspect="1"/>
          </p:cNvPicPr>
          <p:nvPr/>
        </p:nvPicPr>
        <p:blipFill>
          <a:blip r:embed="rId10">
            <a:alphaModFix amt="70000"/>
          </a:blip>
          <a:stretch>
            <a:fillRect/>
          </a:stretch>
        </p:blipFill>
        <p:spPr>
          <a:xfrm rot="-2400000">
            <a:off x="9652000" y="10172700"/>
            <a:ext cx="990600" cy="12700"/>
          </a:xfrm>
          <a:prstGeom prst="rect">
            <a:avLst/>
          </a:prstGeom>
        </p:spPr>
      </p:pic>
      <p:pic>
        <p:nvPicPr>
          <p:cNvPr id="25" name="Picture 25"/>
          <p:cNvPicPr>
            <a:picLocks noChangeAspect="1"/>
          </p:cNvPicPr>
          <p:nvPr/>
        </p:nvPicPr>
        <p:blipFill>
          <a:blip r:embed="rId11"/>
          <a:stretch>
            <a:fillRect/>
          </a:stretch>
        </p:blipFill>
        <p:spPr>
          <a:xfrm>
            <a:off x="3759200" y="7175500"/>
            <a:ext cx="3441700" cy="3441700"/>
          </a:xfrm>
          <a:prstGeom prst="rect">
            <a:avLst/>
          </a:prstGeom>
          <a:effectLst>
            <a:outerShdw blurRad="189472" dist="79499" dir="2700000">
              <a:srgbClr val="000000">
                <a:alpha val="23000"/>
              </a:srgbClr>
            </a:outerShdw>
          </a:effectLst>
        </p:spPr>
      </p:pic>
      <p:pic>
        <p:nvPicPr>
          <p:cNvPr id="26" name="Picture 26"/>
          <p:cNvPicPr>
            <a:picLocks noChangeAspect="1"/>
          </p:cNvPicPr>
          <p:nvPr/>
        </p:nvPicPr>
        <p:blipFill>
          <a:blip r:embed="rId12"/>
          <a:stretch>
            <a:fillRect/>
          </a:stretch>
        </p:blipFill>
        <p:spPr>
          <a:xfrm>
            <a:off x="5257800" y="7721600"/>
            <a:ext cx="444500" cy="444500"/>
          </a:xfrm>
          <a:prstGeom prst="rect">
            <a:avLst/>
          </a:prstGeom>
        </p:spPr>
      </p:pic>
      <p:sp>
        <p:nvSpPr>
          <p:cNvPr id="27" name="TextBox 27"/>
          <p:cNvSpPr txBox="1"/>
          <p:nvPr/>
        </p:nvSpPr>
        <p:spPr>
          <a:xfrm>
            <a:off x="5245100" y="7785100"/>
            <a:ext cx="457200" cy="317500"/>
          </a:xfrm>
          <a:prstGeom prst="rect">
            <a:avLst/>
          </a:prstGeom>
        </p:spPr>
        <p:txBody>
          <a:bodyPr lIns="0" tIns="0" rIns="0" bIns="0" rtlCol="0" anchor="t"/>
          <a:lstStyle/>
          <a:p>
            <a:pPr lvl="0" algn="ctr">
              <a:lnSpc>
                <a:spcPct val="116199"/>
              </a:lnSpc>
            </a:pPr>
            <a:r>
              <a:rPr lang="en-US" sz="1779" b="0" i="0" u="none" strike="noStrike">
                <a:solidFill>
                  <a:srgbClr val="FFFFFF"/>
                </a:solidFill>
                <a:latin typeface="Pretendard Medium"/>
                <a:ea typeface="Pretendard Medium"/>
                <a:cs typeface="Pretendard Medium"/>
              </a:rPr>
              <a:t>1</a:t>
            </a:r>
          </a:p>
        </p:txBody>
      </p:sp>
      <p:pic>
        <p:nvPicPr>
          <p:cNvPr id="28" name="Picture 28"/>
          <p:cNvPicPr>
            <a:picLocks noChangeAspect="1"/>
          </p:cNvPicPr>
          <p:nvPr/>
        </p:nvPicPr>
        <p:blipFill>
          <a:blip r:embed="rId13"/>
          <a:stretch>
            <a:fillRect/>
          </a:stretch>
        </p:blipFill>
        <p:spPr>
          <a:xfrm>
            <a:off x="6883400" y="9867900"/>
            <a:ext cx="3441700" cy="3441700"/>
          </a:xfrm>
          <a:prstGeom prst="rect">
            <a:avLst/>
          </a:prstGeom>
          <a:effectLst>
            <a:outerShdw blurRad="189472" dist="79499" dir="2700000">
              <a:srgbClr val="000000">
                <a:alpha val="23000"/>
              </a:srgbClr>
            </a:outerShdw>
          </a:effectLst>
        </p:spPr>
      </p:pic>
      <p:pic>
        <p:nvPicPr>
          <p:cNvPr id="29" name="Picture 29"/>
          <p:cNvPicPr>
            <a:picLocks noChangeAspect="1"/>
          </p:cNvPicPr>
          <p:nvPr/>
        </p:nvPicPr>
        <p:blipFill>
          <a:blip r:embed="rId14"/>
          <a:stretch>
            <a:fillRect/>
          </a:stretch>
        </p:blipFill>
        <p:spPr>
          <a:xfrm>
            <a:off x="8382000" y="10414000"/>
            <a:ext cx="444500" cy="444500"/>
          </a:xfrm>
          <a:prstGeom prst="rect">
            <a:avLst/>
          </a:prstGeom>
        </p:spPr>
      </p:pic>
      <p:sp>
        <p:nvSpPr>
          <p:cNvPr id="30" name="TextBox 30"/>
          <p:cNvSpPr txBox="1"/>
          <p:nvPr/>
        </p:nvSpPr>
        <p:spPr>
          <a:xfrm>
            <a:off x="8382000" y="10477500"/>
            <a:ext cx="457200" cy="317500"/>
          </a:xfrm>
          <a:prstGeom prst="rect">
            <a:avLst/>
          </a:prstGeom>
        </p:spPr>
        <p:txBody>
          <a:bodyPr lIns="0" tIns="0" rIns="0" bIns="0" rtlCol="0" anchor="t"/>
          <a:lstStyle/>
          <a:p>
            <a:pPr lvl="0" algn="ctr">
              <a:lnSpc>
                <a:spcPct val="116199"/>
              </a:lnSpc>
            </a:pPr>
            <a:r>
              <a:rPr lang="en-US" sz="1779" b="0" i="0" u="none" strike="noStrike">
                <a:solidFill>
                  <a:srgbClr val="1A7AE1"/>
                </a:solidFill>
                <a:latin typeface="Pretendard Medium"/>
                <a:ea typeface="Pretendard Medium"/>
                <a:cs typeface="Pretendard Medium"/>
              </a:rPr>
              <a:t>2</a:t>
            </a:r>
          </a:p>
        </p:txBody>
      </p:sp>
      <p:pic>
        <p:nvPicPr>
          <p:cNvPr id="31" name="Picture 31"/>
          <p:cNvPicPr>
            <a:picLocks noChangeAspect="1"/>
          </p:cNvPicPr>
          <p:nvPr/>
        </p:nvPicPr>
        <p:blipFill>
          <a:blip r:embed="rId15"/>
          <a:stretch>
            <a:fillRect/>
          </a:stretch>
        </p:blipFill>
        <p:spPr>
          <a:xfrm>
            <a:off x="10007600" y="7175500"/>
            <a:ext cx="3441700" cy="3441700"/>
          </a:xfrm>
          <a:prstGeom prst="rect">
            <a:avLst/>
          </a:prstGeom>
          <a:effectLst>
            <a:outerShdw blurRad="189472" dist="79499" dir="2700000">
              <a:srgbClr val="000000">
                <a:alpha val="23000"/>
              </a:srgbClr>
            </a:outerShdw>
          </a:effectLst>
        </p:spPr>
      </p:pic>
      <p:pic>
        <p:nvPicPr>
          <p:cNvPr id="32" name="Picture 32"/>
          <p:cNvPicPr>
            <a:picLocks noChangeAspect="1"/>
          </p:cNvPicPr>
          <p:nvPr/>
        </p:nvPicPr>
        <p:blipFill>
          <a:blip r:embed="rId16"/>
          <a:stretch>
            <a:fillRect/>
          </a:stretch>
        </p:blipFill>
        <p:spPr>
          <a:xfrm>
            <a:off x="11518900" y="7721600"/>
            <a:ext cx="444500" cy="444500"/>
          </a:xfrm>
          <a:prstGeom prst="rect">
            <a:avLst/>
          </a:prstGeom>
        </p:spPr>
      </p:pic>
      <p:sp>
        <p:nvSpPr>
          <p:cNvPr id="33" name="TextBox 33"/>
          <p:cNvSpPr txBox="1"/>
          <p:nvPr/>
        </p:nvSpPr>
        <p:spPr>
          <a:xfrm>
            <a:off x="11506200" y="7785100"/>
            <a:ext cx="457200" cy="317500"/>
          </a:xfrm>
          <a:prstGeom prst="rect">
            <a:avLst/>
          </a:prstGeom>
        </p:spPr>
        <p:txBody>
          <a:bodyPr lIns="0" tIns="0" rIns="0" bIns="0" rtlCol="0" anchor="t"/>
          <a:lstStyle/>
          <a:p>
            <a:pPr lvl="0" algn="ctr">
              <a:lnSpc>
                <a:spcPct val="116199"/>
              </a:lnSpc>
            </a:pPr>
            <a:r>
              <a:rPr lang="en-US" sz="1779" b="0" i="0" u="none" strike="noStrike">
                <a:solidFill>
                  <a:srgbClr val="FFFFFF"/>
                </a:solidFill>
                <a:latin typeface="Pretendard Medium"/>
                <a:ea typeface="Pretendard Medium"/>
                <a:cs typeface="Pretendard Medium"/>
              </a:rPr>
              <a:t>3</a:t>
            </a:r>
          </a:p>
        </p:txBody>
      </p:sp>
      <p:pic>
        <p:nvPicPr>
          <p:cNvPr id="34" name="Picture 34"/>
          <p:cNvPicPr>
            <a:picLocks noChangeAspect="1"/>
          </p:cNvPicPr>
          <p:nvPr/>
        </p:nvPicPr>
        <p:blipFill>
          <a:blip r:embed="rId17"/>
          <a:stretch>
            <a:fillRect/>
          </a:stretch>
        </p:blipFill>
        <p:spPr>
          <a:xfrm>
            <a:off x="13144500" y="9867900"/>
            <a:ext cx="3441700" cy="3441700"/>
          </a:xfrm>
          <a:prstGeom prst="rect">
            <a:avLst/>
          </a:prstGeom>
          <a:effectLst>
            <a:outerShdw blurRad="189472" dist="79499" dir="2700000">
              <a:srgbClr val="000000">
                <a:alpha val="23000"/>
              </a:srgbClr>
            </a:outerShdw>
          </a:effectLst>
        </p:spPr>
      </p:pic>
      <p:pic>
        <p:nvPicPr>
          <p:cNvPr id="35" name="Picture 35"/>
          <p:cNvPicPr>
            <a:picLocks noChangeAspect="1"/>
          </p:cNvPicPr>
          <p:nvPr/>
        </p:nvPicPr>
        <p:blipFill>
          <a:blip r:embed="rId14"/>
          <a:stretch>
            <a:fillRect/>
          </a:stretch>
        </p:blipFill>
        <p:spPr>
          <a:xfrm>
            <a:off x="14643100" y="10426700"/>
            <a:ext cx="444500" cy="444500"/>
          </a:xfrm>
          <a:prstGeom prst="rect">
            <a:avLst/>
          </a:prstGeom>
        </p:spPr>
      </p:pic>
      <p:sp>
        <p:nvSpPr>
          <p:cNvPr id="36" name="TextBox 36"/>
          <p:cNvSpPr txBox="1"/>
          <p:nvPr/>
        </p:nvSpPr>
        <p:spPr>
          <a:xfrm>
            <a:off x="14630400" y="10490200"/>
            <a:ext cx="457200" cy="317500"/>
          </a:xfrm>
          <a:prstGeom prst="rect">
            <a:avLst/>
          </a:prstGeom>
        </p:spPr>
        <p:txBody>
          <a:bodyPr lIns="0" tIns="0" rIns="0" bIns="0" rtlCol="0" anchor="t"/>
          <a:lstStyle/>
          <a:p>
            <a:pPr lvl="0" algn="ctr">
              <a:lnSpc>
                <a:spcPct val="116199"/>
              </a:lnSpc>
            </a:pPr>
            <a:r>
              <a:rPr lang="en-US" sz="1779" b="0" i="0" u="none" strike="noStrike">
                <a:solidFill>
                  <a:srgbClr val="1A7AE1"/>
                </a:solidFill>
                <a:latin typeface="Pretendard Medium"/>
                <a:ea typeface="Pretendard Medium"/>
                <a:cs typeface="Pretendard Medium"/>
              </a:rPr>
              <a:t>4</a:t>
            </a:r>
          </a:p>
        </p:txBody>
      </p:sp>
      <p:pic>
        <p:nvPicPr>
          <p:cNvPr id="37" name="Picture 37"/>
          <p:cNvPicPr>
            <a:picLocks noChangeAspect="1"/>
          </p:cNvPicPr>
          <p:nvPr/>
        </p:nvPicPr>
        <p:blipFill>
          <a:blip r:embed="rId18"/>
          <a:stretch>
            <a:fillRect/>
          </a:stretch>
        </p:blipFill>
        <p:spPr>
          <a:xfrm>
            <a:off x="16268700" y="7175500"/>
            <a:ext cx="3441700" cy="3441700"/>
          </a:xfrm>
          <a:prstGeom prst="rect">
            <a:avLst/>
          </a:prstGeom>
          <a:effectLst>
            <a:outerShdw blurRad="189472" dist="79499" dir="2700000">
              <a:srgbClr val="000000">
                <a:alpha val="23000"/>
              </a:srgbClr>
            </a:outerShdw>
          </a:effectLst>
        </p:spPr>
      </p:pic>
      <p:pic>
        <p:nvPicPr>
          <p:cNvPr id="38" name="Picture 38"/>
          <p:cNvPicPr>
            <a:picLocks noChangeAspect="1"/>
          </p:cNvPicPr>
          <p:nvPr/>
        </p:nvPicPr>
        <p:blipFill>
          <a:blip r:embed="rId19"/>
          <a:stretch>
            <a:fillRect/>
          </a:stretch>
        </p:blipFill>
        <p:spPr>
          <a:xfrm>
            <a:off x="17767300" y="7721600"/>
            <a:ext cx="444500" cy="444500"/>
          </a:xfrm>
          <a:prstGeom prst="rect">
            <a:avLst/>
          </a:prstGeom>
        </p:spPr>
      </p:pic>
      <p:sp>
        <p:nvSpPr>
          <p:cNvPr id="39" name="TextBox 39"/>
          <p:cNvSpPr txBox="1"/>
          <p:nvPr/>
        </p:nvSpPr>
        <p:spPr>
          <a:xfrm>
            <a:off x="17767300" y="7785100"/>
            <a:ext cx="457200" cy="317500"/>
          </a:xfrm>
          <a:prstGeom prst="rect">
            <a:avLst/>
          </a:prstGeom>
        </p:spPr>
        <p:txBody>
          <a:bodyPr lIns="0" tIns="0" rIns="0" bIns="0" rtlCol="0" anchor="t"/>
          <a:lstStyle/>
          <a:p>
            <a:pPr lvl="0" algn="ctr">
              <a:lnSpc>
                <a:spcPct val="116199"/>
              </a:lnSpc>
            </a:pPr>
            <a:r>
              <a:rPr lang="en-US" sz="1779" b="0" i="0" u="none" strike="noStrike">
                <a:solidFill>
                  <a:srgbClr val="FFFFFF"/>
                </a:solidFill>
                <a:latin typeface="Pretendard Medium"/>
                <a:ea typeface="Pretendard Medium"/>
                <a:cs typeface="Pretendard Medium"/>
              </a:rPr>
              <a:t>5</a:t>
            </a:r>
          </a:p>
        </p:txBody>
      </p:sp>
      <p:sp>
        <p:nvSpPr>
          <p:cNvPr id="40" name="TextBox 40"/>
          <p:cNvSpPr txBox="1"/>
          <p:nvPr/>
        </p:nvSpPr>
        <p:spPr>
          <a:xfrm>
            <a:off x="4102100" y="8534400"/>
            <a:ext cx="2743200" cy="1092200"/>
          </a:xfrm>
          <a:prstGeom prst="rect">
            <a:avLst/>
          </a:prstGeom>
        </p:spPr>
        <p:txBody>
          <a:bodyPr lIns="0" tIns="0" rIns="0" bIns="0" rtlCol="0" anchor="t"/>
          <a:lstStyle/>
          <a:p>
            <a:pPr lvl="0" algn="ctr">
              <a:lnSpc>
                <a:spcPct val="116199"/>
              </a:lnSpc>
            </a:pPr>
            <a:r>
              <a:rPr lang="en-US" sz="3066" b="0" i="0" u="none" strike="noStrike">
                <a:solidFill>
                  <a:srgbClr val="000000"/>
                </a:solidFill>
                <a:latin typeface="Pretendard Medium"/>
                <a:ea typeface="Pretendard Medium"/>
                <a:cs typeface="Pretendard Medium"/>
              </a:rPr>
              <a:t>파일 업로드 </a:t>
            </a:r>
          </a:p>
          <a:p>
            <a:pPr lvl="0" algn="ctr">
              <a:lnSpc>
                <a:spcPct val="116199"/>
              </a:lnSpc>
            </a:pPr>
            <a:r>
              <a:rPr lang="en-US" sz="3066" b="0" i="0" u="none" strike="noStrike">
                <a:solidFill>
                  <a:srgbClr val="000000"/>
                </a:solidFill>
                <a:latin typeface="Pretendard Medium"/>
                <a:ea typeface="Pretendard Medium"/>
                <a:cs typeface="Pretendard Medium"/>
              </a:rPr>
              <a:t>취약점 이용</a:t>
            </a:r>
          </a:p>
        </p:txBody>
      </p:sp>
      <p:sp>
        <p:nvSpPr>
          <p:cNvPr id="41" name="TextBox 41"/>
          <p:cNvSpPr txBox="1"/>
          <p:nvPr/>
        </p:nvSpPr>
        <p:spPr>
          <a:xfrm>
            <a:off x="7340600" y="11137900"/>
            <a:ext cx="2527300" cy="1092200"/>
          </a:xfrm>
          <a:prstGeom prst="rect">
            <a:avLst/>
          </a:prstGeom>
        </p:spPr>
        <p:txBody>
          <a:bodyPr lIns="0" tIns="0" rIns="0" bIns="0" rtlCol="0" anchor="t"/>
          <a:lstStyle/>
          <a:p>
            <a:pPr lvl="0" algn="ctr">
              <a:lnSpc>
                <a:spcPct val="116199"/>
              </a:lnSpc>
            </a:pPr>
            <a:r>
              <a:rPr lang="en-US" sz="3066" b="0" i="0" u="none" strike="noStrike">
                <a:solidFill>
                  <a:srgbClr val="FFFFFF"/>
                </a:solidFill>
                <a:latin typeface="Pretendard Medium"/>
                <a:ea typeface="Pretendard Medium"/>
                <a:cs typeface="Pretendard Medium"/>
              </a:rPr>
              <a:t>내부망 이동 및 FDS 무력화</a:t>
            </a:r>
          </a:p>
        </p:txBody>
      </p:sp>
      <p:sp>
        <p:nvSpPr>
          <p:cNvPr id="42" name="TextBox 42"/>
          <p:cNvSpPr txBox="1"/>
          <p:nvPr/>
        </p:nvSpPr>
        <p:spPr>
          <a:xfrm>
            <a:off x="10388600" y="8407400"/>
            <a:ext cx="2806700" cy="1092200"/>
          </a:xfrm>
          <a:prstGeom prst="rect">
            <a:avLst/>
          </a:prstGeom>
        </p:spPr>
        <p:txBody>
          <a:bodyPr lIns="0" tIns="0" rIns="0" bIns="0" rtlCol="0" anchor="t"/>
          <a:lstStyle/>
          <a:p>
            <a:pPr lvl="0" algn="ctr">
              <a:lnSpc>
                <a:spcPct val="116199"/>
              </a:lnSpc>
            </a:pPr>
            <a:r>
              <a:rPr lang="en-US" sz="3066" b="0" i="0" u="none" strike="noStrike">
                <a:solidFill>
                  <a:srgbClr val="000000"/>
                </a:solidFill>
                <a:latin typeface="Pretendard Medium"/>
                <a:ea typeface="Pretendard Medium"/>
                <a:cs typeface="Pretendard Medium"/>
              </a:rPr>
              <a:t>협력사망 침투 및 </a:t>
            </a:r>
          </a:p>
          <a:p>
            <a:pPr lvl="0" algn="ctr">
              <a:lnSpc>
                <a:spcPct val="116199"/>
              </a:lnSpc>
            </a:pPr>
            <a:r>
              <a:rPr lang="en-US" sz="3066" b="0" i="0" u="none" strike="noStrike">
                <a:solidFill>
                  <a:srgbClr val="000000"/>
                </a:solidFill>
                <a:latin typeface="Pretendard Medium"/>
                <a:ea typeface="Pretendard Medium"/>
                <a:cs typeface="Pretendard Medium"/>
              </a:rPr>
              <a:t>데이터 탈취</a:t>
            </a:r>
          </a:p>
        </p:txBody>
      </p:sp>
      <p:sp>
        <p:nvSpPr>
          <p:cNvPr id="43" name="TextBox 43"/>
          <p:cNvSpPr txBox="1"/>
          <p:nvPr/>
        </p:nvSpPr>
        <p:spPr>
          <a:xfrm>
            <a:off x="13182600" y="11137900"/>
            <a:ext cx="3365500" cy="1092200"/>
          </a:xfrm>
          <a:prstGeom prst="rect">
            <a:avLst/>
          </a:prstGeom>
        </p:spPr>
        <p:txBody>
          <a:bodyPr lIns="0" tIns="0" rIns="0" bIns="0" rtlCol="0" anchor="t"/>
          <a:lstStyle/>
          <a:p>
            <a:pPr lvl="0" algn="ctr">
              <a:lnSpc>
                <a:spcPct val="116199"/>
              </a:lnSpc>
            </a:pPr>
            <a:r>
              <a:rPr lang="en-US" sz="3066" b="0" i="0" u="none" strike="noStrike">
                <a:solidFill>
                  <a:srgbClr val="FFFFFF"/>
                </a:solidFill>
                <a:latin typeface="Pretendard Medium"/>
                <a:ea typeface="Pretendard Medium"/>
                <a:cs typeface="Pretendard Medium"/>
              </a:rPr>
              <a:t>데이터 분석 및</a:t>
            </a:r>
          </a:p>
          <a:p>
            <a:pPr lvl="0" algn="ctr">
              <a:lnSpc>
                <a:spcPct val="116199"/>
              </a:lnSpc>
            </a:pPr>
            <a:r>
              <a:rPr lang="en-US" sz="3066" b="0" i="0" u="none" strike="noStrike">
                <a:solidFill>
                  <a:srgbClr val="FFFFFF"/>
                </a:solidFill>
                <a:latin typeface="Pretendard Medium"/>
                <a:ea typeface="Pretendard Medium"/>
                <a:cs typeface="Pretendard Medium"/>
              </a:rPr>
              <a:t>딥보이스 모델 생성</a:t>
            </a:r>
          </a:p>
        </p:txBody>
      </p:sp>
      <p:sp>
        <p:nvSpPr>
          <p:cNvPr id="44" name="TextBox 44"/>
          <p:cNvSpPr txBox="1"/>
          <p:nvPr/>
        </p:nvSpPr>
        <p:spPr>
          <a:xfrm>
            <a:off x="16357600" y="8407400"/>
            <a:ext cx="3289300" cy="1092200"/>
          </a:xfrm>
          <a:prstGeom prst="rect">
            <a:avLst/>
          </a:prstGeom>
        </p:spPr>
        <p:txBody>
          <a:bodyPr lIns="0" tIns="0" rIns="0" bIns="0" rtlCol="0" anchor="t"/>
          <a:lstStyle/>
          <a:p>
            <a:pPr lvl="0" algn="ctr">
              <a:lnSpc>
                <a:spcPct val="116199"/>
              </a:lnSpc>
            </a:pPr>
            <a:r>
              <a:rPr lang="en-US" sz="3066" b="0" i="0" u="none" strike="noStrike">
                <a:solidFill>
                  <a:srgbClr val="000000"/>
                </a:solidFill>
                <a:latin typeface="Pretendard Medium"/>
                <a:ea typeface="Pretendard Medium"/>
                <a:cs typeface="Pretendard Medium"/>
              </a:rPr>
              <a:t>지능형 피싱 및 </a:t>
            </a:r>
          </a:p>
          <a:p>
            <a:pPr lvl="0" algn="ctr">
              <a:lnSpc>
                <a:spcPct val="116199"/>
              </a:lnSpc>
            </a:pPr>
            <a:r>
              <a:rPr lang="en-US" sz="3066" b="0" i="0" u="none" strike="noStrike">
                <a:solidFill>
                  <a:srgbClr val="000000"/>
                </a:solidFill>
                <a:latin typeface="Pretendard Medium"/>
                <a:ea typeface="Pretendard Medium"/>
                <a:cs typeface="Pretendard Medium"/>
              </a:rPr>
              <a:t>자금 탈취</a:t>
            </a:r>
          </a:p>
        </p:txBody>
      </p:sp>
      <p:sp>
        <p:nvSpPr>
          <p:cNvPr id="45" name="TextBox 45"/>
          <p:cNvSpPr txBox="1"/>
          <p:nvPr/>
        </p:nvSpPr>
        <p:spPr>
          <a:xfrm>
            <a:off x="1943100" y="1409700"/>
            <a:ext cx="20281900" cy="1257300"/>
          </a:xfrm>
          <a:prstGeom prst="rect">
            <a:avLst/>
          </a:prstGeom>
        </p:spPr>
        <p:txBody>
          <a:bodyPr lIns="0" tIns="44874" rIns="0" bIns="0" rtlCol="0" anchor="t"/>
          <a:lstStyle/>
          <a:p>
            <a:pPr lvl="0" algn="l">
              <a:lnSpc>
                <a:spcPct val="107899"/>
              </a:lnSpc>
            </a:pPr>
            <a:r>
              <a:rPr lang="en-US" sz="7066" b="0" i="0" u="none" strike="noStrike" spc="-300" dirty="0" err="1">
                <a:solidFill>
                  <a:srgbClr val="000000"/>
                </a:solidFill>
                <a:latin typeface="Pretendard SemiBold"/>
                <a:ea typeface="Pretendard SemiBold"/>
                <a:cs typeface="Pretendard SemiBold"/>
              </a:rPr>
              <a:t>연쇄</a:t>
            </a:r>
            <a:r>
              <a:rPr lang="en-US" sz="7066" b="0" i="0" u="none" strike="noStrike" spc="-300" dirty="0">
                <a:solidFill>
                  <a:srgbClr val="000000"/>
                </a:solidFill>
                <a:latin typeface="Pretendard SemiBold"/>
                <a:ea typeface="Pretendard SemiBold"/>
                <a:cs typeface="Pretendard SemiBold"/>
              </a:rPr>
              <a:t> </a:t>
            </a:r>
            <a:r>
              <a:rPr lang="en-US" sz="7066" b="0" i="0" u="none" strike="noStrike" spc="-300" dirty="0" err="1">
                <a:solidFill>
                  <a:srgbClr val="000000"/>
                </a:solidFill>
                <a:latin typeface="Pretendard SemiBold"/>
                <a:ea typeface="Pretendard SemiBold"/>
                <a:cs typeface="Pretendard SemiBold"/>
              </a:rPr>
              <a:t>침투를</a:t>
            </a:r>
            <a:r>
              <a:rPr lang="en-US" sz="7066" b="0" i="0" u="none" strike="noStrike" spc="-300" dirty="0">
                <a:solidFill>
                  <a:srgbClr val="000000"/>
                </a:solidFill>
                <a:latin typeface="Pretendard SemiBold"/>
                <a:ea typeface="Pretendard SemiBold"/>
                <a:cs typeface="Pretendard SemiBold"/>
              </a:rPr>
              <a:t> </a:t>
            </a:r>
            <a:r>
              <a:rPr lang="en-US" sz="7066" b="0" i="0" u="none" strike="noStrike" spc="-300" dirty="0" err="1">
                <a:solidFill>
                  <a:srgbClr val="000000"/>
                </a:solidFill>
                <a:latin typeface="Pretendard SemiBold"/>
                <a:ea typeface="Pretendard SemiBold"/>
                <a:cs typeface="Pretendard SemiBold"/>
              </a:rPr>
              <a:t>통한</a:t>
            </a:r>
            <a:r>
              <a:rPr lang="en-US" sz="7066" b="0" i="0" u="none" strike="noStrike" spc="-300" dirty="0">
                <a:solidFill>
                  <a:srgbClr val="000000"/>
                </a:solidFill>
                <a:latin typeface="Pretendard SemiBold"/>
                <a:ea typeface="Pretendard SemiBold"/>
                <a:cs typeface="Pretendard SemiBold"/>
              </a:rPr>
              <a:t> </a:t>
            </a:r>
            <a:r>
              <a:rPr lang="en-US" sz="7066" b="0" i="0" u="none" strike="noStrike" spc="-300" dirty="0" err="1">
                <a:solidFill>
                  <a:srgbClr val="000000"/>
                </a:solidFill>
                <a:latin typeface="Pretendard SemiBold"/>
                <a:ea typeface="Pretendard SemiBold"/>
                <a:cs typeface="Pretendard SemiBold"/>
              </a:rPr>
              <a:t>지능형</a:t>
            </a:r>
            <a:r>
              <a:rPr lang="en-US" sz="7066" b="0" i="0" u="none" strike="noStrike" spc="-300" dirty="0">
                <a:solidFill>
                  <a:srgbClr val="000000"/>
                </a:solidFill>
                <a:latin typeface="Pretendard SemiBold"/>
                <a:ea typeface="Pretendard SemiBold"/>
                <a:cs typeface="Pretendard SemiBold"/>
              </a:rPr>
              <a:t> </a:t>
            </a:r>
            <a:r>
              <a:rPr lang="en-US" sz="7066" b="0" i="0" u="none" strike="noStrike" spc="-300" dirty="0" err="1">
                <a:solidFill>
                  <a:srgbClr val="000000"/>
                </a:solidFill>
                <a:latin typeface="Pretendard SemiBold"/>
                <a:ea typeface="Pretendard SemiBold"/>
                <a:cs typeface="Pretendard SemiBold"/>
              </a:rPr>
              <a:t>보이스피싱</a:t>
            </a:r>
            <a:r>
              <a:rPr lang="en-US" sz="7066" b="0" i="0" u="none" strike="noStrike" spc="-300" dirty="0">
                <a:solidFill>
                  <a:srgbClr val="000000"/>
                </a:solidFill>
                <a:latin typeface="Pretendard SemiBold"/>
                <a:ea typeface="Pretendard SemiBold"/>
                <a:cs typeface="Pretendard SemiBold"/>
              </a:rPr>
              <a:t> </a:t>
            </a:r>
            <a:r>
              <a:rPr lang="en-US" sz="7066" b="0" i="0" u="none" strike="noStrike" spc="-300" dirty="0" err="1">
                <a:solidFill>
                  <a:srgbClr val="000000"/>
                </a:solidFill>
                <a:latin typeface="Pretendard SemiBold"/>
                <a:ea typeface="Pretendard SemiBold"/>
                <a:cs typeface="Pretendard SemiBold"/>
              </a:rPr>
              <a:t>공격</a:t>
            </a:r>
            <a:endParaRPr lang="en-US" sz="7066" b="0" i="0" u="none" strike="noStrike" spc="-300" dirty="0">
              <a:solidFill>
                <a:srgbClr val="000000"/>
              </a:solidFill>
              <a:latin typeface="Pretendard SemiBold"/>
              <a:ea typeface="Pretendard SemiBold"/>
              <a:cs typeface="Pretendard SemiBold"/>
            </a:endParaRPr>
          </a:p>
        </p:txBody>
      </p:sp>
      <p:sp>
        <p:nvSpPr>
          <p:cNvPr id="46" name="TextBox 14">
            <a:extLst>
              <a:ext uri="{FF2B5EF4-FFF2-40B4-BE49-F238E27FC236}">
                <a16:creationId xmlns:a16="http://schemas.microsoft.com/office/drawing/2014/main" id="{860D2A70-A490-FA22-CF5F-C6020510935F}"/>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47" name="TextBox 14">
            <a:extLst>
              <a:ext uri="{FF2B5EF4-FFF2-40B4-BE49-F238E27FC236}">
                <a16:creationId xmlns:a16="http://schemas.microsoft.com/office/drawing/2014/main" id="{979F8BB3-433A-4C16-00F4-1A6204B94063}"/>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48" name="Picture 2">
            <a:extLst>
              <a:ext uri="{FF2B5EF4-FFF2-40B4-BE49-F238E27FC236}">
                <a16:creationId xmlns:a16="http://schemas.microsoft.com/office/drawing/2014/main" id="{8EB9AE5D-6776-42A6-2D31-BBCA2ED96B96}"/>
              </a:ext>
            </a:extLst>
          </p:cNvPr>
          <p:cNvPicPr>
            <a:picLocks noChangeAspect="1"/>
          </p:cNvPicPr>
          <p:nvPr/>
        </p:nvPicPr>
        <p:blipFill>
          <a:blip r:embed="rId20">
            <a:alphaModFix amt="85000"/>
          </a:blip>
          <a:stretch>
            <a:fillRect/>
          </a:stretch>
        </p:blipFill>
        <p:spPr>
          <a:xfrm>
            <a:off x="11201400" y="558800"/>
            <a:ext cx="2705100" cy="444500"/>
          </a:xfrm>
          <a:prstGeom prst="rect">
            <a:avLst/>
          </a:prstGeom>
        </p:spPr>
      </p:pic>
      <p:sp>
        <p:nvSpPr>
          <p:cNvPr id="49" name="TextBox 16">
            <a:extLst>
              <a:ext uri="{FF2B5EF4-FFF2-40B4-BE49-F238E27FC236}">
                <a16:creationId xmlns:a16="http://schemas.microsoft.com/office/drawing/2014/main" id="{C89EBD2B-6478-38E4-11B4-FDDA62372B34}"/>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50" name="TextBox 18">
            <a:extLst>
              <a:ext uri="{FF2B5EF4-FFF2-40B4-BE49-F238E27FC236}">
                <a16:creationId xmlns:a16="http://schemas.microsoft.com/office/drawing/2014/main" id="{E65D4693-0E99-FA6A-8E2E-EAE6F2F13EB5}"/>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51" name="TextBox 19">
            <a:extLst>
              <a:ext uri="{FF2B5EF4-FFF2-40B4-BE49-F238E27FC236}">
                <a16:creationId xmlns:a16="http://schemas.microsoft.com/office/drawing/2014/main" id="{A40EB073-8901-B1DC-F5B9-8A42E3BCAD91}"/>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52" name="TextBox 20">
            <a:extLst>
              <a:ext uri="{FF2B5EF4-FFF2-40B4-BE49-F238E27FC236}">
                <a16:creationId xmlns:a16="http://schemas.microsoft.com/office/drawing/2014/main" id="{905EADD8-5685-2B03-CEE0-2E922191D1E2}"/>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alphaModFix amt="70000"/>
          </a:blip>
          <a:stretch>
            <a:fillRect/>
          </a:stretch>
        </p:blipFill>
        <p:spPr>
          <a:xfrm>
            <a:off x="16230600" y="-2590800"/>
            <a:ext cx="11442700" cy="11442700"/>
          </a:xfrm>
          <a:prstGeom prst="rect">
            <a:avLst/>
          </a:prstGeom>
        </p:spPr>
      </p:pic>
      <p:pic>
        <p:nvPicPr>
          <p:cNvPr id="4" name="Picture 4"/>
          <p:cNvPicPr>
            <a:picLocks noChangeAspect="1"/>
          </p:cNvPicPr>
          <p:nvPr/>
        </p:nvPicPr>
        <p:blipFill>
          <a:blip r:embed="rId4"/>
          <a:stretch>
            <a:fillRect/>
          </a:stretch>
        </p:blipFill>
        <p:spPr>
          <a:xfrm>
            <a:off x="762000" y="1092200"/>
            <a:ext cx="22860000" cy="12700"/>
          </a:xfrm>
          <a:prstGeom prst="rect">
            <a:avLst/>
          </a:prstGeom>
        </p:spPr>
      </p:pic>
      <p:pic>
        <p:nvPicPr>
          <p:cNvPr id="5" name="Picture 5"/>
          <p:cNvPicPr>
            <a:picLocks noChangeAspect="1"/>
          </p:cNvPicPr>
          <p:nvPr/>
        </p:nvPicPr>
        <p:blipFill>
          <a:blip r:embed="rId5"/>
          <a:stretch>
            <a:fillRect/>
          </a:stretch>
        </p:blipFill>
        <p:spPr>
          <a:xfrm rot="5400000">
            <a:off x="3200400" y="787400"/>
            <a:ext cx="635000" cy="12700"/>
          </a:xfrm>
          <a:prstGeom prst="rect">
            <a:avLst/>
          </a:prstGeom>
        </p:spPr>
      </p:pic>
      <p:pic>
        <p:nvPicPr>
          <p:cNvPr id="6" name="Picture 6"/>
          <p:cNvPicPr>
            <a:picLocks noChangeAspect="1"/>
          </p:cNvPicPr>
          <p:nvPr/>
        </p:nvPicPr>
        <p:blipFill>
          <a:blip r:embed="rId5"/>
          <a:stretch>
            <a:fillRect/>
          </a:stretch>
        </p:blipFill>
        <p:spPr>
          <a:xfrm rot="5400000">
            <a:off x="22225000" y="787400"/>
            <a:ext cx="635000" cy="12700"/>
          </a:xfrm>
          <a:prstGeom prst="rect">
            <a:avLst/>
          </a:prstGeom>
        </p:spPr>
      </p:pic>
      <p:pic>
        <p:nvPicPr>
          <p:cNvPr id="7" name="Picture 7"/>
          <p:cNvPicPr>
            <a:picLocks noChangeAspect="1"/>
          </p:cNvPicPr>
          <p:nvPr/>
        </p:nvPicPr>
        <p:blipFill>
          <a:blip r:embed="rId5"/>
          <a:stretch>
            <a:fillRect/>
          </a:stretch>
        </p:blipFill>
        <p:spPr>
          <a:xfrm rot="5400000">
            <a:off x="6337300" y="787400"/>
            <a:ext cx="635000" cy="12700"/>
          </a:xfrm>
          <a:prstGeom prst="rect">
            <a:avLst/>
          </a:prstGeom>
        </p:spPr>
      </p:pic>
      <p:pic>
        <p:nvPicPr>
          <p:cNvPr id="8" name="Picture 8"/>
          <p:cNvPicPr>
            <a:picLocks noChangeAspect="1"/>
          </p:cNvPicPr>
          <p:nvPr/>
        </p:nvPicPr>
        <p:blipFill>
          <a:blip r:embed="rId4"/>
          <a:stretch>
            <a:fillRect/>
          </a:stretch>
        </p:blipFill>
        <p:spPr>
          <a:xfrm>
            <a:off x="723900" y="457200"/>
            <a:ext cx="22860000" cy="12700"/>
          </a:xfrm>
          <a:prstGeom prst="rect">
            <a:avLst/>
          </a:prstGeom>
        </p:spPr>
      </p:pic>
      <p:pic>
        <p:nvPicPr>
          <p:cNvPr id="11" name="Picture 11"/>
          <p:cNvPicPr>
            <a:picLocks noChangeAspect="1"/>
          </p:cNvPicPr>
          <p:nvPr/>
        </p:nvPicPr>
        <p:blipFill>
          <a:blip r:embed="rId6"/>
          <a:stretch>
            <a:fillRect/>
          </a:stretch>
        </p:blipFill>
        <p:spPr>
          <a:xfrm>
            <a:off x="1485900" y="1612900"/>
            <a:ext cx="88900" cy="850900"/>
          </a:xfrm>
          <a:prstGeom prst="rect">
            <a:avLst/>
          </a:prstGeom>
        </p:spPr>
      </p:pic>
      <p:sp>
        <p:nvSpPr>
          <p:cNvPr id="12" name="TextBox 12"/>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56</a:t>
            </a:r>
          </a:p>
        </p:txBody>
      </p:sp>
      <p:sp>
        <p:nvSpPr>
          <p:cNvPr id="92" name="TextBox 92"/>
          <p:cNvSpPr txBox="1"/>
          <p:nvPr/>
        </p:nvSpPr>
        <p:spPr>
          <a:xfrm>
            <a:off x="1943100" y="1409700"/>
            <a:ext cx="20281900" cy="1257300"/>
          </a:xfrm>
          <a:prstGeom prst="rect">
            <a:avLst/>
          </a:prstGeom>
        </p:spPr>
        <p:txBody>
          <a:bodyPr lIns="0" tIns="44874" rIns="0" bIns="0" rtlCol="0" anchor="t"/>
          <a:lstStyle/>
          <a:p>
            <a:pPr lvl="0" algn="l">
              <a:lnSpc>
                <a:spcPct val="107899"/>
              </a:lnSpc>
            </a:pPr>
            <a:r>
              <a:rPr lang="en-US" sz="7066" b="0" i="0" u="none" strike="noStrike" spc="-300" dirty="0" err="1">
                <a:solidFill>
                  <a:srgbClr val="000000"/>
                </a:solidFill>
                <a:latin typeface="Pretendard SemiBold"/>
                <a:ea typeface="Pretendard SemiBold"/>
                <a:cs typeface="Pretendard SemiBold"/>
              </a:rPr>
              <a:t>연쇄</a:t>
            </a:r>
            <a:r>
              <a:rPr lang="en-US" sz="7066" b="0" i="0" u="none" strike="noStrike" spc="-300" dirty="0">
                <a:solidFill>
                  <a:srgbClr val="000000"/>
                </a:solidFill>
                <a:latin typeface="Pretendard SemiBold"/>
                <a:ea typeface="Pretendard SemiBold"/>
                <a:cs typeface="Pretendard SemiBold"/>
              </a:rPr>
              <a:t> </a:t>
            </a:r>
            <a:r>
              <a:rPr lang="en-US" sz="7066" b="0" i="0" u="none" strike="noStrike" spc="-300" dirty="0" err="1">
                <a:solidFill>
                  <a:srgbClr val="000000"/>
                </a:solidFill>
                <a:latin typeface="Pretendard SemiBold"/>
                <a:ea typeface="Pretendard SemiBold"/>
                <a:cs typeface="Pretendard SemiBold"/>
              </a:rPr>
              <a:t>침투를</a:t>
            </a:r>
            <a:r>
              <a:rPr lang="en-US" sz="7066" b="0" i="0" u="none" strike="noStrike" spc="-300" dirty="0">
                <a:solidFill>
                  <a:srgbClr val="000000"/>
                </a:solidFill>
                <a:latin typeface="Pretendard SemiBold"/>
                <a:ea typeface="Pretendard SemiBold"/>
                <a:cs typeface="Pretendard SemiBold"/>
              </a:rPr>
              <a:t> </a:t>
            </a:r>
            <a:r>
              <a:rPr lang="en-US" sz="7066" b="0" i="0" u="none" strike="noStrike" spc="-300" dirty="0" err="1">
                <a:solidFill>
                  <a:srgbClr val="000000"/>
                </a:solidFill>
                <a:latin typeface="Pretendard SemiBold"/>
                <a:ea typeface="Pretendard SemiBold"/>
                <a:cs typeface="Pretendard SemiBold"/>
              </a:rPr>
              <a:t>통한</a:t>
            </a:r>
            <a:r>
              <a:rPr lang="en-US" sz="7066" b="0" i="0" u="none" strike="noStrike" spc="-300" dirty="0">
                <a:solidFill>
                  <a:srgbClr val="000000"/>
                </a:solidFill>
                <a:latin typeface="Pretendard SemiBold"/>
                <a:ea typeface="Pretendard SemiBold"/>
                <a:cs typeface="Pretendard SemiBold"/>
              </a:rPr>
              <a:t> </a:t>
            </a:r>
            <a:r>
              <a:rPr lang="en-US" sz="7066" b="0" i="0" u="none" strike="noStrike" spc="-300" dirty="0" err="1">
                <a:solidFill>
                  <a:srgbClr val="000000"/>
                </a:solidFill>
                <a:latin typeface="Pretendard SemiBold"/>
                <a:ea typeface="Pretendard SemiBold"/>
                <a:cs typeface="Pretendard SemiBold"/>
              </a:rPr>
              <a:t>지능형</a:t>
            </a:r>
            <a:r>
              <a:rPr lang="en-US" sz="7066" b="0" i="0" u="none" strike="noStrike" spc="-300" dirty="0">
                <a:solidFill>
                  <a:srgbClr val="000000"/>
                </a:solidFill>
                <a:latin typeface="Pretendard SemiBold"/>
                <a:ea typeface="Pretendard SemiBold"/>
                <a:cs typeface="Pretendard SemiBold"/>
              </a:rPr>
              <a:t> </a:t>
            </a:r>
            <a:r>
              <a:rPr lang="en-US" sz="7066" b="0" i="0" u="none" strike="noStrike" spc="-300" dirty="0" err="1">
                <a:solidFill>
                  <a:srgbClr val="000000"/>
                </a:solidFill>
                <a:latin typeface="Pretendard SemiBold"/>
                <a:ea typeface="Pretendard SemiBold"/>
                <a:cs typeface="Pretendard SemiBold"/>
              </a:rPr>
              <a:t>보이스피싱</a:t>
            </a:r>
            <a:r>
              <a:rPr lang="en-US" sz="7066" b="0" i="0" u="none" strike="noStrike" spc="-300" dirty="0">
                <a:solidFill>
                  <a:srgbClr val="000000"/>
                </a:solidFill>
                <a:latin typeface="Pretendard SemiBold"/>
                <a:ea typeface="Pretendard SemiBold"/>
                <a:cs typeface="Pretendard SemiBold"/>
              </a:rPr>
              <a:t> </a:t>
            </a:r>
            <a:r>
              <a:rPr lang="en-US" sz="7066" b="0" i="0" u="none" strike="noStrike" spc="-300" dirty="0" err="1">
                <a:solidFill>
                  <a:srgbClr val="000000"/>
                </a:solidFill>
                <a:latin typeface="Pretendard SemiBold"/>
                <a:ea typeface="Pretendard SemiBold"/>
                <a:cs typeface="Pretendard SemiBold"/>
              </a:rPr>
              <a:t>공격</a:t>
            </a:r>
            <a:endParaRPr lang="en-US" sz="7066" b="0" i="0" u="none" strike="noStrike" spc="-300" dirty="0">
              <a:solidFill>
                <a:srgbClr val="000000"/>
              </a:solidFill>
              <a:latin typeface="Pretendard SemiBold"/>
              <a:ea typeface="Pretendard SemiBold"/>
              <a:cs typeface="Pretendard SemiBold"/>
            </a:endParaRPr>
          </a:p>
        </p:txBody>
      </p:sp>
      <p:sp>
        <p:nvSpPr>
          <p:cNvPr id="28" name="TextBox 14">
            <a:extLst>
              <a:ext uri="{FF2B5EF4-FFF2-40B4-BE49-F238E27FC236}">
                <a16:creationId xmlns:a16="http://schemas.microsoft.com/office/drawing/2014/main" id="{E80B0D36-5833-8CC5-D7E3-2E5426E08576}"/>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93" name="TextBox 14">
            <a:extLst>
              <a:ext uri="{FF2B5EF4-FFF2-40B4-BE49-F238E27FC236}">
                <a16:creationId xmlns:a16="http://schemas.microsoft.com/office/drawing/2014/main" id="{7ACD0DDC-BDF7-D848-29F7-D90BB93B7453}"/>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94" name="Picture 2">
            <a:extLst>
              <a:ext uri="{FF2B5EF4-FFF2-40B4-BE49-F238E27FC236}">
                <a16:creationId xmlns:a16="http://schemas.microsoft.com/office/drawing/2014/main" id="{B88B554C-D174-B2CD-A295-EA0149435312}"/>
              </a:ext>
            </a:extLst>
          </p:cNvPr>
          <p:cNvPicPr>
            <a:picLocks noChangeAspect="1"/>
          </p:cNvPicPr>
          <p:nvPr/>
        </p:nvPicPr>
        <p:blipFill>
          <a:blip r:embed="rId7">
            <a:alphaModFix amt="85000"/>
          </a:blip>
          <a:stretch>
            <a:fillRect/>
          </a:stretch>
        </p:blipFill>
        <p:spPr>
          <a:xfrm>
            <a:off x="11201400" y="558800"/>
            <a:ext cx="2705100" cy="444500"/>
          </a:xfrm>
          <a:prstGeom prst="rect">
            <a:avLst/>
          </a:prstGeom>
        </p:spPr>
      </p:pic>
      <p:sp>
        <p:nvSpPr>
          <p:cNvPr id="95" name="TextBox 16">
            <a:extLst>
              <a:ext uri="{FF2B5EF4-FFF2-40B4-BE49-F238E27FC236}">
                <a16:creationId xmlns:a16="http://schemas.microsoft.com/office/drawing/2014/main" id="{9606F91C-2D8E-00E4-1E34-CA5A54BF1153}"/>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96" name="TextBox 18">
            <a:extLst>
              <a:ext uri="{FF2B5EF4-FFF2-40B4-BE49-F238E27FC236}">
                <a16:creationId xmlns:a16="http://schemas.microsoft.com/office/drawing/2014/main" id="{41CF90D4-2492-39B7-9DCD-E5D95215E5B5}"/>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97" name="TextBox 19">
            <a:extLst>
              <a:ext uri="{FF2B5EF4-FFF2-40B4-BE49-F238E27FC236}">
                <a16:creationId xmlns:a16="http://schemas.microsoft.com/office/drawing/2014/main" id="{B7B10A59-5E90-17CA-2F0F-F9BF81C7DCE2}"/>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98" name="TextBox 20">
            <a:extLst>
              <a:ext uri="{FF2B5EF4-FFF2-40B4-BE49-F238E27FC236}">
                <a16:creationId xmlns:a16="http://schemas.microsoft.com/office/drawing/2014/main" id="{1CAE46A5-3155-075A-F46B-942AE3066778}"/>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pic>
        <p:nvPicPr>
          <p:cNvPr id="9" name="Picture 3">
            <a:extLst>
              <a:ext uri="{FF2B5EF4-FFF2-40B4-BE49-F238E27FC236}">
                <a16:creationId xmlns:a16="http://schemas.microsoft.com/office/drawing/2014/main" id="{1378CF30-9539-ED18-8F28-10DDE2FB40A9}"/>
              </a:ext>
            </a:extLst>
          </p:cNvPr>
          <p:cNvPicPr>
            <a:picLocks noChangeAspect="1"/>
          </p:cNvPicPr>
          <p:nvPr/>
        </p:nvPicPr>
        <p:blipFill>
          <a:blip r:embed="rId8"/>
          <a:stretch>
            <a:fillRect/>
          </a:stretch>
        </p:blipFill>
        <p:spPr>
          <a:xfrm>
            <a:off x="1460500" y="3492500"/>
            <a:ext cx="21361400" cy="9131300"/>
          </a:xfrm>
          <a:prstGeom prst="rect">
            <a:avLst/>
          </a:prstGeom>
          <a:effectLst>
            <a:outerShdw blurRad="228274" dist="210714" dir="2700000">
              <a:srgbClr val="1A7AE1">
                <a:alpha val="15000"/>
              </a:srgbClr>
            </a:outerShdw>
          </a:effectLst>
        </p:spPr>
      </p:pic>
      <p:pic>
        <p:nvPicPr>
          <p:cNvPr id="10" name="Picture 19">
            <a:extLst>
              <a:ext uri="{FF2B5EF4-FFF2-40B4-BE49-F238E27FC236}">
                <a16:creationId xmlns:a16="http://schemas.microsoft.com/office/drawing/2014/main" id="{AD2790DC-9335-AAC6-E512-CB67C1337744}"/>
              </a:ext>
            </a:extLst>
          </p:cNvPr>
          <p:cNvPicPr>
            <a:picLocks noChangeAspect="1"/>
          </p:cNvPicPr>
          <p:nvPr/>
        </p:nvPicPr>
        <p:blipFill>
          <a:blip r:embed="rId9">
            <a:alphaModFix amt="20000"/>
          </a:blip>
          <a:stretch>
            <a:fillRect/>
          </a:stretch>
        </p:blipFill>
        <p:spPr>
          <a:xfrm rot="5400000">
            <a:off x="3784600" y="8077200"/>
            <a:ext cx="9017000" cy="76200"/>
          </a:xfrm>
          <a:prstGeom prst="rect">
            <a:avLst/>
          </a:prstGeom>
        </p:spPr>
      </p:pic>
      <p:pic>
        <p:nvPicPr>
          <p:cNvPr id="13" name="Picture 20">
            <a:extLst>
              <a:ext uri="{FF2B5EF4-FFF2-40B4-BE49-F238E27FC236}">
                <a16:creationId xmlns:a16="http://schemas.microsoft.com/office/drawing/2014/main" id="{3F798C4E-9B2E-04E3-C509-F37D2CF64C6D}"/>
              </a:ext>
            </a:extLst>
          </p:cNvPr>
          <p:cNvPicPr>
            <a:picLocks noChangeAspect="1"/>
          </p:cNvPicPr>
          <p:nvPr/>
        </p:nvPicPr>
        <p:blipFill>
          <a:blip r:embed="rId10">
            <a:alphaModFix amt="20000"/>
          </a:blip>
          <a:stretch>
            <a:fillRect/>
          </a:stretch>
        </p:blipFill>
        <p:spPr>
          <a:xfrm rot="5400000">
            <a:off x="11684000" y="8013700"/>
            <a:ext cx="9029700" cy="76200"/>
          </a:xfrm>
          <a:prstGeom prst="rect">
            <a:avLst/>
          </a:prstGeom>
        </p:spPr>
      </p:pic>
      <p:sp>
        <p:nvSpPr>
          <p:cNvPr id="14" name="TextBox 21">
            <a:extLst>
              <a:ext uri="{FF2B5EF4-FFF2-40B4-BE49-F238E27FC236}">
                <a16:creationId xmlns:a16="http://schemas.microsoft.com/office/drawing/2014/main" id="{A6F7875F-64E1-D02B-9D21-2BCF25D701A3}"/>
              </a:ext>
            </a:extLst>
          </p:cNvPr>
          <p:cNvSpPr txBox="1"/>
          <p:nvPr/>
        </p:nvSpPr>
        <p:spPr>
          <a:xfrm>
            <a:off x="3454400" y="3924300"/>
            <a:ext cx="3200400" cy="520700"/>
          </a:xfrm>
          <a:prstGeom prst="rect">
            <a:avLst/>
          </a:prstGeom>
        </p:spPr>
        <p:txBody>
          <a:bodyPr lIns="0" tIns="0" rIns="0" bIns="0" rtlCol="0" anchor="t"/>
          <a:lstStyle/>
          <a:p>
            <a:pPr lvl="0" algn="ctr">
              <a:lnSpc>
                <a:spcPct val="116199"/>
              </a:lnSpc>
            </a:pPr>
            <a:r>
              <a:rPr lang="ko-KR" altLang="en-US" sz="2933" b="0" i="0" u="none" strike="noStrike" dirty="0" err="1">
                <a:solidFill>
                  <a:srgbClr val="000000"/>
                </a:solidFill>
                <a:latin typeface="Pretendard Medium"/>
                <a:ea typeface="Pretendard Medium"/>
                <a:cs typeface="Pretendard Medium"/>
              </a:rPr>
              <a:t>외부망</a:t>
            </a:r>
            <a:endParaRPr lang="en-US" sz="2933" b="0" i="0" u="none" strike="noStrike" dirty="0">
              <a:solidFill>
                <a:srgbClr val="000000"/>
              </a:solidFill>
              <a:latin typeface="Pretendard Medium"/>
              <a:ea typeface="Pretendard Medium"/>
              <a:cs typeface="Pretendard Medium"/>
            </a:endParaRPr>
          </a:p>
        </p:txBody>
      </p:sp>
      <p:sp>
        <p:nvSpPr>
          <p:cNvPr id="15" name="TextBox 22">
            <a:extLst>
              <a:ext uri="{FF2B5EF4-FFF2-40B4-BE49-F238E27FC236}">
                <a16:creationId xmlns:a16="http://schemas.microsoft.com/office/drawing/2014/main" id="{C463FF3D-96B5-0468-64D5-B38EE3C79401}"/>
              </a:ext>
            </a:extLst>
          </p:cNvPr>
          <p:cNvSpPr txBox="1"/>
          <p:nvPr/>
        </p:nvSpPr>
        <p:spPr>
          <a:xfrm>
            <a:off x="10426700" y="3924300"/>
            <a:ext cx="3454400" cy="520700"/>
          </a:xfrm>
          <a:prstGeom prst="rect">
            <a:avLst/>
          </a:prstGeom>
        </p:spPr>
        <p:txBody>
          <a:bodyPr lIns="0" tIns="0" rIns="0" bIns="0" rtlCol="0" anchor="t"/>
          <a:lstStyle/>
          <a:p>
            <a:pPr lvl="0" algn="ctr">
              <a:lnSpc>
                <a:spcPct val="116199"/>
              </a:lnSpc>
            </a:pPr>
            <a:r>
              <a:rPr lang="ko-KR" altLang="en-US" sz="2933" b="0" i="0" u="none" strike="noStrike" dirty="0" err="1">
                <a:solidFill>
                  <a:srgbClr val="000000"/>
                </a:solidFill>
                <a:latin typeface="Pretendard Medium"/>
                <a:ea typeface="Pretendard Medium"/>
                <a:cs typeface="Pretendard Medium"/>
              </a:rPr>
              <a:t>내부망</a:t>
            </a:r>
            <a:endParaRPr lang="en-US" sz="2933" b="0" i="0" u="none" strike="noStrike" dirty="0">
              <a:solidFill>
                <a:srgbClr val="000000"/>
              </a:solidFill>
              <a:latin typeface="Pretendard Medium"/>
              <a:ea typeface="Pretendard Medium"/>
              <a:cs typeface="Pretendard Medium"/>
            </a:endParaRPr>
          </a:p>
        </p:txBody>
      </p:sp>
      <p:sp>
        <p:nvSpPr>
          <p:cNvPr id="16" name="TextBox 23">
            <a:extLst>
              <a:ext uri="{FF2B5EF4-FFF2-40B4-BE49-F238E27FC236}">
                <a16:creationId xmlns:a16="http://schemas.microsoft.com/office/drawing/2014/main" id="{29663F6D-28F5-7541-4C27-A1475250F299}"/>
              </a:ext>
            </a:extLst>
          </p:cNvPr>
          <p:cNvSpPr txBox="1"/>
          <p:nvPr/>
        </p:nvSpPr>
        <p:spPr>
          <a:xfrm>
            <a:off x="17818100" y="3924300"/>
            <a:ext cx="3454400" cy="520700"/>
          </a:xfrm>
          <a:prstGeom prst="rect">
            <a:avLst/>
          </a:prstGeom>
        </p:spPr>
        <p:txBody>
          <a:bodyPr lIns="0" tIns="0" rIns="0" bIns="0" rtlCol="0" anchor="t"/>
          <a:lstStyle/>
          <a:p>
            <a:pPr lvl="0" algn="ctr">
              <a:lnSpc>
                <a:spcPct val="116199"/>
              </a:lnSpc>
            </a:pPr>
            <a:r>
              <a:rPr lang="en-US" sz="2933" dirty="0">
                <a:solidFill>
                  <a:srgbClr val="000000"/>
                </a:solidFill>
                <a:latin typeface="Pretendard Medium"/>
                <a:ea typeface="Pretendard Medium"/>
                <a:cs typeface="Pretendard Medium"/>
              </a:rPr>
              <a:t>CS</a:t>
            </a:r>
            <a:r>
              <a:rPr lang="ko-KR" altLang="en-US" sz="2933" dirty="0">
                <a:solidFill>
                  <a:srgbClr val="000000"/>
                </a:solidFill>
                <a:latin typeface="Pretendard Medium"/>
                <a:ea typeface="Pretendard Medium"/>
                <a:cs typeface="Pretendard Medium"/>
              </a:rPr>
              <a:t> 망</a:t>
            </a:r>
            <a:endParaRPr lang="en-US" sz="2933" b="0" i="0" u="none" strike="noStrike" dirty="0">
              <a:solidFill>
                <a:srgbClr val="000000"/>
              </a:solidFill>
              <a:latin typeface="Pretendard Medium"/>
              <a:ea typeface="Pretendard Medium"/>
              <a:cs typeface="Pretendard Medium"/>
            </a:endParaRPr>
          </a:p>
        </p:txBody>
      </p:sp>
      <p:pic>
        <p:nvPicPr>
          <p:cNvPr id="17" name="Picture 24">
            <a:extLst>
              <a:ext uri="{FF2B5EF4-FFF2-40B4-BE49-F238E27FC236}">
                <a16:creationId xmlns:a16="http://schemas.microsoft.com/office/drawing/2014/main" id="{1BE381D5-5D40-CC0C-3AD3-E5D11E44E481}"/>
              </a:ext>
            </a:extLst>
          </p:cNvPr>
          <p:cNvPicPr>
            <a:picLocks noChangeAspect="1"/>
          </p:cNvPicPr>
          <p:nvPr/>
        </p:nvPicPr>
        <p:blipFill>
          <a:blip r:embed="rId11"/>
          <a:stretch>
            <a:fillRect/>
          </a:stretch>
        </p:blipFill>
        <p:spPr>
          <a:xfrm rot="10800000">
            <a:off x="6146800" y="6477000"/>
            <a:ext cx="6350000" cy="190500"/>
          </a:xfrm>
          <a:prstGeom prst="rect">
            <a:avLst/>
          </a:prstGeom>
        </p:spPr>
      </p:pic>
      <p:pic>
        <p:nvPicPr>
          <p:cNvPr id="18" name="Picture 25">
            <a:extLst>
              <a:ext uri="{FF2B5EF4-FFF2-40B4-BE49-F238E27FC236}">
                <a16:creationId xmlns:a16="http://schemas.microsoft.com/office/drawing/2014/main" id="{4C7D3033-CE3D-769D-F5B9-5C56B73E4FB7}"/>
              </a:ext>
            </a:extLst>
          </p:cNvPr>
          <p:cNvPicPr>
            <a:picLocks noChangeAspect="1"/>
          </p:cNvPicPr>
          <p:nvPr/>
        </p:nvPicPr>
        <p:blipFill>
          <a:blip r:embed="rId12"/>
          <a:stretch>
            <a:fillRect/>
          </a:stretch>
        </p:blipFill>
        <p:spPr>
          <a:xfrm rot="10800000">
            <a:off x="20345400" y="11633200"/>
            <a:ext cx="1187450" cy="190500"/>
          </a:xfrm>
          <a:prstGeom prst="rect">
            <a:avLst/>
          </a:prstGeom>
        </p:spPr>
      </p:pic>
      <p:pic>
        <p:nvPicPr>
          <p:cNvPr id="99" name="Picture 26">
            <a:extLst>
              <a:ext uri="{FF2B5EF4-FFF2-40B4-BE49-F238E27FC236}">
                <a16:creationId xmlns:a16="http://schemas.microsoft.com/office/drawing/2014/main" id="{C07C542F-BCCD-5716-FB1F-C074A518D46A}"/>
              </a:ext>
            </a:extLst>
          </p:cNvPr>
          <p:cNvPicPr>
            <a:picLocks noChangeAspect="1"/>
          </p:cNvPicPr>
          <p:nvPr/>
        </p:nvPicPr>
        <p:blipFill>
          <a:blip r:embed="rId13"/>
          <a:stretch>
            <a:fillRect/>
          </a:stretch>
        </p:blipFill>
        <p:spPr>
          <a:xfrm>
            <a:off x="8407400" y="6083300"/>
            <a:ext cx="355600" cy="355600"/>
          </a:xfrm>
          <a:prstGeom prst="rect">
            <a:avLst/>
          </a:prstGeom>
        </p:spPr>
      </p:pic>
      <p:sp>
        <p:nvSpPr>
          <p:cNvPr id="100" name="TextBox 27">
            <a:extLst>
              <a:ext uri="{FF2B5EF4-FFF2-40B4-BE49-F238E27FC236}">
                <a16:creationId xmlns:a16="http://schemas.microsoft.com/office/drawing/2014/main" id="{EC857517-B562-843B-0DE7-1CEEA484DEAB}"/>
              </a:ext>
            </a:extLst>
          </p:cNvPr>
          <p:cNvSpPr txBox="1"/>
          <p:nvPr/>
        </p:nvSpPr>
        <p:spPr>
          <a:xfrm>
            <a:off x="8813800" y="6045200"/>
            <a:ext cx="3378200" cy="431800"/>
          </a:xfrm>
          <a:prstGeom prst="rect">
            <a:avLst/>
          </a:prstGeom>
        </p:spPr>
        <p:txBody>
          <a:bodyPr lIns="0" tIns="0" rIns="0" bIns="0" rtlCol="0" anchor="t"/>
          <a:lstStyle/>
          <a:p>
            <a:pPr algn="ctr">
              <a:lnSpc>
                <a:spcPct val="116199"/>
              </a:lnSpc>
            </a:pPr>
            <a:r>
              <a:rPr lang="en-US" sz="2400" b="0" i="0" u="none" strike="noStrike" dirty="0" err="1">
                <a:solidFill>
                  <a:srgbClr val="000000"/>
                </a:solidFill>
                <a:latin typeface="Pretendard Medium"/>
                <a:ea typeface="Pretendard Medium"/>
                <a:cs typeface="Pretendard Medium"/>
              </a:rPr>
              <a:t>파일</a:t>
            </a:r>
            <a:r>
              <a:rPr lang="en-US" sz="2400" b="0" i="0" u="none" strike="noStrike" dirty="0">
                <a:solidFill>
                  <a:srgbClr val="000000"/>
                </a:solidFill>
                <a:latin typeface="Pretendard Medium"/>
                <a:ea typeface="Pretendard Medium"/>
                <a:cs typeface="Pretendard Medium"/>
              </a:rPr>
              <a:t> </a:t>
            </a:r>
            <a:r>
              <a:rPr lang="en-US" sz="2400" b="0" i="0" u="none" strike="noStrike" dirty="0" err="1">
                <a:solidFill>
                  <a:srgbClr val="000000"/>
                </a:solidFill>
                <a:latin typeface="Pretendard Medium"/>
                <a:ea typeface="Pretendard Medium"/>
                <a:cs typeface="Pretendard Medium"/>
              </a:rPr>
              <a:t>업로드</a:t>
            </a:r>
            <a:r>
              <a:rPr lang="ko-KR" altLang="en-US" sz="2400" b="0" i="0" u="none" strike="noStrike" dirty="0">
                <a:solidFill>
                  <a:srgbClr val="000000"/>
                </a:solidFill>
                <a:latin typeface="Pretendard Medium"/>
                <a:ea typeface="Pretendard Medium"/>
                <a:cs typeface="Pretendard Medium"/>
              </a:rPr>
              <a:t> </a:t>
            </a:r>
            <a:r>
              <a:rPr lang="en-US" altLang="ko-KR" sz="2400" b="0" i="0" u="none" strike="noStrike" dirty="0">
                <a:solidFill>
                  <a:srgbClr val="000000"/>
                </a:solidFill>
                <a:latin typeface="Pretendard Medium"/>
                <a:ea typeface="Pretendard Medium"/>
                <a:cs typeface="Pretendard Medium"/>
              </a:rPr>
              <a:t>+</a:t>
            </a:r>
            <a:r>
              <a:rPr lang="ko-KR" altLang="en-US" sz="2400" b="0" i="0" u="none" strike="noStrike" dirty="0">
                <a:solidFill>
                  <a:srgbClr val="000000"/>
                </a:solidFill>
                <a:latin typeface="Pretendard Medium"/>
                <a:ea typeface="Pretendard Medium"/>
                <a:cs typeface="Pretendard Medium"/>
              </a:rPr>
              <a:t> </a:t>
            </a:r>
            <a:r>
              <a:rPr lang="en-US" sz="2400" dirty="0">
                <a:solidFill>
                  <a:srgbClr val="000000"/>
                </a:solidFill>
                <a:latin typeface="Pretendard Medium"/>
                <a:ea typeface="Pretendard Medium"/>
                <a:cs typeface="Pretendard Medium"/>
              </a:rPr>
              <a:t>Shell </a:t>
            </a:r>
            <a:r>
              <a:rPr lang="en-US" sz="2400" dirty="0" err="1">
                <a:solidFill>
                  <a:srgbClr val="000000"/>
                </a:solidFill>
                <a:latin typeface="Pretendard Medium"/>
                <a:ea typeface="Pretendard Medium"/>
                <a:cs typeface="Pretendard Medium"/>
              </a:rPr>
              <a:t>연결</a:t>
            </a:r>
            <a:endParaRPr lang="en-US" sz="2400" dirty="0">
              <a:solidFill>
                <a:srgbClr val="000000"/>
              </a:solidFill>
              <a:latin typeface="Pretendard Medium"/>
              <a:ea typeface="Pretendard Medium"/>
              <a:cs typeface="Pretendard Medium"/>
            </a:endParaRPr>
          </a:p>
          <a:p>
            <a:pPr lvl="0" algn="ctr">
              <a:lnSpc>
                <a:spcPct val="116199"/>
              </a:lnSpc>
            </a:pPr>
            <a:endParaRPr lang="en-US" sz="2400" b="0" i="0" u="none" strike="noStrike" dirty="0">
              <a:solidFill>
                <a:srgbClr val="000000"/>
              </a:solidFill>
              <a:latin typeface="Pretendard Medium"/>
              <a:ea typeface="Pretendard Medium"/>
              <a:cs typeface="Pretendard Medium"/>
            </a:endParaRPr>
          </a:p>
        </p:txBody>
      </p:sp>
      <p:sp>
        <p:nvSpPr>
          <p:cNvPr id="101" name="TextBox 29">
            <a:extLst>
              <a:ext uri="{FF2B5EF4-FFF2-40B4-BE49-F238E27FC236}">
                <a16:creationId xmlns:a16="http://schemas.microsoft.com/office/drawing/2014/main" id="{489A49D2-463C-F6F3-BFD8-C65276A3CCF9}"/>
              </a:ext>
            </a:extLst>
          </p:cNvPr>
          <p:cNvSpPr txBox="1"/>
          <p:nvPr/>
        </p:nvSpPr>
        <p:spPr>
          <a:xfrm>
            <a:off x="8763000" y="6667500"/>
            <a:ext cx="1536700" cy="431800"/>
          </a:xfrm>
          <a:prstGeom prst="rect">
            <a:avLst/>
          </a:prstGeom>
        </p:spPr>
        <p:txBody>
          <a:bodyPr lIns="0" tIns="0" rIns="0" bIns="0" rtlCol="0" anchor="t"/>
          <a:lstStyle/>
          <a:p>
            <a:pPr lvl="0" algn="ctr">
              <a:lnSpc>
                <a:spcPct val="116199"/>
              </a:lnSpc>
            </a:pPr>
            <a:endParaRPr lang="en-US" sz="2400" b="0" i="0" u="none" strike="noStrike" dirty="0">
              <a:solidFill>
                <a:srgbClr val="000000"/>
              </a:solidFill>
              <a:latin typeface="Pretendard Medium"/>
              <a:ea typeface="Pretendard Medium"/>
              <a:cs typeface="Pretendard Medium"/>
            </a:endParaRPr>
          </a:p>
        </p:txBody>
      </p:sp>
      <p:pic>
        <p:nvPicPr>
          <p:cNvPr id="102" name="Picture 30">
            <a:extLst>
              <a:ext uri="{FF2B5EF4-FFF2-40B4-BE49-F238E27FC236}">
                <a16:creationId xmlns:a16="http://schemas.microsoft.com/office/drawing/2014/main" id="{1A4E10F9-2004-6998-C3B5-333C9E551C7C}"/>
              </a:ext>
            </a:extLst>
          </p:cNvPr>
          <p:cNvPicPr>
            <a:picLocks noChangeAspect="1"/>
          </p:cNvPicPr>
          <p:nvPr/>
        </p:nvPicPr>
        <p:blipFill>
          <a:blip r:embed="rId14"/>
          <a:stretch>
            <a:fillRect/>
          </a:stretch>
        </p:blipFill>
        <p:spPr>
          <a:xfrm>
            <a:off x="4470400" y="5880100"/>
            <a:ext cx="1168400" cy="1130300"/>
          </a:xfrm>
          <a:prstGeom prst="rect">
            <a:avLst/>
          </a:prstGeom>
        </p:spPr>
      </p:pic>
      <p:sp>
        <p:nvSpPr>
          <p:cNvPr id="103" name="TextBox 31">
            <a:extLst>
              <a:ext uri="{FF2B5EF4-FFF2-40B4-BE49-F238E27FC236}">
                <a16:creationId xmlns:a16="http://schemas.microsoft.com/office/drawing/2014/main" id="{46AC7C6D-CA2D-104B-01AE-7A471539E57A}"/>
              </a:ext>
            </a:extLst>
          </p:cNvPr>
          <p:cNvSpPr txBox="1"/>
          <p:nvPr/>
        </p:nvSpPr>
        <p:spPr>
          <a:xfrm>
            <a:off x="3911600" y="7061200"/>
            <a:ext cx="22860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Medium"/>
                <a:ea typeface="Pretendard Medium"/>
                <a:cs typeface="Pretendard Medium"/>
              </a:rPr>
              <a:t>공격자</a:t>
            </a:r>
          </a:p>
        </p:txBody>
      </p:sp>
      <p:sp>
        <p:nvSpPr>
          <p:cNvPr id="104" name="TextBox 32">
            <a:extLst>
              <a:ext uri="{FF2B5EF4-FFF2-40B4-BE49-F238E27FC236}">
                <a16:creationId xmlns:a16="http://schemas.microsoft.com/office/drawing/2014/main" id="{40E87F1B-7F09-C866-EDAA-C355403B4929}"/>
              </a:ext>
            </a:extLst>
          </p:cNvPr>
          <p:cNvSpPr txBox="1"/>
          <p:nvPr/>
        </p:nvSpPr>
        <p:spPr>
          <a:xfrm>
            <a:off x="4152900" y="11252200"/>
            <a:ext cx="1866900" cy="9525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Medium"/>
                <a:ea typeface="Pretendard Medium"/>
                <a:cs typeface="Pretendard Medium"/>
              </a:rPr>
              <a:t>AI 자동</a:t>
            </a:r>
          </a:p>
          <a:p>
            <a:pPr lvl="0" algn="ctr">
              <a:lnSpc>
                <a:spcPct val="116199"/>
              </a:lnSpc>
            </a:pPr>
            <a:r>
              <a:rPr lang="en-US" sz="2666" b="0" i="0" u="none" strike="noStrike">
                <a:solidFill>
                  <a:srgbClr val="000000"/>
                </a:solidFill>
                <a:latin typeface="Pretendard Medium"/>
                <a:ea typeface="Pretendard Medium"/>
                <a:cs typeface="Pretendard Medium"/>
              </a:rPr>
              <a:t>보이스피싱</a:t>
            </a:r>
          </a:p>
        </p:txBody>
      </p:sp>
      <p:pic>
        <p:nvPicPr>
          <p:cNvPr id="105" name="Picture 33">
            <a:extLst>
              <a:ext uri="{FF2B5EF4-FFF2-40B4-BE49-F238E27FC236}">
                <a16:creationId xmlns:a16="http://schemas.microsoft.com/office/drawing/2014/main" id="{9E25ED40-2F4E-CD4C-0BCB-F3A2B439B0F4}"/>
              </a:ext>
            </a:extLst>
          </p:cNvPr>
          <p:cNvPicPr>
            <a:picLocks noChangeAspect="1"/>
          </p:cNvPicPr>
          <p:nvPr/>
        </p:nvPicPr>
        <p:blipFill>
          <a:blip r:embed="rId15"/>
          <a:stretch>
            <a:fillRect/>
          </a:stretch>
        </p:blipFill>
        <p:spPr>
          <a:xfrm>
            <a:off x="11430000" y="10820400"/>
            <a:ext cx="355600" cy="355600"/>
          </a:xfrm>
          <a:prstGeom prst="rect">
            <a:avLst/>
          </a:prstGeom>
        </p:spPr>
      </p:pic>
      <p:sp>
        <p:nvSpPr>
          <p:cNvPr id="106" name="TextBox 34">
            <a:extLst>
              <a:ext uri="{FF2B5EF4-FFF2-40B4-BE49-F238E27FC236}">
                <a16:creationId xmlns:a16="http://schemas.microsoft.com/office/drawing/2014/main" id="{B5BC89D4-3D76-5011-A6B3-DA381C835898}"/>
              </a:ext>
            </a:extLst>
          </p:cNvPr>
          <p:cNvSpPr txBox="1"/>
          <p:nvPr/>
        </p:nvSpPr>
        <p:spPr>
          <a:xfrm>
            <a:off x="14770474" y="6045200"/>
            <a:ext cx="1778000" cy="431800"/>
          </a:xfrm>
          <a:prstGeom prst="rect">
            <a:avLst/>
          </a:prstGeom>
        </p:spPr>
        <p:txBody>
          <a:bodyPr lIns="0" tIns="0" rIns="0" bIns="0" rtlCol="0" anchor="t"/>
          <a:lstStyle/>
          <a:p>
            <a:pPr lvl="0" algn="ctr">
              <a:lnSpc>
                <a:spcPct val="116199"/>
              </a:lnSpc>
            </a:pPr>
            <a:r>
              <a:rPr lang="en-US" sz="2400" b="0" i="0" u="none" strike="noStrike" dirty="0" err="1">
                <a:solidFill>
                  <a:srgbClr val="000000"/>
                </a:solidFill>
                <a:latin typeface="Pretendard Medium"/>
                <a:ea typeface="Pretendard Medium"/>
                <a:cs typeface="Pretendard Medium"/>
              </a:rPr>
              <a:t>유저정보</a:t>
            </a:r>
            <a:r>
              <a:rPr lang="en-US" sz="2400" b="0" i="0" u="none" strike="noStrike" dirty="0">
                <a:solidFill>
                  <a:srgbClr val="000000"/>
                </a:solidFill>
                <a:latin typeface="Pretendard Medium"/>
                <a:ea typeface="Pretendard Medium"/>
                <a:cs typeface="Pretendard Medium"/>
              </a:rPr>
              <a:t> </a:t>
            </a:r>
            <a:r>
              <a:rPr lang="en-US" sz="2400" b="0" i="0" u="none" strike="noStrike" dirty="0" err="1">
                <a:solidFill>
                  <a:srgbClr val="000000"/>
                </a:solidFill>
                <a:latin typeface="Pretendard Medium"/>
                <a:ea typeface="Pretendard Medium"/>
                <a:cs typeface="Pretendard Medium"/>
              </a:rPr>
              <a:t>요청</a:t>
            </a:r>
            <a:endParaRPr lang="en-US" sz="2400" b="0" i="0" u="none" strike="noStrike" dirty="0">
              <a:solidFill>
                <a:srgbClr val="000000"/>
              </a:solidFill>
              <a:latin typeface="Pretendard Medium"/>
              <a:ea typeface="Pretendard Medium"/>
              <a:cs typeface="Pretendard Medium"/>
            </a:endParaRPr>
          </a:p>
        </p:txBody>
      </p:sp>
      <p:pic>
        <p:nvPicPr>
          <p:cNvPr id="107" name="Picture 35">
            <a:extLst>
              <a:ext uri="{FF2B5EF4-FFF2-40B4-BE49-F238E27FC236}">
                <a16:creationId xmlns:a16="http://schemas.microsoft.com/office/drawing/2014/main" id="{8B85F743-DF3F-B411-F099-9140FF237338}"/>
              </a:ext>
            </a:extLst>
          </p:cNvPr>
          <p:cNvPicPr>
            <a:picLocks noChangeAspect="1"/>
          </p:cNvPicPr>
          <p:nvPr/>
        </p:nvPicPr>
        <p:blipFill>
          <a:blip r:embed="rId16"/>
          <a:stretch>
            <a:fillRect/>
          </a:stretch>
        </p:blipFill>
        <p:spPr>
          <a:xfrm>
            <a:off x="14306550" y="6096000"/>
            <a:ext cx="342900" cy="342900"/>
          </a:xfrm>
          <a:prstGeom prst="rect">
            <a:avLst/>
          </a:prstGeom>
        </p:spPr>
      </p:pic>
      <p:sp>
        <p:nvSpPr>
          <p:cNvPr id="108" name="TextBox 36">
            <a:extLst>
              <a:ext uri="{FF2B5EF4-FFF2-40B4-BE49-F238E27FC236}">
                <a16:creationId xmlns:a16="http://schemas.microsoft.com/office/drawing/2014/main" id="{00300303-D063-070B-0293-A6D08EFA9BBB}"/>
              </a:ext>
            </a:extLst>
          </p:cNvPr>
          <p:cNvSpPr txBox="1"/>
          <p:nvPr/>
        </p:nvSpPr>
        <p:spPr>
          <a:xfrm>
            <a:off x="14986000" y="6705600"/>
            <a:ext cx="2755900" cy="431800"/>
          </a:xfrm>
          <a:prstGeom prst="rect">
            <a:avLst/>
          </a:prstGeom>
        </p:spPr>
        <p:txBody>
          <a:bodyPr lIns="0" tIns="0" rIns="0" bIns="0" rtlCol="0" anchor="t"/>
          <a:lstStyle/>
          <a:p>
            <a:pPr lvl="0" algn="ctr">
              <a:lnSpc>
                <a:spcPct val="116199"/>
              </a:lnSpc>
            </a:pPr>
            <a:r>
              <a:rPr lang="en-US" sz="2400" b="0" i="0" u="none" strike="noStrike">
                <a:solidFill>
                  <a:srgbClr val="000000"/>
                </a:solidFill>
                <a:latin typeface="Pretendard Medium"/>
                <a:ea typeface="Pretendard Medium"/>
                <a:cs typeface="Pretendard Medium"/>
              </a:rPr>
              <a:t>악성 스크립트 반환</a:t>
            </a:r>
          </a:p>
        </p:txBody>
      </p:sp>
      <p:pic>
        <p:nvPicPr>
          <p:cNvPr id="109" name="Picture 37">
            <a:extLst>
              <a:ext uri="{FF2B5EF4-FFF2-40B4-BE49-F238E27FC236}">
                <a16:creationId xmlns:a16="http://schemas.microsoft.com/office/drawing/2014/main" id="{5A67648B-C6A4-3F6A-51E0-3884A74898AB}"/>
              </a:ext>
            </a:extLst>
          </p:cNvPr>
          <p:cNvPicPr>
            <a:picLocks noChangeAspect="1"/>
          </p:cNvPicPr>
          <p:nvPr/>
        </p:nvPicPr>
        <p:blipFill>
          <a:blip r:embed="rId17"/>
          <a:stretch>
            <a:fillRect/>
          </a:stretch>
        </p:blipFill>
        <p:spPr>
          <a:xfrm rot="5399999">
            <a:off x="3949700" y="8547100"/>
            <a:ext cx="2222500" cy="190500"/>
          </a:xfrm>
          <a:prstGeom prst="rect">
            <a:avLst/>
          </a:prstGeom>
        </p:spPr>
      </p:pic>
      <p:sp>
        <p:nvSpPr>
          <p:cNvPr id="110" name="TextBox 38">
            <a:extLst>
              <a:ext uri="{FF2B5EF4-FFF2-40B4-BE49-F238E27FC236}">
                <a16:creationId xmlns:a16="http://schemas.microsoft.com/office/drawing/2014/main" id="{645DCC08-AC1F-F256-7DD8-CCB053956433}"/>
              </a:ext>
            </a:extLst>
          </p:cNvPr>
          <p:cNvSpPr txBox="1"/>
          <p:nvPr/>
        </p:nvSpPr>
        <p:spPr>
          <a:xfrm>
            <a:off x="16776700" y="11988800"/>
            <a:ext cx="2159000" cy="431800"/>
          </a:xfrm>
          <a:prstGeom prst="rect">
            <a:avLst/>
          </a:prstGeom>
        </p:spPr>
        <p:txBody>
          <a:bodyPr lIns="0" tIns="0" rIns="0" bIns="0" rtlCol="0" anchor="t"/>
          <a:lstStyle/>
          <a:p>
            <a:pPr lvl="0" algn="ctr">
              <a:lnSpc>
                <a:spcPct val="116199"/>
              </a:lnSpc>
            </a:pPr>
            <a:r>
              <a:rPr lang="en-US" sz="2400" b="0" i="0" u="none" strike="noStrike">
                <a:solidFill>
                  <a:srgbClr val="000000"/>
                </a:solidFill>
                <a:latin typeface="Pretendard Medium"/>
                <a:ea typeface="Pretendard Medium"/>
                <a:cs typeface="Pretendard Medium"/>
              </a:rPr>
              <a:t>녹취 파일 탈취   </a:t>
            </a:r>
          </a:p>
        </p:txBody>
      </p:sp>
      <p:pic>
        <p:nvPicPr>
          <p:cNvPr id="111" name="Picture 39">
            <a:extLst>
              <a:ext uri="{FF2B5EF4-FFF2-40B4-BE49-F238E27FC236}">
                <a16:creationId xmlns:a16="http://schemas.microsoft.com/office/drawing/2014/main" id="{4CC8EDA1-3834-B0DE-829A-686F3F6C7922}"/>
              </a:ext>
            </a:extLst>
          </p:cNvPr>
          <p:cNvPicPr>
            <a:picLocks noChangeAspect="1"/>
          </p:cNvPicPr>
          <p:nvPr/>
        </p:nvPicPr>
        <p:blipFill>
          <a:blip r:embed="rId18"/>
          <a:stretch>
            <a:fillRect/>
          </a:stretch>
        </p:blipFill>
        <p:spPr>
          <a:xfrm rot="10800000">
            <a:off x="10452100" y="8407400"/>
            <a:ext cx="1498600" cy="190500"/>
          </a:xfrm>
          <a:prstGeom prst="rect">
            <a:avLst/>
          </a:prstGeom>
        </p:spPr>
      </p:pic>
      <p:sp>
        <p:nvSpPr>
          <p:cNvPr id="112" name="TextBox 40">
            <a:extLst>
              <a:ext uri="{FF2B5EF4-FFF2-40B4-BE49-F238E27FC236}">
                <a16:creationId xmlns:a16="http://schemas.microsoft.com/office/drawing/2014/main" id="{AC746EAB-86E1-1876-47AC-B67F0C601CF9}"/>
              </a:ext>
            </a:extLst>
          </p:cNvPr>
          <p:cNvSpPr txBox="1"/>
          <p:nvPr/>
        </p:nvSpPr>
        <p:spPr>
          <a:xfrm>
            <a:off x="10604500" y="7937500"/>
            <a:ext cx="1536700" cy="431800"/>
          </a:xfrm>
          <a:prstGeom prst="rect">
            <a:avLst/>
          </a:prstGeom>
        </p:spPr>
        <p:txBody>
          <a:bodyPr lIns="0" tIns="0" rIns="0" bIns="0" rtlCol="0" anchor="t"/>
          <a:lstStyle/>
          <a:p>
            <a:pPr lvl="0" algn="ctr">
              <a:lnSpc>
                <a:spcPct val="116199"/>
              </a:lnSpc>
            </a:pPr>
            <a:r>
              <a:rPr lang="en-US" sz="2400" b="0" i="0" u="none" strike="noStrike">
                <a:solidFill>
                  <a:srgbClr val="000000"/>
                </a:solidFill>
                <a:latin typeface="Pretendard Medium"/>
                <a:ea typeface="Pretendard Medium"/>
                <a:cs typeface="Pretendard Medium"/>
              </a:rPr>
              <a:t>터널링 접근</a:t>
            </a:r>
          </a:p>
        </p:txBody>
      </p:sp>
      <p:pic>
        <p:nvPicPr>
          <p:cNvPr id="113" name="Picture 41">
            <a:extLst>
              <a:ext uri="{FF2B5EF4-FFF2-40B4-BE49-F238E27FC236}">
                <a16:creationId xmlns:a16="http://schemas.microsoft.com/office/drawing/2014/main" id="{9FCC172E-05C6-5DFF-BD25-E550C963A7B5}"/>
              </a:ext>
            </a:extLst>
          </p:cNvPr>
          <p:cNvPicPr>
            <a:picLocks noChangeAspect="1"/>
          </p:cNvPicPr>
          <p:nvPr/>
        </p:nvPicPr>
        <p:blipFill>
          <a:blip r:embed="rId19"/>
          <a:stretch>
            <a:fillRect/>
          </a:stretch>
        </p:blipFill>
        <p:spPr>
          <a:xfrm>
            <a:off x="10299700" y="7975600"/>
            <a:ext cx="368300" cy="368300"/>
          </a:xfrm>
          <a:prstGeom prst="rect">
            <a:avLst/>
          </a:prstGeom>
        </p:spPr>
      </p:pic>
      <p:pic>
        <p:nvPicPr>
          <p:cNvPr id="114" name="Picture 42">
            <a:extLst>
              <a:ext uri="{FF2B5EF4-FFF2-40B4-BE49-F238E27FC236}">
                <a16:creationId xmlns:a16="http://schemas.microsoft.com/office/drawing/2014/main" id="{BD680CF8-EA9F-9545-8B72-B33653D2AE01}"/>
              </a:ext>
            </a:extLst>
          </p:cNvPr>
          <p:cNvPicPr>
            <a:picLocks noChangeAspect="1"/>
          </p:cNvPicPr>
          <p:nvPr/>
        </p:nvPicPr>
        <p:blipFill>
          <a:blip r:embed="rId20"/>
          <a:stretch>
            <a:fillRect/>
          </a:stretch>
        </p:blipFill>
        <p:spPr>
          <a:xfrm>
            <a:off x="12769848" y="6477000"/>
            <a:ext cx="5975352" cy="190500"/>
          </a:xfrm>
          <a:prstGeom prst="rect">
            <a:avLst/>
          </a:prstGeom>
        </p:spPr>
      </p:pic>
      <p:pic>
        <p:nvPicPr>
          <p:cNvPr id="115" name="Picture 43">
            <a:extLst>
              <a:ext uri="{FF2B5EF4-FFF2-40B4-BE49-F238E27FC236}">
                <a16:creationId xmlns:a16="http://schemas.microsoft.com/office/drawing/2014/main" id="{E1079413-1809-2B73-840F-0D8C67A8557A}"/>
              </a:ext>
            </a:extLst>
          </p:cNvPr>
          <p:cNvPicPr>
            <a:picLocks noChangeAspect="1"/>
          </p:cNvPicPr>
          <p:nvPr/>
        </p:nvPicPr>
        <p:blipFill>
          <a:blip r:embed="rId21"/>
          <a:stretch>
            <a:fillRect/>
          </a:stretch>
        </p:blipFill>
        <p:spPr>
          <a:xfrm>
            <a:off x="11201400" y="5511800"/>
            <a:ext cx="317500" cy="317500"/>
          </a:xfrm>
          <a:prstGeom prst="rect">
            <a:avLst/>
          </a:prstGeom>
        </p:spPr>
      </p:pic>
      <p:sp>
        <p:nvSpPr>
          <p:cNvPr id="116" name="TextBox 44">
            <a:extLst>
              <a:ext uri="{FF2B5EF4-FFF2-40B4-BE49-F238E27FC236}">
                <a16:creationId xmlns:a16="http://schemas.microsoft.com/office/drawing/2014/main" id="{5155E32C-830C-B3AB-11C2-E375951821DA}"/>
              </a:ext>
            </a:extLst>
          </p:cNvPr>
          <p:cNvSpPr txBox="1"/>
          <p:nvPr/>
        </p:nvSpPr>
        <p:spPr>
          <a:xfrm>
            <a:off x="20129500" y="9232900"/>
            <a:ext cx="1308100" cy="431800"/>
          </a:xfrm>
          <a:prstGeom prst="rect">
            <a:avLst/>
          </a:prstGeom>
        </p:spPr>
        <p:txBody>
          <a:bodyPr lIns="0" tIns="0" rIns="0" bIns="0" rtlCol="0" anchor="t"/>
          <a:lstStyle/>
          <a:p>
            <a:pPr lvl="0" algn="ctr">
              <a:lnSpc>
                <a:spcPct val="116199"/>
              </a:lnSpc>
            </a:pPr>
            <a:r>
              <a:rPr lang="en-US" sz="2400" b="0" i="0" u="none" strike="noStrike">
                <a:solidFill>
                  <a:srgbClr val="000000"/>
                </a:solidFill>
                <a:latin typeface="Pretendard Medium"/>
                <a:ea typeface="Pretendard Medium"/>
                <a:cs typeface="Pretendard Medium"/>
              </a:rPr>
              <a:t>DB 장악</a:t>
            </a:r>
          </a:p>
        </p:txBody>
      </p:sp>
      <p:pic>
        <p:nvPicPr>
          <p:cNvPr id="117" name="Picture 45">
            <a:extLst>
              <a:ext uri="{FF2B5EF4-FFF2-40B4-BE49-F238E27FC236}">
                <a16:creationId xmlns:a16="http://schemas.microsoft.com/office/drawing/2014/main" id="{3C542C59-63D6-12A5-2026-02F4DE808C4A}"/>
              </a:ext>
            </a:extLst>
          </p:cNvPr>
          <p:cNvPicPr>
            <a:picLocks noChangeAspect="1"/>
          </p:cNvPicPr>
          <p:nvPr/>
        </p:nvPicPr>
        <p:blipFill>
          <a:blip r:embed="rId22"/>
          <a:stretch>
            <a:fillRect/>
          </a:stretch>
        </p:blipFill>
        <p:spPr>
          <a:xfrm rot="10800000">
            <a:off x="6146800" y="6692900"/>
            <a:ext cx="1447800" cy="190500"/>
          </a:xfrm>
          <a:prstGeom prst="rect">
            <a:avLst/>
          </a:prstGeom>
        </p:spPr>
      </p:pic>
      <p:pic>
        <p:nvPicPr>
          <p:cNvPr id="118" name="Picture 46">
            <a:extLst>
              <a:ext uri="{FF2B5EF4-FFF2-40B4-BE49-F238E27FC236}">
                <a16:creationId xmlns:a16="http://schemas.microsoft.com/office/drawing/2014/main" id="{37398996-527D-37C5-2D57-D892C1331D8E}"/>
              </a:ext>
            </a:extLst>
          </p:cNvPr>
          <p:cNvPicPr>
            <a:picLocks noChangeAspect="1"/>
          </p:cNvPicPr>
          <p:nvPr/>
        </p:nvPicPr>
        <p:blipFill>
          <a:blip r:embed="rId23"/>
          <a:stretch>
            <a:fillRect/>
          </a:stretch>
        </p:blipFill>
        <p:spPr>
          <a:xfrm>
            <a:off x="7524749" y="11823700"/>
            <a:ext cx="11296651" cy="63500"/>
          </a:xfrm>
          <a:prstGeom prst="rect">
            <a:avLst/>
          </a:prstGeom>
        </p:spPr>
      </p:pic>
      <p:pic>
        <p:nvPicPr>
          <p:cNvPr id="119" name="Picture 47">
            <a:extLst>
              <a:ext uri="{FF2B5EF4-FFF2-40B4-BE49-F238E27FC236}">
                <a16:creationId xmlns:a16="http://schemas.microsoft.com/office/drawing/2014/main" id="{5DAAB886-1858-6E3B-3D0A-939CE7FA3E6B}"/>
              </a:ext>
            </a:extLst>
          </p:cNvPr>
          <p:cNvPicPr>
            <a:picLocks noChangeAspect="1"/>
          </p:cNvPicPr>
          <p:nvPr/>
        </p:nvPicPr>
        <p:blipFill>
          <a:blip r:embed="rId24"/>
          <a:stretch>
            <a:fillRect/>
          </a:stretch>
        </p:blipFill>
        <p:spPr>
          <a:xfrm rot="-5399999">
            <a:off x="5003800" y="9296400"/>
            <a:ext cx="5105400" cy="63500"/>
          </a:xfrm>
          <a:prstGeom prst="rect">
            <a:avLst/>
          </a:prstGeom>
        </p:spPr>
      </p:pic>
      <p:pic>
        <p:nvPicPr>
          <p:cNvPr id="120" name="Picture 48">
            <a:extLst>
              <a:ext uri="{FF2B5EF4-FFF2-40B4-BE49-F238E27FC236}">
                <a16:creationId xmlns:a16="http://schemas.microsoft.com/office/drawing/2014/main" id="{89D4B753-0C13-E09B-45D7-FF14C42AF706}"/>
              </a:ext>
            </a:extLst>
          </p:cNvPr>
          <p:cNvPicPr>
            <a:picLocks noChangeAspect="1"/>
          </p:cNvPicPr>
          <p:nvPr/>
        </p:nvPicPr>
        <p:blipFill>
          <a:blip r:embed="rId25"/>
          <a:stretch>
            <a:fillRect/>
          </a:stretch>
        </p:blipFill>
        <p:spPr>
          <a:xfrm rot="5399999">
            <a:off x="11785600" y="7137400"/>
            <a:ext cx="1346200" cy="190500"/>
          </a:xfrm>
          <a:prstGeom prst="rect">
            <a:avLst/>
          </a:prstGeom>
        </p:spPr>
      </p:pic>
      <p:pic>
        <p:nvPicPr>
          <p:cNvPr id="121" name="Picture 49">
            <a:extLst>
              <a:ext uri="{FF2B5EF4-FFF2-40B4-BE49-F238E27FC236}">
                <a16:creationId xmlns:a16="http://schemas.microsoft.com/office/drawing/2014/main" id="{066C084B-DB3E-4B95-9F93-C28C5D2AA711}"/>
              </a:ext>
            </a:extLst>
          </p:cNvPr>
          <p:cNvPicPr>
            <a:picLocks noChangeAspect="1"/>
          </p:cNvPicPr>
          <p:nvPr/>
        </p:nvPicPr>
        <p:blipFill>
          <a:blip r:embed="rId26"/>
          <a:stretch>
            <a:fillRect/>
          </a:stretch>
        </p:blipFill>
        <p:spPr>
          <a:xfrm>
            <a:off x="5257800" y="5372100"/>
            <a:ext cx="14008100" cy="63500"/>
          </a:xfrm>
          <a:prstGeom prst="rect">
            <a:avLst/>
          </a:prstGeom>
        </p:spPr>
      </p:pic>
      <p:pic>
        <p:nvPicPr>
          <p:cNvPr id="122" name="Picture 50">
            <a:extLst>
              <a:ext uri="{FF2B5EF4-FFF2-40B4-BE49-F238E27FC236}">
                <a16:creationId xmlns:a16="http://schemas.microsoft.com/office/drawing/2014/main" id="{72BF2E1D-8E2B-9A9A-9923-E03E4A8BB6B9}"/>
              </a:ext>
            </a:extLst>
          </p:cNvPr>
          <p:cNvPicPr>
            <a:picLocks noChangeAspect="1"/>
          </p:cNvPicPr>
          <p:nvPr/>
        </p:nvPicPr>
        <p:blipFill>
          <a:blip r:embed="rId27"/>
          <a:stretch>
            <a:fillRect/>
          </a:stretch>
        </p:blipFill>
        <p:spPr>
          <a:xfrm rot="5400000">
            <a:off x="5105400" y="5473700"/>
            <a:ext cx="381000" cy="190500"/>
          </a:xfrm>
          <a:prstGeom prst="rect">
            <a:avLst/>
          </a:prstGeom>
        </p:spPr>
      </p:pic>
      <p:pic>
        <p:nvPicPr>
          <p:cNvPr id="123" name="Picture 51">
            <a:extLst>
              <a:ext uri="{FF2B5EF4-FFF2-40B4-BE49-F238E27FC236}">
                <a16:creationId xmlns:a16="http://schemas.microsoft.com/office/drawing/2014/main" id="{8EFF4049-6117-C61E-A343-2C4BE01CA6C3}"/>
              </a:ext>
            </a:extLst>
          </p:cNvPr>
          <p:cNvPicPr>
            <a:picLocks noChangeAspect="1"/>
          </p:cNvPicPr>
          <p:nvPr/>
        </p:nvPicPr>
        <p:blipFill>
          <a:blip r:embed="rId28"/>
          <a:stretch>
            <a:fillRect/>
          </a:stretch>
        </p:blipFill>
        <p:spPr>
          <a:xfrm>
            <a:off x="14846300" y="6756400"/>
            <a:ext cx="317500" cy="317500"/>
          </a:xfrm>
          <a:prstGeom prst="rect">
            <a:avLst/>
          </a:prstGeom>
        </p:spPr>
      </p:pic>
      <p:sp>
        <p:nvSpPr>
          <p:cNvPr id="124" name="TextBox 52">
            <a:extLst>
              <a:ext uri="{FF2B5EF4-FFF2-40B4-BE49-F238E27FC236}">
                <a16:creationId xmlns:a16="http://schemas.microsoft.com/office/drawing/2014/main" id="{AA33BCD7-D5A8-BF0E-0BD1-67D7D4BCDE1F}"/>
              </a:ext>
            </a:extLst>
          </p:cNvPr>
          <p:cNvSpPr txBox="1"/>
          <p:nvPr/>
        </p:nvSpPr>
        <p:spPr>
          <a:xfrm>
            <a:off x="11480800" y="5448300"/>
            <a:ext cx="2489200" cy="431800"/>
          </a:xfrm>
          <a:prstGeom prst="rect">
            <a:avLst/>
          </a:prstGeom>
        </p:spPr>
        <p:txBody>
          <a:bodyPr lIns="0" tIns="0" rIns="0" bIns="0" rtlCol="0" anchor="t"/>
          <a:lstStyle/>
          <a:p>
            <a:pPr lvl="0" algn="ctr">
              <a:lnSpc>
                <a:spcPct val="116199"/>
              </a:lnSpc>
            </a:pPr>
            <a:r>
              <a:rPr lang="en-US" sz="2400" b="0" i="0" u="none" strike="noStrike">
                <a:solidFill>
                  <a:srgbClr val="000000"/>
                </a:solidFill>
                <a:latin typeface="Pretendard Medium"/>
                <a:ea typeface="Pretendard Medium"/>
                <a:cs typeface="Pretendard Medium"/>
              </a:rPr>
              <a:t>관리자 세션 재사용</a:t>
            </a:r>
          </a:p>
        </p:txBody>
      </p:sp>
      <p:sp>
        <p:nvSpPr>
          <p:cNvPr id="125" name="TextBox 53">
            <a:extLst>
              <a:ext uri="{FF2B5EF4-FFF2-40B4-BE49-F238E27FC236}">
                <a16:creationId xmlns:a16="http://schemas.microsoft.com/office/drawing/2014/main" id="{E63778C6-076E-82F8-68E3-4CE0FFD08DB4}"/>
              </a:ext>
            </a:extLst>
          </p:cNvPr>
          <p:cNvSpPr txBox="1"/>
          <p:nvPr/>
        </p:nvSpPr>
        <p:spPr>
          <a:xfrm>
            <a:off x="3352800" y="8293100"/>
            <a:ext cx="1866900" cy="431800"/>
          </a:xfrm>
          <a:prstGeom prst="rect">
            <a:avLst/>
          </a:prstGeom>
        </p:spPr>
        <p:txBody>
          <a:bodyPr lIns="0" tIns="0" rIns="0" bIns="0" rtlCol="0" anchor="t"/>
          <a:lstStyle/>
          <a:p>
            <a:pPr lvl="0" algn="ctr">
              <a:lnSpc>
                <a:spcPct val="116199"/>
              </a:lnSpc>
            </a:pPr>
            <a:r>
              <a:rPr lang="en-US" sz="2400" b="0" i="0" u="none" strike="noStrike">
                <a:solidFill>
                  <a:srgbClr val="000000"/>
                </a:solidFill>
                <a:latin typeface="Pretendard Medium"/>
                <a:ea typeface="Pretendard Medium"/>
                <a:cs typeface="Pretendard Medium"/>
              </a:rPr>
              <a:t>목소리 학습</a:t>
            </a:r>
          </a:p>
        </p:txBody>
      </p:sp>
      <p:pic>
        <p:nvPicPr>
          <p:cNvPr id="126" name="Picture 54">
            <a:extLst>
              <a:ext uri="{FF2B5EF4-FFF2-40B4-BE49-F238E27FC236}">
                <a16:creationId xmlns:a16="http://schemas.microsoft.com/office/drawing/2014/main" id="{2E357541-E2AF-27B0-A2A8-D7FB4F74C5F4}"/>
              </a:ext>
            </a:extLst>
          </p:cNvPr>
          <p:cNvPicPr>
            <a:picLocks noChangeAspect="1"/>
          </p:cNvPicPr>
          <p:nvPr/>
        </p:nvPicPr>
        <p:blipFill>
          <a:blip r:embed="rId29"/>
          <a:stretch>
            <a:fillRect/>
          </a:stretch>
        </p:blipFill>
        <p:spPr>
          <a:xfrm>
            <a:off x="19850100" y="9309100"/>
            <a:ext cx="317500" cy="317500"/>
          </a:xfrm>
          <a:prstGeom prst="rect">
            <a:avLst/>
          </a:prstGeom>
        </p:spPr>
      </p:pic>
      <p:sp>
        <p:nvSpPr>
          <p:cNvPr id="127" name="TextBox 55">
            <a:extLst>
              <a:ext uri="{FF2B5EF4-FFF2-40B4-BE49-F238E27FC236}">
                <a16:creationId xmlns:a16="http://schemas.microsoft.com/office/drawing/2014/main" id="{8502EF4E-E6CD-EA9F-6304-3CDEB2EFDA7A}"/>
              </a:ext>
            </a:extLst>
          </p:cNvPr>
          <p:cNvSpPr txBox="1"/>
          <p:nvPr/>
        </p:nvSpPr>
        <p:spPr>
          <a:xfrm>
            <a:off x="9359900" y="8864600"/>
            <a:ext cx="7493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Medium"/>
                <a:ea typeface="Pretendard Medium"/>
                <a:cs typeface="Pretendard Medium"/>
              </a:rPr>
              <a:t>n8n</a:t>
            </a:r>
          </a:p>
        </p:txBody>
      </p:sp>
      <p:pic>
        <p:nvPicPr>
          <p:cNvPr id="128" name="Picture 56">
            <a:extLst>
              <a:ext uri="{FF2B5EF4-FFF2-40B4-BE49-F238E27FC236}">
                <a16:creationId xmlns:a16="http://schemas.microsoft.com/office/drawing/2014/main" id="{DDEFFEF1-7828-7B18-3E33-65F1528FA727}"/>
              </a:ext>
            </a:extLst>
          </p:cNvPr>
          <p:cNvPicPr>
            <a:picLocks noChangeAspect="1"/>
          </p:cNvPicPr>
          <p:nvPr/>
        </p:nvPicPr>
        <p:blipFill>
          <a:blip r:embed="rId30"/>
          <a:stretch>
            <a:fillRect/>
          </a:stretch>
        </p:blipFill>
        <p:spPr>
          <a:xfrm>
            <a:off x="9156700" y="7874000"/>
            <a:ext cx="1168400" cy="1168400"/>
          </a:xfrm>
          <a:prstGeom prst="rect">
            <a:avLst/>
          </a:prstGeom>
        </p:spPr>
      </p:pic>
      <p:pic>
        <p:nvPicPr>
          <p:cNvPr id="129" name="Picture 57">
            <a:extLst>
              <a:ext uri="{FF2B5EF4-FFF2-40B4-BE49-F238E27FC236}">
                <a16:creationId xmlns:a16="http://schemas.microsoft.com/office/drawing/2014/main" id="{659C0866-9407-5940-9B44-BE95782492D0}"/>
              </a:ext>
            </a:extLst>
          </p:cNvPr>
          <p:cNvPicPr>
            <a:picLocks noChangeAspect="1"/>
          </p:cNvPicPr>
          <p:nvPr/>
        </p:nvPicPr>
        <p:blipFill>
          <a:blip r:embed="rId31"/>
          <a:stretch>
            <a:fillRect/>
          </a:stretch>
        </p:blipFill>
        <p:spPr>
          <a:xfrm>
            <a:off x="14020800" y="9944100"/>
            <a:ext cx="1117600" cy="1117600"/>
          </a:xfrm>
          <a:prstGeom prst="rect">
            <a:avLst/>
          </a:prstGeom>
        </p:spPr>
      </p:pic>
      <p:sp>
        <p:nvSpPr>
          <p:cNvPr id="130" name="TextBox 58">
            <a:extLst>
              <a:ext uri="{FF2B5EF4-FFF2-40B4-BE49-F238E27FC236}">
                <a16:creationId xmlns:a16="http://schemas.microsoft.com/office/drawing/2014/main" id="{42B15CE3-19A3-BDB3-2C2C-ED82FEECD4D8}"/>
              </a:ext>
            </a:extLst>
          </p:cNvPr>
          <p:cNvSpPr txBox="1"/>
          <p:nvPr/>
        </p:nvSpPr>
        <p:spPr>
          <a:xfrm>
            <a:off x="13766800" y="11087100"/>
            <a:ext cx="16256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Medium"/>
                <a:ea typeface="Pretendard Medium"/>
                <a:cs typeface="Pretendard Medium"/>
              </a:rPr>
              <a:t>Bank DB</a:t>
            </a:r>
          </a:p>
        </p:txBody>
      </p:sp>
      <p:pic>
        <p:nvPicPr>
          <p:cNvPr id="131" name="Picture 59">
            <a:extLst>
              <a:ext uri="{FF2B5EF4-FFF2-40B4-BE49-F238E27FC236}">
                <a16:creationId xmlns:a16="http://schemas.microsoft.com/office/drawing/2014/main" id="{AA27C9AF-086E-2DC9-74A6-B986018B9431}"/>
              </a:ext>
            </a:extLst>
          </p:cNvPr>
          <p:cNvPicPr>
            <a:picLocks noChangeAspect="1"/>
          </p:cNvPicPr>
          <p:nvPr/>
        </p:nvPicPr>
        <p:blipFill>
          <a:blip r:embed="rId31"/>
          <a:stretch>
            <a:fillRect/>
          </a:stretch>
        </p:blipFill>
        <p:spPr>
          <a:xfrm>
            <a:off x="18948400" y="11099800"/>
            <a:ext cx="1117600" cy="1117600"/>
          </a:xfrm>
          <a:prstGeom prst="rect">
            <a:avLst/>
          </a:prstGeom>
        </p:spPr>
      </p:pic>
      <p:sp>
        <p:nvSpPr>
          <p:cNvPr id="132" name="TextBox 60">
            <a:extLst>
              <a:ext uri="{FF2B5EF4-FFF2-40B4-BE49-F238E27FC236}">
                <a16:creationId xmlns:a16="http://schemas.microsoft.com/office/drawing/2014/main" id="{2553D955-CDFB-29D5-DD3D-F124F7F43A4F}"/>
              </a:ext>
            </a:extLst>
          </p:cNvPr>
          <p:cNvSpPr txBox="1"/>
          <p:nvPr/>
        </p:nvSpPr>
        <p:spPr>
          <a:xfrm>
            <a:off x="18618200" y="12052300"/>
            <a:ext cx="17526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Medium"/>
                <a:ea typeface="Pretendard Medium"/>
                <a:cs typeface="Pretendard Medium"/>
              </a:rPr>
              <a:t>VoIP DB</a:t>
            </a:r>
          </a:p>
        </p:txBody>
      </p:sp>
      <p:sp>
        <p:nvSpPr>
          <p:cNvPr id="133" name="TextBox 61">
            <a:extLst>
              <a:ext uri="{FF2B5EF4-FFF2-40B4-BE49-F238E27FC236}">
                <a16:creationId xmlns:a16="http://schemas.microsoft.com/office/drawing/2014/main" id="{2C86B244-CB5A-D84B-D749-7E607408DD70}"/>
              </a:ext>
            </a:extLst>
          </p:cNvPr>
          <p:cNvSpPr txBox="1"/>
          <p:nvPr/>
        </p:nvSpPr>
        <p:spPr>
          <a:xfrm>
            <a:off x="12065000" y="8864600"/>
            <a:ext cx="12192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Medium"/>
                <a:ea typeface="Pretendard Medium"/>
                <a:cs typeface="Pretendard Medium"/>
              </a:rPr>
              <a:t>WAS</a:t>
            </a:r>
          </a:p>
        </p:txBody>
      </p:sp>
      <p:sp>
        <p:nvSpPr>
          <p:cNvPr id="134" name="TextBox 62">
            <a:extLst>
              <a:ext uri="{FF2B5EF4-FFF2-40B4-BE49-F238E27FC236}">
                <a16:creationId xmlns:a16="http://schemas.microsoft.com/office/drawing/2014/main" id="{A940DD0E-C245-518C-9B5E-4AEB207AD7BD}"/>
              </a:ext>
            </a:extLst>
          </p:cNvPr>
          <p:cNvSpPr txBox="1"/>
          <p:nvPr/>
        </p:nvSpPr>
        <p:spPr>
          <a:xfrm>
            <a:off x="12065000" y="9182100"/>
            <a:ext cx="12192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Medium"/>
                <a:ea typeface="Pretendard Medium"/>
                <a:cs typeface="Pretendard Medium"/>
              </a:rPr>
              <a:t>Docker</a:t>
            </a:r>
          </a:p>
        </p:txBody>
      </p:sp>
      <p:pic>
        <p:nvPicPr>
          <p:cNvPr id="135" name="Picture 63">
            <a:extLst>
              <a:ext uri="{FF2B5EF4-FFF2-40B4-BE49-F238E27FC236}">
                <a16:creationId xmlns:a16="http://schemas.microsoft.com/office/drawing/2014/main" id="{1B90BA7D-B8A7-A03B-11C2-03AE1A028F7F}"/>
              </a:ext>
            </a:extLst>
          </p:cNvPr>
          <p:cNvPicPr>
            <a:picLocks noChangeAspect="1"/>
          </p:cNvPicPr>
          <p:nvPr/>
        </p:nvPicPr>
        <p:blipFill>
          <a:blip r:embed="rId32"/>
          <a:stretch>
            <a:fillRect/>
          </a:stretch>
        </p:blipFill>
        <p:spPr>
          <a:xfrm>
            <a:off x="12077700" y="7747000"/>
            <a:ext cx="1244600" cy="1244600"/>
          </a:xfrm>
          <a:prstGeom prst="rect">
            <a:avLst/>
          </a:prstGeom>
        </p:spPr>
      </p:pic>
      <p:pic>
        <p:nvPicPr>
          <p:cNvPr id="136" name="Picture 64">
            <a:extLst>
              <a:ext uri="{FF2B5EF4-FFF2-40B4-BE49-F238E27FC236}">
                <a16:creationId xmlns:a16="http://schemas.microsoft.com/office/drawing/2014/main" id="{2F38BEF1-15F6-CAB6-764D-54625DCBED0D}"/>
              </a:ext>
            </a:extLst>
          </p:cNvPr>
          <p:cNvPicPr>
            <a:picLocks noChangeAspect="1"/>
          </p:cNvPicPr>
          <p:nvPr/>
        </p:nvPicPr>
        <p:blipFill>
          <a:blip r:embed="rId33"/>
          <a:stretch>
            <a:fillRect/>
          </a:stretch>
        </p:blipFill>
        <p:spPr>
          <a:xfrm>
            <a:off x="4673600" y="9944100"/>
            <a:ext cx="1041400" cy="1181100"/>
          </a:xfrm>
          <a:prstGeom prst="rect">
            <a:avLst/>
          </a:prstGeom>
        </p:spPr>
      </p:pic>
      <p:sp>
        <p:nvSpPr>
          <p:cNvPr id="137" name="TextBox 65">
            <a:extLst>
              <a:ext uri="{FF2B5EF4-FFF2-40B4-BE49-F238E27FC236}">
                <a16:creationId xmlns:a16="http://schemas.microsoft.com/office/drawing/2014/main" id="{64E471AC-E806-F442-A66D-3BE283EE58C0}"/>
              </a:ext>
            </a:extLst>
          </p:cNvPr>
          <p:cNvSpPr txBox="1"/>
          <p:nvPr/>
        </p:nvSpPr>
        <p:spPr>
          <a:xfrm>
            <a:off x="18897600" y="7061200"/>
            <a:ext cx="12065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Medium"/>
                <a:ea typeface="Pretendard Medium"/>
                <a:cs typeface="Pretendard Medium"/>
              </a:rPr>
              <a:t>CS</a:t>
            </a:r>
          </a:p>
        </p:txBody>
      </p:sp>
      <p:pic>
        <p:nvPicPr>
          <p:cNvPr id="138" name="Picture 66">
            <a:extLst>
              <a:ext uri="{FF2B5EF4-FFF2-40B4-BE49-F238E27FC236}">
                <a16:creationId xmlns:a16="http://schemas.microsoft.com/office/drawing/2014/main" id="{B5C164D6-975B-F13F-6012-B42841EC1914}"/>
              </a:ext>
            </a:extLst>
          </p:cNvPr>
          <p:cNvPicPr>
            <a:picLocks noChangeAspect="1"/>
          </p:cNvPicPr>
          <p:nvPr/>
        </p:nvPicPr>
        <p:blipFill>
          <a:blip r:embed="rId34"/>
          <a:stretch>
            <a:fillRect/>
          </a:stretch>
        </p:blipFill>
        <p:spPr>
          <a:xfrm>
            <a:off x="18884900" y="5816600"/>
            <a:ext cx="1320800" cy="1320800"/>
          </a:xfrm>
          <a:prstGeom prst="rect">
            <a:avLst/>
          </a:prstGeom>
        </p:spPr>
      </p:pic>
      <p:pic>
        <p:nvPicPr>
          <p:cNvPr id="139" name="Picture 67">
            <a:extLst>
              <a:ext uri="{FF2B5EF4-FFF2-40B4-BE49-F238E27FC236}">
                <a16:creationId xmlns:a16="http://schemas.microsoft.com/office/drawing/2014/main" id="{887C4709-A06D-BD78-1118-EDCE0B24714E}"/>
              </a:ext>
            </a:extLst>
          </p:cNvPr>
          <p:cNvPicPr>
            <a:picLocks noChangeAspect="1"/>
          </p:cNvPicPr>
          <p:nvPr/>
        </p:nvPicPr>
        <p:blipFill>
          <a:blip r:embed="rId35"/>
          <a:stretch>
            <a:fillRect/>
          </a:stretch>
        </p:blipFill>
        <p:spPr>
          <a:xfrm rot="5400000">
            <a:off x="13779500" y="9144000"/>
            <a:ext cx="1587500" cy="190500"/>
          </a:xfrm>
          <a:prstGeom prst="rect">
            <a:avLst/>
          </a:prstGeom>
        </p:spPr>
      </p:pic>
      <p:pic>
        <p:nvPicPr>
          <p:cNvPr id="140" name="Picture 68">
            <a:extLst>
              <a:ext uri="{FF2B5EF4-FFF2-40B4-BE49-F238E27FC236}">
                <a16:creationId xmlns:a16="http://schemas.microsoft.com/office/drawing/2014/main" id="{28D6DAEC-B865-44EB-9425-7C0C3AC221A6}"/>
              </a:ext>
            </a:extLst>
          </p:cNvPr>
          <p:cNvPicPr>
            <a:picLocks noChangeAspect="1"/>
          </p:cNvPicPr>
          <p:nvPr/>
        </p:nvPicPr>
        <p:blipFill>
          <a:blip r:embed="rId36"/>
          <a:stretch>
            <a:fillRect/>
          </a:stretch>
        </p:blipFill>
        <p:spPr>
          <a:xfrm rot="5400000">
            <a:off x="12198349" y="7112000"/>
            <a:ext cx="1206501" cy="63500"/>
          </a:xfrm>
          <a:prstGeom prst="rect">
            <a:avLst/>
          </a:prstGeom>
        </p:spPr>
      </p:pic>
      <p:pic>
        <p:nvPicPr>
          <p:cNvPr id="141" name="Picture 69">
            <a:extLst>
              <a:ext uri="{FF2B5EF4-FFF2-40B4-BE49-F238E27FC236}">
                <a16:creationId xmlns:a16="http://schemas.microsoft.com/office/drawing/2014/main" id="{B6C144C7-89C6-A56E-315A-F6B5DD4DA635}"/>
              </a:ext>
            </a:extLst>
          </p:cNvPr>
          <p:cNvPicPr>
            <a:picLocks noChangeAspect="1"/>
          </p:cNvPicPr>
          <p:nvPr/>
        </p:nvPicPr>
        <p:blipFill>
          <a:blip r:embed="rId37">
            <a:alphaModFix amt="29000"/>
          </a:blip>
          <a:stretch>
            <a:fillRect/>
          </a:stretch>
        </p:blipFill>
        <p:spPr>
          <a:xfrm rot="5400000">
            <a:off x="12433300" y="8064500"/>
            <a:ext cx="736600" cy="63500"/>
          </a:xfrm>
          <a:prstGeom prst="rect">
            <a:avLst/>
          </a:prstGeom>
        </p:spPr>
      </p:pic>
      <p:pic>
        <p:nvPicPr>
          <p:cNvPr id="142" name="Picture 70">
            <a:extLst>
              <a:ext uri="{FF2B5EF4-FFF2-40B4-BE49-F238E27FC236}">
                <a16:creationId xmlns:a16="http://schemas.microsoft.com/office/drawing/2014/main" id="{D7961E92-868C-52F3-2E92-8D684A5177EC}"/>
              </a:ext>
            </a:extLst>
          </p:cNvPr>
          <p:cNvPicPr>
            <a:picLocks noChangeAspect="1"/>
          </p:cNvPicPr>
          <p:nvPr/>
        </p:nvPicPr>
        <p:blipFill>
          <a:blip r:embed="rId38">
            <a:alphaModFix amt="29000"/>
          </a:blip>
          <a:stretch>
            <a:fillRect/>
          </a:stretch>
        </p:blipFill>
        <p:spPr>
          <a:xfrm rot="10800000">
            <a:off x="12827000" y="8407400"/>
            <a:ext cx="533400" cy="63500"/>
          </a:xfrm>
          <a:prstGeom prst="rect">
            <a:avLst/>
          </a:prstGeom>
        </p:spPr>
      </p:pic>
      <p:pic>
        <p:nvPicPr>
          <p:cNvPr id="143" name="Picture 71">
            <a:extLst>
              <a:ext uri="{FF2B5EF4-FFF2-40B4-BE49-F238E27FC236}">
                <a16:creationId xmlns:a16="http://schemas.microsoft.com/office/drawing/2014/main" id="{54D543C1-66D6-92A1-C680-47E764362A46}"/>
              </a:ext>
            </a:extLst>
          </p:cNvPr>
          <p:cNvPicPr>
            <a:picLocks noChangeAspect="1"/>
          </p:cNvPicPr>
          <p:nvPr/>
        </p:nvPicPr>
        <p:blipFill>
          <a:blip r:embed="rId39"/>
          <a:stretch>
            <a:fillRect/>
          </a:stretch>
        </p:blipFill>
        <p:spPr>
          <a:xfrm>
            <a:off x="13360400" y="8407400"/>
            <a:ext cx="1244600" cy="63500"/>
          </a:xfrm>
          <a:prstGeom prst="rect">
            <a:avLst/>
          </a:prstGeom>
        </p:spPr>
      </p:pic>
      <p:sp>
        <p:nvSpPr>
          <p:cNvPr id="144" name="TextBox 72">
            <a:extLst>
              <a:ext uri="{FF2B5EF4-FFF2-40B4-BE49-F238E27FC236}">
                <a16:creationId xmlns:a16="http://schemas.microsoft.com/office/drawing/2014/main" id="{1D980B95-8BD4-B6B0-E35C-CC6D8E2AB6D6}"/>
              </a:ext>
            </a:extLst>
          </p:cNvPr>
          <p:cNvSpPr txBox="1"/>
          <p:nvPr/>
        </p:nvSpPr>
        <p:spPr>
          <a:xfrm>
            <a:off x="11620500" y="10782300"/>
            <a:ext cx="2527300" cy="431800"/>
          </a:xfrm>
          <a:prstGeom prst="rect">
            <a:avLst/>
          </a:prstGeom>
        </p:spPr>
        <p:txBody>
          <a:bodyPr lIns="0" tIns="0" rIns="0" bIns="0" rtlCol="0" anchor="t"/>
          <a:lstStyle/>
          <a:p>
            <a:pPr lvl="0" algn="ctr">
              <a:lnSpc>
                <a:spcPct val="116199"/>
              </a:lnSpc>
            </a:pPr>
            <a:r>
              <a:rPr lang="en-US" sz="2400" b="0" i="0" u="none" strike="noStrike">
                <a:solidFill>
                  <a:srgbClr val="000000"/>
                </a:solidFill>
                <a:latin typeface="Pretendard Medium"/>
                <a:ea typeface="Pretendard Medium"/>
                <a:cs typeface="Pretendard Medium"/>
              </a:rPr>
              <a:t>악성 스크립트삽입</a:t>
            </a:r>
          </a:p>
        </p:txBody>
      </p:sp>
      <p:pic>
        <p:nvPicPr>
          <p:cNvPr id="145" name="Picture 73">
            <a:extLst>
              <a:ext uri="{FF2B5EF4-FFF2-40B4-BE49-F238E27FC236}">
                <a16:creationId xmlns:a16="http://schemas.microsoft.com/office/drawing/2014/main" id="{44E0F5DC-5619-994F-C197-B5CD47C87525}"/>
              </a:ext>
            </a:extLst>
          </p:cNvPr>
          <p:cNvPicPr>
            <a:picLocks noChangeAspect="1"/>
          </p:cNvPicPr>
          <p:nvPr/>
        </p:nvPicPr>
        <p:blipFill>
          <a:blip r:embed="rId40"/>
          <a:stretch>
            <a:fillRect/>
          </a:stretch>
        </p:blipFill>
        <p:spPr>
          <a:xfrm>
            <a:off x="12642850" y="10541000"/>
            <a:ext cx="977900" cy="190500"/>
          </a:xfrm>
          <a:prstGeom prst="rect">
            <a:avLst/>
          </a:prstGeom>
        </p:spPr>
      </p:pic>
      <p:pic>
        <p:nvPicPr>
          <p:cNvPr id="146" name="Picture 74">
            <a:extLst>
              <a:ext uri="{FF2B5EF4-FFF2-40B4-BE49-F238E27FC236}">
                <a16:creationId xmlns:a16="http://schemas.microsoft.com/office/drawing/2014/main" id="{BD1DA70D-5F2C-16DD-EC5D-79D93F6DDE00}"/>
              </a:ext>
            </a:extLst>
          </p:cNvPr>
          <p:cNvPicPr>
            <a:picLocks noChangeAspect="1"/>
          </p:cNvPicPr>
          <p:nvPr/>
        </p:nvPicPr>
        <p:blipFill>
          <a:blip r:embed="rId41"/>
          <a:stretch>
            <a:fillRect/>
          </a:stretch>
        </p:blipFill>
        <p:spPr>
          <a:xfrm rot="5400000">
            <a:off x="12166600" y="10134600"/>
            <a:ext cx="1016000" cy="63500"/>
          </a:xfrm>
          <a:prstGeom prst="rect">
            <a:avLst/>
          </a:prstGeom>
        </p:spPr>
      </p:pic>
      <p:pic>
        <p:nvPicPr>
          <p:cNvPr id="147" name="Picture 75">
            <a:extLst>
              <a:ext uri="{FF2B5EF4-FFF2-40B4-BE49-F238E27FC236}">
                <a16:creationId xmlns:a16="http://schemas.microsoft.com/office/drawing/2014/main" id="{67D86EAC-AFF9-C481-F654-58D22D01E307}"/>
              </a:ext>
            </a:extLst>
          </p:cNvPr>
          <p:cNvPicPr>
            <a:picLocks noChangeAspect="1"/>
          </p:cNvPicPr>
          <p:nvPr/>
        </p:nvPicPr>
        <p:blipFill>
          <a:blip r:embed="rId42"/>
          <a:stretch>
            <a:fillRect/>
          </a:stretch>
        </p:blipFill>
        <p:spPr>
          <a:xfrm rot="5400000">
            <a:off x="9296400" y="9855200"/>
            <a:ext cx="889000" cy="190500"/>
          </a:xfrm>
          <a:prstGeom prst="rect">
            <a:avLst/>
          </a:prstGeom>
        </p:spPr>
      </p:pic>
      <p:pic>
        <p:nvPicPr>
          <p:cNvPr id="148" name="Picture 76">
            <a:extLst>
              <a:ext uri="{FF2B5EF4-FFF2-40B4-BE49-F238E27FC236}">
                <a16:creationId xmlns:a16="http://schemas.microsoft.com/office/drawing/2014/main" id="{A75F3948-957A-E94E-8E58-71B4370660C9}"/>
              </a:ext>
            </a:extLst>
          </p:cNvPr>
          <p:cNvPicPr>
            <a:picLocks noChangeAspect="1"/>
          </p:cNvPicPr>
          <p:nvPr/>
        </p:nvPicPr>
        <p:blipFill>
          <a:blip r:embed="rId43"/>
          <a:stretch>
            <a:fillRect/>
          </a:stretch>
        </p:blipFill>
        <p:spPr>
          <a:xfrm>
            <a:off x="9194800" y="10236200"/>
            <a:ext cx="1231900" cy="1231900"/>
          </a:xfrm>
          <a:prstGeom prst="rect">
            <a:avLst/>
          </a:prstGeom>
        </p:spPr>
      </p:pic>
      <p:sp>
        <p:nvSpPr>
          <p:cNvPr id="149" name="TextBox 77">
            <a:extLst>
              <a:ext uri="{FF2B5EF4-FFF2-40B4-BE49-F238E27FC236}">
                <a16:creationId xmlns:a16="http://schemas.microsoft.com/office/drawing/2014/main" id="{DCAB1554-693D-DD9F-D31B-58C4C4BB3BA0}"/>
              </a:ext>
            </a:extLst>
          </p:cNvPr>
          <p:cNvSpPr txBox="1"/>
          <p:nvPr/>
        </p:nvSpPr>
        <p:spPr>
          <a:xfrm>
            <a:off x="9017000" y="11252200"/>
            <a:ext cx="14605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Medium"/>
                <a:ea typeface="Pretendard Medium"/>
                <a:cs typeface="Pretendard Medium"/>
              </a:rPr>
              <a:t>FDS</a:t>
            </a:r>
          </a:p>
        </p:txBody>
      </p:sp>
      <p:pic>
        <p:nvPicPr>
          <p:cNvPr id="150" name="Picture 78">
            <a:extLst>
              <a:ext uri="{FF2B5EF4-FFF2-40B4-BE49-F238E27FC236}">
                <a16:creationId xmlns:a16="http://schemas.microsoft.com/office/drawing/2014/main" id="{B89CD5E2-E7C5-4F9F-C950-B01B29F05677}"/>
              </a:ext>
            </a:extLst>
          </p:cNvPr>
          <p:cNvPicPr>
            <a:picLocks noChangeAspect="1"/>
          </p:cNvPicPr>
          <p:nvPr/>
        </p:nvPicPr>
        <p:blipFill>
          <a:blip r:embed="rId44"/>
          <a:stretch>
            <a:fillRect/>
          </a:stretch>
        </p:blipFill>
        <p:spPr>
          <a:xfrm rot="-5400000">
            <a:off x="9334500" y="9639300"/>
            <a:ext cx="825500" cy="190500"/>
          </a:xfrm>
          <a:prstGeom prst="rect">
            <a:avLst/>
          </a:prstGeom>
        </p:spPr>
      </p:pic>
      <p:sp>
        <p:nvSpPr>
          <p:cNvPr id="151" name="TextBox 79">
            <a:extLst>
              <a:ext uri="{FF2B5EF4-FFF2-40B4-BE49-F238E27FC236}">
                <a16:creationId xmlns:a16="http://schemas.microsoft.com/office/drawing/2014/main" id="{C3B6ADE4-6EF4-37AF-2AE5-C6A37E81FEC4}"/>
              </a:ext>
            </a:extLst>
          </p:cNvPr>
          <p:cNvSpPr txBox="1"/>
          <p:nvPr/>
        </p:nvSpPr>
        <p:spPr>
          <a:xfrm>
            <a:off x="10160000" y="9639300"/>
            <a:ext cx="1549400" cy="431800"/>
          </a:xfrm>
          <a:prstGeom prst="rect">
            <a:avLst/>
          </a:prstGeom>
        </p:spPr>
        <p:txBody>
          <a:bodyPr lIns="0" tIns="0" rIns="0" bIns="0" rtlCol="0" anchor="t"/>
          <a:lstStyle/>
          <a:p>
            <a:pPr lvl="0" algn="ctr">
              <a:lnSpc>
                <a:spcPct val="116199"/>
              </a:lnSpc>
            </a:pPr>
            <a:r>
              <a:rPr lang="en-US" sz="2400" b="0" i="0" u="none" strike="noStrike">
                <a:solidFill>
                  <a:srgbClr val="000000"/>
                </a:solidFill>
                <a:latin typeface="Pretendard Medium"/>
                <a:ea typeface="Pretendard Medium"/>
                <a:cs typeface="Pretendard Medium"/>
              </a:rPr>
              <a:t>검증 우회</a:t>
            </a:r>
          </a:p>
        </p:txBody>
      </p:sp>
      <p:pic>
        <p:nvPicPr>
          <p:cNvPr id="152" name="Picture 80">
            <a:extLst>
              <a:ext uri="{FF2B5EF4-FFF2-40B4-BE49-F238E27FC236}">
                <a16:creationId xmlns:a16="http://schemas.microsoft.com/office/drawing/2014/main" id="{C80126CB-34CE-5DA3-65BB-CFBF5DDA61F5}"/>
              </a:ext>
            </a:extLst>
          </p:cNvPr>
          <p:cNvPicPr>
            <a:picLocks noChangeAspect="1"/>
          </p:cNvPicPr>
          <p:nvPr/>
        </p:nvPicPr>
        <p:blipFill>
          <a:blip r:embed="rId45"/>
          <a:stretch>
            <a:fillRect/>
          </a:stretch>
        </p:blipFill>
        <p:spPr>
          <a:xfrm>
            <a:off x="9842500" y="9664700"/>
            <a:ext cx="406400" cy="406400"/>
          </a:xfrm>
          <a:prstGeom prst="rect">
            <a:avLst/>
          </a:prstGeom>
        </p:spPr>
      </p:pic>
      <p:pic>
        <p:nvPicPr>
          <p:cNvPr id="153" name="Picture 81">
            <a:extLst>
              <a:ext uri="{FF2B5EF4-FFF2-40B4-BE49-F238E27FC236}">
                <a16:creationId xmlns:a16="http://schemas.microsoft.com/office/drawing/2014/main" id="{C3A3BF0E-A570-0C41-34E3-0F4B9F2DD4CC}"/>
              </a:ext>
            </a:extLst>
          </p:cNvPr>
          <p:cNvPicPr>
            <a:picLocks noChangeAspect="1"/>
          </p:cNvPicPr>
          <p:nvPr/>
        </p:nvPicPr>
        <p:blipFill>
          <a:blip r:embed="rId46"/>
          <a:stretch>
            <a:fillRect/>
          </a:stretch>
        </p:blipFill>
        <p:spPr>
          <a:xfrm>
            <a:off x="16471900" y="12026900"/>
            <a:ext cx="342900" cy="342900"/>
          </a:xfrm>
          <a:prstGeom prst="rect">
            <a:avLst/>
          </a:prstGeom>
        </p:spPr>
      </p:pic>
      <p:pic>
        <p:nvPicPr>
          <p:cNvPr id="154" name="Picture 82">
            <a:extLst>
              <a:ext uri="{FF2B5EF4-FFF2-40B4-BE49-F238E27FC236}">
                <a16:creationId xmlns:a16="http://schemas.microsoft.com/office/drawing/2014/main" id="{2A5584D2-5242-6D6A-ECF8-DEB9A499EB5F}"/>
              </a:ext>
            </a:extLst>
          </p:cNvPr>
          <p:cNvPicPr>
            <a:picLocks noChangeAspect="1"/>
          </p:cNvPicPr>
          <p:nvPr/>
        </p:nvPicPr>
        <p:blipFill>
          <a:blip r:embed="rId47"/>
          <a:stretch>
            <a:fillRect/>
          </a:stretch>
        </p:blipFill>
        <p:spPr>
          <a:xfrm>
            <a:off x="20891500" y="5943600"/>
            <a:ext cx="1219200" cy="1219200"/>
          </a:xfrm>
          <a:prstGeom prst="rect">
            <a:avLst/>
          </a:prstGeom>
        </p:spPr>
      </p:pic>
      <p:sp>
        <p:nvSpPr>
          <p:cNvPr id="155" name="TextBox 83">
            <a:extLst>
              <a:ext uri="{FF2B5EF4-FFF2-40B4-BE49-F238E27FC236}">
                <a16:creationId xmlns:a16="http://schemas.microsoft.com/office/drawing/2014/main" id="{B53A1AA2-FB28-8D56-6BC2-78DFA43C621F}"/>
              </a:ext>
            </a:extLst>
          </p:cNvPr>
          <p:cNvSpPr txBox="1"/>
          <p:nvPr/>
        </p:nvSpPr>
        <p:spPr>
          <a:xfrm>
            <a:off x="20650200" y="7112000"/>
            <a:ext cx="1701800" cy="9525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Medium"/>
                <a:ea typeface="Pretendard Medium"/>
                <a:cs typeface="Pretendard Medium"/>
              </a:rPr>
              <a:t>CS</a:t>
            </a:r>
          </a:p>
          <a:p>
            <a:pPr lvl="0" algn="ctr">
              <a:lnSpc>
                <a:spcPct val="116199"/>
              </a:lnSpc>
            </a:pPr>
            <a:r>
              <a:rPr lang="en-US" sz="2666" b="0" i="0" u="none" strike="noStrike">
                <a:solidFill>
                  <a:srgbClr val="000000"/>
                </a:solidFill>
                <a:latin typeface="Pretendard Medium"/>
                <a:ea typeface="Pretendard Medium"/>
                <a:cs typeface="Pretendard Medium"/>
              </a:rPr>
              <a:t>Server</a:t>
            </a:r>
          </a:p>
        </p:txBody>
      </p:sp>
      <p:pic>
        <p:nvPicPr>
          <p:cNvPr id="156" name="Picture 84">
            <a:extLst>
              <a:ext uri="{FF2B5EF4-FFF2-40B4-BE49-F238E27FC236}">
                <a16:creationId xmlns:a16="http://schemas.microsoft.com/office/drawing/2014/main" id="{1FEE4C4B-2F25-C276-5142-2A6071BD8834}"/>
              </a:ext>
            </a:extLst>
          </p:cNvPr>
          <p:cNvPicPr>
            <a:picLocks noChangeAspect="1"/>
          </p:cNvPicPr>
          <p:nvPr/>
        </p:nvPicPr>
        <p:blipFill>
          <a:blip r:embed="rId48"/>
          <a:stretch>
            <a:fillRect/>
          </a:stretch>
        </p:blipFill>
        <p:spPr>
          <a:xfrm rot="5340000">
            <a:off x="19037300" y="5588000"/>
            <a:ext cx="406400" cy="63500"/>
          </a:xfrm>
          <a:prstGeom prst="rect">
            <a:avLst/>
          </a:prstGeom>
        </p:spPr>
      </p:pic>
      <p:pic>
        <p:nvPicPr>
          <p:cNvPr id="157" name="Picture 85">
            <a:extLst>
              <a:ext uri="{FF2B5EF4-FFF2-40B4-BE49-F238E27FC236}">
                <a16:creationId xmlns:a16="http://schemas.microsoft.com/office/drawing/2014/main" id="{079692D9-CB00-3029-8B02-99A129E56DA7}"/>
              </a:ext>
            </a:extLst>
          </p:cNvPr>
          <p:cNvPicPr>
            <a:picLocks noChangeAspect="1"/>
          </p:cNvPicPr>
          <p:nvPr/>
        </p:nvPicPr>
        <p:blipFill>
          <a:blip r:embed="rId49"/>
          <a:stretch>
            <a:fillRect/>
          </a:stretch>
        </p:blipFill>
        <p:spPr>
          <a:xfrm rot="5340000">
            <a:off x="4572000" y="5346700"/>
            <a:ext cx="698500" cy="63500"/>
          </a:xfrm>
          <a:prstGeom prst="rect">
            <a:avLst/>
          </a:prstGeom>
        </p:spPr>
      </p:pic>
      <p:pic>
        <p:nvPicPr>
          <p:cNvPr id="158" name="Picture 86">
            <a:extLst>
              <a:ext uri="{FF2B5EF4-FFF2-40B4-BE49-F238E27FC236}">
                <a16:creationId xmlns:a16="http://schemas.microsoft.com/office/drawing/2014/main" id="{CF09C557-AF51-637D-1CD5-1C5F5279CDE5}"/>
              </a:ext>
            </a:extLst>
          </p:cNvPr>
          <p:cNvPicPr>
            <a:picLocks noChangeAspect="1"/>
          </p:cNvPicPr>
          <p:nvPr/>
        </p:nvPicPr>
        <p:blipFill>
          <a:blip r:embed="rId50"/>
          <a:stretch>
            <a:fillRect/>
          </a:stretch>
        </p:blipFill>
        <p:spPr>
          <a:xfrm>
            <a:off x="4889500" y="5029200"/>
            <a:ext cx="16611600" cy="63500"/>
          </a:xfrm>
          <a:prstGeom prst="rect">
            <a:avLst/>
          </a:prstGeom>
        </p:spPr>
      </p:pic>
      <p:pic>
        <p:nvPicPr>
          <p:cNvPr id="159" name="Picture 87">
            <a:extLst>
              <a:ext uri="{FF2B5EF4-FFF2-40B4-BE49-F238E27FC236}">
                <a16:creationId xmlns:a16="http://schemas.microsoft.com/office/drawing/2014/main" id="{5BCD95CA-9FD2-C530-D751-B8B4D8526F20}"/>
              </a:ext>
            </a:extLst>
          </p:cNvPr>
          <p:cNvPicPr>
            <a:picLocks noChangeAspect="1"/>
          </p:cNvPicPr>
          <p:nvPr/>
        </p:nvPicPr>
        <p:blipFill>
          <a:blip r:embed="rId51"/>
          <a:stretch>
            <a:fillRect/>
          </a:stretch>
        </p:blipFill>
        <p:spPr>
          <a:xfrm rot="5399999">
            <a:off x="21069300" y="5321300"/>
            <a:ext cx="774700" cy="190500"/>
          </a:xfrm>
          <a:prstGeom prst="rect">
            <a:avLst/>
          </a:prstGeom>
        </p:spPr>
      </p:pic>
      <p:sp>
        <p:nvSpPr>
          <p:cNvPr id="160" name="TextBox 88">
            <a:extLst>
              <a:ext uri="{FF2B5EF4-FFF2-40B4-BE49-F238E27FC236}">
                <a16:creationId xmlns:a16="http://schemas.microsoft.com/office/drawing/2014/main" id="{9C5FC53C-CA83-6A35-94CF-9B79A3C3C728}"/>
              </a:ext>
            </a:extLst>
          </p:cNvPr>
          <p:cNvSpPr txBox="1"/>
          <p:nvPr/>
        </p:nvSpPr>
        <p:spPr>
          <a:xfrm>
            <a:off x="5257800" y="4521200"/>
            <a:ext cx="2489200" cy="431800"/>
          </a:xfrm>
          <a:prstGeom prst="rect">
            <a:avLst/>
          </a:prstGeom>
        </p:spPr>
        <p:txBody>
          <a:bodyPr lIns="0" tIns="0" rIns="0" bIns="0" rtlCol="0" anchor="t"/>
          <a:lstStyle/>
          <a:p>
            <a:pPr lvl="0" algn="ctr">
              <a:lnSpc>
                <a:spcPct val="116199"/>
              </a:lnSpc>
            </a:pPr>
            <a:r>
              <a:rPr lang="en-US" sz="2400" b="0" i="0" u="none" strike="noStrike">
                <a:solidFill>
                  <a:srgbClr val="000000"/>
                </a:solidFill>
                <a:latin typeface="Pretendard Medium"/>
                <a:ea typeface="Pretendard Medium"/>
                <a:cs typeface="Pretendard Medium"/>
              </a:rPr>
              <a:t>관리자 세션 재사용</a:t>
            </a:r>
          </a:p>
        </p:txBody>
      </p:sp>
      <p:pic>
        <p:nvPicPr>
          <p:cNvPr id="161" name="Picture 89">
            <a:extLst>
              <a:ext uri="{FF2B5EF4-FFF2-40B4-BE49-F238E27FC236}">
                <a16:creationId xmlns:a16="http://schemas.microsoft.com/office/drawing/2014/main" id="{DDE1EF93-3342-EECD-5C7B-526BA1E2AC64}"/>
              </a:ext>
            </a:extLst>
          </p:cNvPr>
          <p:cNvPicPr>
            <a:picLocks noChangeAspect="1"/>
          </p:cNvPicPr>
          <p:nvPr/>
        </p:nvPicPr>
        <p:blipFill>
          <a:blip r:embed="rId52"/>
          <a:stretch>
            <a:fillRect/>
          </a:stretch>
        </p:blipFill>
        <p:spPr>
          <a:xfrm>
            <a:off x="4965700" y="4610100"/>
            <a:ext cx="317500" cy="317500"/>
          </a:xfrm>
          <a:prstGeom prst="rect">
            <a:avLst/>
          </a:prstGeom>
        </p:spPr>
      </p:pic>
      <p:pic>
        <p:nvPicPr>
          <p:cNvPr id="162" name="Picture 90">
            <a:extLst>
              <a:ext uri="{FF2B5EF4-FFF2-40B4-BE49-F238E27FC236}">
                <a16:creationId xmlns:a16="http://schemas.microsoft.com/office/drawing/2014/main" id="{E8B66C7A-3BCE-CA7C-F29A-0A65757BAA58}"/>
              </a:ext>
            </a:extLst>
          </p:cNvPr>
          <p:cNvPicPr>
            <a:picLocks noChangeAspect="1"/>
          </p:cNvPicPr>
          <p:nvPr/>
        </p:nvPicPr>
        <p:blipFill>
          <a:blip r:embed="rId53"/>
          <a:stretch>
            <a:fillRect/>
          </a:stretch>
        </p:blipFill>
        <p:spPr>
          <a:xfrm>
            <a:off x="3200400" y="8356600"/>
            <a:ext cx="292100" cy="292100"/>
          </a:xfrm>
          <a:prstGeom prst="rect">
            <a:avLst/>
          </a:prstGeom>
        </p:spPr>
      </p:pic>
      <p:pic>
        <p:nvPicPr>
          <p:cNvPr id="163" name="Picture 91">
            <a:extLst>
              <a:ext uri="{FF2B5EF4-FFF2-40B4-BE49-F238E27FC236}">
                <a16:creationId xmlns:a16="http://schemas.microsoft.com/office/drawing/2014/main" id="{734A0D2C-8EDF-9EBB-8920-E514FF449AB5}"/>
              </a:ext>
            </a:extLst>
          </p:cNvPr>
          <p:cNvPicPr>
            <a:picLocks noChangeAspect="1"/>
          </p:cNvPicPr>
          <p:nvPr/>
        </p:nvPicPr>
        <p:blipFill>
          <a:blip r:embed="rId54"/>
          <a:stretch>
            <a:fillRect/>
          </a:stretch>
        </p:blipFill>
        <p:spPr>
          <a:xfrm rot="5400000">
            <a:off x="19697700" y="9918700"/>
            <a:ext cx="3606800" cy="6350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a:extLst>
            <a:ext uri="{FF2B5EF4-FFF2-40B4-BE49-F238E27FC236}">
              <a16:creationId xmlns:a16="http://schemas.microsoft.com/office/drawing/2014/main" id="{D960AD86-F0EF-365E-A5FA-A1DD02605964}"/>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2C73A317-B0CE-DD85-CFF8-F9E8EC631E18}"/>
              </a:ext>
            </a:extLst>
          </p:cNvPr>
          <p:cNvPicPr>
            <a:picLocks noChangeAspect="1"/>
          </p:cNvPicPr>
          <p:nvPr/>
        </p:nvPicPr>
        <p:blipFill>
          <a:blip r:embed="rId3">
            <a:alphaModFix amt="70000"/>
          </a:blip>
          <a:stretch>
            <a:fillRect/>
          </a:stretch>
        </p:blipFill>
        <p:spPr>
          <a:xfrm>
            <a:off x="16230600" y="-2590800"/>
            <a:ext cx="11442700" cy="11442700"/>
          </a:xfrm>
          <a:prstGeom prst="rect">
            <a:avLst/>
          </a:prstGeom>
        </p:spPr>
      </p:pic>
      <p:pic>
        <p:nvPicPr>
          <p:cNvPr id="3" name="Picture 3">
            <a:extLst>
              <a:ext uri="{FF2B5EF4-FFF2-40B4-BE49-F238E27FC236}">
                <a16:creationId xmlns:a16="http://schemas.microsoft.com/office/drawing/2014/main" id="{DF0662C3-408A-97AC-DC40-4A37E851844A}"/>
              </a:ext>
            </a:extLst>
          </p:cNvPr>
          <p:cNvPicPr>
            <a:picLocks noChangeAspect="1"/>
          </p:cNvPicPr>
          <p:nvPr/>
        </p:nvPicPr>
        <p:blipFill>
          <a:blip r:embed="rId4"/>
          <a:stretch>
            <a:fillRect/>
          </a:stretch>
        </p:blipFill>
        <p:spPr>
          <a:xfrm>
            <a:off x="762000" y="1092200"/>
            <a:ext cx="22860000" cy="12700"/>
          </a:xfrm>
          <a:prstGeom prst="rect">
            <a:avLst/>
          </a:prstGeom>
        </p:spPr>
      </p:pic>
      <p:pic>
        <p:nvPicPr>
          <p:cNvPr id="4" name="Picture 4">
            <a:extLst>
              <a:ext uri="{FF2B5EF4-FFF2-40B4-BE49-F238E27FC236}">
                <a16:creationId xmlns:a16="http://schemas.microsoft.com/office/drawing/2014/main" id="{4DDA4B2E-FE94-FD08-81F4-5865262E6D34}"/>
              </a:ext>
            </a:extLst>
          </p:cNvPr>
          <p:cNvPicPr>
            <a:picLocks noChangeAspect="1"/>
          </p:cNvPicPr>
          <p:nvPr/>
        </p:nvPicPr>
        <p:blipFill>
          <a:blip r:embed="rId5"/>
          <a:stretch>
            <a:fillRect/>
          </a:stretch>
        </p:blipFill>
        <p:spPr>
          <a:xfrm rot="5400000">
            <a:off x="3200400" y="787400"/>
            <a:ext cx="635000" cy="12700"/>
          </a:xfrm>
          <a:prstGeom prst="rect">
            <a:avLst/>
          </a:prstGeom>
        </p:spPr>
      </p:pic>
      <p:pic>
        <p:nvPicPr>
          <p:cNvPr id="5" name="Picture 5">
            <a:extLst>
              <a:ext uri="{FF2B5EF4-FFF2-40B4-BE49-F238E27FC236}">
                <a16:creationId xmlns:a16="http://schemas.microsoft.com/office/drawing/2014/main" id="{AAA4E74D-52A2-5635-D37F-80BD152BBC08}"/>
              </a:ext>
            </a:extLst>
          </p:cNvPr>
          <p:cNvPicPr>
            <a:picLocks noChangeAspect="1"/>
          </p:cNvPicPr>
          <p:nvPr/>
        </p:nvPicPr>
        <p:blipFill>
          <a:blip r:embed="rId5"/>
          <a:stretch>
            <a:fillRect/>
          </a:stretch>
        </p:blipFill>
        <p:spPr>
          <a:xfrm rot="5400000">
            <a:off x="22225000" y="787400"/>
            <a:ext cx="635000" cy="12700"/>
          </a:xfrm>
          <a:prstGeom prst="rect">
            <a:avLst/>
          </a:prstGeom>
        </p:spPr>
      </p:pic>
      <p:pic>
        <p:nvPicPr>
          <p:cNvPr id="6" name="Picture 6">
            <a:extLst>
              <a:ext uri="{FF2B5EF4-FFF2-40B4-BE49-F238E27FC236}">
                <a16:creationId xmlns:a16="http://schemas.microsoft.com/office/drawing/2014/main" id="{89B79C17-BF9C-F9BD-61E9-9B6E52BDD038}"/>
              </a:ext>
            </a:extLst>
          </p:cNvPr>
          <p:cNvPicPr>
            <a:picLocks noChangeAspect="1"/>
          </p:cNvPicPr>
          <p:nvPr/>
        </p:nvPicPr>
        <p:blipFill>
          <a:blip r:embed="rId5"/>
          <a:stretch>
            <a:fillRect/>
          </a:stretch>
        </p:blipFill>
        <p:spPr>
          <a:xfrm rot="5400000">
            <a:off x="6337300" y="787400"/>
            <a:ext cx="635000" cy="12700"/>
          </a:xfrm>
          <a:prstGeom prst="rect">
            <a:avLst/>
          </a:prstGeom>
        </p:spPr>
      </p:pic>
      <p:pic>
        <p:nvPicPr>
          <p:cNvPr id="7" name="Picture 7">
            <a:extLst>
              <a:ext uri="{FF2B5EF4-FFF2-40B4-BE49-F238E27FC236}">
                <a16:creationId xmlns:a16="http://schemas.microsoft.com/office/drawing/2014/main" id="{AEB809ED-67B9-422B-71C0-21F505DD857B}"/>
              </a:ext>
            </a:extLst>
          </p:cNvPr>
          <p:cNvPicPr>
            <a:picLocks noChangeAspect="1"/>
          </p:cNvPicPr>
          <p:nvPr/>
        </p:nvPicPr>
        <p:blipFill>
          <a:blip r:embed="rId4"/>
          <a:stretch>
            <a:fillRect/>
          </a:stretch>
        </p:blipFill>
        <p:spPr>
          <a:xfrm>
            <a:off x="723900" y="457200"/>
            <a:ext cx="22860000" cy="12700"/>
          </a:xfrm>
          <a:prstGeom prst="rect">
            <a:avLst/>
          </a:prstGeom>
        </p:spPr>
      </p:pic>
      <p:sp>
        <p:nvSpPr>
          <p:cNvPr id="12" name="TextBox 12">
            <a:extLst>
              <a:ext uri="{FF2B5EF4-FFF2-40B4-BE49-F238E27FC236}">
                <a16:creationId xmlns:a16="http://schemas.microsoft.com/office/drawing/2014/main" id="{65E75F74-07DC-A399-7F6D-262E3773D17E}"/>
              </a:ext>
            </a:extLst>
          </p:cNvPr>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cap="all" dirty="0">
                <a:solidFill>
                  <a:srgbClr val="024EA0"/>
                </a:solidFill>
                <a:latin typeface="Geologica Roman Light"/>
                <a:ea typeface="Geologica Roman Light"/>
                <a:cs typeface="Geologica Roman Light"/>
              </a:rPr>
              <a:t>57</a:t>
            </a:r>
            <a:endParaRPr lang="en-US" sz="2133" b="0" i="0" u="none" strike="noStrike" cap="all" dirty="0">
              <a:solidFill>
                <a:srgbClr val="024EA0"/>
              </a:solidFill>
              <a:latin typeface="Geologica Roman Light"/>
              <a:ea typeface="Geologica Roman Light"/>
              <a:cs typeface="Geologica Roman Light"/>
            </a:endParaRPr>
          </a:p>
        </p:txBody>
      </p:sp>
      <p:sp>
        <p:nvSpPr>
          <p:cNvPr id="26" name="TextBox 14">
            <a:extLst>
              <a:ext uri="{FF2B5EF4-FFF2-40B4-BE49-F238E27FC236}">
                <a16:creationId xmlns:a16="http://schemas.microsoft.com/office/drawing/2014/main" id="{642FE2A2-125E-3E77-9343-0775BC0C78E4}"/>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7" name="TextBox 14">
            <a:extLst>
              <a:ext uri="{FF2B5EF4-FFF2-40B4-BE49-F238E27FC236}">
                <a16:creationId xmlns:a16="http://schemas.microsoft.com/office/drawing/2014/main" id="{22694476-92B8-24AC-919F-E6BD3D85886E}"/>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8" name="Picture 2">
            <a:extLst>
              <a:ext uri="{FF2B5EF4-FFF2-40B4-BE49-F238E27FC236}">
                <a16:creationId xmlns:a16="http://schemas.microsoft.com/office/drawing/2014/main" id="{CE49F5F1-A2D8-633F-EEF3-96D599D5B204}"/>
              </a:ext>
            </a:extLst>
          </p:cNvPr>
          <p:cNvPicPr>
            <a:picLocks noChangeAspect="1"/>
          </p:cNvPicPr>
          <p:nvPr/>
        </p:nvPicPr>
        <p:blipFill>
          <a:blip r:embed="rId6">
            <a:alphaModFix amt="85000"/>
          </a:blip>
          <a:stretch>
            <a:fillRect/>
          </a:stretch>
        </p:blipFill>
        <p:spPr>
          <a:xfrm>
            <a:off x="11201400" y="558800"/>
            <a:ext cx="2705100" cy="444500"/>
          </a:xfrm>
          <a:prstGeom prst="rect">
            <a:avLst/>
          </a:prstGeom>
        </p:spPr>
      </p:pic>
      <p:sp>
        <p:nvSpPr>
          <p:cNvPr id="9" name="TextBox 16">
            <a:extLst>
              <a:ext uri="{FF2B5EF4-FFF2-40B4-BE49-F238E27FC236}">
                <a16:creationId xmlns:a16="http://schemas.microsoft.com/office/drawing/2014/main" id="{F0132700-D30E-3CA1-DDAD-AD95CDD011D3}"/>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8" name="TextBox 18">
            <a:extLst>
              <a:ext uri="{FF2B5EF4-FFF2-40B4-BE49-F238E27FC236}">
                <a16:creationId xmlns:a16="http://schemas.microsoft.com/office/drawing/2014/main" id="{CFD105FF-04CD-EDD6-F14F-4867E123844A}"/>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29" name="TextBox 19">
            <a:extLst>
              <a:ext uri="{FF2B5EF4-FFF2-40B4-BE49-F238E27FC236}">
                <a16:creationId xmlns:a16="http://schemas.microsoft.com/office/drawing/2014/main" id="{10B900B8-BD7D-7B96-BE7F-359AF58AD628}"/>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30" name="TextBox 20">
            <a:extLst>
              <a:ext uri="{FF2B5EF4-FFF2-40B4-BE49-F238E27FC236}">
                <a16:creationId xmlns:a16="http://schemas.microsoft.com/office/drawing/2014/main" id="{F82B80D9-D047-A76D-BB3E-C7394BAE8582}"/>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pic>
        <p:nvPicPr>
          <p:cNvPr id="13" name="Picture 12">
            <a:extLst>
              <a:ext uri="{FF2B5EF4-FFF2-40B4-BE49-F238E27FC236}">
                <a16:creationId xmlns:a16="http://schemas.microsoft.com/office/drawing/2014/main" id="{2F9F7772-C1B5-CF1B-564D-376E206D989B}"/>
              </a:ext>
            </a:extLst>
          </p:cNvPr>
          <p:cNvPicPr>
            <a:picLocks noChangeAspect="1"/>
          </p:cNvPicPr>
          <p:nvPr/>
        </p:nvPicPr>
        <p:blipFill>
          <a:blip r:embed="rId7"/>
          <a:stretch>
            <a:fillRect/>
          </a:stretch>
        </p:blipFill>
        <p:spPr>
          <a:xfrm>
            <a:off x="1485900" y="1612900"/>
            <a:ext cx="88900" cy="850900"/>
          </a:xfrm>
          <a:prstGeom prst="rect">
            <a:avLst/>
          </a:prstGeom>
        </p:spPr>
      </p:pic>
      <p:sp>
        <p:nvSpPr>
          <p:cNvPr id="14" name="TextBox 13">
            <a:extLst>
              <a:ext uri="{FF2B5EF4-FFF2-40B4-BE49-F238E27FC236}">
                <a16:creationId xmlns:a16="http://schemas.microsoft.com/office/drawing/2014/main" id="{EE63370E-90A7-68B2-913A-074E0935FC65}"/>
              </a:ext>
            </a:extLst>
          </p:cNvPr>
          <p:cNvSpPr txBox="1"/>
          <p:nvPr/>
        </p:nvSpPr>
        <p:spPr>
          <a:xfrm>
            <a:off x="1943100" y="1409700"/>
            <a:ext cx="13423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시나리오 프로그램 환경</a:t>
            </a:r>
          </a:p>
        </p:txBody>
      </p:sp>
      <p:pic>
        <p:nvPicPr>
          <p:cNvPr id="33" name="Picture 3">
            <a:extLst>
              <a:ext uri="{FF2B5EF4-FFF2-40B4-BE49-F238E27FC236}">
                <a16:creationId xmlns:a16="http://schemas.microsoft.com/office/drawing/2014/main" id="{B6C83A0F-C1EC-5FBB-A682-0C2FBC694B8D}"/>
              </a:ext>
            </a:extLst>
          </p:cNvPr>
          <p:cNvPicPr>
            <a:picLocks noChangeAspect="1"/>
          </p:cNvPicPr>
          <p:nvPr/>
        </p:nvPicPr>
        <p:blipFill>
          <a:blip r:embed="rId8"/>
          <a:stretch>
            <a:fillRect/>
          </a:stretch>
        </p:blipFill>
        <p:spPr>
          <a:xfrm>
            <a:off x="1460500" y="4445000"/>
            <a:ext cx="6375400" cy="6997700"/>
          </a:xfrm>
          <a:prstGeom prst="rect">
            <a:avLst/>
          </a:prstGeom>
          <a:effectLst>
            <a:outerShdw blurRad="159261" dist="147010" dir="2700000">
              <a:srgbClr val="1A7AE1">
                <a:alpha val="15000"/>
              </a:srgbClr>
            </a:outerShdw>
          </a:effectLst>
        </p:spPr>
      </p:pic>
      <p:sp>
        <p:nvSpPr>
          <p:cNvPr id="34" name="TextBox 21">
            <a:extLst>
              <a:ext uri="{FF2B5EF4-FFF2-40B4-BE49-F238E27FC236}">
                <a16:creationId xmlns:a16="http://schemas.microsoft.com/office/drawing/2014/main" id="{971D7C85-4C43-6A5D-2BB7-328A0C5B42C2}"/>
              </a:ext>
            </a:extLst>
          </p:cNvPr>
          <p:cNvSpPr txBox="1"/>
          <p:nvPr/>
        </p:nvSpPr>
        <p:spPr>
          <a:xfrm>
            <a:off x="1435100" y="4787900"/>
            <a:ext cx="6451600" cy="520700"/>
          </a:xfrm>
          <a:prstGeom prst="rect">
            <a:avLst/>
          </a:prstGeom>
        </p:spPr>
        <p:txBody>
          <a:bodyPr lIns="0" tIns="0" rIns="0" bIns="0" rtlCol="0" anchor="t"/>
          <a:lstStyle/>
          <a:p>
            <a:pPr lvl="0" algn="ctr">
              <a:lnSpc>
                <a:spcPct val="116199"/>
              </a:lnSpc>
            </a:pPr>
            <a:r>
              <a:rPr lang="en-US" sz="2933" dirty="0">
                <a:solidFill>
                  <a:srgbClr val="000000"/>
                </a:solidFill>
                <a:latin typeface="Pretendard Bold"/>
                <a:ea typeface="Pretendard Bold"/>
                <a:cs typeface="Pretendard Bold"/>
              </a:rPr>
              <a:t>Spring Boot</a:t>
            </a:r>
            <a:endParaRPr lang="en-US" sz="2933" b="0" i="0" u="none" strike="noStrike" dirty="0">
              <a:solidFill>
                <a:srgbClr val="000000"/>
              </a:solidFill>
              <a:latin typeface="Pretendard Bold"/>
              <a:ea typeface="Pretendard Bold"/>
              <a:cs typeface="Pretendard Bold"/>
            </a:endParaRPr>
          </a:p>
        </p:txBody>
      </p:sp>
      <p:sp>
        <p:nvSpPr>
          <p:cNvPr id="35" name="TextBox 23">
            <a:extLst>
              <a:ext uri="{FF2B5EF4-FFF2-40B4-BE49-F238E27FC236}">
                <a16:creationId xmlns:a16="http://schemas.microsoft.com/office/drawing/2014/main" id="{978D9756-9FD7-217A-068D-852486EF9629}"/>
              </a:ext>
            </a:extLst>
          </p:cNvPr>
          <p:cNvSpPr txBox="1"/>
          <p:nvPr/>
        </p:nvSpPr>
        <p:spPr>
          <a:xfrm>
            <a:off x="2279650" y="9194800"/>
            <a:ext cx="5264150" cy="1892300"/>
          </a:xfrm>
          <a:prstGeom prst="rect">
            <a:avLst/>
          </a:prstGeom>
        </p:spPr>
        <p:txBody>
          <a:bodyPr lIns="0" tIns="0" rIns="0" bIns="0" rtlCol="0" anchor="t"/>
          <a:lstStyle/>
          <a:p>
            <a:pPr lvl="0" algn="l">
              <a:lnSpc>
                <a:spcPct val="116199"/>
              </a:lnSpc>
            </a:pPr>
            <a:r>
              <a:rPr lang="en-US" sz="2666" b="0" i="0" u="none" strike="noStrike" dirty="0" err="1">
                <a:solidFill>
                  <a:srgbClr val="000000"/>
                </a:solidFill>
                <a:latin typeface="Pretendard Medium"/>
                <a:ea typeface="Pretendard Medium"/>
                <a:cs typeface="Pretendard Medium"/>
              </a:rPr>
              <a:t>버전</a:t>
            </a:r>
            <a:r>
              <a:rPr lang="en-US" sz="2666" b="0" i="0" u="none" strike="noStrike" dirty="0">
                <a:solidFill>
                  <a:srgbClr val="000000"/>
                </a:solidFill>
                <a:latin typeface="Pretendard Medium"/>
                <a:ea typeface="Pretendard Medium"/>
                <a:cs typeface="Pretendard Medium"/>
              </a:rPr>
              <a:t> : </a:t>
            </a:r>
            <a:r>
              <a:rPr lang="en-US" sz="2666" dirty="0">
                <a:solidFill>
                  <a:srgbClr val="000000"/>
                </a:solidFill>
                <a:latin typeface="Pretendard Medium"/>
                <a:ea typeface="Pretendard Medium"/>
                <a:cs typeface="Pretendard Medium"/>
              </a:rPr>
              <a:t>3.3.0</a:t>
            </a:r>
            <a:endParaRPr lang="en-US" sz="2666" b="0" i="0" u="none" strike="noStrike" dirty="0">
              <a:solidFill>
                <a:srgbClr val="000000"/>
              </a:solidFill>
              <a:latin typeface="Pretendard Medium"/>
              <a:ea typeface="Pretendard Medium"/>
              <a:cs typeface="Pretendard Medium"/>
            </a:endParaRPr>
          </a:p>
          <a:p>
            <a:pPr lvl="0" algn="l">
              <a:lnSpc>
                <a:spcPct val="116199"/>
              </a:lnSpc>
            </a:pPr>
            <a:r>
              <a:rPr lang="en-US" sz="2666" b="0" i="0" u="none" strike="noStrike" dirty="0" err="1">
                <a:solidFill>
                  <a:srgbClr val="000000"/>
                </a:solidFill>
                <a:latin typeface="Pretendard Medium"/>
                <a:ea typeface="Pretendard Medium"/>
                <a:cs typeface="Pretendard Medium"/>
              </a:rPr>
              <a:t>설명</a:t>
            </a:r>
            <a:r>
              <a:rPr lang="en-US" sz="2666" b="0" i="0" u="none" strike="noStrike" dirty="0">
                <a:solidFill>
                  <a:srgbClr val="000000"/>
                </a:solidFill>
                <a:latin typeface="Pretendard Medium"/>
                <a:ea typeface="Pretendard Medium"/>
                <a:cs typeface="Pretendard Medium"/>
              </a:rPr>
              <a:t> : </a:t>
            </a:r>
            <a:r>
              <a:rPr lang="en-US" altLang="ko-KR" sz="2666" b="0" i="0" u="none" strike="noStrike" dirty="0">
                <a:solidFill>
                  <a:srgbClr val="000000"/>
                </a:solidFill>
                <a:latin typeface="Pretendard Medium"/>
                <a:ea typeface="Pretendard Medium"/>
                <a:cs typeface="Pretendard Medium"/>
              </a:rPr>
              <a:t>Java </a:t>
            </a:r>
            <a:r>
              <a:rPr lang="en-US" altLang="ko-KR" sz="2666" b="0" i="0" u="none" strike="noStrike" dirty="0" err="1">
                <a:solidFill>
                  <a:srgbClr val="000000"/>
                </a:solidFill>
                <a:latin typeface="Pretendard Medium"/>
                <a:ea typeface="Pretendard Medium"/>
                <a:cs typeface="Pretendard Medium"/>
              </a:rPr>
              <a:t>기반의</a:t>
            </a:r>
            <a:r>
              <a:rPr lang="en-US" altLang="ko-KR" sz="2666" b="0" i="0" u="none" strike="noStrike" dirty="0">
                <a:solidFill>
                  <a:srgbClr val="000000"/>
                </a:solidFill>
                <a:latin typeface="Pretendard Medium"/>
                <a:ea typeface="Pretendard Medium"/>
                <a:cs typeface="Pretendard Medium"/>
              </a:rPr>
              <a:t> Spring </a:t>
            </a:r>
            <a:r>
              <a:rPr lang="en-US" altLang="ko-KR" sz="2666" b="0" i="0" u="none" strike="noStrike" dirty="0" err="1">
                <a:solidFill>
                  <a:srgbClr val="000000"/>
                </a:solidFill>
                <a:latin typeface="Pretendard Medium"/>
                <a:ea typeface="Pretendard Medium"/>
                <a:cs typeface="Pretendard Medium"/>
              </a:rPr>
              <a:t>애플리케이션</a:t>
            </a:r>
            <a:r>
              <a:rPr lang="en-US" altLang="ko-KR" sz="2666" b="0" i="0" u="none" strike="noStrike" dirty="0">
                <a:solidFill>
                  <a:srgbClr val="000000"/>
                </a:solidFill>
                <a:latin typeface="Pretendard Medium"/>
                <a:ea typeface="Pretendard Medium"/>
                <a:cs typeface="Pretendard Medium"/>
              </a:rPr>
              <a:t> </a:t>
            </a:r>
            <a:r>
              <a:rPr lang="en-US" altLang="ko-KR" sz="2666" b="0" i="0" u="none" strike="noStrike" dirty="0" err="1">
                <a:solidFill>
                  <a:srgbClr val="000000"/>
                </a:solidFill>
                <a:latin typeface="Pretendard Medium"/>
                <a:ea typeface="Pretendard Medium"/>
                <a:cs typeface="Pretendard Medium"/>
              </a:rPr>
              <a:t>개발</a:t>
            </a:r>
            <a:r>
              <a:rPr lang="en-US" altLang="ko-KR" sz="2666" b="0" i="0" u="none" strike="noStrike" dirty="0">
                <a:solidFill>
                  <a:srgbClr val="000000"/>
                </a:solidFill>
                <a:latin typeface="Pretendard Medium"/>
                <a:ea typeface="Pretendard Medium"/>
                <a:cs typeface="Pretendard Medium"/>
              </a:rPr>
              <a:t> </a:t>
            </a:r>
            <a:r>
              <a:rPr lang="en-US" altLang="ko-KR" sz="2666" b="0" i="0" u="none" strike="noStrike" dirty="0" err="1">
                <a:solidFill>
                  <a:srgbClr val="000000"/>
                </a:solidFill>
                <a:latin typeface="Pretendard Medium"/>
                <a:ea typeface="Pretendard Medium"/>
                <a:cs typeface="Pretendard Medium"/>
              </a:rPr>
              <a:t>프레임워크</a:t>
            </a:r>
            <a:r>
              <a:rPr lang="en-US" altLang="ko-KR" sz="2666" b="0" i="0" u="none" strike="noStrike" dirty="0">
                <a:solidFill>
                  <a:srgbClr val="000000"/>
                </a:solidFill>
                <a:latin typeface="Pretendard Medium"/>
                <a:ea typeface="Pretendard Medium"/>
                <a:cs typeface="Pretendard Medium"/>
              </a:rPr>
              <a:t> </a:t>
            </a:r>
            <a:endParaRPr lang="en-US" sz="2666" b="0" i="0" u="none" strike="noStrike" dirty="0">
              <a:solidFill>
                <a:srgbClr val="000000"/>
              </a:solidFill>
              <a:latin typeface="Pretendard Medium"/>
              <a:ea typeface="Pretendard Medium"/>
              <a:cs typeface="Pretendard Medium"/>
            </a:endParaRPr>
          </a:p>
        </p:txBody>
      </p:sp>
      <p:pic>
        <p:nvPicPr>
          <p:cNvPr id="36" name="Picture 22">
            <a:extLst>
              <a:ext uri="{FF2B5EF4-FFF2-40B4-BE49-F238E27FC236}">
                <a16:creationId xmlns:a16="http://schemas.microsoft.com/office/drawing/2014/main" id="{87F22236-5606-A138-ADBA-83532B3C54F8}"/>
              </a:ext>
            </a:extLst>
          </p:cNvPr>
          <p:cNvPicPr>
            <a:picLocks noChangeAspect="1"/>
          </p:cNvPicPr>
          <p:nvPr/>
        </p:nvPicPr>
        <p:blipFill>
          <a:blip r:embed="rId9"/>
          <a:stretch>
            <a:fillRect/>
          </a:stretch>
        </p:blipFill>
        <p:spPr>
          <a:xfrm>
            <a:off x="2552700" y="6078221"/>
            <a:ext cx="4191000" cy="2197100"/>
          </a:xfrm>
          <a:prstGeom prst="rect">
            <a:avLst/>
          </a:prstGeom>
        </p:spPr>
      </p:pic>
      <p:pic>
        <p:nvPicPr>
          <p:cNvPr id="37" name="Picture 5">
            <a:extLst>
              <a:ext uri="{FF2B5EF4-FFF2-40B4-BE49-F238E27FC236}">
                <a16:creationId xmlns:a16="http://schemas.microsoft.com/office/drawing/2014/main" id="{FDD41BCE-ADDA-E4D7-663B-4531136C6753}"/>
              </a:ext>
            </a:extLst>
          </p:cNvPr>
          <p:cNvPicPr>
            <a:picLocks noChangeAspect="1"/>
          </p:cNvPicPr>
          <p:nvPr/>
        </p:nvPicPr>
        <p:blipFill>
          <a:blip r:embed="rId8"/>
          <a:stretch>
            <a:fillRect/>
          </a:stretch>
        </p:blipFill>
        <p:spPr>
          <a:xfrm>
            <a:off x="9296400" y="4445000"/>
            <a:ext cx="6375400" cy="6997700"/>
          </a:xfrm>
          <a:prstGeom prst="rect">
            <a:avLst/>
          </a:prstGeom>
          <a:effectLst>
            <a:outerShdw blurRad="159261" dist="147010" dir="2700000">
              <a:srgbClr val="1A7AE1">
                <a:alpha val="15000"/>
              </a:srgbClr>
            </a:outerShdw>
          </a:effectLst>
        </p:spPr>
      </p:pic>
      <p:sp>
        <p:nvSpPr>
          <p:cNvPr id="38" name="TextBox 25">
            <a:extLst>
              <a:ext uri="{FF2B5EF4-FFF2-40B4-BE49-F238E27FC236}">
                <a16:creationId xmlns:a16="http://schemas.microsoft.com/office/drawing/2014/main" id="{8E9C7C3D-2524-5C7B-5746-0D95D8DB2F73}"/>
              </a:ext>
            </a:extLst>
          </p:cNvPr>
          <p:cNvSpPr txBox="1"/>
          <p:nvPr/>
        </p:nvSpPr>
        <p:spPr>
          <a:xfrm>
            <a:off x="9245600" y="4787900"/>
            <a:ext cx="6477000" cy="520700"/>
          </a:xfrm>
          <a:prstGeom prst="rect">
            <a:avLst/>
          </a:prstGeom>
        </p:spPr>
        <p:txBody>
          <a:bodyPr lIns="0" tIns="0" rIns="0" bIns="0" rtlCol="0" anchor="t"/>
          <a:lstStyle/>
          <a:p>
            <a:pPr lvl="0" algn="ctr">
              <a:lnSpc>
                <a:spcPct val="116199"/>
              </a:lnSpc>
            </a:pPr>
            <a:r>
              <a:rPr lang="en-US" sz="2933" b="0" i="0" u="none" strike="noStrike" dirty="0">
                <a:solidFill>
                  <a:srgbClr val="000000"/>
                </a:solidFill>
                <a:latin typeface="Pretendard Bold"/>
                <a:ea typeface="Pretendard Bold"/>
                <a:cs typeface="Pretendard Bold"/>
              </a:rPr>
              <a:t>n8n</a:t>
            </a:r>
          </a:p>
        </p:txBody>
      </p:sp>
      <p:sp>
        <p:nvSpPr>
          <p:cNvPr id="39" name="TextBox 26">
            <a:extLst>
              <a:ext uri="{FF2B5EF4-FFF2-40B4-BE49-F238E27FC236}">
                <a16:creationId xmlns:a16="http://schemas.microsoft.com/office/drawing/2014/main" id="{BD397F21-0F85-8081-2051-DDC3AE5A0CE6}"/>
              </a:ext>
            </a:extLst>
          </p:cNvPr>
          <p:cNvSpPr txBox="1"/>
          <p:nvPr/>
        </p:nvSpPr>
        <p:spPr>
          <a:xfrm>
            <a:off x="9702800" y="9144000"/>
            <a:ext cx="5664200" cy="1854200"/>
          </a:xfrm>
          <a:prstGeom prst="rect">
            <a:avLst/>
          </a:prstGeom>
        </p:spPr>
        <p:txBody>
          <a:bodyPr lIns="0" tIns="0" rIns="0" bIns="0" rtlCol="0" anchor="t"/>
          <a:lstStyle/>
          <a:p>
            <a:pPr lvl="0" algn="l">
              <a:lnSpc>
                <a:spcPct val="116199"/>
              </a:lnSpc>
            </a:pPr>
            <a:r>
              <a:rPr lang="en-US" sz="2666" b="0" i="0" u="none" strike="noStrike" dirty="0" err="1">
                <a:solidFill>
                  <a:srgbClr val="000000"/>
                </a:solidFill>
                <a:latin typeface="Pretendard Medium"/>
                <a:ea typeface="Pretendard Medium"/>
                <a:cs typeface="Pretendard Medium"/>
              </a:rPr>
              <a:t>버전</a:t>
            </a:r>
            <a:r>
              <a:rPr lang="en-US" sz="2666" b="0" i="0" u="none" strike="noStrike" dirty="0">
                <a:solidFill>
                  <a:srgbClr val="000000"/>
                </a:solidFill>
                <a:latin typeface="Pretendard Medium"/>
                <a:ea typeface="Pretendard Medium"/>
                <a:cs typeface="Pretendard Medium"/>
              </a:rPr>
              <a:t> : </a:t>
            </a:r>
            <a:r>
              <a:rPr lang="en-US" sz="2666" dirty="0">
                <a:solidFill>
                  <a:srgbClr val="000000"/>
                </a:solidFill>
                <a:latin typeface="Pretendard Medium"/>
                <a:ea typeface="Pretendard Medium"/>
                <a:cs typeface="Pretendard Medium"/>
              </a:rPr>
              <a:t>1.120.4</a:t>
            </a:r>
            <a:endParaRPr lang="en-US" sz="2666" b="0" i="0" u="none" strike="noStrike" dirty="0">
              <a:solidFill>
                <a:srgbClr val="000000"/>
              </a:solidFill>
              <a:latin typeface="Pretendard Medium"/>
              <a:ea typeface="Pretendard Medium"/>
              <a:cs typeface="Pretendard Medium"/>
            </a:endParaRPr>
          </a:p>
          <a:p>
            <a:pPr lvl="0" algn="l">
              <a:lnSpc>
                <a:spcPct val="116199"/>
              </a:lnSpc>
            </a:pPr>
            <a:r>
              <a:rPr lang="en-US" sz="2666" b="0" i="0" u="none" strike="noStrike" dirty="0" err="1">
                <a:solidFill>
                  <a:srgbClr val="000000"/>
                </a:solidFill>
                <a:latin typeface="Pretendard Medium"/>
                <a:ea typeface="Pretendard Medium"/>
                <a:cs typeface="Pretendard Medium"/>
              </a:rPr>
              <a:t>설명</a:t>
            </a:r>
            <a:r>
              <a:rPr lang="en-US" sz="2666" b="0" i="0" u="none" strike="noStrike" dirty="0">
                <a:solidFill>
                  <a:srgbClr val="000000"/>
                </a:solidFill>
                <a:latin typeface="Pretendard Medium"/>
                <a:ea typeface="Pretendard Medium"/>
                <a:cs typeface="Pretendard Medium"/>
              </a:rPr>
              <a:t> : </a:t>
            </a:r>
            <a:r>
              <a:rPr lang="en-US" altLang="ko-KR" sz="2666" b="0" i="0" u="none" strike="noStrike" dirty="0">
                <a:solidFill>
                  <a:srgbClr val="000000"/>
                </a:solidFill>
                <a:latin typeface="Pretendard Medium"/>
                <a:ea typeface="Pretendard Medium"/>
                <a:cs typeface="Pretendard Medium"/>
              </a:rPr>
              <a:t>앱, </a:t>
            </a:r>
            <a:r>
              <a:rPr lang="en-US" altLang="ko-KR" sz="2666" b="0" i="0" u="none" strike="noStrike" dirty="0" err="1">
                <a:solidFill>
                  <a:srgbClr val="000000"/>
                </a:solidFill>
                <a:latin typeface="Pretendard Medium"/>
                <a:ea typeface="Pretendard Medium"/>
                <a:cs typeface="Pretendard Medium"/>
              </a:rPr>
              <a:t>API를</a:t>
            </a:r>
            <a:r>
              <a:rPr lang="en-US" altLang="ko-KR" sz="2666" b="0" i="0" u="none" strike="noStrike" dirty="0">
                <a:solidFill>
                  <a:srgbClr val="000000"/>
                </a:solidFill>
                <a:latin typeface="Pretendard Medium"/>
                <a:ea typeface="Pretendard Medium"/>
                <a:cs typeface="Pretendard Medium"/>
              </a:rPr>
              <a:t> </a:t>
            </a:r>
            <a:r>
              <a:rPr lang="en-US" altLang="ko-KR" sz="2666" b="0" i="0" u="none" strike="noStrike" dirty="0" err="1">
                <a:solidFill>
                  <a:srgbClr val="000000"/>
                </a:solidFill>
                <a:latin typeface="Pretendard Medium"/>
                <a:ea typeface="Pretendard Medium"/>
                <a:cs typeface="Pretendard Medium"/>
              </a:rPr>
              <a:t>시각적으로</a:t>
            </a:r>
            <a:r>
              <a:rPr lang="en-US" altLang="ko-KR" sz="2666" b="0" i="0" u="none" strike="noStrike" dirty="0">
                <a:solidFill>
                  <a:srgbClr val="000000"/>
                </a:solidFill>
                <a:latin typeface="Pretendard Medium"/>
                <a:ea typeface="Pretendard Medium"/>
                <a:cs typeface="Pretendard Medium"/>
              </a:rPr>
              <a:t> </a:t>
            </a:r>
            <a:r>
              <a:rPr lang="en-US" altLang="ko-KR" sz="2666" b="0" i="0" u="none" strike="noStrike" dirty="0" err="1">
                <a:solidFill>
                  <a:srgbClr val="000000"/>
                </a:solidFill>
                <a:latin typeface="Pretendard Medium"/>
                <a:ea typeface="Pretendard Medium"/>
                <a:cs typeface="Pretendard Medium"/>
              </a:rPr>
              <a:t>연결하</a:t>
            </a:r>
            <a:r>
              <a:rPr lang="ko-KR" altLang="en-US" sz="2666" b="0" i="0" u="none" strike="noStrike" dirty="0">
                <a:solidFill>
                  <a:srgbClr val="000000"/>
                </a:solidFill>
                <a:latin typeface="Pretendard Medium"/>
                <a:ea typeface="Pretendard Medium"/>
                <a:cs typeface="Pretendard Medium"/>
              </a:rPr>
              <a:t>는</a:t>
            </a:r>
            <a:r>
              <a:rPr lang="en-US" altLang="ko-KR" sz="2666" b="0" i="0" u="none" strike="noStrike" dirty="0">
                <a:solidFill>
                  <a:srgbClr val="000000"/>
                </a:solidFill>
                <a:latin typeface="Pretendard Medium"/>
                <a:ea typeface="Pretendard Medium"/>
                <a:cs typeface="Pretendard Medium"/>
              </a:rPr>
              <a:t> </a:t>
            </a:r>
            <a:r>
              <a:rPr lang="en-US" altLang="ko-KR" sz="2666" b="0" i="0" u="none" strike="noStrike" dirty="0" err="1">
                <a:solidFill>
                  <a:srgbClr val="000000"/>
                </a:solidFill>
                <a:latin typeface="Pretendard Medium"/>
                <a:ea typeface="Pretendard Medium"/>
                <a:cs typeface="Pretendard Medium"/>
              </a:rPr>
              <a:t>워크플로우</a:t>
            </a:r>
            <a:r>
              <a:rPr lang="en-US" altLang="ko-KR" sz="2666" b="0" i="0" u="none" strike="noStrike" dirty="0">
                <a:solidFill>
                  <a:srgbClr val="000000"/>
                </a:solidFill>
                <a:latin typeface="Pretendard Medium"/>
                <a:ea typeface="Pretendard Medium"/>
                <a:cs typeface="Pretendard Medium"/>
              </a:rPr>
              <a:t> </a:t>
            </a:r>
            <a:r>
              <a:rPr lang="en-US" altLang="ko-KR" sz="2666" b="0" i="0" u="none" strike="noStrike" dirty="0" err="1">
                <a:solidFill>
                  <a:srgbClr val="000000"/>
                </a:solidFill>
                <a:latin typeface="Pretendard Medium"/>
                <a:ea typeface="Pretendard Medium"/>
                <a:cs typeface="Pretendard Medium"/>
              </a:rPr>
              <a:t>자동화</a:t>
            </a:r>
            <a:r>
              <a:rPr lang="en-US" altLang="ko-KR" sz="2666" b="0" i="0" u="none" strike="noStrike" dirty="0">
                <a:solidFill>
                  <a:srgbClr val="000000"/>
                </a:solidFill>
                <a:latin typeface="Pretendard Medium"/>
                <a:ea typeface="Pretendard Medium"/>
                <a:cs typeface="Pretendard Medium"/>
              </a:rPr>
              <a:t> </a:t>
            </a:r>
            <a:r>
              <a:rPr lang="en-US" altLang="ko-KR" sz="2666" b="0" i="0" u="none" strike="noStrike" dirty="0" err="1">
                <a:solidFill>
                  <a:srgbClr val="000000"/>
                </a:solidFill>
                <a:latin typeface="Pretendard Medium"/>
                <a:ea typeface="Pretendard Medium"/>
                <a:cs typeface="Pretendard Medium"/>
              </a:rPr>
              <a:t>오픈소스</a:t>
            </a:r>
            <a:r>
              <a:rPr lang="en-US" altLang="ko-KR" sz="2666" b="0" i="0" u="none" strike="noStrike" dirty="0">
                <a:solidFill>
                  <a:srgbClr val="000000"/>
                </a:solidFill>
                <a:latin typeface="Pretendard Medium"/>
                <a:ea typeface="Pretendard Medium"/>
                <a:cs typeface="Pretendard Medium"/>
              </a:rPr>
              <a:t> 툴</a:t>
            </a:r>
          </a:p>
          <a:p>
            <a:pPr>
              <a:lnSpc>
                <a:spcPct val="116199"/>
              </a:lnSpc>
            </a:pPr>
            <a:r>
              <a:rPr lang="en-US" sz="2666" b="0" i="0" u="none" strike="noStrike" dirty="0" err="1">
                <a:solidFill>
                  <a:srgbClr val="000000"/>
                </a:solidFill>
                <a:latin typeface="Pretendard Medium"/>
                <a:ea typeface="Pretendard Medium"/>
                <a:cs typeface="Pretendard Medium"/>
              </a:rPr>
              <a:t>취약점</a:t>
            </a:r>
            <a:r>
              <a:rPr lang="en-US" sz="2666" b="0" i="0" u="none" strike="noStrike" dirty="0">
                <a:solidFill>
                  <a:srgbClr val="000000"/>
                </a:solidFill>
                <a:latin typeface="Pretendard Medium"/>
                <a:ea typeface="Pretendard Medium"/>
                <a:cs typeface="Pretendard Medium"/>
              </a:rPr>
              <a:t> : </a:t>
            </a:r>
            <a:r>
              <a:rPr lang="en-US" altLang="ko-KR" sz="2666" b="0" i="0" u="none" strike="noStrike" dirty="0">
                <a:solidFill>
                  <a:srgbClr val="000000"/>
                </a:solidFill>
                <a:latin typeface="Pretendard Medium"/>
                <a:ea typeface="Pretendard Medium"/>
                <a:cs typeface="Pretendard Medium"/>
              </a:rPr>
              <a:t>CVE-2026-21858</a:t>
            </a:r>
          </a:p>
          <a:p>
            <a:pPr lvl="0" algn="l">
              <a:lnSpc>
                <a:spcPct val="116199"/>
              </a:lnSpc>
            </a:pPr>
            <a:endParaRPr lang="en-US" sz="2666" b="0" i="0" u="none" strike="noStrike" dirty="0">
              <a:solidFill>
                <a:srgbClr val="000000"/>
              </a:solidFill>
              <a:latin typeface="Pretendard Medium"/>
              <a:ea typeface="Pretendard Medium"/>
              <a:cs typeface="Pretendard Medium"/>
            </a:endParaRPr>
          </a:p>
        </p:txBody>
      </p:sp>
      <p:pic>
        <p:nvPicPr>
          <p:cNvPr id="40" name="Picture 30">
            <a:extLst>
              <a:ext uri="{FF2B5EF4-FFF2-40B4-BE49-F238E27FC236}">
                <a16:creationId xmlns:a16="http://schemas.microsoft.com/office/drawing/2014/main" id="{939EF9C9-6897-15BD-812F-39FBD6FB6CD7}"/>
              </a:ext>
            </a:extLst>
          </p:cNvPr>
          <p:cNvPicPr>
            <a:picLocks noChangeAspect="1"/>
          </p:cNvPicPr>
          <p:nvPr/>
        </p:nvPicPr>
        <p:blipFill>
          <a:blip r:embed="rId10"/>
          <a:stretch>
            <a:fillRect/>
          </a:stretch>
        </p:blipFill>
        <p:spPr>
          <a:xfrm>
            <a:off x="9874250" y="6299200"/>
            <a:ext cx="4635500" cy="1854200"/>
          </a:xfrm>
          <a:prstGeom prst="rect">
            <a:avLst/>
          </a:prstGeom>
        </p:spPr>
      </p:pic>
      <p:pic>
        <p:nvPicPr>
          <p:cNvPr id="41" name="Picture 4">
            <a:extLst>
              <a:ext uri="{FF2B5EF4-FFF2-40B4-BE49-F238E27FC236}">
                <a16:creationId xmlns:a16="http://schemas.microsoft.com/office/drawing/2014/main" id="{B639A168-1ED6-8E9E-0DCF-E733B15A33F3}"/>
              </a:ext>
            </a:extLst>
          </p:cNvPr>
          <p:cNvPicPr>
            <a:picLocks noChangeAspect="1"/>
          </p:cNvPicPr>
          <p:nvPr/>
        </p:nvPicPr>
        <p:blipFill>
          <a:blip r:embed="rId8"/>
          <a:stretch>
            <a:fillRect/>
          </a:stretch>
        </p:blipFill>
        <p:spPr>
          <a:xfrm>
            <a:off x="17246600" y="4445000"/>
            <a:ext cx="6375400" cy="6997700"/>
          </a:xfrm>
          <a:prstGeom prst="rect">
            <a:avLst/>
          </a:prstGeom>
          <a:effectLst>
            <a:outerShdw blurRad="159261" dist="147010" dir="2700000">
              <a:srgbClr val="1A7AE1">
                <a:alpha val="15000"/>
              </a:srgbClr>
            </a:outerShdw>
          </a:effectLst>
        </p:spPr>
      </p:pic>
      <p:sp>
        <p:nvSpPr>
          <p:cNvPr id="42" name="TextBox 22">
            <a:extLst>
              <a:ext uri="{FF2B5EF4-FFF2-40B4-BE49-F238E27FC236}">
                <a16:creationId xmlns:a16="http://schemas.microsoft.com/office/drawing/2014/main" id="{972E05CD-F367-FED4-82D6-8372CC3C1909}"/>
              </a:ext>
            </a:extLst>
          </p:cNvPr>
          <p:cNvSpPr txBox="1"/>
          <p:nvPr/>
        </p:nvSpPr>
        <p:spPr>
          <a:xfrm>
            <a:off x="17233900" y="4787900"/>
            <a:ext cx="6451600" cy="520700"/>
          </a:xfrm>
          <a:prstGeom prst="rect">
            <a:avLst/>
          </a:prstGeom>
        </p:spPr>
        <p:txBody>
          <a:bodyPr lIns="0" tIns="0" rIns="0" bIns="0" rtlCol="0" anchor="t"/>
          <a:lstStyle/>
          <a:p>
            <a:pPr lvl="0" algn="ctr">
              <a:lnSpc>
                <a:spcPct val="116199"/>
              </a:lnSpc>
            </a:pPr>
            <a:r>
              <a:rPr lang="en-US" sz="2933" dirty="0">
                <a:solidFill>
                  <a:srgbClr val="000000"/>
                </a:solidFill>
                <a:latin typeface="Pretendard Bold"/>
                <a:ea typeface="Pretendard Bold"/>
                <a:cs typeface="Pretendard Bold"/>
              </a:rPr>
              <a:t>docker</a:t>
            </a:r>
            <a:endParaRPr lang="en-US" sz="2933" b="0" i="0" u="none" strike="noStrike" dirty="0">
              <a:solidFill>
                <a:srgbClr val="000000"/>
              </a:solidFill>
              <a:latin typeface="Pretendard Bold"/>
              <a:ea typeface="Pretendard Bold"/>
              <a:cs typeface="Pretendard Bold"/>
            </a:endParaRPr>
          </a:p>
        </p:txBody>
      </p:sp>
      <p:sp>
        <p:nvSpPr>
          <p:cNvPr id="43" name="TextBox 24">
            <a:extLst>
              <a:ext uri="{FF2B5EF4-FFF2-40B4-BE49-F238E27FC236}">
                <a16:creationId xmlns:a16="http://schemas.microsoft.com/office/drawing/2014/main" id="{3ACB666E-94D5-A04B-CBE8-8C164C901E2F}"/>
              </a:ext>
            </a:extLst>
          </p:cNvPr>
          <p:cNvSpPr txBox="1"/>
          <p:nvPr/>
        </p:nvSpPr>
        <p:spPr>
          <a:xfrm>
            <a:off x="17678400" y="9194800"/>
            <a:ext cx="5765800" cy="1371600"/>
          </a:xfrm>
          <a:prstGeom prst="rect">
            <a:avLst/>
          </a:prstGeom>
        </p:spPr>
        <p:txBody>
          <a:bodyPr lIns="0" tIns="0" rIns="0" bIns="0" rtlCol="0" anchor="t"/>
          <a:lstStyle/>
          <a:p>
            <a:pPr lvl="0" algn="l">
              <a:lnSpc>
                <a:spcPct val="116199"/>
              </a:lnSpc>
            </a:pPr>
            <a:r>
              <a:rPr lang="en-US" sz="2666" b="0" i="0" u="none" strike="noStrike" dirty="0" err="1">
                <a:solidFill>
                  <a:srgbClr val="000000"/>
                </a:solidFill>
                <a:latin typeface="Pretendard Medium"/>
                <a:ea typeface="Pretendard Medium"/>
                <a:cs typeface="Pretendard Medium"/>
              </a:rPr>
              <a:t>버전</a:t>
            </a:r>
            <a:r>
              <a:rPr lang="en-US" sz="2666" b="0" i="0" u="none" strike="noStrike" dirty="0">
                <a:solidFill>
                  <a:srgbClr val="000000"/>
                </a:solidFill>
                <a:latin typeface="Pretendard Medium"/>
                <a:ea typeface="Pretendard Medium"/>
                <a:cs typeface="Pretendard Medium"/>
              </a:rPr>
              <a:t> : </a:t>
            </a:r>
            <a:r>
              <a:rPr lang="en-US" altLang="ko-KR" sz="2666" b="0" i="0" u="none" strike="noStrike" dirty="0">
                <a:solidFill>
                  <a:srgbClr val="000000"/>
                </a:solidFill>
                <a:latin typeface="Pretendard Medium"/>
                <a:ea typeface="Pretendard Medium"/>
                <a:cs typeface="Pretendard Medium"/>
              </a:rPr>
              <a:t>25.0.14</a:t>
            </a:r>
          </a:p>
          <a:p>
            <a:pPr lvl="0" algn="l">
              <a:lnSpc>
                <a:spcPct val="116199"/>
              </a:lnSpc>
            </a:pPr>
            <a:r>
              <a:rPr lang="en-US" sz="2666" b="0" i="0" u="none" strike="noStrike" dirty="0" err="1">
                <a:solidFill>
                  <a:srgbClr val="000000"/>
                </a:solidFill>
                <a:latin typeface="Pretendard Medium"/>
                <a:ea typeface="Pretendard Medium"/>
                <a:cs typeface="Pretendard Medium"/>
              </a:rPr>
              <a:t>설명</a:t>
            </a:r>
            <a:r>
              <a:rPr lang="en-US" sz="2666" b="0" i="0" u="none" strike="noStrike" dirty="0">
                <a:solidFill>
                  <a:srgbClr val="000000"/>
                </a:solidFill>
                <a:latin typeface="Pretendard Medium"/>
                <a:ea typeface="Pretendard Medium"/>
                <a:cs typeface="Pretendard Medium"/>
              </a:rPr>
              <a:t> : </a:t>
            </a:r>
            <a:r>
              <a:rPr lang="en-US" altLang="ko-KR" sz="2666" b="0" i="0" u="none" strike="noStrike" dirty="0" err="1">
                <a:solidFill>
                  <a:srgbClr val="000000"/>
                </a:solidFill>
                <a:latin typeface="Pretendard Medium"/>
                <a:ea typeface="Pretendard Medium"/>
                <a:cs typeface="Pretendard Medium"/>
              </a:rPr>
              <a:t>어떤</a:t>
            </a:r>
            <a:r>
              <a:rPr lang="en-US" altLang="ko-KR" sz="2666" b="0" i="0" u="none" strike="noStrike" dirty="0">
                <a:solidFill>
                  <a:srgbClr val="000000"/>
                </a:solidFill>
                <a:latin typeface="Pretendard Medium"/>
                <a:ea typeface="Pretendard Medium"/>
                <a:cs typeface="Pretendard Medium"/>
              </a:rPr>
              <a:t> </a:t>
            </a:r>
            <a:r>
              <a:rPr lang="en-US" altLang="ko-KR" sz="2666" b="0" i="0" u="none" strike="noStrike" dirty="0" err="1">
                <a:solidFill>
                  <a:srgbClr val="000000"/>
                </a:solidFill>
                <a:latin typeface="Pretendard Medium"/>
                <a:ea typeface="Pretendard Medium"/>
                <a:cs typeface="Pretendard Medium"/>
              </a:rPr>
              <a:t>환경에서든</a:t>
            </a:r>
            <a:r>
              <a:rPr lang="en-US" altLang="ko-KR" sz="2666" b="0" i="0" u="none" strike="noStrike" dirty="0">
                <a:solidFill>
                  <a:srgbClr val="000000"/>
                </a:solidFill>
                <a:latin typeface="Pretendard Medium"/>
                <a:ea typeface="Pretendard Medium"/>
                <a:cs typeface="Pretendard Medium"/>
              </a:rPr>
              <a:t> </a:t>
            </a:r>
            <a:r>
              <a:rPr lang="en-US" altLang="ko-KR" sz="2666" b="0" i="0" u="none" strike="noStrike" dirty="0" err="1">
                <a:solidFill>
                  <a:srgbClr val="000000"/>
                </a:solidFill>
                <a:latin typeface="Pretendard Medium"/>
                <a:ea typeface="Pretendard Medium"/>
                <a:cs typeface="Pretendard Medium"/>
              </a:rPr>
              <a:t>동일하게</a:t>
            </a:r>
            <a:r>
              <a:rPr lang="en-US" altLang="ko-KR" sz="2666" b="0" i="0" u="none" strike="noStrike" dirty="0">
                <a:solidFill>
                  <a:srgbClr val="000000"/>
                </a:solidFill>
                <a:latin typeface="Pretendard Medium"/>
                <a:ea typeface="Pretendard Medium"/>
                <a:cs typeface="Pretendard Medium"/>
              </a:rPr>
              <a:t> </a:t>
            </a:r>
            <a:r>
              <a:rPr lang="en-US" altLang="ko-KR" sz="2666" b="0" i="0" u="none" strike="noStrike" dirty="0" err="1">
                <a:solidFill>
                  <a:srgbClr val="000000"/>
                </a:solidFill>
                <a:latin typeface="Pretendard Medium"/>
                <a:ea typeface="Pretendard Medium"/>
                <a:cs typeface="Pretendard Medium"/>
              </a:rPr>
              <a:t>배포</a:t>
            </a:r>
            <a:r>
              <a:rPr lang="en-US" altLang="ko-KR" sz="2666" b="0" i="0" u="none" strike="noStrike" dirty="0">
                <a:solidFill>
                  <a:srgbClr val="000000"/>
                </a:solidFill>
                <a:latin typeface="Pretendard Medium"/>
                <a:ea typeface="Pretendard Medium"/>
                <a:cs typeface="Pretendard Medium"/>
              </a:rPr>
              <a:t> </a:t>
            </a:r>
            <a:r>
              <a:rPr lang="ko-KR" altLang="en-US" sz="2666" b="0" i="0" u="none" strike="noStrike" dirty="0">
                <a:solidFill>
                  <a:srgbClr val="000000"/>
                </a:solidFill>
                <a:latin typeface="Pretendard Medium"/>
                <a:ea typeface="Pretendard Medium"/>
                <a:cs typeface="Pretendard Medium"/>
              </a:rPr>
              <a:t>및</a:t>
            </a:r>
            <a:r>
              <a:rPr lang="en-US" altLang="ko-KR" sz="2666" b="0" i="0" u="none" strike="noStrike" dirty="0">
                <a:solidFill>
                  <a:srgbClr val="000000"/>
                </a:solidFill>
                <a:latin typeface="Pretendard Medium"/>
                <a:ea typeface="Pretendard Medium"/>
                <a:cs typeface="Pretendard Medium"/>
              </a:rPr>
              <a:t> </a:t>
            </a:r>
            <a:r>
              <a:rPr lang="en-US" altLang="ko-KR" sz="2666" b="0" i="0" u="none" strike="noStrike" dirty="0" err="1">
                <a:solidFill>
                  <a:srgbClr val="000000"/>
                </a:solidFill>
                <a:latin typeface="Pretendard Medium"/>
                <a:ea typeface="Pretendard Medium"/>
                <a:cs typeface="Pretendard Medium"/>
              </a:rPr>
              <a:t>실행</a:t>
            </a:r>
            <a:r>
              <a:rPr lang="en-US" altLang="ko-KR" sz="2666" b="0" i="0" u="none" strike="noStrike" dirty="0">
                <a:solidFill>
                  <a:srgbClr val="000000"/>
                </a:solidFill>
                <a:latin typeface="Pretendard Medium"/>
                <a:ea typeface="Pretendard Medium"/>
                <a:cs typeface="Pretendard Medium"/>
              </a:rPr>
              <a:t> </a:t>
            </a:r>
            <a:r>
              <a:rPr lang="en-US" altLang="ko-KR" sz="2666" b="0" i="0" u="none" strike="noStrike" dirty="0" err="1">
                <a:solidFill>
                  <a:srgbClr val="000000"/>
                </a:solidFill>
                <a:latin typeface="Pretendard Medium"/>
                <a:ea typeface="Pretendard Medium"/>
                <a:cs typeface="Pretendard Medium"/>
              </a:rPr>
              <a:t>가상화</a:t>
            </a:r>
            <a:r>
              <a:rPr lang="en-US" altLang="ko-KR" sz="2666" b="0" i="0" u="none" strike="noStrike" dirty="0">
                <a:solidFill>
                  <a:srgbClr val="000000"/>
                </a:solidFill>
                <a:latin typeface="Pretendard Medium"/>
                <a:ea typeface="Pretendard Medium"/>
                <a:cs typeface="Pretendard Medium"/>
              </a:rPr>
              <a:t> </a:t>
            </a:r>
            <a:r>
              <a:rPr lang="en-US" altLang="ko-KR" sz="2666" b="0" i="0" u="none" strike="noStrike" dirty="0" err="1">
                <a:solidFill>
                  <a:srgbClr val="000000"/>
                </a:solidFill>
                <a:latin typeface="Pretendard Medium"/>
                <a:ea typeface="Pretendard Medium"/>
                <a:cs typeface="Pretendard Medium"/>
              </a:rPr>
              <a:t>플랫폼</a:t>
            </a:r>
            <a:r>
              <a:rPr lang="en-US" altLang="ko-KR" sz="2666" b="0" i="0" u="none" strike="noStrike" dirty="0">
                <a:solidFill>
                  <a:srgbClr val="000000"/>
                </a:solidFill>
                <a:latin typeface="Pretendard Medium"/>
                <a:ea typeface="Pretendard Medium"/>
                <a:cs typeface="Pretendard Medium"/>
              </a:rPr>
              <a:t> </a:t>
            </a:r>
            <a:endParaRPr lang="en-US" sz="2666" b="0" i="0" u="none" strike="noStrike" dirty="0">
              <a:solidFill>
                <a:srgbClr val="000000"/>
              </a:solidFill>
              <a:latin typeface="Pretendard Medium"/>
              <a:ea typeface="Pretendard Medium"/>
              <a:cs typeface="Pretendard Medium"/>
            </a:endParaRPr>
          </a:p>
        </p:txBody>
      </p:sp>
      <p:pic>
        <p:nvPicPr>
          <p:cNvPr id="44" name="Picture 29">
            <a:extLst>
              <a:ext uri="{FF2B5EF4-FFF2-40B4-BE49-F238E27FC236}">
                <a16:creationId xmlns:a16="http://schemas.microsoft.com/office/drawing/2014/main" id="{55EE5BC7-47B5-49C2-AC3A-7001B759490C}"/>
              </a:ext>
            </a:extLst>
          </p:cNvPr>
          <p:cNvPicPr>
            <a:picLocks noChangeAspect="1"/>
          </p:cNvPicPr>
          <p:nvPr/>
        </p:nvPicPr>
        <p:blipFill>
          <a:blip r:embed="rId11"/>
          <a:stretch>
            <a:fillRect/>
          </a:stretch>
        </p:blipFill>
        <p:spPr>
          <a:xfrm>
            <a:off x="18034000" y="6630671"/>
            <a:ext cx="4800600" cy="1092200"/>
          </a:xfrm>
          <a:prstGeom prst="rect">
            <a:avLst/>
          </a:prstGeom>
        </p:spPr>
      </p:pic>
    </p:spTree>
    <p:extLst>
      <p:ext uri="{BB962C8B-B14F-4D97-AF65-F5344CB8AC3E}">
        <p14:creationId xmlns:p14="http://schemas.microsoft.com/office/powerpoint/2010/main" val="310807568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4"/>
          <a:stretch>
            <a:fillRect/>
          </a:stretch>
        </p:blipFill>
        <p:spPr>
          <a:xfrm>
            <a:off x="762000" y="1092200"/>
            <a:ext cx="22860000" cy="12700"/>
          </a:xfrm>
          <a:prstGeom prst="rect">
            <a:avLst/>
          </a:prstGeom>
        </p:spPr>
      </p:pic>
      <p:pic>
        <p:nvPicPr>
          <p:cNvPr id="4" name="Picture 4"/>
          <p:cNvPicPr>
            <a:picLocks noChangeAspect="1"/>
          </p:cNvPicPr>
          <p:nvPr/>
        </p:nvPicPr>
        <p:blipFill>
          <a:blip r:embed="rId5"/>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5"/>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5"/>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4"/>
          <a:stretch>
            <a:fillRect/>
          </a:stretch>
        </p:blipFill>
        <p:spPr>
          <a:xfrm>
            <a:off x="723900" y="457200"/>
            <a:ext cx="22860000" cy="12700"/>
          </a:xfrm>
          <a:prstGeom prst="rect">
            <a:avLst/>
          </a:prstGeom>
        </p:spPr>
      </p:pic>
      <p:pic>
        <p:nvPicPr>
          <p:cNvPr id="10" name="Picture 10"/>
          <p:cNvPicPr>
            <a:picLocks noChangeAspect="1"/>
          </p:cNvPicPr>
          <p:nvPr/>
        </p:nvPicPr>
        <p:blipFill>
          <a:blip r:embed="rId6"/>
          <a:stretch>
            <a:fillRect/>
          </a:stretch>
        </p:blipFill>
        <p:spPr>
          <a:xfrm>
            <a:off x="1485900" y="1612900"/>
            <a:ext cx="88900" cy="850900"/>
          </a:xfrm>
          <a:prstGeom prst="rect">
            <a:avLst/>
          </a:prstGeom>
        </p:spPr>
      </p:pic>
      <p:sp>
        <p:nvSpPr>
          <p:cNvPr id="11" name="TextBox 11"/>
          <p:cNvSpPr txBox="1"/>
          <p:nvPr/>
        </p:nvSpPr>
        <p:spPr>
          <a:xfrm>
            <a:off x="1943100" y="1409700"/>
            <a:ext cx="13423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취약점 선정 배경</a:t>
            </a:r>
          </a:p>
        </p:txBody>
      </p:sp>
      <p:sp>
        <p:nvSpPr>
          <p:cNvPr id="12" name="TextBox 12"/>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cap="all" dirty="0">
                <a:solidFill>
                  <a:srgbClr val="024EA0"/>
                </a:solidFill>
                <a:latin typeface="Geologica Roman Light"/>
                <a:ea typeface="Geologica Roman Light"/>
                <a:cs typeface="Geologica Roman Light"/>
              </a:rPr>
              <a:t>58</a:t>
            </a:r>
            <a:endParaRPr lang="en-US" sz="2133" b="0" i="0" u="none" strike="noStrike" cap="all" dirty="0">
              <a:solidFill>
                <a:srgbClr val="024EA0"/>
              </a:solidFill>
              <a:latin typeface="Geologica Roman Light"/>
              <a:ea typeface="Geologica Roman Light"/>
              <a:cs typeface="Geologica Roman Light"/>
            </a:endParaRPr>
          </a:p>
        </p:txBody>
      </p:sp>
      <p:pic>
        <p:nvPicPr>
          <p:cNvPr id="19" name="Picture 19"/>
          <p:cNvPicPr>
            <a:picLocks noChangeAspect="1"/>
          </p:cNvPicPr>
          <p:nvPr/>
        </p:nvPicPr>
        <p:blipFill>
          <a:blip r:embed="rId7"/>
          <a:stretch>
            <a:fillRect/>
          </a:stretch>
        </p:blipFill>
        <p:spPr>
          <a:xfrm>
            <a:off x="8064500" y="3619500"/>
            <a:ext cx="13487400" cy="9309100"/>
          </a:xfrm>
          <a:prstGeom prst="rect">
            <a:avLst/>
          </a:prstGeom>
          <a:effectLst>
            <a:outerShdw blurRad="232831" dist="214921" dir="2700000">
              <a:srgbClr val="1A7AE1">
                <a:alpha val="15000"/>
              </a:srgbClr>
            </a:outerShdw>
          </a:effectLst>
        </p:spPr>
      </p:pic>
      <p:sp>
        <p:nvSpPr>
          <p:cNvPr id="20" name="TextBox 20"/>
          <p:cNvSpPr txBox="1"/>
          <p:nvPr/>
        </p:nvSpPr>
        <p:spPr>
          <a:xfrm>
            <a:off x="8470900" y="3911600"/>
            <a:ext cx="6477000" cy="622300"/>
          </a:xfrm>
          <a:prstGeom prst="rect">
            <a:avLst/>
          </a:prstGeom>
        </p:spPr>
        <p:txBody>
          <a:bodyPr lIns="0" tIns="0" rIns="0" bIns="0" rtlCol="0" anchor="t"/>
          <a:lstStyle/>
          <a:p>
            <a:pPr lvl="0" algn="l">
              <a:lnSpc>
                <a:spcPct val="116199"/>
              </a:lnSpc>
            </a:pPr>
            <a:r>
              <a:rPr lang="en-US" sz="3466" b="0" i="0" u="none" strike="noStrike" dirty="0">
                <a:solidFill>
                  <a:srgbClr val="000000"/>
                </a:solidFill>
                <a:latin typeface="Pretendard Bold"/>
                <a:ea typeface="Pretendard Bold"/>
                <a:cs typeface="Pretendard Bold"/>
              </a:rPr>
              <a:t>CVE-2026-21858</a:t>
            </a:r>
          </a:p>
        </p:txBody>
      </p:sp>
      <p:pic>
        <p:nvPicPr>
          <p:cNvPr id="21" name="Picture 21"/>
          <p:cNvPicPr>
            <a:picLocks noChangeAspect="1"/>
          </p:cNvPicPr>
          <p:nvPr/>
        </p:nvPicPr>
        <p:blipFill>
          <a:blip r:embed="rId8"/>
          <a:stretch>
            <a:fillRect/>
          </a:stretch>
        </p:blipFill>
        <p:spPr>
          <a:xfrm>
            <a:off x="1485900" y="7315200"/>
            <a:ext cx="5715000" cy="2286000"/>
          </a:xfrm>
          <a:prstGeom prst="rect">
            <a:avLst/>
          </a:prstGeom>
        </p:spPr>
      </p:pic>
      <p:sp>
        <p:nvSpPr>
          <p:cNvPr id="22" name="TextBox 22"/>
          <p:cNvSpPr txBox="1"/>
          <p:nvPr/>
        </p:nvSpPr>
        <p:spPr>
          <a:xfrm>
            <a:off x="8597900" y="5702300"/>
            <a:ext cx="12115800" cy="2844800"/>
          </a:xfrm>
          <a:prstGeom prst="rect">
            <a:avLst/>
          </a:prstGeom>
        </p:spPr>
        <p:txBody>
          <a:bodyPr lIns="0" tIns="0" rIns="0" bIns="0" rtlCol="0" anchor="t"/>
          <a:lstStyle/>
          <a:p>
            <a:pPr lvl="0" algn="l">
              <a:lnSpc>
                <a:spcPct val="116199"/>
              </a:lnSpc>
            </a:pPr>
            <a:r>
              <a:rPr lang="en-US" sz="2666" b="0" i="0" u="none" strike="noStrike">
                <a:solidFill>
                  <a:srgbClr val="000000"/>
                </a:solidFill>
                <a:latin typeface="Pretendard Medium"/>
                <a:ea typeface="Pretendard Medium"/>
                <a:cs typeface="Pretendard Medium"/>
              </a:rPr>
              <a:t>2026년 4월 기준으로 8개의 신규 CVE가 발행되는 등 치명적인 취약점이 지속적으로 보고되고 있습니다. 특히 이 중 4건은 CVSS 9.9점 이상, 나머지 4건은 7.5점 이상의 High 등급으로 평가되었습니다.</a:t>
            </a:r>
          </a:p>
          <a:p>
            <a:pPr lvl="0" algn="l">
              <a:lnSpc>
                <a:spcPct val="116199"/>
              </a:lnSpc>
            </a:pPr>
            <a:r>
              <a:rPr lang="en-US" sz="2666" b="0" i="0" u="none" strike="noStrike">
                <a:solidFill>
                  <a:srgbClr val="000000"/>
                </a:solidFill>
                <a:latin typeface="Pretendard Medium"/>
                <a:ea typeface="Pretendard Medium"/>
                <a:cs typeface="Pretendard Medium"/>
              </a:rPr>
              <a:t> 본 프로젝트에서 선정한 취약점은 최고점인 CVSS 10.0을 기록한 건으로, 인증되지 않은 외부 공격자가 단지 네트워크 접근만으로 서버의 제어권을 완전히 탈취할 수 있다는 위험성을 직접 시연하고 검증하기 위해 채택되었습니다.</a:t>
            </a:r>
          </a:p>
        </p:txBody>
      </p:sp>
      <p:sp>
        <p:nvSpPr>
          <p:cNvPr id="23" name="TextBox 23"/>
          <p:cNvSpPr txBox="1"/>
          <p:nvPr/>
        </p:nvSpPr>
        <p:spPr>
          <a:xfrm>
            <a:off x="8597900" y="5003800"/>
            <a:ext cx="12128500" cy="520700"/>
          </a:xfrm>
          <a:prstGeom prst="rect">
            <a:avLst/>
          </a:prstGeom>
        </p:spPr>
        <p:txBody>
          <a:bodyPr lIns="0" tIns="0" rIns="0" bIns="0" rtlCol="0" anchor="t"/>
          <a:lstStyle/>
          <a:p>
            <a:pPr lvl="0" algn="l">
              <a:lnSpc>
                <a:spcPct val="116199"/>
              </a:lnSpc>
            </a:pPr>
            <a:r>
              <a:rPr lang="en-US" sz="2933" b="1" i="0" u="none" strike="noStrike">
                <a:solidFill>
                  <a:srgbClr val="000000"/>
                </a:solidFill>
                <a:latin typeface="Pretendard Medium"/>
                <a:ea typeface="Pretendard Medium"/>
                <a:cs typeface="Pretendard Medium"/>
              </a:rPr>
              <a:t>n8n 취약점 선정 개요 </a:t>
            </a:r>
          </a:p>
        </p:txBody>
      </p:sp>
      <p:sp>
        <p:nvSpPr>
          <p:cNvPr id="24" name="TextBox 24"/>
          <p:cNvSpPr txBox="1"/>
          <p:nvPr/>
        </p:nvSpPr>
        <p:spPr>
          <a:xfrm>
            <a:off x="8597900" y="9093200"/>
            <a:ext cx="12128500" cy="520700"/>
          </a:xfrm>
          <a:prstGeom prst="rect">
            <a:avLst/>
          </a:prstGeom>
        </p:spPr>
        <p:txBody>
          <a:bodyPr lIns="0" tIns="0" rIns="0" bIns="0" rtlCol="0" anchor="t"/>
          <a:lstStyle/>
          <a:p>
            <a:pPr lvl="0" algn="l">
              <a:lnSpc>
                <a:spcPct val="116199"/>
              </a:lnSpc>
            </a:pPr>
            <a:r>
              <a:rPr lang="en-US" sz="2933" b="1" i="0" u="none" strike="noStrike">
                <a:solidFill>
                  <a:srgbClr val="000000"/>
                </a:solidFill>
                <a:latin typeface="Pretendard Medium"/>
                <a:ea typeface="Pretendard Medium"/>
                <a:cs typeface="Pretendard Medium"/>
              </a:rPr>
              <a:t>취약점 설명</a:t>
            </a:r>
          </a:p>
        </p:txBody>
      </p:sp>
      <p:sp>
        <p:nvSpPr>
          <p:cNvPr id="25" name="TextBox 25"/>
          <p:cNvSpPr txBox="1"/>
          <p:nvPr/>
        </p:nvSpPr>
        <p:spPr>
          <a:xfrm>
            <a:off x="8597900" y="9867900"/>
            <a:ext cx="12115800" cy="2374900"/>
          </a:xfrm>
          <a:prstGeom prst="rect">
            <a:avLst/>
          </a:prstGeom>
        </p:spPr>
        <p:txBody>
          <a:bodyPr lIns="0" tIns="0" rIns="0" bIns="0" rtlCol="0" anchor="t"/>
          <a:lstStyle/>
          <a:p>
            <a:pPr lvl="0" algn="l">
              <a:lnSpc>
                <a:spcPct val="116199"/>
              </a:lnSpc>
            </a:pPr>
            <a:r>
              <a:rPr lang="en-US" sz="2666" b="0" i="0" u="none" strike="noStrike">
                <a:solidFill>
                  <a:srgbClr val="000000"/>
                </a:solidFill>
                <a:latin typeface="Pretendard Medium"/>
                <a:ea typeface="Pretendard Medium"/>
                <a:cs typeface="Pretendard Medium"/>
              </a:rPr>
              <a:t>시스템이 수신 데이터의 Content-Type 헤더를 제대로 검증하지 않고 신뢰하여 파싱하는 설계 결함 때문에 공격자가 조작된 HTTP 요청을 보내면 서버 내부의 임의 파일 경로에 접근할 수 있다.</a:t>
            </a:r>
          </a:p>
          <a:p>
            <a:pPr lvl="0" algn="l">
              <a:lnSpc>
                <a:spcPct val="116199"/>
              </a:lnSpc>
            </a:pPr>
            <a:r>
              <a:rPr lang="en-US" sz="2666" b="0" i="0" u="none" strike="noStrike">
                <a:solidFill>
                  <a:srgbClr val="000000"/>
                </a:solidFill>
                <a:latin typeface="Pretendard Medium"/>
                <a:ea typeface="Pretendard Medium"/>
                <a:cs typeface="Pretendard Medium"/>
              </a:rPr>
              <a:t>암호화 키 외 중요 정보를 탈취하여 관리자의 토큰을 생성 및 관리자의 토큰을 활용하여  RCE가 가능한 취약점이다.</a:t>
            </a:r>
          </a:p>
        </p:txBody>
      </p:sp>
      <p:sp>
        <p:nvSpPr>
          <p:cNvPr id="26" name="TextBox 14">
            <a:extLst>
              <a:ext uri="{FF2B5EF4-FFF2-40B4-BE49-F238E27FC236}">
                <a16:creationId xmlns:a16="http://schemas.microsoft.com/office/drawing/2014/main" id="{CBDFDDBE-2FD6-5523-FF15-2F251ED945D8}"/>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7" name="TextBox 14">
            <a:extLst>
              <a:ext uri="{FF2B5EF4-FFF2-40B4-BE49-F238E27FC236}">
                <a16:creationId xmlns:a16="http://schemas.microsoft.com/office/drawing/2014/main" id="{F8A57490-C5BA-7B42-59C7-DC46D12CD610}"/>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8" name="Picture 2">
            <a:extLst>
              <a:ext uri="{FF2B5EF4-FFF2-40B4-BE49-F238E27FC236}">
                <a16:creationId xmlns:a16="http://schemas.microsoft.com/office/drawing/2014/main" id="{124E5E27-D146-256F-E6DB-9744A2FCFADB}"/>
              </a:ext>
            </a:extLst>
          </p:cNvPr>
          <p:cNvPicPr>
            <a:picLocks noChangeAspect="1"/>
          </p:cNvPicPr>
          <p:nvPr/>
        </p:nvPicPr>
        <p:blipFill>
          <a:blip r:embed="rId9">
            <a:alphaModFix amt="85000"/>
          </a:blip>
          <a:stretch>
            <a:fillRect/>
          </a:stretch>
        </p:blipFill>
        <p:spPr>
          <a:xfrm>
            <a:off x="11201400" y="558800"/>
            <a:ext cx="2705100" cy="444500"/>
          </a:xfrm>
          <a:prstGeom prst="rect">
            <a:avLst/>
          </a:prstGeom>
        </p:spPr>
      </p:pic>
      <p:sp>
        <p:nvSpPr>
          <p:cNvPr id="9" name="TextBox 16">
            <a:extLst>
              <a:ext uri="{FF2B5EF4-FFF2-40B4-BE49-F238E27FC236}">
                <a16:creationId xmlns:a16="http://schemas.microsoft.com/office/drawing/2014/main" id="{2FD390EF-A20C-FA2F-93D8-9839ED03ADE3}"/>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8" name="TextBox 18">
            <a:extLst>
              <a:ext uri="{FF2B5EF4-FFF2-40B4-BE49-F238E27FC236}">
                <a16:creationId xmlns:a16="http://schemas.microsoft.com/office/drawing/2014/main" id="{86CD66DF-86EF-4974-F279-15644850A2CA}"/>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29" name="TextBox 19">
            <a:extLst>
              <a:ext uri="{FF2B5EF4-FFF2-40B4-BE49-F238E27FC236}">
                <a16:creationId xmlns:a16="http://schemas.microsoft.com/office/drawing/2014/main" id="{3699BABF-9354-3019-4F7D-ADCEFB7864B2}"/>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30" name="TextBox 20">
            <a:extLst>
              <a:ext uri="{FF2B5EF4-FFF2-40B4-BE49-F238E27FC236}">
                <a16:creationId xmlns:a16="http://schemas.microsoft.com/office/drawing/2014/main" id="{B59BC392-EEE4-50D8-DBE3-21564ACE30A0}"/>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10" name="Picture 10"/>
          <p:cNvPicPr>
            <a:picLocks noChangeAspect="1"/>
          </p:cNvPicPr>
          <p:nvPr/>
        </p:nvPicPr>
        <p:blipFill>
          <a:blip r:embed="rId5"/>
          <a:stretch>
            <a:fillRect/>
          </a:stretch>
        </p:blipFill>
        <p:spPr>
          <a:xfrm>
            <a:off x="1485900" y="1612900"/>
            <a:ext cx="88900" cy="850900"/>
          </a:xfrm>
          <a:prstGeom prst="rect">
            <a:avLst/>
          </a:prstGeom>
        </p:spPr>
      </p:pic>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cap="all" dirty="0">
                <a:solidFill>
                  <a:srgbClr val="024EA0"/>
                </a:solidFill>
                <a:latin typeface="Geologica Roman Light"/>
                <a:ea typeface="Geologica Roman Light"/>
                <a:cs typeface="Geologica Roman Light"/>
              </a:rPr>
              <a:t>59</a:t>
            </a:r>
            <a:endParaRPr lang="en-US" sz="2133" b="0" i="0" u="none" strike="noStrike" cap="all" dirty="0">
              <a:solidFill>
                <a:srgbClr val="024EA0"/>
              </a:solidFill>
              <a:latin typeface="Geologica Roman Light"/>
              <a:ea typeface="Geologica Roman Light"/>
              <a:cs typeface="Geologica Roman Light"/>
            </a:endParaRPr>
          </a:p>
        </p:txBody>
      </p:sp>
      <p:sp>
        <p:nvSpPr>
          <p:cNvPr id="12" name="TextBox 12"/>
          <p:cNvSpPr txBox="1"/>
          <p:nvPr/>
        </p:nvSpPr>
        <p:spPr>
          <a:xfrm>
            <a:off x="2120900" y="2971800"/>
            <a:ext cx="19240500" cy="596900"/>
          </a:xfrm>
          <a:prstGeom prst="rect">
            <a:avLst/>
          </a:prstGeom>
        </p:spPr>
        <p:txBody>
          <a:bodyPr lIns="0" tIns="0" rIns="0" bIns="0" rtlCol="0" anchor="t"/>
          <a:lstStyle/>
          <a:p>
            <a:pPr marL="342900" lvl="1" indent="-342900" algn="l">
              <a:lnSpc>
                <a:spcPct val="116199"/>
              </a:lnSpc>
              <a:buAutoNum type="arabicPeriod"/>
            </a:pPr>
            <a:r>
              <a:rPr lang="en-US" sz="3333" b="0" i="0" u="none" strike="noStrike">
                <a:solidFill>
                  <a:srgbClr val="000000"/>
                </a:solidFill>
                <a:latin typeface="Pretendard Medium"/>
                <a:ea typeface="Pretendard Medium"/>
                <a:cs typeface="Pretendard Medium"/>
              </a:rPr>
              <a:t>유저의 프로필 사진 업로드 기능에서 파일 업로드 우회 취약점을 이용한 Reverse Shell</a:t>
            </a:r>
          </a:p>
        </p:txBody>
      </p:sp>
      <p:pic>
        <p:nvPicPr>
          <p:cNvPr id="19" name="Picture 19"/>
          <p:cNvPicPr>
            <a:picLocks noChangeAspect="1"/>
          </p:cNvPicPr>
          <p:nvPr/>
        </p:nvPicPr>
        <p:blipFill>
          <a:blip r:embed="rId6"/>
          <a:stretch>
            <a:fillRect/>
          </a:stretch>
        </p:blipFill>
        <p:spPr>
          <a:xfrm>
            <a:off x="2120900" y="4610100"/>
            <a:ext cx="9105900" cy="7378700"/>
          </a:xfrm>
          <a:prstGeom prst="rect">
            <a:avLst/>
          </a:prstGeom>
        </p:spPr>
      </p:pic>
      <p:pic>
        <p:nvPicPr>
          <p:cNvPr id="20" name="Picture 20"/>
          <p:cNvPicPr>
            <a:picLocks noChangeAspect="1"/>
          </p:cNvPicPr>
          <p:nvPr/>
        </p:nvPicPr>
        <p:blipFill>
          <a:blip r:embed="rId7"/>
          <a:stretch>
            <a:fillRect/>
          </a:stretch>
        </p:blipFill>
        <p:spPr>
          <a:xfrm>
            <a:off x="3302000" y="7124700"/>
            <a:ext cx="1231900" cy="508000"/>
          </a:xfrm>
          <a:prstGeom prst="rect">
            <a:avLst/>
          </a:prstGeom>
        </p:spPr>
      </p:pic>
      <p:pic>
        <p:nvPicPr>
          <p:cNvPr id="21" name="Picture 21"/>
          <p:cNvPicPr>
            <a:picLocks noChangeAspect="1"/>
          </p:cNvPicPr>
          <p:nvPr/>
        </p:nvPicPr>
        <p:blipFill>
          <a:blip r:embed="rId8"/>
          <a:stretch>
            <a:fillRect/>
          </a:stretch>
        </p:blipFill>
        <p:spPr>
          <a:xfrm>
            <a:off x="8966200" y="10439400"/>
            <a:ext cx="1308100" cy="647700"/>
          </a:xfrm>
          <a:prstGeom prst="rect">
            <a:avLst/>
          </a:prstGeom>
        </p:spPr>
      </p:pic>
      <p:pic>
        <p:nvPicPr>
          <p:cNvPr id="22" name="Picture 22"/>
          <p:cNvPicPr>
            <a:picLocks noChangeAspect="1"/>
          </p:cNvPicPr>
          <p:nvPr/>
        </p:nvPicPr>
        <p:blipFill>
          <a:blip r:embed="rId9"/>
          <a:stretch>
            <a:fillRect/>
          </a:stretch>
        </p:blipFill>
        <p:spPr>
          <a:xfrm>
            <a:off x="3009900" y="8305800"/>
            <a:ext cx="2832100" cy="2070100"/>
          </a:xfrm>
          <a:prstGeom prst="rect">
            <a:avLst/>
          </a:prstGeom>
        </p:spPr>
      </p:pic>
      <p:pic>
        <p:nvPicPr>
          <p:cNvPr id="23" name="Picture 23"/>
          <p:cNvPicPr>
            <a:picLocks noChangeAspect="1"/>
          </p:cNvPicPr>
          <p:nvPr/>
        </p:nvPicPr>
        <p:blipFill>
          <a:blip r:embed="rId10"/>
          <a:stretch>
            <a:fillRect/>
          </a:stretch>
        </p:blipFill>
        <p:spPr>
          <a:xfrm>
            <a:off x="3200400" y="8458200"/>
            <a:ext cx="1422400" cy="1422400"/>
          </a:xfrm>
          <a:prstGeom prst="rect">
            <a:avLst/>
          </a:prstGeom>
        </p:spPr>
      </p:pic>
      <p:pic>
        <p:nvPicPr>
          <p:cNvPr id="24" name="Picture 24"/>
          <p:cNvPicPr>
            <a:picLocks noChangeAspect="1"/>
          </p:cNvPicPr>
          <p:nvPr/>
        </p:nvPicPr>
        <p:blipFill>
          <a:blip r:embed="rId11"/>
          <a:stretch>
            <a:fillRect/>
          </a:stretch>
        </p:blipFill>
        <p:spPr>
          <a:xfrm>
            <a:off x="11531600" y="4965700"/>
            <a:ext cx="11772900" cy="5816600"/>
          </a:xfrm>
          <a:prstGeom prst="rect">
            <a:avLst/>
          </a:prstGeom>
        </p:spPr>
      </p:pic>
      <p:pic>
        <p:nvPicPr>
          <p:cNvPr id="25" name="Picture 25"/>
          <p:cNvPicPr>
            <a:picLocks noChangeAspect="1"/>
          </p:cNvPicPr>
          <p:nvPr/>
        </p:nvPicPr>
        <p:blipFill>
          <a:blip r:embed="rId12"/>
          <a:stretch>
            <a:fillRect/>
          </a:stretch>
        </p:blipFill>
        <p:spPr>
          <a:xfrm>
            <a:off x="11455400" y="9169400"/>
            <a:ext cx="9613900" cy="711200"/>
          </a:xfrm>
          <a:prstGeom prst="rect">
            <a:avLst/>
          </a:prstGeom>
        </p:spPr>
      </p:pic>
      <p:pic>
        <p:nvPicPr>
          <p:cNvPr id="26" name="Picture 26"/>
          <p:cNvPicPr>
            <a:picLocks noChangeAspect="1"/>
          </p:cNvPicPr>
          <p:nvPr/>
        </p:nvPicPr>
        <p:blipFill>
          <a:blip r:embed="rId13"/>
          <a:stretch>
            <a:fillRect/>
          </a:stretch>
        </p:blipFill>
        <p:spPr>
          <a:xfrm>
            <a:off x="11455400" y="5435600"/>
            <a:ext cx="10185400" cy="1181100"/>
          </a:xfrm>
          <a:prstGeom prst="rect">
            <a:avLst/>
          </a:prstGeom>
        </p:spPr>
      </p:pic>
      <p:sp>
        <p:nvSpPr>
          <p:cNvPr id="27" name="TextBox 27"/>
          <p:cNvSpPr txBox="1"/>
          <p:nvPr/>
        </p:nvSpPr>
        <p:spPr>
          <a:xfrm>
            <a:off x="1943100" y="1409700"/>
            <a:ext cx="20281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연쇄 침투를 통한 지능형 보이스피싱 공격</a:t>
            </a:r>
          </a:p>
        </p:txBody>
      </p:sp>
      <p:sp>
        <p:nvSpPr>
          <p:cNvPr id="28" name="TextBox 14">
            <a:extLst>
              <a:ext uri="{FF2B5EF4-FFF2-40B4-BE49-F238E27FC236}">
                <a16:creationId xmlns:a16="http://schemas.microsoft.com/office/drawing/2014/main" id="{646557FB-3D26-37B9-AEDA-63DD057C75F6}"/>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9" name="TextBox 14">
            <a:extLst>
              <a:ext uri="{FF2B5EF4-FFF2-40B4-BE49-F238E27FC236}">
                <a16:creationId xmlns:a16="http://schemas.microsoft.com/office/drawing/2014/main" id="{65B1C1CF-6C4D-FD2B-4FB4-05B80A8E6D53}"/>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30" name="Picture 2">
            <a:extLst>
              <a:ext uri="{FF2B5EF4-FFF2-40B4-BE49-F238E27FC236}">
                <a16:creationId xmlns:a16="http://schemas.microsoft.com/office/drawing/2014/main" id="{848E9864-49F4-FC06-DBAA-388C377244D0}"/>
              </a:ext>
            </a:extLst>
          </p:cNvPr>
          <p:cNvPicPr>
            <a:picLocks noChangeAspect="1"/>
          </p:cNvPicPr>
          <p:nvPr/>
        </p:nvPicPr>
        <p:blipFill>
          <a:blip r:embed="rId14">
            <a:alphaModFix amt="85000"/>
          </a:blip>
          <a:stretch>
            <a:fillRect/>
          </a:stretch>
        </p:blipFill>
        <p:spPr>
          <a:xfrm>
            <a:off x="11201400" y="558800"/>
            <a:ext cx="2705100" cy="444500"/>
          </a:xfrm>
          <a:prstGeom prst="rect">
            <a:avLst/>
          </a:prstGeom>
        </p:spPr>
      </p:pic>
      <p:sp>
        <p:nvSpPr>
          <p:cNvPr id="31" name="TextBox 16">
            <a:extLst>
              <a:ext uri="{FF2B5EF4-FFF2-40B4-BE49-F238E27FC236}">
                <a16:creationId xmlns:a16="http://schemas.microsoft.com/office/drawing/2014/main" id="{9C940260-1AE4-D80A-4B92-6FC03CD4DF86}"/>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32" name="TextBox 18">
            <a:extLst>
              <a:ext uri="{FF2B5EF4-FFF2-40B4-BE49-F238E27FC236}">
                <a16:creationId xmlns:a16="http://schemas.microsoft.com/office/drawing/2014/main" id="{E3F21D5C-B5C2-A6FF-73A4-D9803C49AF5E}"/>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33" name="TextBox 19">
            <a:extLst>
              <a:ext uri="{FF2B5EF4-FFF2-40B4-BE49-F238E27FC236}">
                <a16:creationId xmlns:a16="http://schemas.microsoft.com/office/drawing/2014/main" id="{E9496E1D-B03A-8780-0687-5E9459261A5E}"/>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34" name="TextBox 20">
            <a:extLst>
              <a:ext uri="{FF2B5EF4-FFF2-40B4-BE49-F238E27FC236}">
                <a16:creationId xmlns:a16="http://schemas.microsoft.com/office/drawing/2014/main" id="{71C98B99-1E9C-9589-DC09-A8320A702170}"/>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10" name="Picture 10"/>
          <p:cNvPicPr>
            <a:picLocks noChangeAspect="1"/>
          </p:cNvPicPr>
          <p:nvPr/>
        </p:nvPicPr>
        <p:blipFill>
          <a:blip r:embed="rId5"/>
          <a:stretch>
            <a:fillRect/>
          </a:stretch>
        </p:blipFill>
        <p:spPr>
          <a:xfrm>
            <a:off x="1485900" y="1612900"/>
            <a:ext cx="88900" cy="850900"/>
          </a:xfrm>
          <a:prstGeom prst="rect">
            <a:avLst/>
          </a:prstGeom>
        </p:spPr>
      </p:pic>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60</a:t>
            </a:r>
          </a:p>
        </p:txBody>
      </p:sp>
      <p:sp>
        <p:nvSpPr>
          <p:cNvPr id="12" name="TextBox 12"/>
          <p:cNvSpPr txBox="1"/>
          <p:nvPr/>
        </p:nvSpPr>
        <p:spPr>
          <a:xfrm>
            <a:off x="2120900" y="2971800"/>
            <a:ext cx="19240500" cy="596900"/>
          </a:xfrm>
          <a:prstGeom prst="rect">
            <a:avLst/>
          </a:prstGeom>
        </p:spPr>
        <p:txBody>
          <a:bodyPr lIns="0" tIns="0" rIns="0" bIns="0" rtlCol="0" anchor="t"/>
          <a:lstStyle/>
          <a:p>
            <a:pPr marL="342900" lvl="1" indent="-342900" algn="l">
              <a:lnSpc>
                <a:spcPct val="116199"/>
              </a:lnSpc>
              <a:buAutoNum type="arabicPeriod"/>
            </a:pPr>
            <a:r>
              <a:rPr lang="en-US" sz="3333" b="0" i="0" u="none" strike="noStrike">
                <a:solidFill>
                  <a:srgbClr val="000000"/>
                </a:solidFill>
                <a:latin typeface="Pretendard Medium"/>
                <a:ea typeface="Pretendard Medium"/>
                <a:cs typeface="Pretendard Medium"/>
              </a:rPr>
              <a:t>유저의 프로필 사진 업로드 기능에서 파일 업로드 우회 취약점을 이용한 Reverse Shell</a:t>
            </a:r>
          </a:p>
        </p:txBody>
      </p:sp>
      <p:pic>
        <p:nvPicPr>
          <p:cNvPr id="13" name="Picture 13"/>
          <p:cNvPicPr>
            <a:picLocks noChangeAspect="1"/>
          </p:cNvPicPr>
          <p:nvPr/>
        </p:nvPicPr>
        <p:blipFill>
          <a:blip r:embed="rId6"/>
          <a:stretch>
            <a:fillRect/>
          </a:stretch>
        </p:blipFill>
        <p:spPr>
          <a:xfrm>
            <a:off x="2133600" y="4787900"/>
            <a:ext cx="14300200" cy="4127500"/>
          </a:xfrm>
          <a:prstGeom prst="rect">
            <a:avLst/>
          </a:prstGeom>
        </p:spPr>
      </p:pic>
      <p:pic>
        <p:nvPicPr>
          <p:cNvPr id="14" name="Picture 14"/>
          <p:cNvPicPr>
            <a:picLocks noChangeAspect="1"/>
          </p:cNvPicPr>
          <p:nvPr/>
        </p:nvPicPr>
        <p:blipFill>
          <a:blip r:embed="rId7"/>
          <a:stretch>
            <a:fillRect/>
          </a:stretch>
        </p:blipFill>
        <p:spPr>
          <a:xfrm>
            <a:off x="2133600" y="8394700"/>
            <a:ext cx="4051300" cy="533400"/>
          </a:xfrm>
          <a:prstGeom prst="rect">
            <a:avLst/>
          </a:prstGeom>
        </p:spPr>
      </p:pic>
      <p:pic>
        <p:nvPicPr>
          <p:cNvPr id="15" name="Picture 15"/>
          <p:cNvPicPr>
            <a:picLocks noChangeAspect="1"/>
          </p:cNvPicPr>
          <p:nvPr/>
        </p:nvPicPr>
        <p:blipFill>
          <a:blip r:embed="rId8"/>
          <a:stretch>
            <a:fillRect/>
          </a:stretch>
        </p:blipFill>
        <p:spPr>
          <a:xfrm>
            <a:off x="6832600" y="4787900"/>
            <a:ext cx="3327400" cy="520700"/>
          </a:xfrm>
          <a:prstGeom prst="rect">
            <a:avLst/>
          </a:prstGeom>
        </p:spPr>
      </p:pic>
      <p:sp>
        <p:nvSpPr>
          <p:cNvPr id="22" name="TextBox 22"/>
          <p:cNvSpPr txBox="1"/>
          <p:nvPr/>
        </p:nvSpPr>
        <p:spPr>
          <a:xfrm>
            <a:off x="17030700" y="5880100"/>
            <a:ext cx="6159500" cy="16383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업로드한 악성파일에서 요청하는 포트번호를 Listen상태로 열어두어 쉘이 연결되기를 기다림.</a:t>
            </a:r>
          </a:p>
        </p:txBody>
      </p:sp>
      <p:sp>
        <p:nvSpPr>
          <p:cNvPr id="23" name="TextBox 23"/>
          <p:cNvSpPr txBox="1"/>
          <p:nvPr/>
        </p:nvSpPr>
        <p:spPr>
          <a:xfrm>
            <a:off x="1943100" y="1409700"/>
            <a:ext cx="20281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연쇄 침투를 통한 지능형 보이스피싱 공격</a:t>
            </a:r>
          </a:p>
        </p:txBody>
      </p:sp>
      <p:sp>
        <p:nvSpPr>
          <p:cNvPr id="24" name="TextBox 14">
            <a:extLst>
              <a:ext uri="{FF2B5EF4-FFF2-40B4-BE49-F238E27FC236}">
                <a16:creationId xmlns:a16="http://schemas.microsoft.com/office/drawing/2014/main" id="{C8CC8F9B-8949-E06B-A30F-C6E3F06A6226}"/>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5" name="TextBox 14">
            <a:extLst>
              <a:ext uri="{FF2B5EF4-FFF2-40B4-BE49-F238E27FC236}">
                <a16:creationId xmlns:a16="http://schemas.microsoft.com/office/drawing/2014/main" id="{94D167A3-ABBA-468D-69EE-F76C06135CD8}"/>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6" name="Picture 2">
            <a:extLst>
              <a:ext uri="{FF2B5EF4-FFF2-40B4-BE49-F238E27FC236}">
                <a16:creationId xmlns:a16="http://schemas.microsoft.com/office/drawing/2014/main" id="{61E106CA-D6C0-F895-87C2-35962E3D8C6C}"/>
              </a:ext>
            </a:extLst>
          </p:cNvPr>
          <p:cNvPicPr>
            <a:picLocks noChangeAspect="1"/>
          </p:cNvPicPr>
          <p:nvPr/>
        </p:nvPicPr>
        <p:blipFill>
          <a:blip r:embed="rId9">
            <a:alphaModFix amt="85000"/>
          </a:blip>
          <a:stretch>
            <a:fillRect/>
          </a:stretch>
        </p:blipFill>
        <p:spPr>
          <a:xfrm>
            <a:off x="11201400" y="558800"/>
            <a:ext cx="2705100" cy="444500"/>
          </a:xfrm>
          <a:prstGeom prst="rect">
            <a:avLst/>
          </a:prstGeom>
        </p:spPr>
      </p:pic>
      <p:sp>
        <p:nvSpPr>
          <p:cNvPr id="27" name="TextBox 16">
            <a:extLst>
              <a:ext uri="{FF2B5EF4-FFF2-40B4-BE49-F238E27FC236}">
                <a16:creationId xmlns:a16="http://schemas.microsoft.com/office/drawing/2014/main" id="{6ECCE12A-B176-DCC3-7945-30899ABDB423}"/>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8" name="TextBox 18">
            <a:extLst>
              <a:ext uri="{FF2B5EF4-FFF2-40B4-BE49-F238E27FC236}">
                <a16:creationId xmlns:a16="http://schemas.microsoft.com/office/drawing/2014/main" id="{C146A58E-783D-0D07-D6A4-2F02BF182EAA}"/>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29" name="TextBox 19">
            <a:extLst>
              <a:ext uri="{FF2B5EF4-FFF2-40B4-BE49-F238E27FC236}">
                <a16:creationId xmlns:a16="http://schemas.microsoft.com/office/drawing/2014/main" id="{4897D281-0F39-7360-8E87-DB018423E95E}"/>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30" name="TextBox 20">
            <a:extLst>
              <a:ext uri="{FF2B5EF4-FFF2-40B4-BE49-F238E27FC236}">
                <a16:creationId xmlns:a16="http://schemas.microsoft.com/office/drawing/2014/main" id="{1BB1CF48-80A8-4CCF-8735-6D8BD5265BBA}"/>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10" name="Picture 10"/>
          <p:cNvPicPr>
            <a:picLocks noChangeAspect="1"/>
          </p:cNvPicPr>
          <p:nvPr/>
        </p:nvPicPr>
        <p:blipFill>
          <a:blip r:embed="rId5"/>
          <a:stretch>
            <a:fillRect/>
          </a:stretch>
        </p:blipFill>
        <p:spPr>
          <a:xfrm>
            <a:off x="1485900" y="1612900"/>
            <a:ext cx="88900" cy="850900"/>
          </a:xfrm>
          <a:prstGeom prst="rect">
            <a:avLst/>
          </a:prstGeom>
        </p:spPr>
      </p:pic>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61</a:t>
            </a:r>
          </a:p>
        </p:txBody>
      </p:sp>
      <p:sp>
        <p:nvSpPr>
          <p:cNvPr id="12" name="TextBox 12"/>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2. 서버 내부의 중요정보 파일 및 통신하는 서버에 대한 정보 수집</a:t>
            </a:r>
          </a:p>
        </p:txBody>
      </p:sp>
      <p:sp>
        <p:nvSpPr>
          <p:cNvPr id="19" name="TextBox 19"/>
          <p:cNvSpPr txBox="1"/>
          <p:nvPr/>
        </p:nvSpPr>
        <p:spPr>
          <a:xfrm>
            <a:off x="17018000" y="5880100"/>
            <a:ext cx="6197600" cy="21844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netstat 명령어를 이용하여 현재 통신하는 서버에 대한 정보를 획득을 시도하여, n8n의 well-known 포트인 5678번 포트를 식별함.</a:t>
            </a:r>
          </a:p>
        </p:txBody>
      </p:sp>
      <p:pic>
        <p:nvPicPr>
          <p:cNvPr id="20" name="Picture 20"/>
          <p:cNvPicPr>
            <a:picLocks noChangeAspect="1"/>
          </p:cNvPicPr>
          <p:nvPr/>
        </p:nvPicPr>
        <p:blipFill>
          <a:blip r:embed="rId6"/>
          <a:stretch>
            <a:fillRect/>
          </a:stretch>
        </p:blipFill>
        <p:spPr>
          <a:xfrm>
            <a:off x="2120900" y="4572000"/>
            <a:ext cx="14325600" cy="6311900"/>
          </a:xfrm>
          <a:prstGeom prst="rect">
            <a:avLst/>
          </a:prstGeom>
        </p:spPr>
      </p:pic>
      <p:pic>
        <p:nvPicPr>
          <p:cNvPr id="21" name="Picture 21"/>
          <p:cNvPicPr>
            <a:picLocks noChangeAspect="1"/>
          </p:cNvPicPr>
          <p:nvPr/>
        </p:nvPicPr>
        <p:blipFill>
          <a:blip r:embed="rId7"/>
          <a:stretch>
            <a:fillRect/>
          </a:stretch>
        </p:blipFill>
        <p:spPr>
          <a:xfrm>
            <a:off x="10388600" y="10096500"/>
            <a:ext cx="4826000" cy="673100"/>
          </a:xfrm>
          <a:prstGeom prst="rect">
            <a:avLst/>
          </a:prstGeom>
        </p:spPr>
      </p:pic>
      <p:pic>
        <p:nvPicPr>
          <p:cNvPr id="22" name="Picture 22"/>
          <p:cNvPicPr>
            <a:picLocks noChangeAspect="1"/>
          </p:cNvPicPr>
          <p:nvPr/>
        </p:nvPicPr>
        <p:blipFill>
          <a:blip r:embed="rId8"/>
          <a:stretch>
            <a:fillRect/>
          </a:stretch>
        </p:blipFill>
        <p:spPr>
          <a:xfrm>
            <a:off x="8178800" y="4610100"/>
            <a:ext cx="1714500" cy="330200"/>
          </a:xfrm>
          <a:prstGeom prst="rect">
            <a:avLst/>
          </a:prstGeom>
        </p:spPr>
      </p:pic>
      <p:pic>
        <p:nvPicPr>
          <p:cNvPr id="23" name="Picture 23"/>
          <p:cNvPicPr>
            <a:picLocks noChangeAspect="1"/>
          </p:cNvPicPr>
          <p:nvPr/>
        </p:nvPicPr>
        <p:blipFill>
          <a:blip r:embed="rId9"/>
          <a:stretch>
            <a:fillRect/>
          </a:stretch>
        </p:blipFill>
        <p:spPr>
          <a:xfrm>
            <a:off x="3632200" y="4927600"/>
            <a:ext cx="1219200" cy="355600"/>
          </a:xfrm>
          <a:prstGeom prst="rect">
            <a:avLst/>
          </a:prstGeom>
        </p:spPr>
      </p:pic>
      <p:sp>
        <p:nvSpPr>
          <p:cNvPr id="24" name="TextBox 24"/>
          <p:cNvSpPr txBox="1"/>
          <p:nvPr/>
        </p:nvSpPr>
        <p:spPr>
          <a:xfrm>
            <a:off x="1943100" y="1409700"/>
            <a:ext cx="20281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연쇄 침투를 통한 지능형 보이스피싱 공격</a:t>
            </a:r>
          </a:p>
        </p:txBody>
      </p:sp>
      <p:sp>
        <p:nvSpPr>
          <p:cNvPr id="25" name="TextBox 14">
            <a:extLst>
              <a:ext uri="{FF2B5EF4-FFF2-40B4-BE49-F238E27FC236}">
                <a16:creationId xmlns:a16="http://schemas.microsoft.com/office/drawing/2014/main" id="{295B4C3D-59D2-3FBB-E836-4B75F763D0F9}"/>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6" name="TextBox 14">
            <a:extLst>
              <a:ext uri="{FF2B5EF4-FFF2-40B4-BE49-F238E27FC236}">
                <a16:creationId xmlns:a16="http://schemas.microsoft.com/office/drawing/2014/main" id="{B410AEBA-C169-7677-CFAB-2AE9B489871D}"/>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7" name="Picture 2">
            <a:extLst>
              <a:ext uri="{FF2B5EF4-FFF2-40B4-BE49-F238E27FC236}">
                <a16:creationId xmlns:a16="http://schemas.microsoft.com/office/drawing/2014/main" id="{4C6596E6-4E61-3A32-336C-FF7CFBB4B02D}"/>
              </a:ext>
            </a:extLst>
          </p:cNvPr>
          <p:cNvPicPr>
            <a:picLocks noChangeAspect="1"/>
          </p:cNvPicPr>
          <p:nvPr/>
        </p:nvPicPr>
        <p:blipFill>
          <a:blip r:embed="rId10">
            <a:alphaModFix amt="85000"/>
          </a:blip>
          <a:stretch>
            <a:fillRect/>
          </a:stretch>
        </p:blipFill>
        <p:spPr>
          <a:xfrm>
            <a:off x="11201400" y="558800"/>
            <a:ext cx="2705100" cy="444500"/>
          </a:xfrm>
          <a:prstGeom prst="rect">
            <a:avLst/>
          </a:prstGeom>
        </p:spPr>
      </p:pic>
      <p:sp>
        <p:nvSpPr>
          <p:cNvPr id="28" name="TextBox 16">
            <a:extLst>
              <a:ext uri="{FF2B5EF4-FFF2-40B4-BE49-F238E27FC236}">
                <a16:creationId xmlns:a16="http://schemas.microsoft.com/office/drawing/2014/main" id="{E6C9C05E-9E1C-F32C-D444-3B856F91E69F}"/>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9" name="TextBox 18">
            <a:extLst>
              <a:ext uri="{FF2B5EF4-FFF2-40B4-BE49-F238E27FC236}">
                <a16:creationId xmlns:a16="http://schemas.microsoft.com/office/drawing/2014/main" id="{9C12EDCE-65DC-A6F0-43A9-2DCCA004689F}"/>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30" name="TextBox 19">
            <a:extLst>
              <a:ext uri="{FF2B5EF4-FFF2-40B4-BE49-F238E27FC236}">
                <a16:creationId xmlns:a16="http://schemas.microsoft.com/office/drawing/2014/main" id="{0B1F86DD-857D-B534-0F6D-6CE4CFF1CB95}"/>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31" name="TextBox 20">
            <a:extLst>
              <a:ext uri="{FF2B5EF4-FFF2-40B4-BE49-F238E27FC236}">
                <a16:creationId xmlns:a16="http://schemas.microsoft.com/office/drawing/2014/main" id="{D490852F-B05F-FD82-8F28-5DAE0FAF5489}"/>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10" name="Picture 10"/>
          <p:cNvPicPr>
            <a:picLocks noChangeAspect="1"/>
          </p:cNvPicPr>
          <p:nvPr/>
        </p:nvPicPr>
        <p:blipFill>
          <a:blip r:embed="rId5"/>
          <a:stretch>
            <a:fillRect/>
          </a:stretch>
        </p:blipFill>
        <p:spPr>
          <a:xfrm>
            <a:off x="1485900" y="1612900"/>
            <a:ext cx="88900" cy="850900"/>
          </a:xfrm>
          <a:prstGeom prst="rect">
            <a:avLst/>
          </a:prstGeom>
        </p:spPr>
      </p:pic>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6</a:t>
            </a:r>
            <a:r>
              <a:rPr lang="en-US" sz="2133" cap="all" dirty="0">
                <a:solidFill>
                  <a:srgbClr val="024EA0"/>
                </a:solidFill>
                <a:latin typeface="Geologica Roman Light"/>
                <a:ea typeface="Geologica Roman Light"/>
                <a:cs typeface="Geologica Roman Light"/>
              </a:rPr>
              <a:t>2</a:t>
            </a:r>
            <a:endParaRPr lang="en-US" sz="2133" b="0" i="0" u="none" strike="noStrike" cap="all" dirty="0">
              <a:solidFill>
                <a:srgbClr val="024EA0"/>
              </a:solidFill>
              <a:latin typeface="Geologica Roman Light"/>
              <a:ea typeface="Geologica Roman Light"/>
              <a:cs typeface="Geologica Roman Light"/>
            </a:endParaRPr>
          </a:p>
        </p:txBody>
      </p:sp>
      <p:pic>
        <p:nvPicPr>
          <p:cNvPr id="18" name="Picture 18"/>
          <p:cNvPicPr>
            <a:picLocks noChangeAspect="1"/>
          </p:cNvPicPr>
          <p:nvPr/>
        </p:nvPicPr>
        <p:blipFill>
          <a:blip r:embed="rId6"/>
          <a:stretch>
            <a:fillRect/>
          </a:stretch>
        </p:blipFill>
        <p:spPr>
          <a:xfrm>
            <a:off x="2120900" y="4610100"/>
            <a:ext cx="14871700" cy="4584700"/>
          </a:xfrm>
          <a:prstGeom prst="rect">
            <a:avLst/>
          </a:prstGeom>
        </p:spPr>
      </p:pic>
      <p:pic>
        <p:nvPicPr>
          <p:cNvPr id="19" name="Picture 19"/>
          <p:cNvPicPr>
            <a:picLocks noChangeAspect="1"/>
          </p:cNvPicPr>
          <p:nvPr/>
        </p:nvPicPr>
        <p:blipFill>
          <a:blip r:embed="rId7"/>
          <a:stretch>
            <a:fillRect/>
          </a:stretch>
        </p:blipFill>
        <p:spPr>
          <a:xfrm>
            <a:off x="3340100" y="6273800"/>
            <a:ext cx="8331200" cy="584200"/>
          </a:xfrm>
          <a:prstGeom prst="rect">
            <a:avLst/>
          </a:prstGeom>
        </p:spPr>
      </p:pic>
      <p:pic>
        <p:nvPicPr>
          <p:cNvPr id="20" name="Picture 20"/>
          <p:cNvPicPr>
            <a:picLocks noChangeAspect="1"/>
          </p:cNvPicPr>
          <p:nvPr/>
        </p:nvPicPr>
        <p:blipFill>
          <a:blip r:embed="rId8"/>
          <a:stretch>
            <a:fillRect/>
          </a:stretch>
        </p:blipFill>
        <p:spPr>
          <a:xfrm>
            <a:off x="2120900" y="8305800"/>
            <a:ext cx="14871700" cy="965200"/>
          </a:xfrm>
          <a:prstGeom prst="rect">
            <a:avLst/>
          </a:prstGeom>
        </p:spPr>
      </p:pic>
      <p:sp>
        <p:nvSpPr>
          <p:cNvPr id="21" name="TextBox 21"/>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2. 서버 내부의 중요정보 파일 및 통신하는 서버에 대한 정보 수집</a:t>
            </a:r>
          </a:p>
        </p:txBody>
      </p:sp>
      <p:sp>
        <p:nvSpPr>
          <p:cNvPr id="22" name="TextBox 22"/>
          <p:cNvSpPr txBox="1"/>
          <p:nvPr/>
        </p:nvSpPr>
        <p:spPr>
          <a:xfrm>
            <a:off x="17411700" y="4521200"/>
            <a:ext cx="5778500" cy="43561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n8n과 관련된 정보를 수집하기 위해
application.properties파일에서 n8n의 endpoint 주소를 획득함.</a:t>
            </a:r>
          </a:p>
          <a:p>
            <a:pPr lvl="0" algn="l">
              <a:lnSpc>
                <a:spcPct val="116199"/>
              </a:lnSpc>
            </a:pPr>
            <a:endParaRPr lang="en-US" sz="3066" b="0" i="0" u="none" strike="noStrike">
              <a:solidFill>
                <a:srgbClr val="000000"/>
              </a:solidFill>
              <a:latin typeface="Pretendard Medium"/>
              <a:ea typeface="Pretendard Medium"/>
              <a:cs typeface="Pretendard Medium"/>
            </a:endParaRPr>
          </a:p>
          <a:p>
            <a:pPr lvl="0" algn="l">
              <a:lnSpc>
                <a:spcPct val="116199"/>
              </a:lnSpc>
            </a:pPr>
            <a:r>
              <a:rPr lang="en-US" sz="3066" b="0" i="0" u="none" strike="noStrike">
                <a:solidFill>
                  <a:srgbClr val="000000"/>
                </a:solidFill>
                <a:latin typeface="Pretendard Medium"/>
                <a:ea typeface="Pretendard Medium"/>
                <a:cs typeface="Pretendard Medium"/>
              </a:rPr>
              <a:t>SSH 터널링 기술을 이용해 가상의 포트포워딩 효과를 내는 Serveo를 이용하여 n8n에 접근 가능한 URL 생성함.</a:t>
            </a:r>
          </a:p>
        </p:txBody>
      </p:sp>
      <p:sp>
        <p:nvSpPr>
          <p:cNvPr id="23" name="TextBox 23"/>
          <p:cNvSpPr txBox="1"/>
          <p:nvPr/>
        </p:nvSpPr>
        <p:spPr>
          <a:xfrm>
            <a:off x="1943100" y="1409700"/>
            <a:ext cx="20281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연쇄 침투를 통한 지능형 보이스피싱 공격</a:t>
            </a:r>
          </a:p>
        </p:txBody>
      </p:sp>
      <p:sp>
        <p:nvSpPr>
          <p:cNvPr id="24" name="TextBox 14">
            <a:extLst>
              <a:ext uri="{FF2B5EF4-FFF2-40B4-BE49-F238E27FC236}">
                <a16:creationId xmlns:a16="http://schemas.microsoft.com/office/drawing/2014/main" id="{E6C89149-A82D-A0A6-C709-D756FB1B5467}"/>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5" name="TextBox 14">
            <a:extLst>
              <a:ext uri="{FF2B5EF4-FFF2-40B4-BE49-F238E27FC236}">
                <a16:creationId xmlns:a16="http://schemas.microsoft.com/office/drawing/2014/main" id="{B9161D7A-BDAE-EAD5-79AF-1273DF2622AF}"/>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6" name="Picture 2">
            <a:extLst>
              <a:ext uri="{FF2B5EF4-FFF2-40B4-BE49-F238E27FC236}">
                <a16:creationId xmlns:a16="http://schemas.microsoft.com/office/drawing/2014/main" id="{93BDB4CA-E3C7-CC74-8717-5AE4574BD317}"/>
              </a:ext>
            </a:extLst>
          </p:cNvPr>
          <p:cNvPicPr>
            <a:picLocks noChangeAspect="1"/>
          </p:cNvPicPr>
          <p:nvPr/>
        </p:nvPicPr>
        <p:blipFill>
          <a:blip r:embed="rId9">
            <a:alphaModFix amt="85000"/>
          </a:blip>
          <a:stretch>
            <a:fillRect/>
          </a:stretch>
        </p:blipFill>
        <p:spPr>
          <a:xfrm>
            <a:off x="11201400" y="558800"/>
            <a:ext cx="2705100" cy="444500"/>
          </a:xfrm>
          <a:prstGeom prst="rect">
            <a:avLst/>
          </a:prstGeom>
        </p:spPr>
      </p:pic>
      <p:sp>
        <p:nvSpPr>
          <p:cNvPr id="27" name="TextBox 16">
            <a:extLst>
              <a:ext uri="{FF2B5EF4-FFF2-40B4-BE49-F238E27FC236}">
                <a16:creationId xmlns:a16="http://schemas.microsoft.com/office/drawing/2014/main" id="{0D48191F-248C-AA18-EE5F-A0725B1C18BD}"/>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8" name="TextBox 18">
            <a:extLst>
              <a:ext uri="{FF2B5EF4-FFF2-40B4-BE49-F238E27FC236}">
                <a16:creationId xmlns:a16="http://schemas.microsoft.com/office/drawing/2014/main" id="{8FB0E426-488C-F54C-3C75-EFF95AD3A090}"/>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29" name="TextBox 19">
            <a:extLst>
              <a:ext uri="{FF2B5EF4-FFF2-40B4-BE49-F238E27FC236}">
                <a16:creationId xmlns:a16="http://schemas.microsoft.com/office/drawing/2014/main" id="{97F9494F-5896-30B9-3BA6-5AE65636D0A8}"/>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30" name="TextBox 20">
            <a:extLst>
              <a:ext uri="{FF2B5EF4-FFF2-40B4-BE49-F238E27FC236}">
                <a16:creationId xmlns:a16="http://schemas.microsoft.com/office/drawing/2014/main" id="{A394CCBF-E257-D2D8-F8EA-480141DCBA25}"/>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10" name="Picture 10"/>
          <p:cNvPicPr>
            <a:picLocks noChangeAspect="1"/>
          </p:cNvPicPr>
          <p:nvPr/>
        </p:nvPicPr>
        <p:blipFill>
          <a:blip r:embed="rId5"/>
          <a:stretch>
            <a:fillRect/>
          </a:stretch>
        </p:blipFill>
        <p:spPr>
          <a:xfrm>
            <a:off x="1485900" y="1612900"/>
            <a:ext cx="88900" cy="850900"/>
          </a:xfrm>
          <a:prstGeom prst="rect">
            <a:avLst/>
          </a:prstGeom>
        </p:spPr>
      </p:pic>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63</a:t>
            </a:r>
          </a:p>
        </p:txBody>
      </p:sp>
      <p:pic>
        <p:nvPicPr>
          <p:cNvPr id="18" name="Picture 18"/>
          <p:cNvPicPr>
            <a:picLocks noChangeAspect="1"/>
          </p:cNvPicPr>
          <p:nvPr/>
        </p:nvPicPr>
        <p:blipFill>
          <a:blip r:embed="rId6"/>
          <a:stretch>
            <a:fillRect/>
          </a:stretch>
        </p:blipFill>
        <p:spPr>
          <a:xfrm>
            <a:off x="5130800" y="6870700"/>
            <a:ext cx="3327400" cy="469900"/>
          </a:xfrm>
          <a:prstGeom prst="rect">
            <a:avLst/>
          </a:prstGeom>
        </p:spPr>
      </p:pic>
      <p:pic>
        <p:nvPicPr>
          <p:cNvPr id="19" name="Picture 19"/>
          <p:cNvPicPr>
            <a:picLocks noChangeAspect="1"/>
          </p:cNvPicPr>
          <p:nvPr/>
        </p:nvPicPr>
        <p:blipFill>
          <a:blip r:embed="rId7"/>
          <a:stretch>
            <a:fillRect/>
          </a:stretch>
        </p:blipFill>
        <p:spPr>
          <a:xfrm>
            <a:off x="2120900" y="4267200"/>
            <a:ext cx="14300200" cy="7988300"/>
          </a:xfrm>
          <a:prstGeom prst="rect">
            <a:avLst/>
          </a:prstGeom>
        </p:spPr>
      </p:pic>
      <p:sp>
        <p:nvSpPr>
          <p:cNvPr id="20" name="TextBox 20"/>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2. 서버 내부의 중요정보 파일 및 통신하는 서버에 대한 정보 수집</a:t>
            </a:r>
          </a:p>
        </p:txBody>
      </p:sp>
      <p:sp>
        <p:nvSpPr>
          <p:cNvPr id="21" name="TextBox 21"/>
          <p:cNvSpPr txBox="1"/>
          <p:nvPr/>
        </p:nvSpPr>
        <p:spPr>
          <a:xfrm>
            <a:off x="17030700" y="5880100"/>
            <a:ext cx="6159500" cy="16383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획득한 정보들과 터널링 기술로 생성한 URL을 조합하여, 해당 사이트가 어떠한 서비스를 제공하는지 확인함.</a:t>
            </a:r>
          </a:p>
        </p:txBody>
      </p:sp>
      <p:sp>
        <p:nvSpPr>
          <p:cNvPr id="22" name="TextBox 22"/>
          <p:cNvSpPr txBox="1"/>
          <p:nvPr/>
        </p:nvSpPr>
        <p:spPr>
          <a:xfrm>
            <a:off x="1943100" y="1409700"/>
            <a:ext cx="20281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연쇄 침투를 통한 지능형 보이스피싱 공격</a:t>
            </a:r>
          </a:p>
        </p:txBody>
      </p:sp>
      <p:sp>
        <p:nvSpPr>
          <p:cNvPr id="23" name="TextBox 14">
            <a:extLst>
              <a:ext uri="{FF2B5EF4-FFF2-40B4-BE49-F238E27FC236}">
                <a16:creationId xmlns:a16="http://schemas.microsoft.com/office/drawing/2014/main" id="{B49AACFA-AD04-90AF-BEE4-832D0C16EA99}"/>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4" name="TextBox 14">
            <a:extLst>
              <a:ext uri="{FF2B5EF4-FFF2-40B4-BE49-F238E27FC236}">
                <a16:creationId xmlns:a16="http://schemas.microsoft.com/office/drawing/2014/main" id="{71431A05-7AC1-06C4-905A-EE2A4E5B3B0E}"/>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5" name="Picture 2">
            <a:extLst>
              <a:ext uri="{FF2B5EF4-FFF2-40B4-BE49-F238E27FC236}">
                <a16:creationId xmlns:a16="http://schemas.microsoft.com/office/drawing/2014/main" id="{1D8B360B-68C7-7286-E1A0-04A4E00331DB}"/>
              </a:ext>
            </a:extLst>
          </p:cNvPr>
          <p:cNvPicPr>
            <a:picLocks noChangeAspect="1"/>
          </p:cNvPicPr>
          <p:nvPr/>
        </p:nvPicPr>
        <p:blipFill>
          <a:blip r:embed="rId8">
            <a:alphaModFix amt="85000"/>
          </a:blip>
          <a:stretch>
            <a:fillRect/>
          </a:stretch>
        </p:blipFill>
        <p:spPr>
          <a:xfrm>
            <a:off x="11201400" y="558800"/>
            <a:ext cx="2705100" cy="444500"/>
          </a:xfrm>
          <a:prstGeom prst="rect">
            <a:avLst/>
          </a:prstGeom>
        </p:spPr>
      </p:pic>
      <p:sp>
        <p:nvSpPr>
          <p:cNvPr id="26" name="TextBox 16">
            <a:extLst>
              <a:ext uri="{FF2B5EF4-FFF2-40B4-BE49-F238E27FC236}">
                <a16:creationId xmlns:a16="http://schemas.microsoft.com/office/drawing/2014/main" id="{A62A9BE6-74A0-572F-6B79-2FE9456F4B3D}"/>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7" name="TextBox 18">
            <a:extLst>
              <a:ext uri="{FF2B5EF4-FFF2-40B4-BE49-F238E27FC236}">
                <a16:creationId xmlns:a16="http://schemas.microsoft.com/office/drawing/2014/main" id="{50A32AF3-2AD3-D38D-60B1-F79E1B16747A}"/>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28" name="TextBox 19">
            <a:extLst>
              <a:ext uri="{FF2B5EF4-FFF2-40B4-BE49-F238E27FC236}">
                <a16:creationId xmlns:a16="http://schemas.microsoft.com/office/drawing/2014/main" id="{BC5B69FC-332C-5797-D7E2-13E923CB0A7A}"/>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29" name="TextBox 20">
            <a:extLst>
              <a:ext uri="{FF2B5EF4-FFF2-40B4-BE49-F238E27FC236}">
                <a16:creationId xmlns:a16="http://schemas.microsoft.com/office/drawing/2014/main" id="{223C160D-2F6B-B3DF-3DE9-6BDB140B48EA}"/>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10" name="Picture 10"/>
          <p:cNvPicPr>
            <a:picLocks noChangeAspect="1"/>
          </p:cNvPicPr>
          <p:nvPr/>
        </p:nvPicPr>
        <p:blipFill>
          <a:blip r:embed="rId5"/>
          <a:stretch>
            <a:fillRect/>
          </a:stretch>
        </p:blipFill>
        <p:spPr>
          <a:xfrm>
            <a:off x="1485900" y="1612900"/>
            <a:ext cx="88900" cy="850900"/>
          </a:xfrm>
          <a:prstGeom prst="rect">
            <a:avLst/>
          </a:prstGeom>
        </p:spPr>
      </p:pic>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64</a:t>
            </a:r>
          </a:p>
        </p:txBody>
      </p:sp>
      <p:pic>
        <p:nvPicPr>
          <p:cNvPr id="12" name="Picture 12"/>
          <p:cNvPicPr>
            <a:picLocks noChangeAspect="1"/>
          </p:cNvPicPr>
          <p:nvPr/>
        </p:nvPicPr>
        <p:blipFill>
          <a:blip r:embed="rId6"/>
          <a:stretch>
            <a:fillRect/>
          </a:stretch>
        </p:blipFill>
        <p:spPr>
          <a:xfrm>
            <a:off x="2120900" y="4381500"/>
            <a:ext cx="14478000" cy="7607300"/>
          </a:xfrm>
          <a:prstGeom prst="rect">
            <a:avLst/>
          </a:prstGeom>
        </p:spPr>
      </p:pic>
      <p:pic>
        <p:nvPicPr>
          <p:cNvPr id="13" name="Picture 13"/>
          <p:cNvPicPr>
            <a:picLocks noChangeAspect="1"/>
          </p:cNvPicPr>
          <p:nvPr/>
        </p:nvPicPr>
        <p:blipFill>
          <a:blip r:embed="rId7"/>
          <a:stretch>
            <a:fillRect/>
          </a:stretch>
        </p:blipFill>
        <p:spPr>
          <a:xfrm>
            <a:off x="13906500" y="4533900"/>
            <a:ext cx="2209800" cy="584200"/>
          </a:xfrm>
          <a:prstGeom prst="rect">
            <a:avLst/>
          </a:prstGeom>
        </p:spPr>
      </p:pic>
      <p:pic>
        <p:nvPicPr>
          <p:cNvPr id="14" name="Picture 14"/>
          <p:cNvPicPr>
            <a:picLocks noChangeAspect="1"/>
          </p:cNvPicPr>
          <p:nvPr/>
        </p:nvPicPr>
        <p:blipFill>
          <a:blip r:embed="rId8"/>
          <a:stretch>
            <a:fillRect/>
          </a:stretch>
        </p:blipFill>
        <p:spPr>
          <a:xfrm>
            <a:off x="4902200" y="7581900"/>
            <a:ext cx="1714500" cy="457200"/>
          </a:xfrm>
          <a:prstGeom prst="rect">
            <a:avLst/>
          </a:prstGeom>
        </p:spPr>
      </p:pic>
      <p:sp>
        <p:nvSpPr>
          <p:cNvPr id="21" name="TextBox 21"/>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2. 서버 내부의 중요정보 파일 및 통신하는 서버에 대한 정보 수집</a:t>
            </a:r>
          </a:p>
        </p:txBody>
      </p:sp>
      <p:sp>
        <p:nvSpPr>
          <p:cNvPr id="22" name="TextBox 22"/>
          <p:cNvSpPr txBox="1"/>
          <p:nvPr/>
        </p:nvSpPr>
        <p:spPr>
          <a:xfrm>
            <a:off x="17030700" y="5880100"/>
            <a:ext cx="6159500" cy="16383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n8n의 서버의 버전을 식별하기 위해 공개된 엔드포인트를 호출하여 서버 버전을 식별하고 관련 정보를 수집함.</a:t>
            </a:r>
          </a:p>
        </p:txBody>
      </p:sp>
      <p:sp>
        <p:nvSpPr>
          <p:cNvPr id="23" name="TextBox 23"/>
          <p:cNvSpPr txBox="1"/>
          <p:nvPr/>
        </p:nvSpPr>
        <p:spPr>
          <a:xfrm>
            <a:off x="1943100" y="1409700"/>
            <a:ext cx="20281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연쇄 침투를 통한 지능형 보이스피싱 공격</a:t>
            </a:r>
          </a:p>
        </p:txBody>
      </p:sp>
      <p:sp>
        <p:nvSpPr>
          <p:cNvPr id="24" name="TextBox 14">
            <a:extLst>
              <a:ext uri="{FF2B5EF4-FFF2-40B4-BE49-F238E27FC236}">
                <a16:creationId xmlns:a16="http://schemas.microsoft.com/office/drawing/2014/main" id="{2EDEB22B-D564-625E-B4E2-7B509538CE27}"/>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5" name="TextBox 14">
            <a:extLst>
              <a:ext uri="{FF2B5EF4-FFF2-40B4-BE49-F238E27FC236}">
                <a16:creationId xmlns:a16="http://schemas.microsoft.com/office/drawing/2014/main" id="{6BE9D7E6-3025-0CF0-F058-29A7553CD53E}"/>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6" name="Picture 2">
            <a:extLst>
              <a:ext uri="{FF2B5EF4-FFF2-40B4-BE49-F238E27FC236}">
                <a16:creationId xmlns:a16="http://schemas.microsoft.com/office/drawing/2014/main" id="{6DF25C2A-4757-2973-B347-72C9F35FFC67}"/>
              </a:ext>
            </a:extLst>
          </p:cNvPr>
          <p:cNvPicPr>
            <a:picLocks noChangeAspect="1"/>
          </p:cNvPicPr>
          <p:nvPr/>
        </p:nvPicPr>
        <p:blipFill>
          <a:blip r:embed="rId9">
            <a:alphaModFix amt="85000"/>
          </a:blip>
          <a:stretch>
            <a:fillRect/>
          </a:stretch>
        </p:blipFill>
        <p:spPr>
          <a:xfrm>
            <a:off x="11201400" y="558800"/>
            <a:ext cx="2705100" cy="444500"/>
          </a:xfrm>
          <a:prstGeom prst="rect">
            <a:avLst/>
          </a:prstGeom>
        </p:spPr>
      </p:pic>
      <p:sp>
        <p:nvSpPr>
          <p:cNvPr id="27" name="TextBox 16">
            <a:extLst>
              <a:ext uri="{FF2B5EF4-FFF2-40B4-BE49-F238E27FC236}">
                <a16:creationId xmlns:a16="http://schemas.microsoft.com/office/drawing/2014/main" id="{076FD251-65FD-8D6F-5F2F-B76F2BA0F485}"/>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8" name="TextBox 18">
            <a:extLst>
              <a:ext uri="{FF2B5EF4-FFF2-40B4-BE49-F238E27FC236}">
                <a16:creationId xmlns:a16="http://schemas.microsoft.com/office/drawing/2014/main" id="{3DA49021-FA05-0137-201B-96E1BBC7437B}"/>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29" name="TextBox 19">
            <a:extLst>
              <a:ext uri="{FF2B5EF4-FFF2-40B4-BE49-F238E27FC236}">
                <a16:creationId xmlns:a16="http://schemas.microsoft.com/office/drawing/2014/main" id="{D21F8DBF-7622-BF67-253C-2596ACFFB780}"/>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30" name="TextBox 20">
            <a:extLst>
              <a:ext uri="{FF2B5EF4-FFF2-40B4-BE49-F238E27FC236}">
                <a16:creationId xmlns:a16="http://schemas.microsoft.com/office/drawing/2014/main" id="{971EADD1-F5DA-C275-5CB9-FED67E46D6A0}"/>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10" name="Picture 10"/>
          <p:cNvPicPr>
            <a:picLocks noChangeAspect="1"/>
          </p:cNvPicPr>
          <p:nvPr/>
        </p:nvPicPr>
        <p:blipFill>
          <a:blip r:embed="rId5"/>
          <a:stretch>
            <a:fillRect/>
          </a:stretch>
        </p:blipFill>
        <p:spPr>
          <a:xfrm>
            <a:off x="1485900" y="1612900"/>
            <a:ext cx="88900" cy="850900"/>
          </a:xfrm>
          <a:prstGeom prst="rect">
            <a:avLst/>
          </a:prstGeom>
        </p:spPr>
      </p:pic>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65</a:t>
            </a:r>
          </a:p>
        </p:txBody>
      </p:sp>
      <p:sp>
        <p:nvSpPr>
          <p:cNvPr id="12" name="TextBox 12"/>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dirty="0">
                <a:solidFill>
                  <a:srgbClr val="000000"/>
                </a:solidFill>
                <a:latin typeface="Pretendard Medium"/>
                <a:ea typeface="Pretendard Medium"/>
                <a:cs typeface="Pretendard Medium"/>
              </a:rPr>
              <a:t>3. n8n서버 </a:t>
            </a:r>
            <a:r>
              <a:rPr lang="en-US" sz="3333" b="0" i="0" u="none" strike="noStrike" dirty="0" err="1">
                <a:solidFill>
                  <a:srgbClr val="000000"/>
                </a:solidFill>
                <a:latin typeface="Pretendard Medium"/>
                <a:ea typeface="Pretendard Medium"/>
                <a:cs typeface="Pretendard Medium"/>
              </a:rPr>
              <a:t>접근</a:t>
            </a:r>
            <a:r>
              <a:rPr lang="en-US" sz="3333" b="0" i="0" u="none" strike="noStrike" dirty="0">
                <a:solidFill>
                  <a:srgbClr val="000000"/>
                </a:solidFill>
                <a:latin typeface="Pretendard Medium"/>
                <a:ea typeface="Pretendard Medium"/>
                <a:cs typeface="Pretendard Medium"/>
              </a:rPr>
              <a:t> 및 </a:t>
            </a:r>
            <a:r>
              <a:rPr lang="en-US" sz="3333" b="0" i="0" u="none" strike="noStrike" dirty="0" err="1">
                <a:solidFill>
                  <a:srgbClr val="000000"/>
                </a:solidFill>
                <a:latin typeface="Pretendard Medium"/>
                <a:ea typeface="Pretendard Medium"/>
                <a:cs typeface="Pretendard Medium"/>
              </a:rPr>
              <a:t>정보확인</a:t>
            </a:r>
            <a:r>
              <a:rPr lang="en-US" sz="3333" b="0" i="0" u="none" strike="noStrike" dirty="0">
                <a:solidFill>
                  <a:srgbClr val="000000"/>
                </a:solidFill>
                <a:latin typeface="Pretendard Medium"/>
                <a:ea typeface="Pretendard Medium"/>
                <a:cs typeface="Pretendard Medium"/>
              </a:rPr>
              <a:t> 후 </a:t>
            </a:r>
            <a:r>
              <a:rPr lang="en-US" sz="3333" b="0" i="0" u="none" strike="noStrike" dirty="0" err="1">
                <a:solidFill>
                  <a:srgbClr val="000000"/>
                </a:solidFill>
                <a:latin typeface="Pretendard Medium"/>
                <a:ea typeface="Pretendard Medium"/>
                <a:cs typeface="Pretendard Medium"/>
              </a:rPr>
              <a:t>해당</a:t>
            </a:r>
            <a:r>
              <a:rPr lang="en-US" sz="3333" b="0" i="0" u="none" strike="noStrike" dirty="0">
                <a:solidFill>
                  <a:srgbClr val="000000"/>
                </a:solidFill>
                <a:latin typeface="Pretendard Medium"/>
                <a:ea typeface="Pretendard Medium"/>
                <a:cs typeface="Pretendard Medium"/>
              </a:rPr>
              <a:t> </a:t>
            </a:r>
            <a:r>
              <a:rPr lang="en-US" sz="3333" b="0" i="0" u="none" strike="noStrike" dirty="0" err="1">
                <a:solidFill>
                  <a:srgbClr val="000000"/>
                </a:solidFill>
                <a:latin typeface="Pretendard Medium"/>
                <a:ea typeface="Pretendard Medium"/>
                <a:cs typeface="Pretendard Medium"/>
              </a:rPr>
              <a:t>정보를</a:t>
            </a:r>
            <a:r>
              <a:rPr lang="en-US" sz="3333" b="0" i="0" u="none" strike="noStrike" dirty="0">
                <a:solidFill>
                  <a:srgbClr val="000000"/>
                </a:solidFill>
                <a:latin typeface="Pretendard Medium"/>
                <a:ea typeface="Pretendard Medium"/>
                <a:cs typeface="Pretendard Medium"/>
              </a:rPr>
              <a:t> </a:t>
            </a:r>
            <a:r>
              <a:rPr lang="en-US" sz="3333" b="0" i="0" u="none" strike="noStrike" dirty="0" err="1">
                <a:solidFill>
                  <a:srgbClr val="000000"/>
                </a:solidFill>
                <a:latin typeface="Pretendard Medium"/>
                <a:ea typeface="Pretendard Medium"/>
                <a:cs typeface="Pretendard Medium"/>
              </a:rPr>
              <a:t>기반하여</a:t>
            </a:r>
            <a:r>
              <a:rPr lang="en-US" sz="3333" b="0" i="0" u="none" strike="noStrike" dirty="0">
                <a:solidFill>
                  <a:srgbClr val="000000"/>
                </a:solidFill>
                <a:latin typeface="Pretendard Medium"/>
                <a:ea typeface="Pretendard Medium"/>
                <a:cs typeface="Pretendard Medium"/>
              </a:rPr>
              <a:t> CVE </a:t>
            </a:r>
            <a:r>
              <a:rPr lang="en-US" sz="3333" b="0" i="0" u="none" strike="noStrike" dirty="0" err="1">
                <a:solidFill>
                  <a:srgbClr val="000000"/>
                </a:solidFill>
                <a:latin typeface="Pretendard Medium"/>
                <a:ea typeface="Pretendard Medium"/>
                <a:cs typeface="Pretendard Medium"/>
              </a:rPr>
              <a:t>이용하여</a:t>
            </a:r>
            <a:r>
              <a:rPr lang="en-US" sz="3333" b="0" i="0" u="none" strike="noStrike" dirty="0">
                <a:solidFill>
                  <a:srgbClr val="000000"/>
                </a:solidFill>
                <a:latin typeface="Pretendard Medium"/>
                <a:ea typeface="Pretendard Medium"/>
                <a:cs typeface="Pretendard Medium"/>
              </a:rPr>
              <a:t> </a:t>
            </a:r>
            <a:r>
              <a:rPr lang="ko-KR" altLang="en-US" sz="3333" dirty="0" err="1">
                <a:solidFill>
                  <a:srgbClr val="000000"/>
                </a:solidFill>
                <a:latin typeface="Pretendard Medium"/>
                <a:ea typeface="Pretendard Medium"/>
                <a:cs typeface="Pretendard Medium"/>
              </a:rPr>
              <a:t>보안로직</a:t>
            </a:r>
            <a:r>
              <a:rPr lang="en-US" sz="3333" b="0" i="0" u="none" strike="noStrike" dirty="0">
                <a:solidFill>
                  <a:srgbClr val="000000"/>
                </a:solidFill>
                <a:latin typeface="Pretendard Medium"/>
                <a:ea typeface="Pretendard Medium"/>
                <a:cs typeface="Pretendard Medium"/>
              </a:rPr>
              <a:t> </a:t>
            </a:r>
            <a:r>
              <a:rPr lang="en-US" sz="3333" b="0" i="0" u="none" strike="noStrike" dirty="0" err="1">
                <a:solidFill>
                  <a:srgbClr val="000000"/>
                </a:solidFill>
                <a:latin typeface="Pretendard Medium"/>
                <a:ea typeface="Pretendard Medium"/>
                <a:cs typeface="Pretendard Medium"/>
              </a:rPr>
              <a:t>무력화</a:t>
            </a:r>
            <a:endParaRPr lang="en-US" sz="3333" b="0" i="0" u="none" strike="noStrike" dirty="0">
              <a:solidFill>
                <a:srgbClr val="000000"/>
              </a:solidFill>
              <a:latin typeface="Pretendard Medium"/>
              <a:ea typeface="Pretendard Medium"/>
              <a:cs typeface="Pretendard Medium"/>
            </a:endParaRPr>
          </a:p>
        </p:txBody>
      </p:sp>
      <p:pic>
        <p:nvPicPr>
          <p:cNvPr id="19" name="Picture 19"/>
          <p:cNvPicPr>
            <a:picLocks noChangeAspect="1"/>
          </p:cNvPicPr>
          <p:nvPr/>
        </p:nvPicPr>
        <p:blipFill>
          <a:blip r:embed="rId6"/>
          <a:stretch>
            <a:fillRect/>
          </a:stretch>
        </p:blipFill>
        <p:spPr>
          <a:xfrm>
            <a:off x="2120900" y="4267200"/>
            <a:ext cx="12496800" cy="8153400"/>
          </a:xfrm>
          <a:prstGeom prst="rect">
            <a:avLst/>
          </a:prstGeom>
        </p:spPr>
      </p:pic>
      <p:pic>
        <p:nvPicPr>
          <p:cNvPr id="20" name="Picture 20"/>
          <p:cNvPicPr>
            <a:picLocks noChangeAspect="1"/>
          </p:cNvPicPr>
          <p:nvPr/>
        </p:nvPicPr>
        <p:blipFill>
          <a:blip r:embed="rId7"/>
          <a:stretch>
            <a:fillRect/>
          </a:stretch>
        </p:blipFill>
        <p:spPr>
          <a:xfrm>
            <a:off x="2108200" y="10185400"/>
            <a:ext cx="12509500" cy="2235200"/>
          </a:xfrm>
          <a:prstGeom prst="rect">
            <a:avLst/>
          </a:prstGeom>
        </p:spPr>
      </p:pic>
      <p:sp>
        <p:nvSpPr>
          <p:cNvPr id="21" name="TextBox 21"/>
          <p:cNvSpPr txBox="1"/>
          <p:nvPr/>
        </p:nvSpPr>
        <p:spPr>
          <a:xfrm>
            <a:off x="16205200" y="5067300"/>
            <a:ext cx="7010400" cy="38227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공개된 CVE 취약점을 활용하여 n8n 서버 내 관리자의 ID, 패스워드 해시값, 그리고 JWT 서명용 비밀키를 추출함.
</a:t>
            </a:r>
          </a:p>
          <a:p>
            <a:pPr lvl="0" algn="l">
              <a:lnSpc>
                <a:spcPct val="116199"/>
              </a:lnSpc>
            </a:pPr>
            <a:r>
              <a:rPr lang="en-US" sz="3066" b="0" i="0" u="none" strike="noStrike">
                <a:solidFill>
                  <a:srgbClr val="000000"/>
                </a:solidFill>
                <a:latin typeface="Pretendard Medium"/>
                <a:ea typeface="Pretendard Medium"/>
                <a:cs typeface="Pretendard Medium"/>
              </a:rPr>
              <a:t>확보된 관리자 계정 정보와 서명 암호값을 이용해 유효한 관리자용 JWT를 직접 생성하여, 최종적으로 서비스 관리자 권한을 획득함.</a:t>
            </a:r>
          </a:p>
        </p:txBody>
      </p:sp>
      <p:sp>
        <p:nvSpPr>
          <p:cNvPr id="22" name="TextBox 22"/>
          <p:cNvSpPr txBox="1"/>
          <p:nvPr/>
        </p:nvSpPr>
        <p:spPr>
          <a:xfrm>
            <a:off x="1943100" y="1409700"/>
            <a:ext cx="20281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연쇄 침투를 통한 지능형 보이스피싱 공격</a:t>
            </a:r>
          </a:p>
        </p:txBody>
      </p:sp>
      <p:sp>
        <p:nvSpPr>
          <p:cNvPr id="23" name="TextBox 14">
            <a:extLst>
              <a:ext uri="{FF2B5EF4-FFF2-40B4-BE49-F238E27FC236}">
                <a16:creationId xmlns:a16="http://schemas.microsoft.com/office/drawing/2014/main" id="{857B1F9F-A0BB-969D-C0C3-7FC3295C19AC}"/>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4" name="TextBox 14">
            <a:extLst>
              <a:ext uri="{FF2B5EF4-FFF2-40B4-BE49-F238E27FC236}">
                <a16:creationId xmlns:a16="http://schemas.microsoft.com/office/drawing/2014/main" id="{BF2C8690-4942-43C4-006E-67AA7AB2F3F3}"/>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5" name="Picture 2">
            <a:extLst>
              <a:ext uri="{FF2B5EF4-FFF2-40B4-BE49-F238E27FC236}">
                <a16:creationId xmlns:a16="http://schemas.microsoft.com/office/drawing/2014/main" id="{040AD19A-F860-EFAF-9B3C-29F975FA3C4A}"/>
              </a:ext>
            </a:extLst>
          </p:cNvPr>
          <p:cNvPicPr>
            <a:picLocks noChangeAspect="1"/>
          </p:cNvPicPr>
          <p:nvPr/>
        </p:nvPicPr>
        <p:blipFill>
          <a:blip r:embed="rId8">
            <a:alphaModFix amt="85000"/>
          </a:blip>
          <a:stretch>
            <a:fillRect/>
          </a:stretch>
        </p:blipFill>
        <p:spPr>
          <a:xfrm>
            <a:off x="11201400" y="558800"/>
            <a:ext cx="2705100" cy="444500"/>
          </a:xfrm>
          <a:prstGeom prst="rect">
            <a:avLst/>
          </a:prstGeom>
        </p:spPr>
      </p:pic>
      <p:sp>
        <p:nvSpPr>
          <p:cNvPr id="26" name="TextBox 16">
            <a:extLst>
              <a:ext uri="{FF2B5EF4-FFF2-40B4-BE49-F238E27FC236}">
                <a16:creationId xmlns:a16="http://schemas.microsoft.com/office/drawing/2014/main" id="{C018B65E-F473-5084-F2AE-23B011A309DB}"/>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7" name="TextBox 18">
            <a:extLst>
              <a:ext uri="{FF2B5EF4-FFF2-40B4-BE49-F238E27FC236}">
                <a16:creationId xmlns:a16="http://schemas.microsoft.com/office/drawing/2014/main" id="{2D650EA3-A050-2ADC-793D-C7178797F3DA}"/>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28" name="TextBox 19">
            <a:extLst>
              <a:ext uri="{FF2B5EF4-FFF2-40B4-BE49-F238E27FC236}">
                <a16:creationId xmlns:a16="http://schemas.microsoft.com/office/drawing/2014/main" id="{74CDED50-1288-2727-D854-5678CEA7F94C}"/>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29" name="TextBox 20">
            <a:extLst>
              <a:ext uri="{FF2B5EF4-FFF2-40B4-BE49-F238E27FC236}">
                <a16:creationId xmlns:a16="http://schemas.microsoft.com/office/drawing/2014/main" id="{310F698F-E02F-2718-AA92-E7352837C21E}"/>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10" name="Picture 10"/>
          <p:cNvPicPr>
            <a:picLocks noChangeAspect="1"/>
          </p:cNvPicPr>
          <p:nvPr/>
        </p:nvPicPr>
        <p:blipFill>
          <a:blip r:embed="rId5"/>
          <a:stretch>
            <a:fillRect/>
          </a:stretch>
        </p:blipFill>
        <p:spPr>
          <a:xfrm>
            <a:off x="1485900" y="1612900"/>
            <a:ext cx="88900" cy="850900"/>
          </a:xfrm>
          <a:prstGeom prst="rect">
            <a:avLst/>
          </a:prstGeom>
        </p:spPr>
      </p:pic>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66</a:t>
            </a:r>
          </a:p>
        </p:txBody>
      </p:sp>
      <p:pic>
        <p:nvPicPr>
          <p:cNvPr id="18" name="Picture 18"/>
          <p:cNvPicPr>
            <a:picLocks noChangeAspect="1"/>
          </p:cNvPicPr>
          <p:nvPr/>
        </p:nvPicPr>
        <p:blipFill>
          <a:blip r:embed="rId6"/>
          <a:stretch>
            <a:fillRect/>
          </a:stretch>
        </p:blipFill>
        <p:spPr>
          <a:xfrm>
            <a:off x="2120900" y="4381500"/>
            <a:ext cx="14668500" cy="6781800"/>
          </a:xfrm>
          <a:prstGeom prst="rect">
            <a:avLst/>
          </a:prstGeom>
        </p:spPr>
      </p:pic>
      <p:pic>
        <p:nvPicPr>
          <p:cNvPr id="19" name="Picture 19"/>
          <p:cNvPicPr>
            <a:picLocks noChangeAspect="1"/>
          </p:cNvPicPr>
          <p:nvPr/>
        </p:nvPicPr>
        <p:blipFill>
          <a:blip r:embed="rId7"/>
          <a:stretch>
            <a:fillRect/>
          </a:stretch>
        </p:blipFill>
        <p:spPr>
          <a:xfrm>
            <a:off x="7658100" y="7416800"/>
            <a:ext cx="8851900" cy="1536700"/>
          </a:xfrm>
          <a:prstGeom prst="rect">
            <a:avLst/>
          </a:prstGeom>
        </p:spPr>
      </p:pic>
      <p:sp>
        <p:nvSpPr>
          <p:cNvPr id="20" name="TextBox 20"/>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dirty="0">
                <a:solidFill>
                  <a:srgbClr val="000000"/>
                </a:solidFill>
                <a:latin typeface="Pretendard Medium"/>
                <a:ea typeface="Pretendard Medium"/>
                <a:cs typeface="Pretendard Medium"/>
              </a:rPr>
              <a:t>3. n8n서버 </a:t>
            </a:r>
            <a:r>
              <a:rPr lang="en-US" sz="3333" b="0" i="0" u="none" strike="noStrike" dirty="0" err="1">
                <a:solidFill>
                  <a:srgbClr val="000000"/>
                </a:solidFill>
                <a:latin typeface="Pretendard Medium"/>
                <a:ea typeface="Pretendard Medium"/>
                <a:cs typeface="Pretendard Medium"/>
              </a:rPr>
              <a:t>접근</a:t>
            </a:r>
            <a:r>
              <a:rPr lang="en-US" sz="3333" b="0" i="0" u="none" strike="noStrike" dirty="0">
                <a:solidFill>
                  <a:srgbClr val="000000"/>
                </a:solidFill>
                <a:latin typeface="Pretendard Medium"/>
                <a:ea typeface="Pretendard Medium"/>
                <a:cs typeface="Pretendard Medium"/>
              </a:rPr>
              <a:t> 및 </a:t>
            </a:r>
            <a:r>
              <a:rPr lang="en-US" sz="3333" b="0" i="0" u="none" strike="noStrike" dirty="0" err="1">
                <a:solidFill>
                  <a:srgbClr val="000000"/>
                </a:solidFill>
                <a:latin typeface="Pretendard Medium"/>
                <a:ea typeface="Pretendard Medium"/>
                <a:cs typeface="Pretendard Medium"/>
              </a:rPr>
              <a:t>정보확인</a:t>
            </a:r>
            <a:r>
              <a:rPr lang="en-US" sz="3333" b="0" i="0" u="none" strike="noStrike" dirty="0">
                <a:solidFill>
                  <a:srgbClr val="000000"/>
                </a:solidFill>
                <a:latin typeface="Pretendard Medium"/>
                <a:ea typeface="Pretendard Medium"/>
                <a:cs typeface="Pretendard Medium"/>
              </a:rPr>
              <a:t> 후 </a:t>
            </a:r>
            <a:r>
              <a:rPr lang="en-US" sz="3333" b="0" i="0" u="none" strike="noStrike" dirty="0" err="1">
                <a:solidFill>
                  <a:srgbClr val="000000"/>
                </a:solidFill>
                <a:latin typeface="Pretendard Medium"/>
                <a:ea typeface="Pretendard Medium"/>
                <a:cs typeface="Pretendard Medium"/>
              </a:rPr>
              <a:t>해당</a:t>
            </a:r>
            <a:r>
              <a:rPr lang="en-US" sz="3333" b="0" i="0" u="none" strike="noStrike" dirty="0">
                <a:solidFill>
                  <a:srgbClr val="000000"/>
                </a:solidFill>
                <a:latin typeface="Pretendard Medium"/>
                <a:ea typeface="Pretendard Medium"/>
                <a:cs typeface="Pretendard Medium"/>
              </a:rPr>
              <a:t> </a:t>
            </a:r>
            <a:r>
              <a:rPr lang="en-US" sz="3333" b="0" i="0" u="none" strike="noStrike" dirty="0" err="1">
                <a:solidFill>
                  <a:srgbClr val="000000"/>
                </a:solidFill>
                <a:latin typeface="Pretendard Medium"/>
                <a:ea typeface="Pretendard Medium"/>
                <a:cs typeface="Pretendard Medium"/>
              </a:rPr>
              <a:t>정보를</a:t>
            </a:r>
            <a:r>
              <a:rPr lang="en-US" sz="3333" b="0" i="0" u="none" strike="noStrike" dirty="0">
                <a:solidFill>
                  <a:srgbClr val="000000"/>
                </a:solidFill>
                <a:latin typeface="Pretendard Medium"/>
                <a:ea typeface="Pretendard Medium"/>
                <a:cs typeface="Pretendard Medium"/>
              </a:rPr>
              <a:t> </a:t>
            </a:r>
            <a:r>
              <a:rPr lang="en-US" sz="3333" b="0" i="0" u="none" strike="noStrike" dirty="0" err="1">
                <a:solidFill>
                  <a:srgbClr val="000000"/>
                </a:solidFill>
                <a:latin typeface="Pretendard Medium"/>
                <a:ea typeface="Pretendard Medium"/>
                <a:cs typeface="Pretendard Medium"/>
              </a:rPr>
              <a:t>기반하여</a:t>
            </a:r>
            <a:r>
              <a:rPr lang="en-US" sz="3333" b="0" i="0" u="none" strike="noStrike" dirty="0">
                <a:solidFill>
                  <a:srgbClr val="000000"/>
                </a:solidFill>
                <a:latin typeface="Pretendard Medium"/>
                <a:ea typeface="Pretendard Medium"/>
                <a:cs typeface="Pretendard Medium"/>
              </a:rPr>
              <a:t> CVE </a:t>
            </a:r>
            <a:r>
              <a:rPr lang="en-US" sz="3333" b="0" i="0" u="none" strike="noStrike" dirty="0" err="1">
                <a:solidFill>
                  <a:srgbClr val="000000"/>
                </a:solidFill>
                <a:latin typeface="Pretendard Medium"/>
                <a:ea typeface="Pretendard Medium"/>
                <a:cs typeface="Pretendard Medium"/>
              </a:rPr>
              <a:t>이용하여</a:t>
            </a:r>
            <a:r>
              <a:rPr lang="en-US" sz="3333" b="0" i="0" u="none" strike="noStrike" dirty="0">
                <a:solidFill>
                  <a:srgbClr val="000000"/>
                </a:solidFill>
                <a:latin typeface="Pretendard Medium"/>
                <a:ea typeface="Pretendard Medium"/>
                <a:cs typeface="Pretendard Medium"/>
              </a:rPr>
              <a:t> </a:t>
            </a:r>
            <a:r>
              <a:rPr lang="ko-KR" altLang="en-US" sz="3333" b="0" i="0" u="none" strike="noStrike" dirty="0" err="1">
                <a:solidFill>
                  <a:srgbClr val="000000"/>
                </a:solidFill>
                <a:latin typeface="Pretendard Medium"/>
                <a:ea typeface="Pretendard Medium"/>
                <a:cs typeface="Pretendard Medium"/>
              </a:rPr>
              <a:t>보안로직</a:t>
            </a:r>
            <a:r>
              <a:rPr lang="en-US" sz="3333" b="0" i="0" u="none" strike="noStrike" dirty="0">
                <a:solidFill>
                  <a:srgbClr val="000000"/>
                </a:solidFill>
                <a:latin typeface="Pretendard Medium"/>
                <a:ea typeface="Pretendard Medium"/>
                <a:cs typeface="Pretendard Medium"/>
              </a:rPr>
              <a:t> </a:t>
            </a:r>
            <a:r>
              <a:rPr lang="en-US" sz="3333" b="0" i="0" u="none" strike="noStrike" dirty="0" err="1">
                <a:solidFill>
                  <a:srgbClr val="000000"/>
                </a:solidFill>
                <a:latin typeface="Pretendard Medium"/>
                <a:ea typeface="Pretendard Medium"/>
                <a:cs typeface="Pretendard Medium"/>
              </a:rPr>
              <a:t>무력화</a:t>
            </a:r>
            <a:endParaRPr lang="en-US" sz="3333" b="0" i="0" u="none" strike="noStrike" dirty="0">
              <a:solidFill>
                <a:srgbClr val="000000"/>
              </a:solidFill>
              <a:latin typeface="Pretendard Medium"/>
              <a:ea typeface="Pretendard Medium"/>
              <a:cs typeface="Pretendard Medium"/>
            </a:endParaRPr>
          </a:p>
        </p:txBody>
      </p:sp>
      <p:sp>
        <p:nvSpPr>
          <p:cNvPr id="21" name="TextBox 21"/>
          <p:cNvSpPr txBox="1"/>
          <p:nvPr/>
        </p:nvSpPr>
        <p:spPr>
          <a:xfrm>
            <a:off x="16979900" y="5880100"/>
            <a:ext cx="6261100" cy="38227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브라우저의 개발자 도구에 접속하여, 탈취한 JWT를 시스템의 인증 토큰 키값에 직접 주입함.
토큰 주입 후 페이지를 갱신하면, 서버는 요청자를 관리자로 식별하여 관리자 대시보드에 대한 접근 권한을 획득함.</a:t>
            </a:r>
          </a:p>
        </p:txBody>
      </p:sp>
      <p:sp>
        <p:nvSpPr>
          <p:cNvPr id="22" name="TextBox 22"/>
          <p:cNvSpPr txBox="1"/>
          <p:nvPr/>
        </p:nvSpPr>
        <p:spPr>
          <a:xfrm>
            <a:off x="1943100" y="1409700"/>
            <a:ext cx="20281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연쇄 침투를 통한 지능형 보이스피싱 공격</a:t>
            </a:r>
          </a:p>
        </p:txBody>
      </p:sp>
      <p:sp>
        <p:nvSpPr>
          <p:cNvPr id="23" name="TextBox 14">
            <a:extLst>
              <a:ext uri="{FF2B5EF4-FFF2-40B4-BE49-F238E27FC236}">
                <a16:creationId xmlns:a16="http://schemas.microsoft.com/office/drawing/2014/main" id="{1F086F09-C910-CD93-A617-547E072EB590}"/>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4" name="TextBox 14">
            <a:extLst>
              <a:ext uri="{FF2B5EF4-FFF2-40B4-BE49-F238E27FC236}">
                <a16:creationId xmlns:a16="http://schemas.microsoft.com/office/drawing/2014/main" id="{3F8EFC4C-2029-F609-7A57-3145E5E9EA5C}"/>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5" name="Picture 2">
            <a:extLst>
              <a:ext uri="{FF2B5EF4-FFF2-40B4-BE49-F238E27FC236}">
                <a16:creationId xmlns:a16="http://schemas.microsoft.com/office/drawing/2014/main" id="{45EFC4E0-977A-30D2-69B4-4F01FA993157}"/>
              </a:ext>
            </a:extLst>
          </p:cNvPr>
          <p:cNvPicPr>
            <a:picLocks noChangeAspect="1"/>
          </p:cNvPicPr>
          <p:nvPr/>
        </p:nvPicPr>
        <p:blipFill>
          <a:blip r:embed="rId8">
            <a:alphaModFix amt="85000"/>
          </a:blip>
          <a:stretch>
            <a:fillRect/>
          </a:stretch>
        </p:blipFill>
        <p:spPr>
          <a:xfrm>
            <a:off x="11201400" y="558800"/>
            <a:ext cx="2705100" cy="444500"/>
          </a:xfrm>
          <a:prstGeom prst="rect">
            <a:avLst/>
          </a:prstGeom>
        </p:spPr>
      </p:pic>
      <p:sp>
        <p:nvSpPr>
          <p:cNvPr id="26" name="TextBox 16">
            <a:extLst>
              <a:ext uri="{FF2B5EF4-FFF2-40B4-BE49-F238E27FC236}">
                <a16:creationId xmlns:a16="http://schemas.microsoft.com/office/drawing/2014/main" id="{A5F622F3-DE0E-140F-3592-934AA3390B1C}"/>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7" name="TextBox 18">
            <a:extLst>
              <a:ext uri="{FF2B5EF4-FFF2-40B4-BE49-F238E27FC236}">
                <a16:creationId xmlns:a16="http://schemas.microsoft.com/office/drawing/2014/main" id="{D5E71E60-EFC4-C0FF-C727-9ABC0CDED4FF}"/>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28" name="TextBox 19">
            <a:extLst>
              <a:ext uri="{FF2B5EF4-FFF2-40B4-BE49-F238E27FC236}">
                <a16:creationId xmlns:a16="http://schemas.microsoft.com/office/drawing/2014/main" id="{8A02A4D7-A652-504D-9338-2466272A2FEF}"/>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29" name="TextBox 20">
            <a:extLst>
              <a:ext uri="{FF2B5EF4-FFF2-40B4-BE49-F238E27FC236}">
                <a16:creationId xmlns:a16="http://schemas.microsoft.com/office/drawing/2014/main" id="{A6AF976F-E954-0A16-C010-B44BE5C716B1}"/>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10" name="Picture 10"/>
          <p:cNvPicPr>
            <a:picLocks noChangeAspect="1"/>
          </p:cNvPicPr>
          <p:nvPr/>
        </p:nvPicPr>
        <p:blipFill>
          <a:blip r:embed="rId5"/>
          <a:stretch>
            <a:fillRect/>
          </a:stretch>
        </p:blipFill>
        <p:spPr>
          <a:xfrm>
            <a:off x="1485900" y="1612900"/>
            <a:ext cx="88900" cy="850900"/>
          </a:xfrm>
          <a:prstGeom prst="rect">
            <a:avLst/>
          </a:prstGeom>
        </p:spPr>
      </p:pic>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67</a:t>
            </a:r>
          </a:p>
        </p:txBody>
      </p:sp>
      <p:pic>
        <p:nvPicPr>
          <p:cNvPr id="18" name="Picture 18"/>
          <p:cNvPicPr>
            <a:picLocks noChangeAspect="1"/>
          </p:cNvPicPr>
          <p:nvPr/>
        </p:nvPicPr>
        <p:blipFill>
          <a:blip r:embed="rId6"/>
          <a:stretch>
            <a:fillRect/>
          </a:stretch>
        </p:blipFill>
        <p:spPr>
          <a:xfrm>
            <a:off x="2120900" y="4267200"/>
            <a:ext cx="13843000" cy="8140700"/>
          </a:xfrm>
          <a:prstGeom prst="rect">
            <a:avLst/>
          </a:prstGeom>
        </p:spPr>
      </p:pic>
      <p:pic>
        <p:nvPicPr>
          <p:cNvPr id="19" name="Picture 19"/>
          <p:cNvPicPr>
            <a:picLocks noChangeAspect="1"/>
          </p:cNvPicPr>
          <p:nvPr/>
        </p:nvPicPr>
        <p:blipFill>
          <a:blip r:embed="rId7"/>
          <a:stretch>
            <a:fillRect/>
          </a:stretch>
        </p:blipFill>
        <p:spPr>
          <a:xfrm>
            <a:off x="3492500" y="11353800"/>
            <a:ext cx="7340600" cy="977900"/>
          </a:xfrm>
          <a:prstGeom prst="rect">
            <a:avLst/>
          </a:prstGeom>
        </p:spPr>
      </p:pic>
      <p:sp>
        <p:nvSpPr>
          <p:cNvPr id="20" name="TextBox 20"/>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dirty="0">
                <a:solidFill>
                  <a:srgbClr val="000000"/>
                </a:solidFill>
                <a:latin typeface="Pretendard Medium"/>
                <a:ea typeface="Pretendard Medium"/>
                <a:cs typeface="Pretendard Medium"/>
              </a:rPr>
              <a:t>3. n8n서버 </a:t>
            </a:r>
            <a:r>
              <a:rPr lang="en-US" sz="3333" b="0" i="0" u="none" strike="noStrike" dirty="0" err="1">
                <a:solidFill>
                  <a:srgbClr val="000000"/>
                </a:solidFill>
                <a:latin typeface="Pretendard Medium"/>
                <a:ea typeface="Pretendard Medium"/>
                <a:cs typeface="Pretendard Medium"/>
              </a:rPr>
              <a:t>접근</a:t>
            </a:r>
            <a:r>
              <a:rPr lang="en-US" sz="3333" b="0" i="0" u="none" strike="noStrike" dirty="0">
                <a:solidFill>
                  <a:srgbClr val="000000"/>
                </a:solidFill>
                <a:latin typeface="Pretendard Medium"/>
                <a:ea typeface="Pretendard Medium"/>
                <a:cs typeface="Pretendard Medium"/>
              </a:rPr>
              <a:t> 및 </a:t>
            </a:r>
            <a:r>
              <a:rPr lang="en-US" sz="3333" b="0" i="0" u="none" strike="noStrike" dirty="0" err="1">
                <a:solidFill>
                  <a:srgbClr val="000000"/>
                </a:solidFill>
                <a:latin typeface="Pretendard Medium"/>
                <a:ea typeface="Pretendard Medium"/>
                <a:cs typeface="Pretendard Medium"/>
              </a:rPr>
              <a:t>정보확인</a:t>
            </a:r>
            <a:r>
              <a:rPr lang="en-US" sz="3333" b="0" i="0" u="none" strike="noStrike" dirty="0">
                <a:solidFill>
                  <a:srgbClr val="000000"/>
                </a:solidFill>
                <a:latin typeface="Pretendard Medium"/>
                <a:ea typeface="Pretendard Medium"/>
                <a:cs typeface="Pretendard Medium"/>
              </a:rPr>
              <a:t> 후 </a:t>
            </a:r>
            <a:r>
              <a:rPr lang="en-US" sz="3333" b="0" i="0" u="none" strike="noStrike" dirty="0" err="1">
                <a:solidFill>
                  <a:srgbClr val="000000"/>
                </a:solidFill>
                <a:latin typeface="Pretendard Medium"/>
                <a:ea typeface="Pretendard Medium"/>
                <a:cs typeface="Pretendard Medium"/>
              </a:rPr>
              <a:t>해당</a:t>
            </a:r>
            <a:r>
              <a:rPr lang="en-US" sz="3333" b="0" i="0" u="none" strike="noStrike" dirty="0">
                <a:solidFill>
                  <a:srgbClr val="000000"/>
                </a:solidFill>
                <a:latin typeface="Pretendard Medium"/>
                <a:ea typeface="Pretendard Medium"/>
                <a:cs typeface="Pretendard Medium"/>
              </a:rPr>
              <a:t> </a:t>
            </a:r>
            <a:r>
              <a:rPr lang="en-US" sz="3333" b="0" i="0" u="none" strike="noStrike" dirty="0" err="1">
                <a:solidFill>
                  <a:srgbClr val="000000"/>
                </a:solidFill>
                <a:latin typeface="Pretendard Medium"/>
                <a:ea typeface="Pretendard Medium"/>
                <a:cs typeface="Pretendard Medium"/>
              </a:rPr>
              <a:t>정보를</a:t>
            </a:r>
            <a:r>
              <a:rPr lang="en-US" sz="3333" b="0" i="0" u="none" strike="noStrike" dirty="0">
                <a:solidFill>
                  <a:srgbClr val="000000"/>
                </a:solidFill>
                <a:latin typeface="Pretendard Medium"/>
                <a:ea typeface="Pretendard Medium"/>
                <a:cs typeface="Pretendard Medium"/>
              </a:rPr>
              <a:t> </a:t>
            </a:r>
            <a:r>
              <a:rPr lang="en-US" sz="3333" b="0" i="0" u="none" strike="noStrike" dirty="0" err="1">
                <a:solidFill>
                  <a:srgbClr val="000000"/>
                </a:solidFill>
                <a:latin typeface="Pretendard Medium"/>
                <a:ea typeface="Pretendard Medium"/>
                <a:cs typeface="Pretendard Medium"/>
              </a:rPr>
              <a:t>기반하여</a:t>
            </a:r>
            <a:r>
              <a:rPr lang="en-US" sz="3333" b="0" i="0" u="none" strike="noStrike" dirty="0">
                <a:solidFill>
                  <a:srgbClr val="000000"/>
                </a:solidFill>
                <a:latin typeface="Pretendard Medium"/>
                <a:ea typeface="Pretendard Medium"/>
                <a:cs typeface="Pretendard Medium"/>
              </a:rPr>
              <a:t> CVE </a:t>
            </a:r>
            <a:r>
              <a:rPr lang="en-US" sz="3333" b="0" i="0" u="none" strike="noStrike" dirty="0" err="1">
                <a:solidFill>
                  <a:srgbClr val="000000"/>
                </a:solidFill>
                <a:latin typeface="Pretendard Medium"/>
                <a:ea typeface="Pretendard Medium"/>
                <a:cs typeface="Pretendard Medium"/>
              </a:rPr>
              <a:t>이용하여</a:t>
            </a:r>
            <a:r>
              <a:rPr lang="en-US" sz="3333" b="0" i="0" u="none" strike="noStrike" dirty="0">
                <a:solidFill>
                  <a:srgbClr val="000000"/>
                </a:solidFill>
                <a:latin typeface="Pretendard Medium"/>
                <a:ea typeface="Pretendard Medium"/>
                <a:cs typeface="Pretendard Medium"/>
              </a:rPr>
              <a:t> </a:t>
            </a:r>
            <a:r>
              <a:rPr lang="ko-KR" altLang="en-US" sz="3333" b="0" i="0" u="none" strike="noStrike" dirty="0" err="1">
                <a:solidFill>
                  <a:srgbClr val="000000"/>
                </a:solidFill>
                <a:latin typeface="Pretendard Medium"/>
                <a:ea typeface="Pretendard Medium"/>
                <a:cs typeface="Pretendard Medium"/>
              </a:rPr>
              <a:t>보안로직</a:t>
            </a:r>
            <a:r>
              <a:rPr lang="en-US" sz="3333" b="0" i="0" u="none" strike="noStrike" dirty="0">
                <a:solidFill>
                  <a:srgbClr val="000000"/>
                </a:solidFill>
                <a:latin typeface="Pretendard Medium"/>
                <a:ea typeface="Pretendard Medium"/>
                <a:cs typeface="Pretendard Medium"/>
              </a:rPr>
              <a:t> </a:t>
            </a:r>
            <a:r>
              <a:rPr lang="en-US" sz="3333" b="0" i="0" u="none" strike="noStrike" dirty="0" err="1">
                <a:solidFill>
                  <a:srgbClr val="000000"/>
                </a:solidFill>
                <a:latin typeface="Pretendard Medium"/>
                <a:ea typeface="Pretendard Medium"/>
                <a:cs typeface="Pretendard Medium"/>
              </a:rPr>
              <a:t>무력화</a:t>
            </a:r>
            <a:endParaRPr lang="en-US" sz="3333" b="0" i="0" u="none" strike="noStrike" dirty="0">
              <a:solidFill>
                <a:srgbClr val="000000"/>
              </a:solidFill>
              <a:latin typeface="Pretendard Medium"/>
              <a:ea typeface="Pretendard Medium"/>
              <a:cs typeface="Pretendard Medium"/>
            </a:endParaRPr>
          </a:p>
        </p:txBody>
      </p:sp>
      <p:sp>
        <p:nvSpPr>
          <p:cNvPr id="21" name="TextBox 21"/>
          <p:cNvSpPr txBox="1"/>
          <p:nvPr/>
        </p:nvSpPr>
        <p:spPr>
          <a:xfrm>
            <a:off x="17030700" y="5880100"/>
            <a:ext cx="6159500" cy="4356100"/>
          </a:xfrm>
          <a:prstGeom prst="rect">
            <a:avLst/>
          </a:prstGeom>
        </p:spPr>
        <p:txBody>
          <a:bodyPr lIns="0" tIns="0" rIns="0" bIns="0" rtlCol="0" anchor="t"/>
          <a:lstStyle/>
          <a:p>
            <a:pPr lvl="0" algn="l">
              <a:lnSpc>
                <a:spcPct val="116199"/>
              </a:lnSpc>
            </a:pPr>
            <a:r>
              <a:rPr lang="en-US" sz="3066" b="0" i="0" u="none" strike="noStrike" dirty="0">
                <a:solidFill>
                  <a:srgbClr val="000000"/>
                </a:solidFill>
                <a:latin typeface="Pretendard Medium"/>
                <a:ea typeface="Pretendard Medium"/>
                <a:cs typeface="Pretendard Medium"/>
              </a:rPr>
              <a:t>n8n에서 </a:t>
            </a:r>
            <a:r>
              <a:rPr lang="en-US" sz="3066" b="0" i="0" u="none" strike="noStrike" dirty="0" err="1">
                <a:solidFill>
                  <a:srgbClr val="000000"/>
                </a:solidFill>
                <a:latin typeface="Pretendard Medium"/>
                <a:ea typeface="Pretendard Medium"/>
                <a:cs typeface="Pretendard Medium"/>
              </a:rPr>
              <a:t>구동</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중인</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자동화</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워크플로우를</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조사하여</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핵심</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보안</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관제</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로직인</a:t>
            </a:r>
            <a:r>
              <a:rPr lang="en-US" sz="3066" b="0" i="0" u="none" strike="noStrike" dirty="0">
                <a:solidFill>
                  <a:srgbClr val="000000"/>
                </a:solidFill>
                <a:latin typeface="Pretendard Medium"/>
                <a:ea typeface="Pretendard Medium"/>
                <a:cs typeface="Pretendard Medium"/>
              </a:rPr>
              <a:t> </a:t>
            </a:r>
            <a:r>
              <a:rPr lang="ko-KR" altLang="en-US" sz="3066" b="0" i="0" u="none" strike="noStrike" dirty="0" err="1">
                <a:solidFill>
                  <a:srgbClr val="000000"/>
                </a:solidFill>
                <a:latin typeface="Pretendard Medium"/>
                <a:ea typeface="Pretendard Medium"/>
                <a:cs typeface="Pretendard Medium"/>
              </a:rPr>
              <a:t>보안로직</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노드를</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식별함</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이후</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해당</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노드의</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소스</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코드를</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분석하여</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탐지</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알고리즘의</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취약점을</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파악하고</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탐지</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로직을</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우회하도록</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코드를</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변조하여</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시스템을</a:t>
            </a:r>
            <a:r>
              <a:rPr lang="en-US" sz="3066" b="0" i="0" u="none" strike="noStrike" dirty="0">
                <a:solidFill>
                  <a:srgbClr val="000000"/>
                </a:solidFill>
                <a:latin typeface="Pretendard Medium"/>
                <a:ea typeface="Pretendard Medium"/>
                <a:cs typeface="Pretendard Medium"/>
              </a:rPr>
              <a:t> </a:t>
            </a:r>
            <a:r>
              <a:rPr lang="en-US" sz="3066" b="0" i="0" u="none" strike="noStrike" dirty="0" err="1">
                <a:solidFill>
                  <a:srgbClr val="000000"/>
                </a:solidFill>
                <a:latin typeface="Pretendard Medium"/>
                <a:ea typeface="Pretendard Medium"/>
                <a:cs typeface="Pretendard Medium"/>
              </a:rPr>
              <a:t>무력화함</a:t>
            </a:r>
            <a:r>
              <a:rPr lang="en-US" sz="3066" b="0" i="0" u="none" strike="noStrike" dirty="0">
                <a:solidFill>
                  <a:srgbClr val="000000"/>
                </a:solidFill>
                <a:latin typeface="Pretendard Medium"/>
                <a:ea typeface="Pretendard Medium"/>
                <a:cs typeface="Pretendard Medium"/>
              </a:rPr>
              <a:t>.</a:t>
            </a:r>
          </a:p>
        </p:txBody>
      </p:sp>
      <p:sp>
        <p:nvSpPr>
          <p:cNvPr id="22" name="TextBox 22"/>
          <p:cNvSpPr txBox="1"/>
          <p:nvPr/>
        </p:nvSpPr>
        <p:spPr>
          <a:xfrm>
            <a:off x="1943100" y="1409700"/>
            <a:ext cx="20281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연쇄 침투를 통한 지능형 보이스피싱 공격</a:t>
            </a:r>
          </a:p>
        </p:txBody>
      </p:sp>
      <p:sp>
        <p:nvSpPr>
          <p:cNvPr id="23" name="TextBox 14">
            <a:extLst>
              <a:ext uri="{FF2B5EF4-FFF2-40B4-BE49-F238E27FC236}">
                <a16:creationId xmlns:a16="http://schemas.microsoft.com/office/drawing/2014/main" id="{20109C86-765B-563D-E62C-96972FB3CC55}"/>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4" name="TextBox 14">
            <a:extLst>
              <a:ext uri="{FF2B5EF4-FFF2-40B4-BE49-F238E27FC236}">
                <a16:creationId xmlns:a16="http://schemas.microsoft.com/office/drawing/2014/main" id="{CCD492E2-920A-1B39-678D-650A44FA5C0F}"/>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5" name="Picture 2">
            <a:extLst>
              <a:ext uri="{FF2B5EF4-FFF2-40B4-BE49-F238E27FC236}">
                <a16:creationId xmlns:a16="http://schemas.microsoft.com/office/drawing/2014/main" id="{721BAEB8-EC39-0F17-9598-7D7FDEFEA6B5}"/>
              </a:ext>
            </a:extLst>
          </p:cNvPr>
          <p:cNvPicPr>
            <a:picLocks noChangeAspect="1"/>
          </p:cNvPicPr>
          <p:nvPr/>
        </p:nvPicPr>
        <p:blipFill>
          <a:blip r:embed="rId8">
            <a:alphaModFix amt="85000"/>
          </a:blip>
          <a:stretch>
            <a:fillRect/>
          </a:stretch>
        </p:blipFill>
        <p:spPr>
          <a:xfrm>
            <a:off x="11201400" y="558800"/>
            <a:ext cx="2705100" cy="444500"/>
          </a:xfrm>
          <a:prstGeom prst="rect">
            <a:avLst/>
          </a:prstGeom>
        </p:spPr>
      </p:pic>
      <p:sp>
        <p:nvSpPr>
          <p:cNvPr id="26" name="TextBox 16">
            <a:extLst>
              <a:ext uri="{FF2B5EF4-FFF2-40B4-BE49-F238E27FC236}">
                <a16:creationId xmlns:a16="http://schemas.microsoft.com/office/drawing/2014/main" id="{800967C3-C3BF-5FEC-81A8-90675CE9B7DF}"/>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7" name="TextBox 18">
            <a:extLst>
              <a:ext uri="{FF2B5EF4-FFF2-40B4-BE49-F238E27FC236}">
                <a16:creationId xmlns:a16="http://schemas.microsoft.com/office/drawing/2014/main" id="{A4D6CA63-F851-36BF-F079-FD24E797D617}"/>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28" name="TextBox 19">
            <a:extLst>
              <a:ext uri="{FF2B5EF4-FFF2-40B4-BE49-F238E27FC236}">
                <a16:creationId xmlns:a16="http://schemas.microsoft.com/office/drawing/2014/main" id="{C7ECD9CC-A1C9-9CD0-F809-CB90C0B895C3}"/>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29" name="TextBox 20">
            <a:extLst>
              <a:ext uri="{FF2B5EF4-FFF2-40B4-BE49-F238E27FC236}">
                <a16:creationId xmlns:a16="http://schemas.microsoft.com/office/drawing/2014/main" id="{DAEB664A-6987-E134-3998-B5313D495AB1}"/>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10" name="Picture 10"/>
          <p:cNvPicPr>
            <a:picLocks noChangeAspect="1"/>
          </p:cNvPicPr>
          <p:nvPr/>
        </p:nvPicPr>
        <p:blipFill>
          <a:blip r:embed="rId5"/>
          <a:stretch>
            <a:fillRect/>
          </a:stretch>
        </p:blipFill>
        <p:spPr>
          <a:xfrm>
            <a:off x="1485900" y="1612900"/>
            <a:ext cx="88900" cy="850900"/>
          </a:xfrm>
          <a:prstGeom prst="rect">
            <a:avLst/>
          </a:prstGeom>
        </p:spPr>
      </p:pic>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68</a:t>
            </a:r>
          </a:p>
        </p:txBody>
      </p:sp>
      <p:pic>
        <p:nvPicPr>
          <p:cNvPr id="18" name="Picture 18"/>
          <p:cNvPicPr>
            <a:picLocks noChangeAspect="1"/>
          </p:cNvPicPr>
          <p:nvPr/>
        </p:nvPicPr>
        <p:blipFill>
          <a:blip r:embed="rId6"/>
          <a:stretch>
            <a:fillRect/>
          </a:stretch>
        </p:blipFill>
        <p:spPr>
          <a:xfrm>
            <a:off x="2120900" y="4152900"/>
            <a:ext cx="14109700" cy="7531100"/>
          </a:xfrm>
          <a:prstGeom prst="rect">
            <a:avLst/>
          </a:prstGeom>
        </p:spPr>
      </p:pic>
      <p:pic>
        <p:nvPicPr>
          <p:cNvPr id="19" name="Picture 19"/>
          <p:cNvPicPr>
            <a:picLocks noChangeAspect="1"/>
          </p:cNvPicPr>
          <p:nvPr/>
        </p:nvPicPr>
        <p:blipFill>
          <a:blip r:embed="rId7"/>
          <a:stretch>
            <a:fillRect/>
          </a:stretch>
        </p:blipFill>
        <p:spPr>
          <a:xfrm>
            <a:off x="2159000" y="10020300"/>
            <a:ext cx="13982700" cy="1663700"/>
          </a:xfrm>
          <a:prstGeom prst="rect">
            <a:avLst/>
          </a:prstGeom>
        </p:spPr>
      </p:pic>
      <p:sp>
        <p:nvSpPr>
          <p:cNvPr id="20" name="TextBox 20"/>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4. WAS 서버에서 DB에 관한 정보 수집, 데이터 탈취 및 악성 스크립트 삽입</a:t>
            </a:r>
          </a:p>
        </p:txBody>
      </p:sp>
      <p:pic>
        <p:nvPicPr>
          <p:cNvPr id="21" name="Picture 21"/>
          <p:cNvPicPr>
            <a:picLocks noChangeAspect="1"/>
          </p:cNvPicPr>
          <p:nvPr/>
        </p:nvPicPr>
        <p:blipFill>
          <a:blip r:embed="rId8"/>
          <a:stretch>
            <a:fillRect/>
          </a:stretch>
        </p:blipFill>
        <p:spPr>
          <a:xfrm>
            <a:off x="3162300" y="7607300"/>
            <a:ext cx="11176000" cy="609600"/>
          </a:xfrm>
          <a:prstGeom prst="rect">
            <a:avLst/>
          </a:prstGeom>
        </p:spPr>
      </p:pic>
      <p:sp>
        <p:nvSpPr>
          <p:cNvPr id="22" name="TextBox 22"/>
          <p:cNvSpPr txBox="1"/>
          <p:nvPr/>
        </p:nvSpPr>
        <p:spPr>
          <a:xfrm>
            <a:off x="17030700" y="5257800"/>
            <a:ext cx="6705600" cy="59944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Docker 컨테이너 환경에서 실행되는 모든 프로세스의 기밀 정보를 확인하기 위해, 시스템 프로세스의 메모리 맵인 /proc/1/mem 파일을 정밀 분석함.
AWS Secret Manager로부터 DB 접속 정보를 호출하면, 해당 값은 처리를 위해 일시적으로 메모리에 상주하게 되어 메모리 덤프 내에서 특정 패턴을 스캔하여, 암호화되어 관리되던 기밀 데이터를 평문 형태로 추출함.</a:t>
            </a:r>
          </a:p>
        </p:txBody>
      </p:sp>
      <p:sp>
        <p:nvSpPr>
          <p:cNvPr id="23" name="TextBox 23"/>
          <p:cNvSpPr txBox="1"/>
          <p:nvPr/>
        </p:nvSpPr>
        <p:spPr>
          <a:xfrm>
            <a:off x="1943100" y="1409700"/>
            <a:ext cx="20281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연쇄 침투를 통한 지능형 보이스피싱 공격</a:t>
            </a:r>
          </a:p>
        </p:txBody>
      </p:sp>
      <p:sp>
        <p:nvSpPr>
          <p:cNvPr id="24" name="TextBox 14">
            <a:extLst>
              <a:ext uri="{FF2B5EF4-FFF2-40B4-BE49-F238E27FC236}">
                <a16:creationId xmlns:a16="http://schemas.microsoft.com/office/drawing/2014/main" id="{5E4CB0F6-4F15-5C8D-0F2A-9BEF2457A2BE}"/>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5" name="TextBox 14">
            <a:extLst>
              <a:ext uri="{FF2B5EF4-FFF2-40B4-BE49-F238E27FC236}">
                <a16:creationId xmlns:a16="http://schemas.microsoft.com/office/drawing/2014/main" id="{2506973F-8145-DDBD-76EA-B137AE0095AD}"/>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6" name="Picture 2">
            <a:extLst>
              <a:ext uri="{FF2B5EF4-FFF2-40B4-BE49-F238E27FC236}">
                <a16:creationId xmlns:a16="http://schemas.microsoft.com/office/drawing/2014/main" id="{55BD7CFA-64B0-F970-7207-42455E1F7F12}"/>
              </a:ext>
            </a:extLst>
          </p:cNvPr>
          <p:cNvPicPr>
            <a:picLocks noChangeAspect="1"/>
          </p:cNvPicPr>
          <p:nvPr/>
        </p:nvPicPr>
        <p:blipFill>
          <a:blip r:embed="rId9">
            <a:alphaModFix amt="85000"/>
          </a:blip>
          <a:stretch>
            <a:fillRect/>
          </a:stretch>
        </p:blipFill>
        <p:spPr>
          <a:xfrm>
            <a:off x="11201400" y="558800"/>
            <a:ext cx="2705100" cy="444500"/>
          </a:xfrm>
          <a:prstGeom prst="rect">
            <a:avLst/>
          </a:prstGeom>
        </p:spPr>
      </p:pic>
      <p:sp>
        <p:nvSpPr>
          <p:cNvPr id="27" name="TextBox 16">
            <a:extLst>
              <a:ext uri="{FF2B5EF4-FFF2-40B4-BE49-F238E27FC236}">
                <a16:creationId xmlns:a16="http://schemas.microsoft.com/office/drawing/2014/main" id="{1D145EDC-2FC7-EED4-2878-AF1B3DAB2853}"/>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8" name="TextBox 18">
            <a:extLst>
              <a:ext uri="{FF2B5EF4-FFF2-40B4-BE49-F238E27FC236}">
                <a16:creationId xmlns:a16="http://schemas.microsoft.com/office/drawing/2014/main" id="{635CED9C-F745-28DD-25B9-A18AFE959386}"/>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29" name="TextBox 19">
            <a:extLst>
              <a:ext uri="{FF2B5EF4-FFF2-40B4-BE49-F238E27FC236}">
                <a16:creationId xmlns:a16="http://schemas.microsoft.com/office/drawing/2014/main" id="{73A63483-D904-B299-B3B7-7B64A473E623}"/>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30" name="TextBox 20">
            <a:extLst>
              <a:ext uri="{FF2B5EF4-FFF2-40B4-BE49-F238E27FC236}">
                <a16:creationId xmlns:a16="http://schemas.microsoft.com/office/drawing/2014/main" id="{DD625BE5-63F9-35C5-48B1-D234E43DE4B8}"/>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10" name="Picture 10"/>
          <p:cNvPicPr>
            <a:picLocks noChangeAspect="1"/>
          </p:cNvPicPr>
          <p:nvPr/>
        </p:nvPicPr>
        <p:blipFill>
          <a:blip r:embed="rId5"/>
          <a:stretch>
            <a:fillRect/>
          </a:stretch>
        </p:blipFill>
        <p:spPr>
          <a:xfrm>
            <a:off x="1485900" y="1612900"/>
            <a:ext cx="88900" cy="850900"/>
          </a:xfrm>
          <a:prstGeom prst="rect">
            <a:avLst/>
          </a:prstGeom>
        </p:spPr>
      </p:pic>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69</a:t>
            </a:r>
          </a:p>
        </p:txBody>
      </p:sp>
      <p:sp>
        <p:nvSpPr>
          <p:cNvPr id="18" name="TextBox 18"/>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4. WAS 서버에서 DB에 관한 정보 수집, 데이터 탈취 및 악성 스크립트 삽입</a:t>
            </a:r>
          </a:p>
        </p:txBody>
      </p:sp>
      <p:sp>
        <p:nvSpPr>
          <p:cNvPr id="19" name="TextBox 19"/>
          <p:cNvSpPr txBox="1"/>
          <p:nvPr/>
        </p:nvSpPr>
        <p:spPr>
          <a:xfrm>
            <a:off x="16789400" y="5943600"/>
            <a:ext cx="6477000" cy="43561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앞서 확보한 DB 정보를 활용하여 내부 AWS RDS에 접속함.
관리자 권한으로 사용자 테이블에 접근하여 회원 정보 등 민감 데이터를 탈취함.</a:t>
            </a:r>
          </a:p>
          <a:p>
            <a:pPr lvl="0" algn="l">
              <a:lnSpc>
                <a:spcPct val="116199"/>
              </a:lnSpc>
            </a:pPr>
            <a:r>
              <a:rPr lang="en-US" sz="3066" b="0" i="0" u="none" strike="noStrike">
                <a:solidFill>
                  <a:srgbClr val="000000"/>
                </a:solidFill>
                <a:latin typeface="Pretendard Medium"/>
                <a:ea typeface="Pretendard Medium"/>
                <a:cs typeface="Pretendard Medium"/>
              </a:rPr>
              <a:t>
추가적인 침투 경로를 확보하기 위해 악성 스크립트(Stored XSS)를 삽입함.</a:t>
            </a:r>
          </a:p>
        </p:txBody>
      </p:sp>
      <p:pic>
        <p:nvPicPr>
          <p:cNvPr id="20" name="Picture 20"/>
          <p:cNvPicPr>
            <a:picLocks noChangeAspect="1"/>
          </p:cNvPicPr>
          <p:nvPr/>
        </p:nvPicPr>
        <p:blipFill>
          <a:blip r:embed="rId6"/>
          <a:stretch>
            <a:fillRect/>
          </a:stretch>
        </p:blipFill>
        <p:spPr>
          <a:xfrm>
            <a:off x="2120900" y="3873500"/>
            <a:ext cx="11658600" cy="9080500"/>
          </a:xfrm>
          <a:prstGeom prst="rect">
            <a:avLst/>
          </a:prstGeom>
        </p:spPr>
      </p:pic>
      <p:pic>
        <p:nvPicPr>
          <p:cNvPr id="21" name="Picture 21"/>
          <p:cNvPicPr>
            <a:picLocks noChangeAspect="1"/>
          </p:cNvPicPr>
          <p:nvPr/>
        </p:nvPicPr>
        <p:blipFill>
          <a:blip r:embed="rId7"/>
          <a:stretch>
            <a:fillRect/>
          </a:stretch>
        </p:blipFill>
        <p:spPr>
          <a:xfrm>
            <a:off x="2070100" y="4940300"/>
            <a:ext cx="1612900" cy="1346200"/>
          </a:xfrm>
          <a:prstGeom prst="rect">
            <a:avLst/>
          </a:prstGeom>
        </p:spPr>
      </p:pic>
      <p:pic>
        <p:nvPicPr>
          <p:cNvPr id="22" name="Picture 22"/>
          <p:cNvPicPr>
            <a:picLocks noChangeAspect="1"/>
          </p:cNvPicPr>
          <p:nvPr/>
        </p:nvPicPr>
        <p:blipFill>
          <a:blip r:embed="rId8"/>
          <a:stretch>
            <a:fillRect/>
          </a:stretch>
        </p:blipFill>
        <p:spPr>
          <a:xfrm>
            <a:off x="2120900" y="7416800"/>
            <a:ext cx="1828800" cy="2463800"/>
          </a:xfrm>
          <a:prstGeom prst="rect">
            <a:avLst/>
          </a:prstGeom>
        </p:spPr>
      </p:pic>
      <p:pic>
        <p:nvPicPr>
          <p:cNvPr id="23" name="Picture 23"/>
          <p:cNvPicPr>
            <a:picLocks noChangeAspect="1"/>
          </p:cNvPicPr>
          <p:nvPr/>
        </p:nvPicPr>
        <p:blipFill>
          <a:blip r:embed="rId9"/>
          <a:stretch>
            <a:fillRect/>
          </a:stretch>
        </p:blipFill>
        <p:spPr>
          <a:xfrm>
            <a:off x="2070100" y="10007600"/>
            <a:ext cx="11722100" cy="1231900"/>
          </a:xfrm>
          <a:prstGeom prst="rect">
            <a:avLst/>
          </a:prstGeom>
        </p:spPr>
      </p:pic>
      <p:sp>
        <p:nvSpPr>
          <p:cNvPr id="24" name="TextBox 24"/>
          <p:cNvSpPr txBox="1"/>
          <p:nvPr/>
        </p:nvSpPr>
        <p:spPr>
          <a:xfrm>
            <a:off x="1943100" y="1409700"/>
            <a:ext cx="20281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연쇄 침투를 통한 지능형 보이스피싱 공격</a:t>
            </a:r>
          </a:p>
        </p:txBody>
      </p:sp>
      <p:sp>
        <p:nvSpPr>
          <p:cNvPr id="25" name="TextBox 14">
            <a:extLst>
              <a:ext uri="{FF2B5EF4-FFF2-40B4-BE49-F238E27FC236}">
                <a16:creationId xmlns:a16="http://schemas.microsoft.com/office/drawing/2014/main" id="{84B953E1-A931-3371-8AB6-CF49ED342793}"/>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6" name="TextBox 14">
            <a:extLst>
              <a:ext uri="{FF2B5EF4-FFF2-40B4-BE49-F238E27FC236}">
                <a16:creationId xmlns:a16="http://schemas.microsoft.com/office/drawing/2014/main" id="{1A534317-8D94-F26D-A522-5BE40C54C087}"/>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7" name="Picture 2">
            <a:extLst>
              <a:ext uri="{FF2B5EF4-FFF2-40B4-BE49-F238E27FC236}">
                <a16:creationId xmlns:a16="http://schemas.microsoft.com/office/drawing/2014/main" id="{62D16E4D-3FED-C968-EAC4-E809FB3AE5E8}"/>
              </a:ext>
            </a:extLst>
          </p:cNvPr>
          <p:cNvPicPr>
            <a:picLocks noChangeAspect="1"/>
          </p:cNvPicPr>
          <p:nvPr/>
        </p:nvPicPr>
        <p:blipFill>
          <a:blip r:embed="rId10">
            <a:alphaModFix amt="85000"/>
          </a:blip>
          <a:stretch>
            <a:fillRect/>
          </a:stretch>
        </p:blipFill>
        <p:spPr>
          <a:xfrm>
            <a:off x="11201400" y="558800"/>
            <a:ext cx="2705100" cy="444500"/>
          </a:xfrm>
          <a:prstGeom prst="rect">
            <a:avLst/>
          </a:prstGeom>
        </p:spPr>
      </p:pic>
      <p:sp>
        <p:nvSpPr>
          <p:cNvPr id="28" name="TextBox 16">
            <a:extLst>
              <a:ext uri="{FF2B5EF4-FFF2-40B4-BE49-F238E27FC236}">
                <a16:creationId xmlns:a16="http://schemas.microsoft.com/office/drawing/2014/main" id="{9792A066-571E-900C-A86B-B14109ABF586}"/>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9" name="TextBox 18">
            <a:extLst>
              <a:ext uri="{FF2B5EF4-FFF2-40B4-BE49-F238E27FC236}">
                <a16:creationId xmlns:a16="http://schemas.microsoft.com/office/drawing/2014/main" id="{0EC770A7-0E66-025D-C6EF-688C31154960}"/>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30" name="TextBox 19">
            <a:extLst>
              <a:ext uri="{FF2B5EF4-FFF2-40B4-BE49-F238E27FC236}">
                <a16:creationId xmlns:a16="http://schemas.microsoft.com/office/drawing/2014/main" id="{2A85A78C-61DF-DEBE-E27E-9D8B4D30B827}"/>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31" name="TextBox 20">
            <a:extLst>
              <a:ext uri="{FF2B5EF4-FFF2-40B4-BE49-F238E27FC236}">
                <a16:creationId xmlns:a16="http://schemas.microsoft.com/office/drawing/2014/main" id="{BBDB8265-B40B-F475-3152-0FAA25E36601}"/>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10" name="Picture 10"/>
          <p:cNvPicPr>
            <a:picLocks noChangeAspect="1"/>
          </p:cNvPicPr>
          <p:nvPr/>
        </p:nvPicPr>
        <p:blipFill>
          <a:blip r:embed="rId5"/>
          <a:stretch>
            <a:fillRect/>
          </a:stretch>
        </p:blipFill>
        <p:spPr>
          <a:xfrm>
            <a:off x="1485900" y="1612900"/>
            <a:ext cx="88900" cy="850900"/>
          </a:xfrm>
          <a:prstGeom prst="rect">
            <a:avLst/>
          </a:prstGeom>
        </p:spPr>
      </p:pic>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70</a:t>
            </a:r>
          </a:p>
        </p:txBody>
      </p:sp>
      <p:sp>
        <p:nvSpPr>
          <p:cNvPr id="18" name="TextBox 18"/>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5. 악성스크립트 작동으로 연쇄 침투</a:t>
            </a:r>
          </a:p>
        </p:txBody>
      </p:sp>
      <p:pic>
        <p:nvPicPr>
          <p:cNvPr id="19" name="Picture 19"/>
          <p:cNvPicPr>
            <a:picLocks noChangeAspect="1"/>
          </p:cNvPicPr>
          <p:nvPr/>
        </p:nvPicPr>
        <p:blipFill>
          <a:blip r:embed="rId6"/>
          <a:stretch>
            <a:fillRect/>
          </a:stretch>
        </p:blipFill>
        <p:spPr>
          <a:xfrm>
            <a:off x="19392900" y="4724400"/>
            <a:ext cx="3149600" cy="584200"/>
          </a:xfrm>
          <a:prstGeom prst="rect">
            <a:avLst/>
          </a:prstGeom>
        </p:spPr>
      </p:pic>
      <p:pic>
        <p:nvPicPr>
          <p:cNvPr id="20" name="Picture 20"/>
          <p:cNvPicPr>
            <a:picLocks noChangeAspect="1"/>
          </p:cNvPicPr>
          <p:nvPr/>
        </p:nvPicPr>
        <p:blipFill>
          <a:blip r:embed="rId7"/>
          <a:stretch>
            <a:fillRect/>
          </a:stretch>
        </p:blipFill>
        <p:spPr>
          <a:xfrm>
            <a:off x="2120900" y="8674100"/>
            <a:ext cx="12179300" cy="4076700"/>
          </a:xfrm>
          <a:prstGeom prst="rect">
            <a:avLst/>
          </a:prstGeom>
        </p:spPr>
      </p:pic>
      <p:pic>
        <p:nvPicPr>
          <p:cNvPr id="21" name="Picture 21"/>
          <p:cNvPicPr>
            <a:picLocks noChangeAspect="1"/>
          </p:cNvPicPr>
          <p:nvPr/>
        </p:nvPicPr>
        <p:blipFill>
          <a:blip r:embed="rId8"/>
          <a:stretch>
            <a:fillRect/>
          </a:stretch>
        </p:blipFill>
        <p:spPr>
          <a:xfrm>
            <a:off x="2120900" y="4686300"/>
            <a:ext cx="12179300" cy="4000500"/>
          </a:xfrm>
          <a:prstGeom prst="rect">
            <a:avLst/>
          </a:prstGeom>
        </p:spPr>
      </p:pic>
      <p:pic>
        <p:nvPicPr>
          <p:cNvPr id="22" name="Picture 22"/>
          <p:cNvPicPr>
            <a:picLocks noChangeAspect="1"/>
          </p:cNvPicPr>
          <p:nvPr/>
        </p:nvPicPr>
        <p:blipFill>
          <a:blip r:embed="rId9"/>
          <a:stretch>
            <a:fillRect/>
          </a:stretch>
        </p:blipFill>
        <p:spPr>
          <a:xfrm>
            <a:off x="2120900" y="4076700"/>
            <a:ext cx="12179300" cy="584200"/>
          </a:xfrm>
          <a:prstGeom prst="rect">
            <a:avLst/>
          </a:prstGeom>
        </p:spPr>
      </p:pic>
      <p:pic>
        <p:nvPicPr>
          <p:cNvPr id="23" name="Picture 23"/>
          <p:cNvPicPr>
            <a:picLocks noChangeAspect="1"/>
          </p:cNvPicPr>
          <p:nvPr/>
        </p:nvPicPr>
        <p:blipFill>
          <a:blip r:embed="rId10"/>
          <a:stretch>
            <a:fillRect/>
          </a:stretch>
        </p:blipFill>
        <p:spPr>
          <a:xfrm>
            <a:off x="14452600" y="4711700"/>
            <a:ext cx="8293100" cy="1485900"/>
          </a:xfrm>
          <a:prstGeom prst="rect">
            <a:avLst/>
          </a:prstGeom>
        </p:spPr>
      </p:pic>
      <p:sp>
        <p:nvSpPr>
          <p:cNvPr id="24" name="TextBox 24"/>
          <p:cNvSpPr txBox="1"/>
          <p:nvPr/>
        </p:nvSpPr>
        <p:spPr>
          <a:xfrm>
            <a:off x="15405100" y="6921500"/>
            <a:ext cx="6667500" cy="32766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악성스크립트가 실행되는 것을 기다리기 위해 80포트를 Listen상태로 기다림.
고객센터 관리자가 악성스크립트가 삽입된 정보를 요청하게 되면, 해당 관리자에 대한 정보를 공격자에게 제공하게 됨.</a:t>
            </a:r>
          </a:p>
        </p:txBody>
      </p:sp>
      <p:pic>
        <p:nvPicPr>
          <p:cNvPr id="25" name="Picture 25"/>
          <p:cNvPicPr>
            <a:picLocks noChangeAspect="1"/>
          </p:cNvPicPr>
          <p:nvPr/>
        </p:nvPicPr>
        <p:blipFill>
          <a:blip r:embed="rId11"/>
          <a:stretch>
            <a:fillRect/>
          </a:stretch>
        </p:blipFill>
        <p:spPr>
          <a:xfrm>
            <a:off x="6781800" y="12052300"/>
            <a:ext cx="4737100" cy="431800"/>
          </a:xfrm>
          <a:prstGeom prst="rect">
            <a:avLst/>
          </a:prstGeom>
        </p:spPr>
      </p:pic>
      <p:pic>
        <p:nvPicPr>
          <p:cNvPr id="26" name="Picture 26"/>
          <p:cNvPicPr>
            <a:picLocks noChangeAspect="1"/>
          </p:cNvPicPr>
          <p:nvPr/>
        </p:nvPicPr>
        <p:blipFill>
          <a:blip r:embed="rId12"/>
          <a:stretch>
            <a:fillRect/>
          </a:stretch>
        </p:blipFill>
        <p:spPr>
          <a:xfrm>
            <a:off x="4216400" y="12014200"/>
            <a:ext cx="2628900" cy="736600"/>
          </a:xfrm>
          <a:prstGeom prst="rect">
            <a:avLst/>
          </a:prstGeom>
        </p:spPr>
      </p:pic>
      <p:pic>
        <p:nvPicPr>
          <p:cNvPr id="27" name="Picture 27"/>
          <p:cNvPicPr>
            <a:picLocks noChangeAspect="1"/>
          </p:cNvPicPr>
          <p:nvPr/>
        </p:nvPicPr>
        <p:blipFill>
          <a:blip r:embed="rId13"/>
          <a:stretch>
            <a:fillRect/>
          </a:stretch>
        </p:blipFill>
        <p:spPr>
          <a:xfrm>
            <a:off x="4305300" y="12319000"/>
            <a:ext cx="368300" cy="279400"/>
          </a:xfrm>
          <a:prstGeom prst="rect">
            <a:avLst/>
          </a:prstGeom>
        </p:spPr>
      </p:pic>
      <p:pic>
        <p:nvPicPr>
          <p:cNvPr id="28" name="Picture 28"/>
          <p:cNvPicPr>
            <a:picLocks noChangeAspect="1"/>
          </p:cNvPicPr>
          <p:nvPr/>
        </p:nvPicPr>
        <p:blipFill>
          <a:blip r:embed="rId14"/>
          <a:stretch>
            <a:fillRect/>
          </a:stretch>
        </p:blipFill>
        <p:spPr>
          <a:xfrm>
            <a:off x="4102100" y="11988800"/>
            <a:ext cx="2870200" cy="469900"/>
          </a:xfrm>
          <a:prstGeom prst="rect">
            <a:avLst/>
          </a:prstGeom>
        </p:spPr>
      </p:pic>
      <p:sp>
        <p:nvSpPr>
          <p:cNvPr id="29" name="TextBox 29"/>
          <p:cNvSpPr txBox="1"/>
          <p:nvPr/>
        </p:nvSpPr>
        <p:spPr>
          <a:xfrm>
            <a:off x="1943100" y="1409700"/>
            <a:ext cx="20281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연쇄 침투를 통한 지능형 보이스피싱 공격</a:t>
            </a:r>
          </a:p>
        </p:txBody>
      </p:sp>
      <p:sp>
        <p:nvSpPr>
          <p:cNvPr id="30" name="TextBox 14">
            <a:extLst>
              <a:ext uri="{FF2B5EF4-FFF2-40B4-BE49-F238E27FC236}">
                <a16:creationId xmlns:a16="http://schemas.microsoft.com/office/drawing/2014/main" id="{F0533443-0BF3-B37C-CB47-B8B1F1DE7181}"/>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31" name="TextBox 14">
            <a:extLst>
              <a:ext uri="{FF2B5EF4-FFF2-40B4-BE49-F238E27FC236}">
                <a16:creationId xmlns:a16="http://schemas.microsoft.com/office/drawing/2014/main" id="{636BED32-66FA-DD0B-A74E-963085DA6C65}"/>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32" name="Picture 2">
            <a:extLst>
              <a:ext uri="{FF2B5EF4-FFF2-40B4-BE49-F238E27FC236}">
                <a16:creationId xmlns:a16="http://schemas.microsoft.com/office/drawing/2014/main" id="{077FCD76-79EB-62A2-4633-3FFB5BE5D9EC}"/>
              </a:ext>
            </a:extLst>
          </p:cNvPr>
          <p:cNvPicPr>
            <a:picLocks noChangeAspect="1"/>
          </p:cNvPicPr>
          <p:nvPr/>
        </p:nvPicPr>
        <p:blipFill>
          <a:blip r:embed="rId15">
            <a:alphaModFix amt="85000"/>
          </a:blip>
          <a:stretch>
            <a:fillRect/>
          </a:stretch>
        </p:blipFill>
        <p:spPr>
          <a:xfrm>
            <a:off x="11201400" y="558800"/>
            <a:ext cx="2705100" cy="444500"/>
          </a:xfrm>
          <a:prstGeom prst="rect">
            <a:avLst/>
          </a:prstGeom>
        </p:spPr>
      </p:pic>
      <p:sp>
        <p:nvSpPr>
          <p:cNvPr id="33" name="TextBox 16">
            <a:extLst>
              <a:ext uri="{FF2B5EF4-FFF2-40B4-BE49-F238E27FC236}">
                <a16:creationId xmlns:a16="http://schemas.microsoft.com/office/drawing/2014/main" id="{D15E2FC2-DABA-6BAB-087E-7AD9B351F097}"/>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34" name="TextBox 18">
            <a:extLst>
              <a:ext uri="{FF2B5EF4-FFF2-40B4-BE49-F238E27FC236}">
                <a16:creationId xmlns:a16="http://schemas.microsoft.com/office/drawing/2014/main" id="{04B281E5-5C65-DDFC-D41C-4791BB6DEF36}"/>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35" name="TextBox 19">
            <a:extLst>
              <a:ext uri="{FF2B5EF4-FFF2-40B4-BE49-F238E27FC236}">
                <a16:creationId xmlns:a16="http://schemas.microsoft.com/office/drawing/2014/main" id="{5DCF8CA4-43A3-5D67-186B-F979A52629C1}"/>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36" name="TextBox 20">
            <a:extLst>
              <a:ext uri="{FF2B5EF4-FFF2-40B4-BE49-F238E27FC236}">
                <a16:creationId xmlns:a16="http://schemas.microsoft.com/office/drawing/2014/main" id="{91497730-C918-ECFC-E450-768BD1173912}"/>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10" name="Picture 10"/>
          <p:cNvPicPr>
            <a:picLocks noChangeAspect="1"/>
          </p:cNvPicPr>
          <p:nvPr/>
        </p:nvPicPr>
        <p:blipFill>
          <a:blip r:embed="rId5"/>
          <a:stretch>
            <a:fillRect/>
          </a:stretch>
        </p:blipFill>
        <p:spPr>
          <a:xfrm>
            <a:off x="1485900" y="1612900"/>
            <a:ext cx="88900" cy="850900"/>
          </a:xfrm>
          <a:prstGeom prst="rect">
            <a:avLst/>
          </a:prstGeom>
        </p:spPr>
      </p:pic>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71</a:t>
            </a:r>
          </a:p>
        </p:txBody>
      </p:sp>
      <p:pic>
        <p:nvPicPr>
          <p:cNvPr id="18" name="Picture 18"/>
          <p:cNvPicPr>
            <a:picLocks noChangeAspect="1"/>
          </p:cNvPicPr>
          <p:nvPr/>
        </p:nvPicPr>
        <p:blipFill>
          <a:blip r:embed="rId6"/>
          <a:stretch>
            <a:fillRect/>
          </a:stretch>
        </p:blipFill>
        <p:spPr>
          <a:xfrm>
            <a:off x="2120900" y="4216400"/>
            <a:ext cx="13627100" cy="8026400"/>
          </a:xfrm>
          <a:prstGeom prst="rect">
            <a:avLst/>
          </a:prstGeom>
        </p:spPr>
      </p:pic>
      <p:pic>
        <p:nvPicPr>
          <p:cNvPr id="19" name="Picture 19"/>
          <p:cNvPicPr>
            <a:picLocks noChangeAspect="1"/>
          </p:cNvPicPr>
          <p:nvPr/>
        </p:nvPicPr>
        <p:blipFill>
          <a:blip r:embed="rId7"/>
          <a:stretch>
            <a:fillRect/>
          </a:stretch>
        </p:blipFill>
        <p:spPr>
          <a:xfrm>
            <a:off x="2159000" y="6438900"/>
            <a:ext cx="13538200" cy="2413000"/>
          </a:xfrm>
          <a:prstGeom prst="rect">
            <a:avLst/>
          </a:prstGeom>
        </p:spPr>
      </p:pic>
      <p:sp>
        <p:nvSpPr>
          <p:cNvPr id="20" name="TextBox 20"/>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5. 악성스크립트 작동으로 연쇄 침투</a:t>
            </a:r>
          </a:p>
        </p:txBody>
      </p:sp>
      <p:sp>
        <p:nvSpPr>
          <p:cNvPr id="21" name="TextBox 21"/>
          <p:cNvSpPr txBox="1"/>
          <p:nvPr/>
        </p:nvSpPr>
        <p:spPr>
          <a:xfrm>
            <a:off x="17030700" y="5880100"/>
            <a:ext cx="6159500" cy="16383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공격자의 서버에서 관리자가 사용하는
웹페이지에 대한 주소값과
관리자 인증 JWT 값을 획득함.</a:t>
            </a:r>
          </a:p>
        </p:txBody>
      </p:sp>
      <p:sp>
        <p:nvSpPr>
          <p:cNvPr id="22" name="TextBox 22"/>
          <p:cNvSpPr txBox="1"/>
          <p:nvPr/>
        </p:nvSpPr>
        <p:spPr>
          <a:xfrm>
            <a:off x="1943100" y="1409700"/>
            <a:ext cx="20281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연쇄 침투를 통한 지능형 보이스피싱 공격</a:t>
            </a:r>
          </a:p>
        </p:txBody>
      </p:sp>
      <p:sp>
        <p:nvSpPr>
          <p:cNvPr id="23" name="TextBox 14">
            <a:extLst>
              <a:ext uri="{FF2B5EF4-FFF2-40B4-BE49-F238E27FC236}">
                <a16:creationId xmlns:a16="http://schemas.microsoft.com/office/drawing/2014/main" id="{7A2553C8-E8CF-5358-0B96-664C793286EA}"/>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4" name="TextBox 14">
            <a:extLst>
              <a:ext uri="{FF2B5EF4-FFF2-40B4-BE49-F238E27FC236}">
                <a16:creationId xmlns:a16="http://schemas.microsoft.com/office/drawing/2014/main" id="{FD154E68-26D4-D261-A271-4BB18643BE9F}"/>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5" name="Picture 2">
            <a:extLst>
              <a:ext uri="{FF2B5EF4-FFF2-40B4-BE49-F238E27FC236}">
                <a16:creationId xmlns:a16="http://schemas.microsoft.com/office/drawing/2014/main" id="{73EF1B48-4610-E0C9-97AC-CE51C67C85D5}"/>
              </a:ext>
            </a:extLst>
          </p:cNvPr>
          <p:cNvPicPr>
            <a:picLocks noChangeAspect="1"/>
          </p:cNvPicPr>
          <p:nvPr/>
        </p:nvPicPr>
        <p:blipFill>
          <a:blip r:embed="rId8">
            <a:alphaModFix amt="85000"/>
          </a:blip>
          <a:stretch>
            <a:fillRect/>
          </a:stretch>
        </p:blipFill>
        <p:spPr>
          <a:xfrm>
            <a:off x="11201400" y="558800"/>
            <a:ext cx="2705100" cy="444500"/>
          </a:xfrm>
          <a:prstGeom prst="rect">
            <a:avLst/>
          </a:prstGeom>
        </p:spPr>
      </p:pic>
      <p:sp>
        <p:nvSpPr>
          <p:cNvPr id="26" name="TextBox 16">
            <a:extLst>
              <a:ext uri="{FF2B5EF4-FFF2-40B4-BE49-F238E27FC236}">
                <a16:creationId xmlns:a16="http://schemas.microsoft.com/office/drawing/2014/main" id="{D06DA4D9-CB8F-F5EA-CD85-127DC9B7D878}"/>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7" name="TextBox 18">
            <a:extLst>
              <a:ext uri="{FF2B5EF4-FFF2-40B4-BE49-F238E27FC236}">
                <a16:creationId xmlns:a16="http://schemas.microsoft.com/office/drawing/2014/main" id="{3D891E12-DE29-0D04-C331-0EDAE54B4790}"/>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28" name="TextBox 19">
            <a:extLst>
              <a:ext uri="{FF2B5EF4-FFF2-40B4-BE49-F238E27FC236}">
                <a16:creationId xmlns:a16="http://schemas.microsoft.com/office/drawing/2014/main" id="{AAA2482A-19B1-2A73-EF4E-262421991782}"/>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29" name="TextBox 20">
            <a:extLst>
              <a:ext uri="{FF2B5EF4-FFF2-40B4-BE49-F238E27FC236}">
                <a16:creationId xmlns:a16="http://schemas.microsoft.com/office/drawing/2014/main" id="{8C40BB02-605F-03B6-A57C-493187314227}"/>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10" name="Picture 10"/>
          <p:cNvPicPr>
            <a:picLocks noChangeAspect="1"/>
          </p:cNvPicPr>
          <p:nvPr/>
        </p:nvPicPr>
        <p:blipFill>
          <a:blip r:embed="rId5"/>
          <a:stretch>
            <a:fillRect/>
          </a:stretch>
        </p:blipFill>
        <p:spPr>
          <a:xfrm>
            <a:off x="1485900" y="1612900"/>
            <a:ext cx="88900" cy="850900"/>
          </a:xfrm>
          <a:prstGeom prst="rect">
            <a:avLst/>
          </a:prstGeom>
        </p:spPr>
      </p:pic>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72</a:t>
            </a:r>
          </a:p>
        </p:txBody>
      </p:sp>
      <p:pic>
        <p:nvPicPr>
          <p:cNvPr id="18" name="Picture 18"/>
          <p:cNvPicPr>
            <a:picLocks noChangeAspect="1"/>
          </p:cNvPicPr>
          <p:nvPr/>
        </p:nvPicPr>
        <p:blipFill>
          <a:blip r:embed="rId6"/>
          <a:stretch>
            <a:fillRect/>
          </a:stretch>
        </p:blipFill>
        <p:spPr>
          <a:xfrm>
            <a:off x="12573000" y="4851400"/>
            <a:ext cx="10502900" cy="6527800"/>
          </a:xfrm>
          <a:prstGeom prst="rect">
            <a:avLst/>
          </a:prstGeom>
        </p:spPr>
      </p:pic>
      <p:pic>
        <p:nvPicPr>
          <p:cNvPr id="19" name="Picture 19"/>
          <p:cNvPicPr>
            <a:picLocks noChangeAspect="1"/>
          </p:cNvPicPr>
          <p:nvPr/>
        </p:nvPicPr>
        <p:blipFill>
          <a:blip r:embed="rId7"/>
          <a:stretch>
            <a:fillRect/>
          </a:stretch>
        </p:blipFill>
        <p:spPr>
          <a:xfrm>
            <a:off x="2120900" y="4660900"/>
            <a:ext cx="10071100" cy="7823200"/>
          </a:xfrm>
          <a:prstGeom prst="rect">
            <a:avLst/>
          </a:prstGeom>
        </p:spPr>
      </p:pic>
      <p:pic>
        <p:nvPicPr>
          <p:cNvPr id="20" name="Picture 20"/>
          <p:cNvPicPr>
            <a:picLocks noChangeAspect="1"/>
          </p:cNvPicPr>
          <p:nvPr/>
        </p:nvPicPr>
        <p:blipFill>
          <a:blip r:embed="rId8"/>
          <a:stretch>
            <a:fillRect/>
          </a:stretch>
        </p:blipFill>
        <p:spPr>
          <a:xfrm>
            <a:off x="2120900" y="4165600"/>
            <a:ext cx="10071100" cy="495300"/>
          </a:xfrm>
          <a:prstGeom prst="rect">
            <a:avLst/>
          </a:prstGeom>
        </p:spPr>
      </p:pic>
      <p:pic>
        <p:nvPicPr>
          <p:cNvPr id="21" name="Picture 21"/>
          <p:cNvPicPr>
            <a:picLocks noChangeAspect="1"/>
          </p:cNvPicPr>
          <p:nvPr/>
        </p:nvPicPr>
        <p:blipFill>
          <a:blip r:embed="rId9"/>
          <a:stretch>
            <a:fillRect/>
          </a:stretch>
        </p:blipFill>
        <p:spPr>
          <a:xfrm>
            <a:off x="4216400" y="10261600"/>
            <a:ext cx="2438400" cy="482600"/>
          </a:xfrm>
          <a:prstGeom prst="rect">
            <a:avLst/>
          </a:prstGeom>
        </p:spPr>
      </p:pic>
      <p:pic>
        <p:nvPicPr>
          <p:cNvPr id="22" name="Picture 22"/>
          <p:cNvPicPr>
            <a:picLocks noChangeAspect="1"/>
          </p:cNvPicPr>
          <p:nvPr/>
        </p:nvPicPr>
        <p:blipFill>
          <a:blip r:embed="rId10"/>
          <a:stretch>
            <a:fillRect/>
          </a:stretch>
        </p:blipFill>
        <p:spPr>
          <a:xfrm>
            <a:off x="13055600" y="10020300"/>
            <a:ext cx="5778500" cy="1104900"/>
          </a:xfrm>
          <a:prstGeom prst="rect">
            <a:avLst/>
          </a:prstGeom>
        </p:spPr>
      </p:pic>
      <p:sp>
        <p:nvSpPr>
          <p:cNvPr id="23" name="TextBox 23"/>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5. 악성스크립트 작동으로 연쇄 침투</a:t>
            </a:r>
          </a:p>
        </p:txBody>
      </p:sp>
      <p:sp>
        <p:nvSpPr>
          <p:cNvPr id="24" name="TextBox 24"/>
          <p:cNvSpPr txBox="1"/>
          <p:nvPr/>
        </p:nvSpPr>
        <p:spPr>
          <a:xfrm>
            <a:off x="1943100" y="1409700"/>
            <a:ext cx="20281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연쇄 침투를 통한 지능형 보이스피싱 공격</a:t>
            </a:r>
          </a:p>
        </p:txBody>
      </p:sp>
      <p:sp>
        <p:nvSpPr>
          <p:cNvPr id="25" name="TextBox 14">
            <a:extLst>
              <a:ext uri="{FF2B5EF4-FFF2-40B4-BE49-F238E27FC236}">
                <a16:creationId xmlns:a16="http://schemas.microsoft.com/office/drawing/2014/main" id="{1389D45C-2973-63D5-377E-C0E3C3F52C2E}"/>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6" name="TextBox 14">
            <a:extLst>
              <a:ext uri="{FF2B5EF4-FFF2-40B4-BE49-F238E27FC236}">
                <a16:creationId xmlns:a16="http://schemas.microsoft.com/office/drawing/2014/main" id="{B53324FB-C9BC-20F8-6E91-56D57A465C07}"/>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7" name="Picture 2">
            <a:extLst>
              <a:ext uri="{FF2B5EF4-FFF2-40B4-BE49-F238E27FC236}">
                <a16:creationId xmlns:a16="http://schemas.microsoft.com/office/drawing/2014/main" id="{6D000350-1D02-AFA1-A863-B2A492C672D0}"/>
              </a:ext>
            </a:extLst>
          </p:cNvPr>
          <p:cNvPicPr>
            <a:picLocks noChangeAspect="1"/>
          </p:cNvPicPr>
          <p:nvPr/>
        </p:nvPicPr>
        <p:blipFill>
          <a:blip r:embed="rId11">
            <a:alphaModFix amt="85000"/>
          </a:blip>
          <a:stretch>
            <a:fillRect/>
          </a:stretch>
        </p:blipFill>
        <p:spPr>
          <a:xfrm>
            <a:off x="11201400" y="558800"/>
            <a:ext cx="2705100" cy="444500"/>
          </a:xfrm>
          <a:prstGeom prst="rect">
            <a:avLst/>
          </a:prstGeom>
        </p:spPr>
      </p:pic>
      <p:sp>
        <p:nvSpPr>
          <p:cNvPr id="28" name="TextBox 16">
            <a:extLst>
              <a:ext uri="{FF2B5EF4-FFF2-40B4-BE49-F238E27FC236}">
                <a16:creationId xmlns:a16="http://schemas.microsoft.com/office/drawing/2014/main" id="{0F7C249A-232B-26ED-12D5-23B23EB5D40D}"/>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9" name="TextBox 18">
            <a:extLst>
              <a:ext uri="{FF2B5EF4-FFF2-40B4-BE49-F238E27FC236}">
                <a16:creationId xmlns:a16="http://schemas.microsoft.com/office/drawing/2014/main" id="{3C3F4D84-89DF-385A-C32B-0425740C1C52}"/>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30" name="TextBox 19">
            <a:extLst>
              <a:ext uri="{FF2B5EF4-FFF2-40B4-BE49-F238E27FC236}">
                <a16:creationId xmlns:a16="http://schemas.microsoft.com/office/drawing/2014/main" id="{86F99E52-636E-30E7-638D-45623A8FAEEF}"/>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31" name="TextBox 20">
            <a:extLst>
              <a:ext uri="{FF2B5EF4-FFF2-40B4-BE49-F238E27FC236}">
                <a16:creationId xmlns:a16="http://schemas.microsoft.com/office/drawing/2014/main" id="{34A9C266-2A0B-7BA5-CD3C-6C455DA1A2E6}"/>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10" name="Picture 10"/>
          <p:cNvPicPr>
            <a:picLocks noChangeAspect="1"/>
          </p:cNvPicPr>
          <p:nvPr/>
        </p:nvPicPr>
        <p:blipFill>
          <a:blip r:embed="rId5"/>
          <a:stretch>
            <a:fillRect/>
          </a:stretch>
        </p:blipFill>
        <p:spPr>
          <a:xfrm>
            <a:off x="1485900" y="1612900"/>
            <a:ext cx="88900" cy="850900"/>
          </a:xfrm>
          <a:prstGeom prst="rect">
            <a:avLst/>
          </a:prstGeom>
        </p:spPr>
      </p:pic>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73</a:t>
            </a:r>
          </a:p>
        </p:txBody>
      </p:sp>
      <p:sp>
        <p:nvSpPr>
          <p:cNvPr id="18" name="TextBox 18"/>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6. 고객센터 망 장악, DB탈취</a:t>
            </a:r>
          </a:p>
        </p:txBody>
      </p:sp>
      <p:pic>
        <p:nvPicPr>
          <p:cNvPr id="19" name="Picture 19"/>
          <p:cNvPicPr>
            <a:picLocks noChangeAspect="1"/>
          </p:cNvPicPr>
          <p:nvPr/>
        </p:nvPicPr>
        <p:blipFill>
          <a:blip r:embed="rId6"/>
          <a:stretch>
            <a:fillRect/>
          </a:stretch>
        </p:blipFill>
        <p:spPr>
          <a:xfrm rot="5400000">
            <a:off x="9563100" y="5981700"/>
            <a:ext cx="1181100" cy="419100"/>
          </a:xfrm>
          <a:prstGeom prst="rect">
            <a:avLst/>
          </a:prstGeom>
        </p:spPr>
      </p:pic>
      <p:pic>
        <p:nvPicPr>
          <p:cNvPr id="20" name="Picture 20"/>
          <p:cNvPicPr>
            <a:picLocks noChangeAspect="1"/>
          </p:cNvPicPr>
          <p:nvPr/>
        </p:nvPicPr>
        <p:blipFill>
          <a:blip r:embed="rId7"/>
          <a:stretch>
            <a:fillRect/>
          </a:stretch>
        </p:blipFill>
        <p:spPr>
          <a:xfrm>
            <a:off x="2120900" y="4305300"/>
            <a:ext cx="14859000" cy="5613400"/>
          </a:xfrm>
          <a:prstGeom prst="rect">
            <a:avLst/>
          </a:prstGeom>
        </p:spPr>
      </p:pic>
      <p:pic>
        <p:nvPicPr>
          <p:cNvPr id="21" name="Picture 21"/>
          <p:cNvPicPr>
            <a:picLocks noChangeAspect="1"/>
          </p:cNvPicPr>
          <p:nvPr/>
        </p:nvPicPr>
        <p:blipFill>
          <a:blip r:embed="rId8"/>
          <a:stretch>
            <a:fillRect/>
          </a:stretch>
        </p:blipFill>
        <p:spPr>
          <a:xfrm>
            <a:off x="2120900" y="7112000"/>
            <a:ext cx="14859000" cy="4229100"/>
          </a:xfrm>
          <a:prstGeom prst="rect">
            <a:avLst/>
          </a:prstGeom>
        </p:spPr>
      </p:pic>
      <p:pic>
        <p:nvPicPr>
          <p:cNvPr id="22" name="Picture 22"/>
          <p:cNvPicPr>
            <a:picLocks noChangeAspect="1"/>
          </p:cNvPicPr>
          <p:nvPr/>
        </p:nvPicPr>
        <p:blipFill>
          <a:blip r:embed="rId9"/>
          <a:stretch>
            <a:fillRect/>
          </a:stretch>
        </p:blipFill>
        <p:spPr>
          <a:xfrm>
            <a:off x="3187700" y="7112000"/>
            <a:ext cx="8623300" cy="1701800"/>
          </a:xfrm>
          <a:prstGeom prst="rect">
            <a:avLst/>
          </a:prstGeom>
        </p:spPr>
      </p:pic>
      <p:pic>
        <p:nvPicPr>
          <p:cNvPr id="23" name="Picture 23"/>
          <p:cNvPicPr>
            <a:picLocks noChangeAspect="1"/>
          </p:cNvPicPr>
          <p:nvPr/>
        </p:nvPicPr>
        <p:blipFill>
          <a:blip r:embed="rId10"/>
          <a:stretch>
            <a:fillRect/>
          </a:stretch>
        </p:blipFill>
        <p:spPr>
          <a:xfrm>
            <a:off x="4597400" y="4965700"/>
            <a:ext cx="9448800" cy="558800"/>
          </a:xfrm>
          <a:prstGeom prst="rect">
            <a:avLst/>
          </a:prstGeom>
        </p:spPr>
      </p:pic>
      <p:pic>
        <p:nvPicPr>
          <p:cNvPr id="24" name="Picture 24"/>
          <p:cNvPicPr>
            <a:picLocks noChangeAspect="1"/>
          </p:cNvPicPr>
          <p:nvPr/>
        </p:nvPicPr>
        <p:blipFill>
          <a:blip r:embed="rId11"/>
          <a:stretch>
            <a:fillRect/>
          </a:stretch>
        </p:blipFill>
        <p:spPr>
          <a:xfrm rot="5400000">
            <a:off x="5892800" y="9499600"/>
            <a:ext cx="1066800" cy="381000"/>
          </a:xfrm>
          <a:prstGeom prst="rect">
            <a:avLst/>
          </a:prstGeom>
        </p:spPr>
      </p:pic>
      <p:pic>
        <p:nvPicPr>
          <p:cNvPr id="25" name="Picture 25"/>
          <p:cNvPicPr>
            <a:picLocks noChangeAspect="1"/>
          </p:cNvPicPr>
          <p:nvPr/>
        </p:nvPicPr>
        <p:blipFill>
          <a:blip r:embed="rId12"/>
          <a:stretch>
            <a:fillRect/>
          </a:stretch>
        </p:blipFill>
        <p:spPr>
          <a:xfrm>
            <a:off x="2298700" y="10833100"/>
            <a:ext cx="6108700" cy="469900"/>
          </a:xfrm>
          <a:prstGeom prst="rect">
            <a:avLst/>
          </a:prstGeom>
        </p:spPr>
      </p:pic>
      <p:sp>
        <p:nvSpPr>
          <p:cNvPr id="26" name="TextBox 26"/>
          <p:cNvSpPr txBox="1"/>
          <p:nvPr/>
        </p:nvSpPr>
        <p:spPr>
          <a:xfrm>
            <a:off x="17030700" y="5880100"/>
            <a:ext cx="6159500" cy="21844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사전에 업로드된 웹쉘을 통해 타겟 서버의 내부 명령 실행 권한을 확보한 후, 시스템 제어의 편의성과 기능 확장을 위해 리버스 쉘연결을 시도함.</a:t>
            </a:r>
          </a:p>
        </p:txBody>
      </p:sp>
      <p:sp>
        <p:nvSpPr>
          <p:cNvPr id="27" name="TextBox 27"/>
          <p:cNvSpPr txBox="1"/>
          <p:nvPr/>
        </p:nvSpPr>
        <p:spPr>
          <a:xfrm>
            <a:off x="1943100" y="1409700"/>
            <a:ext cx="20281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연쇄 침투를 통한 지능형 보이스피싱 공격</a:t>
            </a:r>
          </a:p>
        </p:txBody>
      </p:sp>
      <p:sp>
        <p:nvSpPr>
          <p:cNvPr id="28" name="TextBox 14">
            <a:extLst>
              <a:ext uri="{FF2B5EF4-FFF2-40B4-BE49-F238E27FC236}">
                <a16:creationId xmlns:a16="http://schemas.microsoft.com/office/drawing/2014/main" id="{D49725A6-1B1A-FB98-BD77-4EF73E28A654}"/>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9" name="TextBox 14">
            <a:extLst>
              <a:ext uri="{FF2B5EF4-FFF2-40B4-BE49-F238E27FC236}">
                <a16:creationId xmlns:a16="http://schemas.microsoft.com/office/drawing/2014/main" id="{37B14109-6FB8-8B28-802C-4F4F244A4711}"/>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30" name="Picture 2">
            <a:extLst>
              <a:ext uri="{FF2B5EF4-FFF2-40B4-BE49-F238E27FC236}">
                <a16:creationId xmlns:a16="http://schemas.microsoft.com/office/drawing/2014/main" id="{C54D7731-DB33-DF3E-A61F-202FDA0C2059}"/>
              </a:ext>
            </a:extLst>
          </p:cNvPr>
          <p:cNvPicPr>
            <a:picLocks noChangeAspect="1"/>
          </p:cNvPicPr>
          <p:nvPr/>
        </p:nvPicPr>
        <p:blipFill>
          <a:blip r:embed="rId13">
            <a:alphaModFix amt="85000"/>
          </a:blip>
          <a:stretch>
            <a:fillRect/>
          </a:stretch>
        </p:blipFill>
        <p:spPr>
          <a:xfrm>
            <a:off x="11201400" y="558800"/>
            <a:ext cx="2705100" cy="444500"/>
          </a:xfrm>
          <a:prstGeom prst="rect">
            <a:avLst/>
          </a:prstGeom>
        </p:spPr>
      </p:pic>
      <p:sp>
        <p:nvSpPr>
          <p:cNvPr id="31" name="TextBox 16">
            <a:extLst>
              <a:ext uri="{FF2B5EF4-FFF2-40B4-BE49-F238E27FC236}">
                <a16:creationId xmlns:a16="http://schemas.microsoft.com/office/drawing/2014/main" id="{CAC966DF-99B6-780F-2D57-8FC826E5CA37}"/>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32" name="TextBox 18">
            <a:extLst>
              <a:ext uri="{FF2B5EF4-FFF2-40B4-BE49-F238E27FC236}">
                <a16:creationId xmlns:a16="http://schemas.microsoft.com/office/drawing/2014/main" id="{56E68C20-4C43-5393-8ED8-281B86E9B894}"/>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33" name="TextBox 19">
            <a:extLst>
              <a:ext uri="{FF2B5EF4-FFF2-40B4-BE49-F238E27FC236}">
                <a16:creationId xmlns:a16="http://schemas.microsoft.com/office/drawing/2014/main" id="{AFB5CB84-0DDA-A1FE-A34E-BC65C426BDFF}"/>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34" name="TextBox 20">
            <a:extLst>
              <a:ext uri="{FF2B5EF4-FFF2-40B4-BE49-F238E27FC236}">
                <a16:creationId xmlns:a16="http://schemas.microsoft.com/office/drawing/2014/main" id="{743F94CA-89CE-6E21-8767-F1FDF421B30D}"/>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10" name="Picture 10"/>
          <p:cNvPicPr>
            <a:picLocks noChangeAspect="1"/>
          </p:cNvPicPr>
          <p:nvPr/>
        </p:nvPicPr>
        <p:blipFill>
          <a:blip r:embed="rId5"/>
          <a:stretch>
            <a:fillRect/>
          </a:stretch>
        </p:blipFill>
        <p:spPr>
          <a:xfrm>
            <a:off x="1485900" y="1612900"/>
            <a:ext cx="88900" cy="850900"/>
          </a:xfrm>
          <a:prstGeom prst="rect">
            <a:avLst/>
          </a:prstGeom>
        </p:spPr>
      </p:pic>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74</a:t>
            </a:r>
          </a:p>
        </p:txBody>
      </p:sp>
      <p:pic>
        <p:nvPicPr>
          <p:cNvPr id="18" name="Picture 18"/>
          <p:cNvPicPr>
            <a:picLocks noChangeAspect="1"/>
          </p:cNvPicPr>
          <p:nvPr/>
        </p:nvPicPr>
        <p:blipFill>
          <a:blip r:embed="rId6"/>
          <a:stretch>
            <a:fillRect/>
          </a:stretch>
        </p:blipFill>
        <p:spPr>
          <a:xfrm>
            <a:off x="2133600" y="4419600"/>
            <a:ext cx="14732000" cy="6527800"/>
          </a:xfrm>
          <a:prstGeom prst="rect">
            <a:avLst/>
          </a:prstGeom>
        </p:spPr>
      </p:pic>
      <p:pic>
        <p:nvPicPr>
          <p:cNvPr id="19" name="Picture 19"/>
          <p:cNvPicPr>
            <a:picLocks noChangeAspect="1"/>
          </p:cNvPicPr>
          <p:nvPr/>
        </p:nvPicPr>
        <p:blipFill>
          <a:blip r:embed="rId7"/>
          <a:stretch>
            <a:fillRect/>
          </a:stretch>
        </p:blipFill>
        <p:spPr>
          <a:xfrm>
            <a:off x="2133600" y="5638800"/>
            <a:ext cx="14732000" cy="1778000"/>
          </a:xfrm>
          <a:prstGeom prst="rect">
            <a:avLst/>
          </a:prstGeom>
        </p:spPr>
      </p:pic>
      <p:sp>
        <p:nvSpPr>
          <p:cNvPr id="20" name="TextBox 20"/>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6. 고객센터 망 장악, DB탈취</a:t>
            </a:r>
          </a:p>
        </p:txBody>
      </p:sp>
      <p:sp>
        <p:nvSpPr>
          <p:cNvPr id="21" name="TextBox 21"/>
          <p:cNvSpPr txBox="1"/>
          <p:nvPr/>
        </p:nvSpPr>
        <p:spPr>
          <a:xfrm>
            <a:off x="17030700" y="5880100"/>
            <a:ext cx="6159500" cy="27305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서버 내부 정밀 탐색을 통한 핵심 설정 파일인 .env파일의 노출 확인함.
.env파일에서 평문으로 누출되어있는
DB 크레덴셜 정보를 획득함.</a:t>
            </a:r>
          </a:p>
        </p:txBody>
      </p:sp>
      <p:sp>
        <p:nvSpPr>
          <p:cNvPr id="22" name="TextBox 22"/>
          <p:cNvSpPr txBox="1"/>
          <p:nvPr/>
        </p:nvSpPr>
        <p:spPr>
          <a:xfrm>
            <a:off x="1943100" y="1409700"/>
            <a:ext cx="20281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연쇄 침투를 통한 지능형 보이스피싱 공격</a:t>
            </a:r>
          </a:p>
        </p:txBody>
      </p:sp>
      <p:sp>
        <p:nvSpPr>
          <p:cNvPr id="23" name="TextBox 14">
            <a:extLst>
              <a:ext uri="{FF2B5EF4-FFF2-40B4-BE49-F238E27FC236}">
                <a16:creationId xmlns:a16="http://schemas.microsoft.com/office/drawing/2014/main" id="{66A93031-BC05-22EB-E86D-7B01209B5C2A}"/>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4" name="TextBox 14">
            <a:extLst>
              <a:ext uri="{FF2B5EF4-FFF2-40B4-BE49-F238E27FC236}">
                <a16:creationId xmlns:a16="http://schemas.microsoft.com/office/drawing/2014/main" id="{A01BD4C9-4E51-D719-4289-B4316995377A}"/>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5" name="Picture 2">
            <a:extLst>
              <a:ext uri="{FF2B5EF4-FFF2-40B4-BE49-F238E27FC236}">
                <a16:creationId xmlns:a16="http://schemas.microsoft.com/office/drawing/2014/main" id="{5301C0B7-35CB-A7FA-712E-4EE56B83F506}"/>
              </a:ext>
            </a:extLst>
          </p:cNvPr>
          <p:cNvPicPr>
            <a:picLocks noChangeAspect="1"/>
          </p:cNvPicPr>
          <p:nvPr/>
        </p:nvPicPr>
        <p:blipFill>
          <a:blip r:embed="rId8">
            <a:alphaModFix amt="85000"/>
          </a:blip>
          <a:stretch>
            <a:fillRect/>
          </a:stretch>
        </p:blipFill>
        <p:spPr>
          <a:xfrm>
            <a:off x="11201400" y="558800"/>
            <a:ext cx="2705100" cy="444500"/>
          </a:xfrm>
          <a:prstGeom prst="rect">
            <a:avLst/>
          </a:prstGeom>
        </p:spPr>
      </p:pic>
      <p:sp>
        <p:nvSpPr>
          <p:cNvPr id="26" name="TextBox 16">
            <a:extLst>
              <a:ext uri="{FF2B5EF4-FFF2-40B4-BE49-F238E27FC236}">
                <a16:creationId xmlns:a16="http://schemas.microsoft.com/office/drawing/2014/main" id="{8F2B318C-6E46-E810-7048-E27B2831DE64}"/>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7" name="TextBox 18">
            <a:extLst>
              <a:ext uri="{FF2B5EF4-FFF2-40B4-BE49-F238E27FC236}">
                <a16:creationId xmlns:a16="http://schemas.microsoft.com/office/drawing/2014/main" id="{1F2C6EDF-3774-14CD-FD4A-C8F714F9D66F}"/>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28" name="TextBox 19">
            <a:extLst>
              <a:ext uri="{FF2B5EF4-FFF2-40B4-BE49-F238E27FC236}">
                <a16:creationId xmlns:a16="http://schemas.microsoft.com/office/drawing/2014/main" id="{FC0AB9F5-50EC-9052-2C1E-F268DE260D08}"/>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29" name="TextBox 20">
            <a:extLst>
              <a:ext uri="{FF2B5EF4-FFF2-40B4-BE49-F238E27FC236}">
                <a16:creationId xmlns:a16="http://schemas.microsoft.com/office/drawing/2014/main" id="{E39D7F68-17FE-D797-94FC-1BFB51B5230A}"/>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10" name="Picture 10"/>
          <p:cNvPicPr>
            <a:picLocks noChangeAspect="1"/>
          </p:cNvPicPr>
          <p:nvPr/>
        </p:nvPicPr>
        <p:blipFill>
          <a:blip r:embed="rId5"/>
          <a:stretch>
            <a:fillRect/>
          </a:stretch>
        </p:blipFill>
        <p:spPr>
          <a:xfrm>
            <a:off x="1485900" y="1612900"/>
            <a:ext cx="88900" cy="850900"/>
          </a:xfrm>
          <a:prstGeom prst="rect">
            <a:avLst/>
          </a:prstGeom>
        </p:spPr>
      </p:pic>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75</a:t>
            </a:r>
          </a:p>
        </p:txBody>
      </p:sp>
      <p:pic>
        <p:nvPicPr>
          <p:cNvPr id="18" name="Picture 18"/>
          <p:cNvPicPr>
            <a:picLocks noChangeAspect="1"/>
          </p:cNvPicPr>
          <p:nvPr/>
        </p:nvPicPr>
        <p:blipFill>
          <a:blip r:embed="rId6"/>
          <a:stretch>
            <a:fillRect/>
          </a:stretch>
        </p:blipFill>
        <p:spPr>
          <a:xfrm>
            <a:off x="2120900" y="4140200"/>
            <a:ext cx="11430000" cy="9017000"/>
          </a:xfrm>
          <a:prstGeom prst="rect">
            <a:avLst/>
          </a:prstGeom>
        </p:spPr>
      </p:pic>
      <p:pic>
        <p:nvPicPr>
          <p:cNvPr id="19" name="Picture 19"/>
          <p:cNvPicPr>
            <a:picLocks noChangeAspect="1"/>
          </p:cNvPicPr>
          <p:nvPr/>
        </p:nvPicPr>
        <p:blipFill>
          <a:blip r:embed="rId7"/>
          <a:stretch>
            <a:fillRect/>
          </a:stretch>
        </p:blipFill>
        <p:spPr>
          <a:xfrm>
            <a:off x="2120900" y="10490200"/>
            <a:ext cx="11430000" cy="1143000"/>
          </a:xfrm>
          <a:prstGeom prst="rect">
            <a:avLst/>
          </a:prstGeom>
        </p:spPr>
      </p:pic>
      <p:sp>
        <p:nvSpPr>
          <p:cNvPr id="20" name="TextBox 20"/>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6. 고객센터 망 장악, DB탈취</a:t>
            </a:r>
          </a:p>
        </p:txBody>
      </p:sp>
      <p:pic>
        <p:nvPicPr>
          <p:cNvPr id="21" name="Picture 21"/>
          <p:cNvPicPr>
            <a:picLocks noChangeAspect="1"/>
          </p:cNvPicPr>
          <p:nvPr/>
        </p:nvPicPr>
        <p:blipFill>
          <a:blip r:embed="rId8"/>
          <a:stretch>
            <a:fillRect/>
          </a:stretch>
        </p:blipFill>
        <p:spPr>
          <a:xfrm>
            <a:off x="2908300" y="4737100"/>
            <a:ext cx="6616700" cy="482600"/>
          </a:xfrm>
          <a:prstGeom prst="rect">
            <a:avLst/>
          </a:prstGeom>
        </p:spPr>
      </p:pic>
      <p:pic>
        <p:nvPicPr>
          <p:cNvPr id="22" name="Picture 22"/>
          <p:cNvPicPr>
            <a:picLocks noChangeAspect="1"/>
          </p:cNvPicPr>
          <p:nvPr/>
        </p:nvPicPr>
        <p:blipFill>
          <a:blip r:embed="rId9"/>
          <a:stretch>
            <a:fillRect/>
          </a:stretch>
        </p:blipFill>
        <p:spPr>
          <a:xfrm rot="5400000">
            <a:off x="3225800" y="7366000"/>
            <a:ext cx="4419600" cy="419100"/>
          </a:xfrm>
          <a:prstGeom prst="rect">
            <a:avLst/>
          </a:prstGeom>
        </p:spPr>
      </p:pic>
      <p:sp>
        <p:nvSpPr>
          <p:cNvPr id="23" name="TextBox 23"/>
          <p:cNvSpPr txBox="1"/>
          <p:nvPr/>
        </p:nvSpPr>
        <p:spPr>
          <a:xfrm>
            <a:off x="16357600" y="5880100"/>
            <a:ext cx="6832600" cy="27305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앞서 탈취한 관리자 ID와 Password를 사용하여 내부 데이터베이스 시스템에 접근함.
테이블 구조 분석을 통해 실시간 통화 녹음 내역을 특정하여 추출 타겟을 확정함.</a:t>
            </a:r>
          </a:p>
        </p:txBody>
      </p:sp>
      <p:sp>
        <p:nvSpPr>
          <p:cNvPr id="24" name="TextBox 24"/>
          <p:cNvSpPr txBox="1"/>
          <p:nvPr/>
        </p:nvSpPr>
        <p:spPr>
          <a:xfrm>
            <a:off x="1943100" y="1409700"/>
            <a:ext cx="20281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연쇄 침투를 통한 지능형 보이스피싱 공격</a:t>
            </a:r>
          </a:p>
        </p:txBody>
      </p:sp>
      <p:sp>
        <p:nvSpPr>
          <p:cNvPr id="25" name="TextBox 14">
            <a:extLst>
              <a:ext uri="{FF2B5EF4-FFF2-40B4-BE49-F238E27FC236}">
                <a16:creationId xmlns:a16="http://schemas.microsoft.com/office/drawing/2014/main" id="{D966EFF2-B2DB-01BC-695C-E10048CFFFA5}"/>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6" name="TextBox 14">
            <a:extLst>
              <a:ext uri="{FF2B5EF4-FFF2-40B4-BE49-F238E27FC236}">
                <a16:creationId xmlns:a16="http://schemas.microsoft.com/office/drawing/2014/main" id="{42CBCF54-C03A-E9F4-3DCF-C95A0AD8171A}"/>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7" name="Picture 2">
            <a:extLst>
              <a:ext uri="{FF2B5EF4-FFF2-40B4-BE49-F238E27FC236}">
                <a16:creationId xmlns:a16="http://schemas.microsoft.com/office/drawing/2014/main" id="{5560898E-446F-1CF7-13F0-AEC24307CAA5}"/>
              </a:ext>
            </a:extLst>
          </p:cNvPr>
          <p:cNvPicPr>
            <a:picLocks noChangeAspect="1"/>
          </p:cNvPicPr>
          <p:nvPr/>
        </p:nvPicPr>
        <p:blipFill>
          <a:blip r:embed="rId10">
            <a:alphaModFix amt="85000"/>
          </a:blip>
          <a:stretch>
            <a:fillRect/>
          </a:stretch>
        </p:blipFill>
        <p:spPr>
          <a:xfrm>
            <a:off x="11201400" y="558800"/>
            <a:ext cx="2705100" cy="444500"/>
          </a:xfrm>
          <a:prstGeom prst="rect">
            <a:avLst/>
          </a:prstGeom>
        </p:spPr>
      </p:pic>
      <p:sp>
        <p:nvSpPr>
          <p:cNvPr id="28" name="TextBox 16">
            <a:extLst>
              <a:ext uri="{FF2B5EF4-FFF2-40B4-BE49-F238E27FC236}">
                <a16:creationId xmlns:a16="http://schemas.microsoft.com/office/drawing/2014/main" id="{6260837A-D8B0-95B1-6D15-10A8B92B55BB}"/>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9" name="TextBox 18">
            <a:extLst>
              <a:ext uri="{FF2B5EF4-FFF2-40B4-BE49-F238E27FC236}">
                <a16:creationId xmlns:a16="http://schemas.microsoft.com/office/drawing/2014/main" id="{68DA7C6D-A28A-291B-87E0-CB72883FFDD4}"/>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30" name="TextBox 19">
            <a:extLst>
              <a:ext uri="{FF2B5EF4-FFF2-40B4-BE49-F238E27FC236}">
                <a16:creationId xmlns:a16="http://schemas.microsoft.com/office/drawing/2014/main" id="{8A9FDC79-2C78-7920-029B-9E9D29C3848D}"/>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31" name="TextBox 20">
            <a:extLst>
              <a:ext uri="{FF2B5EF4-FFF2-40B4-BE49-F238E27FC236}">
                <a16:creationId xmlns:a16="http://schemas.microsoft.com/office/drawing/2014/main" id="{5F5D6A2D-FA83-9C8A-07BF-8FDE234E2498}"/>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10" name="Picture 10"/>
          <p:cNvPicPr>
            <a:picLocks noChangeAspect="1"/>
          </p:cNvPicPr>
          <p:nvPr/>
        </p:nvPicPr>
        <p:blipFill>
          <a:blip r:embed="rId5"/>
          <a:stretch>
            <a:fillRect/>
          </a:stretch>
        </p:blipFill>
        <p:spPr>
          <a:xfrm>
            <a:off x="1485900" y="1612900"/>
            <a:ext cx="88900" cy="850900"/>
          </a:xfrm>
          <a:prstGeom prst="rect">
            <a:avLst/>
          </a:prstGeom>
        </p:spPr>
      </p:pic>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76</a:t>
            </a:r>
          </a:p>
        </p:txBody>
      </p:sp>
      <p:pic>
        <p:nvPicPr>
          <p:cNvPr id="18" name="Picture 18"/>
          <p:cNvPicPr>
            <a:picLocks noChangeAspect="1"/>
          </p:cNvPicPr>
          <p:nvPr/>
        </p:nvPicPr>
        <p:blipFill>
          <a:blip r:embed="rId6"/>
          <a:stretch>
            <a:fillRect/>
          </a:stretch>
        </p:blipFill>
        <p:spPr>
          <a:xfrm>
            <a:off x="2120900" y="4521200"/>
            <a:ext cx="14579600" cy="2044700"/>
          </a:xfrm>
          <a:prstGeom prst="rect">
            <a:avLst/>
          </a:prstGeom>
        </p:spPr>
      </p:pic>
      <p:pic>
        <p:nvPicPr>
          <p:cNvPr id="19" name="Picture 19"/>
          <p:cNvPicPr>
            <a:picLocks noChangeAspect="1"/>
          </p:cNvPicPr>
          <p:nvPr/>
        </p:nvPicPr>
        <p:blipFill>
          <a:blip r:embed="rId7"/>
          <a:stretch>
            <a:fillRect/>
          </a:stretch>
        </p:blipFill>
        <p:spPr>
          <a:xfrm>
            <a:off x="2120900" y="7505700"/>
            <a:ext cx="14566900" cy="2095500"/>
          </a:xfrm>
          <a:prstGeom prst="rect">
            <a:avLst/>
          </a:prstGeom>
        </p:spPr>
      </p:pic>
      <p:pic>
        <p:nvPicPr>
          <p:cNvPr id="20" name="Picture 20"/>
          <p:cNvPicPr>
            <a:picLocks noChangeAspect="1"/>
          </p:cNvPicPr>
          <p:nvPr/>
        </p:nvPicPr>
        <p:blipFill>
          <a:blip r:embed="rId8"/>
          <a:stretch>
            <a:fillRect/>
          </a:stretch>
        </p:blipFill>
        <p:spPr>
          <a:xfrm rot="5400000">
            <a:off x="9029700" y="6832600"/>
            <a:ext cx="749300" cy="393700"/>
          </a:xfrm>
          <a:prstGeom prst="rect">
            <a:avLst/>
          </a:prstGeom>
        </p:spPr>
      </p:pic>
      <p:pic>
        <p:nvPicPr>
          <p:cNvPr id="21" name="Picture 21"/>
          <p:cNvPicPr>
            <a:picLocks noChangeAspect="1"/>
          </p:cNvPicPr>
          <p:nvPr/>
        </p:nvPicPr>
        <p:blipFill>
          <a:blip r:embed="rId9"/>
          <a:stretch>
            <a:fillRect/>
          </a:stretch>
        </p:blipFill>
        <p:spPr>
          <a:xfrm>
            <a:off x="7886700" y="4521200"/>
            <a:ext cx="8813800" cy="596900"/>
          </a:xfrm>
          <a:prstGeom prst="rect">
            <a:avLst/>
          </a:prstGeom>
        </p:spPr>
      </p:pic>
      <p:pic>
        <p:nvPicPr>
          <p:cNvPr id="22" name="Picture 22"/>
          <p:cNvPicPr>
            <a:picLocks noChangeAspect="1"/>
          </p:cNvPicPr>
          <p:nvPr/>
        </p:nvPicPr>
        <p:blipFill>
          <a:blip r:embed="rId10"/>
          <a:stretch>
            <a:fillRect/>
          </a:stretch>
        </p:blipFill>
        <p:spPr>
          <a:xfrm>
            <a:off x="2120900" y="7505700"/>
            <a:ext cx="14579600" cy="889000"/>
          </a:xfrm>
          <a:prstGeom prst="rect">
            <a:avLst/>
          </a:prstGeom>
        </p:spPr>
      </p:pic>
      <p:sp>
        <p:nvSpPr>
          <p:cNvPr id="23" name="TextBox 23"/>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7. 탈취한 데이터를 이용한 보이스피싱 공격</a:t>
            </a:r>
          </a:p>
        </p:txBody>
      </p:sp>
      <p:sp>
        <p:nvSpPr>
          <p:cNvPr id="24" name="TextBox 24"/>
          <p:cNvSpPr txBox="1"/>
          <p:nvPr/>
        </p:nvSpPr>
        <p:spPr>
          <a:xfrm>
            <a:off x="17030700" y="5880100"/>
            <a:ext cx="6159500" cy="21844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탈취한 통화 녹음 데이터를 외부로 전송하기 위해 공격자 서버의 9000번 포트를 활성화하고, 피해자 서버에서 공격자 서버에 데이터를 전송함.</a:t>
            </a:r>
          </a:p>
        </p:txBody>
      </p:sp>
      <p:sp>
        <p:nvSpPr>
          <p:cNvPr id="25" name="TextBox 25"/>
          <p:cNvSpPr txBox="1"/>
          <p:nvPr/>
        </p:nvSpPr>
        <p:spPr>
          <a:xfrm>
            <a:off x="1943100" y="1409700"/>
            <a:ext cx="20281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연쇄 침투를 통한 지능형 보이스피싱 공격</a:t>
            </a:r>
          </a:p>
        </p:txBody>
      </p:sp>
      <p:sp>
        <p:nvSpPr>
          <p:cNvPr id="26" name="TextBox 14">
            <a:extLst>
              <a:ext uri="{FF2B5EF4-FFF2-40B4-BE49-F238E27FC236}">
                <a16:creationId xmlns:a16="http://schemas.microsoft.com/office/drawing/2014/main" id="{75DF595B-1AC8-A491-E5A4-FCDB4151BA05}"/>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7" name="TextBox 14">
            <a:extLst>
              <a:ext uri="{FF2B5EF4-FFF2-40B4-BE49-F238E27FC236}">
                <a16:creationId xmlns:a16="http://schemas.microsoft.com/office/drawing/2014/main" id="{891E9742-512F-89BA-A9F1-7B8930AF4FC5}"/>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8" name="Picture 2">
            <a:extLst>
              <a:ext uri="{FF2B5EF4-FFF2-40B4-BE49-F238E27FC236}">
                <a16:creationId xmlns:a16="http://schemas.microsoft.com/office/drawing/2014/main" id="{E433593A-4586-ED72-55E6-83BA5FF03AF0}"/>
              </a:ext>
            </a:extLst>
          </p:cNvPr>
          <p:cNvPicPr>
            <a:picLocks noChangeAspect="1"/>
          </p:cNvPicPr>
          <p:nvPr/>
        </p:nvPicPr>
        <p:blipFill>
          <a:blip r:embed="rId11">
            <a:alphaModFix amt="85000"/>
          </a:blip>
          <a:stretch>
            <a:fillRect/>
          </a:stretch>
        </p:blipFill>
        <p:spPr>
          <a:xfrm>
            <a:off x="11201400" y="558800"/>
            <a:ext cx="2705100" cy="444500"/>
          </a:xfrm>
          <a:prstGeom prst="rect">
            <a:avLst/>
          </a:prstGeom>
        </p:spPr>
      </p:pic>
      <p:sp>
        <p:nvSpPr>
          <p:cNvPr id="29" name="TextBox 16">
            <a:extLst>
              <a:ext uri="{FF2B5EF4-FFF2-40B4-BE49-F238E27FC236}">
                <a16:creationId xmlns:a16="http://schemas.microsoft.com/office/drawing/2014/main" id="{FCDF1A06-39AE-06E5-6410-6682E880EA7F}"/>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30" name="TextBox 18">
            <a:extLst>
              <a:ext uri="{FF2B5EF4-FFF2-40B4-BE49-F238E27FC236}">
                <a16:creationId xmlns:a16="http://schemas.microsoft.com/office/drawing/2014/main" id="{89E2D2EC-AC7F-6CBF-571D-C26495C84B59}"/>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31" name="TextBox 19">
            <a:extLst>
              <a:ext uri="{FF2B5EF4-FFF2-40B4-BE49-F238E27FC236}">
                <a16:creationId xmlns:a16="http://schemas.microsoft.com/office/drawing/2014/main" id="{1D69420D-D15E-118F-0CEF-C00E433B1830}"/>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32" name="TextBox 20">
            <a:extLst>
              <a:ext uri="{FF2B5EF4-FFF2-40B4-BE49-F238E27FC236}">
                <a16:creationId xmlns:a16="http://schemas.microsoft.com/office/drawing/2014/main" id="{6CCDB20D-AA1C-DC3D-99C6-213DF157CCDD}"/>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3"/>
          <a:stretch>
            <a:fillRect/>
          </a:stretch>
        </p:blipFill>
        <p:spPr>
          <a:xfrm>
            <a:off x="762000" y="1092200"/>
            <a:ext cx="22860000" cy="12700"/>
          </a:xfrm>
          <a:prstGeom prst="rect">
            <a:avLst/>
          </a:prstGeom>
        </p:spPr>
      </p:pic>
      <p:pic>
        <p:nvPicPr>
          <p:cNvPr id="4" name="Picture 4"/>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3"/>
          <a:stretch>
            <a:fillRect/>
          </a:stretch>
        </p:blipFill>
        <p:spPr>
          <a:xfrm>
            <a:off x="723900" y="457200"/>
            <a:ext cx="22860000" cy="12700"/>
          </a:xfrm>
          <a:prstGeom prst="rect">
            <a:avLst/>
          </a:prstGeom>
        </p:spPr>
      </p:pic>
      <p:pic>
        <p:nvPicPr>
          <p:cNvPr id="10" name="Picture 10"/>
          <p:cNvPicPr>
            <a:picLocks noChangeAspect="1"/>
          </p:cNvPicPr>
          <p:nvPr/>
        </p:nvPicPr>
        <p:blipFill>
          <a:blip r:embed="rId5"/>
          <a:stretch>
            <a:fillRect/>
          </a:stretch>
        </p:blipFill>
        <p:spPr>
          <a:xfrm>
            <a:off x="1485900" y="1612900"/>
            <a:ext cx="88900" cy="850900"/>
          </a:xfrm>
          <a:prstGeom prst="rect">
            <a:avLst/>
          </a:prstGeom>
        </p:spPr>
      </p:pic>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77</a:t>
            </a:r>
          </a:p>
        </p:txBody>
      </p:sp>
      <p:sp>
        <p:nvSpPr>
          <p:cNvPr id="18" name="TextBox 18"/>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a:solidFill>
                  <a:srgbClr val="000000"/>
                </a:solidFill>
                <a:latin typeface="Pretendard Medium"/>
                <a:ea typeface="Pretendard Medium"/>
                <a:cs typeface="Pretendard Medium"/>
              </a:rPr>
              <a:t>7. 탈취한 데이터를 이용한 보이스피싱 공격</a:t>
            </a:r>
          </a:p>
        </p:txBody>
      </p:sp>
      <p:pic>
        <p:nvPicPr>
          <p:cNvPr id="19" name="Picture 19"/>
          <p:cNvPicPr>
            <a:picLocks noChangeAspect="1"/>
          </p:cNvPicPr>
          <p:nvPr/>
        </p:nvPicPr>
        <p:blipFill>
          <a:blip r:embed="rId6"/>
          <a:stretch>
            <a:fillRect/>
          </a:stretch>
        </p:blipFill>
        <p:spPr>
          <a:xfrm>
            <a:off x="2120900" y="4292600"/>
            <a:ext cx="14452600" cy="7785100"/>
          </a:xfrm>
          <a:prstGeom prst="rect">
            <a:avLst/>
          </a:prstGeom>
        </p:spPr>
      </p:pic>
      <p:pic>
        <p:nvPicPr>
          <p:cNvPr id="20" name="Picture 20"/>
          <p:cNvPicPr>
            <a:picLocks noChangeAspect="1"/>
          </p:cNvPicPr>
          <p:nvPr/>
        </p:nvPicPr>
        <p:blipFill>
          <a:blip r:embed="rId7"/>
          <a:stretch>
            <a:fillRect/>
          </a:stretch>
        </p:blipFill>
        <p:spPr>
          <a:xfrm>
            <a:off x="2628900" y="10096500"/>
            <a:ext cx="4318000" cy="647700"/>
          </a:xfrm>
          <a:prstGeom prst="rect">
            <a:avLst/>
          </a:prstGeom>
        </p:spPr>
      </p:pic>
      <p:sp>
        <p:nvSpPr>
          <p:cNvPr id="21" name="TextBox 21"/>
          <p:cNvSpPr txBox="1"/>
          <p:nvPr/>
        </p:nvSpPr>
        <p:spPr>
          <a:xfrm>
            <a:off x="17030700" y="5880100"/>
            <a:ext cx="6159500" cy="4356100"/>
          </a:xfrm>
          <a:prstGeom prst="rect">
            <a:avLst/>
          </a:prstGeom>
        </p:spPr>
        <p:txBody>
          <a:bodyPr lIns="0" tIns="0" rIns="0" bIns="0" rtlCol="0" anchor="t"/>
          <a:lstStyle/>
          <a:p>
            <a:pPr lvl="0" algn="l">
              <a:lnSpc>
                <a:spcPct val="116199"/>
              </a:lnSpc>
            </a:pPr>
            <a:r>
              <a:rPr lang="en-US" sz="3066" b="0" i="0" u="none" strike="noStrike">
                <a:solidFill>
                  <a:srgbClr val="000000"/>
                </a:solidFill>
                <a:latin typeface="Pretendard Medium"/>
                <a:ea typeface="Pretendard Medium"/>
                <a:cs typeface="Pretendard Medium"/>
              </a:rPr>
              <a:t>유출된 대규모 통화 녹음 파일을 AI 학습이 가능한 형태로 분류 및 전처리함.</a:t>
            </a:r>
          </a:p>
          <a:p>
            <a:pPr lvl="0" algn="l">
              <a:lnSpc>
                <a:spcPct val="116199"/>
              </a:lnSpc>
            </a:pPr>
            <a:endParaRPr lang="en-US" sz="3066" b="0" i="0" u="none" strike="noStrike">
              <a:solidFill>
                <a:srgbClr val="000000"/>
              </a:solidFill>
              <a:latin typeface="Pretendard Medium"/>
              <a:ea typeface="Pretendard Medium"/>
              <a:cs typeface="Pretendard Medium"/>
            </a:endParaRPr>
          </a:p>
          <a:p>
            <a:pPr lvl="0" algn="l">
              <a:lnSpc>
                <a:spcPct val="116199"/>
              </a:lnSpc>
            </a:pPr>
            <a:r>
              <a:rPr lang="en-US" sz="3066" b="0" i="0" u="none" strike="noStrike">
                <a:solidFill>
                  <a:srgbClr val="000000"/>
                </a:solidFill>
                <a:latin typeface="Pretendard Medium"/>
                <a:ea typeface="Pretendard Medium"/>
                <a:cs typeface="Pretendard Medium"/>
              </a:rPr>
              <a:t>정제된 데이터셋을 딥러닝 기반의 음성 합성 모델에 학습함.</a:t>
            </a:r>
          </a:p>
          <a:p>
            <a:pPr lvl="0" algn="l">
              <a:lnSpc>
                <a:spcPct val="116199"/>
              </a:lnSpc>
            </a:pPr>
            <a:endParaRPr lang="en-US" sz="3066" b="0" i="0" u="none" strike="noStrike">
              <a:solidFill>
                <a:srgbClr val="000000"/>
              </a:solidFill>
              <a:latin typeface="Pretendard Medium"/>
              <a:ea typeface="Pretendard Medium"/>
              <a:cs typeface="Pretendard Medium"/>
            </a:endParaRPr>
          </a:p>
          <a:p>
            <a:pPr lvl="0" algn="l">
              <a:lnSpc>
                <a:spcPct val="116199"/>
              </a:lnSpc>
            </a:pPr>
            <a:r>
              <a:rPr lang="en-US" sz="3066" b="0" i="0" u="none" strike="noStrike">
                <a:solidFill>
                  <a:srgbClr val="000000"/>
                </a:solidFill>
                <a:latin typeface="Pretendard Medium"/>
                <a:ea typeface="Pretendard Medium"/>
                <a:cs typeface="Pretendard Medium"/>
              </a:rPr>
              <a:t>대상자의 목소리를 구분이 불가능한 수준의 공격 자산을 확보함.</a:t>
            </a:r>
          </a:p>
        </p:txBody>
      </p:sp>
      <p:sp>
        <p:nvSpPr>
          <p:cNvPr id="22" name="TextBox 22"/>
          <p:cNvSpPr txBox="1"/>
          <p:nvPr/>
        </p:nvSpPr>
        <p:spPr>
          <a:xfrm>
            <a:off x="1943100" y="1409700"/>
            <a:ext cx="20281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연쇄 침투를 통한 지능형 보이스피싱 공격</a:t>
            </a:r>
          </a:p>
        </p:txBody>
      </p:sp>
      <p:sp>
        <p:nvSpPr>
          <p:cNvPr id="23" name="TextBox 14">
            <a:extLst>
              <a:ext uri="{FF2B5EF4-FFF2-40B4-BE49-F238E27FC236}">
                <a16:creationId xmlns:a16="http://schemas.microsoft.com/office/drawing/2014/main" id="{58E0040B-BE8C-12AB-DBF5-E69742981E71}"/>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4" name="TextBox 14">
            <a:extLst>
              <a:ext uri="{FF2B5EF4-FFF2-40B4-BE49-F238E27FC236}">
                <a16:creationId xmlns:a16="http://schemas.microsoft.com/office/drawing/2014/main" id="{C7197FB8-FBF1-1B74-4C20-20DE6DF04978}"/>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5" name="Picture 2">
            <a:extLst>
              <a:ext uri="{FF2B5EF4-FFF2-40B4-BE49-F238E27FC236}">
                <a16:creationId xmlns:a16="http://schemas.microsoft.com/office/drawing/2014/main" id="{9438B8CE-E5C0-AC9C-F513-8EEE799C9788}"/>
              </a:ext>
            </a:extLst>
          </p:cNvPr>
          <p:cNvPicPr>
            <a:picLocks noChangeAspect="1"/>
          </p:cNvPicPr>
          <p:nvPr/>
        </p:nvPicPr>
        <p:blipFill>
          <a:blip r:embed="rId8">
            <a:alphaModFix amt="85000"/>
          </a:blip>
          <a:stretch>
            <a:fillRect/>
          </a:stretch>
        </p:blipFill>
        <p:spPr>
          <a:xfrm>
            <a:off x="11201400" y="558800"/>
            <a:ext cx="2705100" cy="444500"/>
          </a:xfrm>
          <a:prstGeom prst="rect">
            <a:avLst/>
          </a:prstGeom>
        </p:spPr>
      </p:pic>
      <p:sp>
        <p:nvSpPr>
          <p:cNvPr id="26" name="TextBox 16">
            <a:extLst>
              <a:ext uri="{FF2B5EF4-FFF2-40B4-BE49-F238E27FC236}">
                <a16:creationId xmlns:a16="http://schemas.microsoft.com/office/drawing/2014/main" id="{64FF5FC4-C144-D033-5814-FB6431CCB80B}"/>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7" name="TextBox 18">
            <a:extLst>
              <a:ext uri="{FF2B5EF4-FFF2-40B4-BE49-F238E27FC236}">
                <a16:creationId xmlns:a16="http://schemas.microsoft.com/office/drawing/2014/main" id="{202D66B5-E162-C5C8-4A16-52DA8FAB01F7}"/>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28" name="TextBox 19">
            <a:extLst>
              <a:ext uri="{FF2B5EF4-FFF2-40B4-BE49-F238E27FC236}">
                <a16:creationId xmlns:a16="http://schemas.microsoft.com/office/drawing/2014/main" id="{F8CD249C-08BF-AD48-A271-BD987BB1D3DA}"/>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29" name="TextBox 20">
            <a:extLst>
              <a:ext uri="{FF2B5EF4-FFF2-40B4-BE49-F238E27FC236}">
                <a16:creationId xmlns:a16="http://schemas.microsoft.com/office/drawing/2014/main" id="{E27691E3-64A5-DB65-F47C-42B5EF5E623B}"/>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a:extLst>
            <a:ext uri="{FF2B5EF4-FFF2-40B4-BE49-F238E27FC236}">
              <a16:creationId xmlns:a16="http://schemas.microsoft.com/office/drawing/2014/main" id="{40AF65FF-EBC8-170C-B3F7-AF8313DE8AD8}"/>
            </a:ext>
          </a:extLst>
        </p:cNvPr>
        <p:cNvGrpSpPr/>
        <p:nvPr/>
      </p:nvGrpSpPr>
      <p:grpSpPr>
        <a:xfrm>
          <a:off x="0" y="0"/>
          <a:ext cx="0" cy="0"/>
          <a:chOff x="0" y="0"/>
          <a:chExt cx="0" cy="0"/>
        </a:xfrm>
      </p:grpSpPr>
      <p:pic>
        <p:nvPicPr>
          <p:cNvPr id="77" name="Picture 25">
            <a:extLst>
              <a:ext uri="{FF2B5EF4-FFF2-40B4-BE49-F238E27FC236}">
                <a16:creationId xmlns:a16="http://schemas.microsoft.com/office/drawing/2014/main" id="{34F3C021-0386-2AF1-1F82-8F3EF3A21E55}"/>
              </a:ext>
            </a:extLst>
          </p:cNvPr>
          <p:cNvPicPr>
            <a:picLocks noChangeAspect="1"/>
          </p:cNvPicPr>
          <p:nvPr/>
        </p:nvPicPr>
        <p:blipFill>
          <a:blip r:embed="rId3"/>
          <a:stretch>
            <a:fillRect/>
          </a:stretch>
        </p:blipFill>
        <p:spPr>
          <a:xfrm>
            <a:off x="4348711" y="6635068"/>
            <a:ext cx="2885481" cy="2885481"/>
          </a:xfrm>
          <a:prstGeom prst="rect">
            <a:avLst/>
          </a:prstGeom>
          <a:effectLst>
            <a:outerShdw blurRad="189472" dist="79499" dir="2700000">
              <a:srgbClr val="000000">
                <a:alpha val="23000"/>
              </a:srgbClr>
            </a:outerShdw>
          </a:effectLst>
        </p:spPr>
      </p:pic>
      <p:sp>
        <p:nvSpPr>
          <p:cNvPr id="29" name="Google Shape;85;p13">
            <a:extLst>
              <a:ext uri="{FF2B5EF4-FFF2-40B4-BE49-F238E27FC236}">
                <a16:creationId xmlns:a16="http://schemas.microsoft.com/office/drawing/2014/main" id="{E42AEBB5-B00F-851F-0C15-1C77D1704032}"/>
              </a:ext>
            </a:extLst>
          </p:cNvPr>
          <p:cNvSpPr/>
          <p:nvPr/>
        </p:nvSpPr>
        <p:spPr>
          <a:xfrm>
            <a:off x="2570199" y="4917195"/>
            <a:ext cx="6427126" cy="6427126"/>
          </a:xfrm>
          <a:prstGeom prst="roundRect">
            <a:avLst>
              <a:gd name="adj" fmla="val 50000"/>
            </a:avLst>
          </a:prstGeom>
          <a:noFill/>
          <a:ln w="9525" cap="flat" cmpd="sng">
            <a:solidFill>
              <a:srgbClr val="CCCCC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2" name="타원 71">
            <a:extLst>
              <a:ext uri="{FF2B5EF4-FFF2-40B4-BE49-F238E27FC236}">
                <a16:creationId xmlns:a16="http://schemas.microsoft.com/office/drawing/2014/main" id="{EA3AC4A8-45B8-D80D-5998-A88178D8E385}"/>
              </a:ext>
            </a:extLst>
          </p:cNvPr>
          <p:cNvSpPr/>
          <p:nvPr/>
        </p:nvSpPr>
        <p:spPr>
          <a:xfrm>
            <a:off x="8527656" y="6486446"/>
            <a:ext cx="1199304" cy="1225936"/>
          </a:xfrm>
          <a:prstGeom prst="ellipse">
            <a:avLst/>
          </a:prstGeom>
          <a:solidFill>
            <a:srgbClr val="005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3" name="타원 72">
            <a:extLst>
              <a:ext uri="{FF2B5EF4-FFF2-40B4-BE49-F238E27FC236}">
                <a16:creationId xmlns:a16="http://schemas.microsoft.com/office/drawing/2014/main" id="{A3559E5C-0097-BFF3-83F7-263E227537CD}"/>
              </a:ext>
            </a:extLst>
          </p:cNvPr>
          <p:cNvSpPr/>
          <p:nvPr/>
        </p:nvSpPr>
        <p:spPr>
          <a:xfrm>
            <a:off x="7291858" y="9976528"/>
            <a:ext cx="1199304" cy="1225936"/>
          </a:xfrm>
          <a:prstGeom prst="ellipse">
            <a:avLst/>
          </a:prstGeom>
          <a:solidFill>
            <a:srgbClr val="2E6EB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4" name="타원 73">
            <a:extLst>
              <a:ext uri="{FF2B5EF4-FFF2-40B4-BE49-F238E27FC236}">
                <a16:creationId xmlns:a16="http://schemas.microsoft.com/office/drawing/2014/main" id="{0EF66ED1-B536-47CB-96DA-E531CB7B2067}"/>
              </a:ext>
            </a:extLst>
          </p:cNvPr>
          <p:cNvSpPr/>
          <p:nvPr/>
        </p:nvSpPr>
        <p:spPr>
          <a:xfrm>
            <a:off x="3351548" y="9976528"/>
            <a:ext cx="1199304" cy="1225936"/>
          </a:xfrm>
          <a:prstGeom prst="ellipse">
            <a:avLst/>
          </a:prstGeom>
          <a:solidFill>
            <a:srgbClr val="3A7D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5" name="타원 74">
            <a:extLst>
              <a:ext uri="{FF2B5EF4-FFF2-40B4-BE49-F238E27FC236}">
                <a16:creationId xmlns:a16="http://schemas.microsoft.com/office/drawing/2014/main" id="{B6C1D3E0-8B9D-5885-C6D0-E6CF48C3F086}"/>
              </a:ext>
            </a:extLst>
          </p:cNvPr>
          <p:cNvSpPr/>
          <p:nvPr/>
        </p:nvSpPr>
        <p:spPr>
          <a:xfrm>
            <a:off x="1844426" y="6487199"/>
            <a:ext cx="1199304" cy="1225936"/>
          </a:xfrm>
          <a:prstGeom prst="ellipse">
            <a:avLst/>
          </a:prstGeom>
          <a:solidFill>
            <a:srgbClr val="6FA0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 name="Picture 2">
            <a:extLst>
              <a:ext uri="{FF2B5EF4-FFF2-40B4-BE49-F238E27FC236}">
                <a16:creationId xmlns:a16="http://schemas.microsoft.com/office/drawing/2014/main" id="{594F82DC-23B7-B57B-3C9F-894B12F547E0}"/>
              </a:ext>
            </a:extLst>
          </p:cNvPr>
          <p:cNvPicPr>
            <a:picLocks noChangeAspect="1"/>
          </p:cNvPicPr>
          <p:nvPr/>
        </p:nvPicPr>
        <p:blipFill>
          <a:blip r:embed="rId4">
            <a:alphaModFix amt="70000"/>
          </a:blip>
          <a:stretch>
            <a:fillRect/>
          </a:stretch>
        </p:blipFill>
        <p:spPr>
          <a:xfrm>
            <a:off x="16230600" y="-2590800"/>
            <a:ext cx="11442700" cy="11442700"/>
          </a:xfrm>
          <a:prstGeom prst="rect">
            <a:avLst/>
          </a:prstGeom>
        </p:spPr>
      </p:pic>
      <p:pic>
        <p:nvPicPr>
          <p:cNvPr id="3" name="Picture 3">
            <a:extLst>
              <a:ext uri="{FF2B5EF4-FFF2-40B4-BE49-F238E27FC236}">
                <a16:creationId xmlns:a16="http://schemas.microsoft.com/office/drawing/2014/main" id="{4D56232A-0752-7469-2A2A-DFBA5527E56B}"/>
              </a:ext>
            </a:extLst>
          </p:cNvPr>
          <p:cNvPicPr>
            <a:picLocks noChangeAspect="1"/>
          </p:cNvPicPr>
          <p:nvPr/>
        </p:nvPicPr>
        <p:blipFill>
          <a:blip r:embed="rId5"/>
          <a:stretch>
            <a:fillRect/>
          </a:stretch>
        </p:blipFill>
        <p:spPr>
          <a:xfrm>
            <a:off x="762000" y="1092200"/>
            <a:ext cx="22860000" cy="12700"/>
          </a:xfrm>
          <a:prstGeom prst="rect">
            <a:avLst/>
          </a:prstGeom>
        </p:spPr>
      </p:pic>
      <p:pic>
        <p:nvPicPr>
          <p:cNvPr id="4" name="Picture 4">
            <a:extLst>
              <a:ext uri="{FF2B5EF4-FFF2-40B4-BE49-F238E27FC236}">
                <a16:creationId xmlns:a16="http://schemas.microsoft.com/office/drawing/2014/main" id="{34641987-BA2E-61AA-3112-17ACB83DCBFE}"/>
              </a:ext>
            </a:extLst>
          </p:cNvPr>
          <p:cNvPicPr>
            <a:picLocks noChangeAspect="1"/>
          </p:cNvPicPr>
          <p:nvPr/>
        </p:nvPicPr>
        <p:blipFill>
          <a:blip r:embed="rId6"/>
          <a:stretch>
            <a:fillRect/>
          </a:stretch>
        </p:blipFill>
        <p:spPr>
          <a:xfrm rot="5400000">
            <a:off x="3200400" y="787400"/>
            <a:ext cx="635000" cy="12700"/>
          </a:xfrm>
          <a:prstGeom prst="rect">
            <a:avLst/>
          </a:prstGeom>
        </p:spPr>
      </p:pic>
      <p:pic>
        <p:nvPicPr>
          <p:cNvPr id="5" name="Picture 5">
            <a:extLst>
              <a:ext uri="{FF2B5EF4-FFF2-40B4-BE49-F238E27FC236}">
                <a16:creationId xmlns:a16="http://schemas.microsoft.com/office/drawing/2014/main" id="{456AFAD3-638E-37B6-27F9-C3CEFB0EDBAC}"/>
              </a:ext>
            </a:extLst>
          </p:cNvPr>
          <p:cNvPicPr>
            <a:picLocks noChangeAspect="1"/>
          </p:cNvPicPr>
          <p:nvPr/>
        </p:nvPicPr>
        <p:blipFill>
          <a:blip r:embed="rId6"/>
          <a:stretch>
            <a:fillRect/>
          </a:stretch>
        </p:blipFill>
        <p:spPr>
          <a:xfrm rot="5400000">
            <a:off x="22225000" y="787400"/>
            <a:ext cx="635000" cy="12700"/>
          </a:xfrm>
          <a:prstGeom prst="rect">
            <a:avLst/>
          </a:prstGeom>
        </p:spPr>
      </p:pic>
      <p:pic>
        <p:nvPicPr>
          <p:cNvPr id="6" name="Picture 6">
            <a:extLst>
              <a:ext uri="{FF2B5EF4-FFF2-40B4-BE49-F238E27FC236}">
                <a16:creationId xmlns:a16="http://schemas.microsoft.com/office/drawing/2014/main" id="{581F5A75-84FE-5FCF-2AE1-2E10367C6DB5}"/>
              </a:ext>
            </a:extLst>
          </p:cNvPr>
          <p:cNvPicPr>
            <a:picLocks noChangeAspect="1"/>
          </p:cNvPicPr>
          <p:nvPr/>
        </p:nvPicPr>
        <p:blipFill>
          <a:blip r:embed="rId6"/>
          <a:stretch>
            <a:fillRect/>
          </a:stretch>
        </p:blipFill>
        <p:spPr>
          <a:xfrm rot="5400000">
            <a:off x="6337300" y="787400"/>
            <a:ext cx="635000" cy="12700"/>
          </a:xfrm>
          <a:prstGeom prst="rect">
            <a:avLst/>
          </a:prstGeom>
        </p:spPr>
      </p:pic>
      <p:pic>
        <p:nvPicPr>
          <p:cNvPr id="7" name="Picture 7">
            <a:extLst>
              <a:ext uri="{FF2B5EF4-FFF2-40B4-BE49-F238E27FC236}">
                <a16:creationId xmlns:a16="http://schemas.microsoft.com/office/drawing/2014/main" id="{6DF1973E-67B4-30F0-68B4-8E2744886700}"/>
              </a:ext>
            </a:extLst>
          </p:cNvPr>
          <p:cNvPicPr>
            <a:picLocks noChangeAspect="1"/>
          </p:cNvPicPr>
          <p:nvPr/>
        </p:nvPicPr>
        <p:blipFill>
          <a:blip r:embed="rId5"/>
          <a:stretch>
            <a:fillRect/>
          </a:stretch>
        </p:blipFill>
        <p:spPr>
          <a:xfrm>
            <a:off x="723900" y="457200"/>
            <a:ext cx="22860000" cy="12700"/>
          </a:xfrm>
          <a:prstGeom prst="rect">
            <a:avLst/>
          </a:prstGeom>
        </p:spPr>
      </p:pic>
      <p:pic>
        <p:nvPicPr>
          <p:cNvPr id="10" name="Picture 10">
            <a:extLst>
              <a:ext uri="{FF2B5EF4-FFF2-40B4-BE49-F238E27FC236}">
                <a16:creationId xmlns:a16="http://schemas.microsoft.com/office/drawing/2014/main" id="{D63ED3CB-DC8A-9462-BDC8-37C8FAFC70EA}"/>
              </a:ext>
            </a:extLst>
          </p:cNvPr>
          <p:cNvPicPr>
            <a:picLocks noChangeAspect="1"/>
          </p:cNvPicPr>
          <p:nvPr/>
        </p:nvPicPr>
        <p:blipFill>
          <a:blip r:embed="rId7"/>
          <a:stretch>
            <a:fillRect/>
          </a:stretch>
        </p:blipFill>
        <p:spPr>
          <a:xfrm>
            <a:off x="1485900" y="1612900"/>
            <a:ext cx="88900" cy="850900"/>
          </a:xfrm>
          <a:prstGeom prst="rect">
            <a:avLst/>
          </a:prstGeom>
        </p:spPr>
      </p:pic>
      <p:sp>
        <p:nvSpPr>
          <p:cNvPr id="11" name="TextBox 11">
            <a:extLst>
              <a:ext uri="{FF2B5EF4-FFF2-40B4-BE49-F238E27FC236}">
                <a16:creationId xmlns:a16="http://schemas.microsoft.com/office/drawing/2014/main" id="{18320839-C35A-6F3B-636B-382F61D80B6F}"/>
              </a:ext>
            </a:extLst>
          </p:cNvPr>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78</a:t>
            </a:r>
          </a:p>
        </p:txBody>
      </p:sp>
      <p:sp>
        <p:nvSpPr>
          <p:cNvPr id="18" name="TextBox 18">
            <a:extLst>
              <a:ext uri="{FF2B5EF4-FFF2-40B4-BE49-F238E27FC236}">
                <a16:creationId xmlns:a16="http://schemas.microsoft.com/office/drawing/2014/main" id="{413EFDBD-1F5B-9E06-3C0D-C29CEDE811B0}"/>
              </a:ext>
            </a:extLst>
          </p:cNvPr>
          <p:cNvSpPr txBox="1"/>
          <p:nvPr/>
        </p:nvSpPr>
        <p:spPr>
          <a:xfrm>
            <a:off x="1943100" y="1409700"/>
            <a:ext cx="20281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시나리오 보안 대책</a:t>
            </a:r>
          </a:p>
        </p:txBody>
      </p:sp>
      <p:sp>
        <p:nvSpPr>
          <p:cNvPr id="23" name="TextBox 23">
            <a:extLst>
              <a:ext uri="{FF2B5EF4-FFF2-40B4-BE49-F238E27FC236}">
                <a16:creationId xmlns:a16="http://schemas.microsoft.com/office/drawing/2014/main" id="{B77F25B3-43F5-D1CE-1AB8-FBCCB3666E5B}"/>
              </a:ext>
            </a:extLst>
          </p:cNvPr>
          <p:cNvSpPr txBox="1"/>
          <p:nvPr/>
        </p:nvSpPr>
        <p:spPr>
          <a:xfrm>
            <a:off x="1943100" y="2774783"/>
            <a:ext cx="4584700" cy="685800"/>
          </a:xfrm>
          <a:prstGeom prst="rect">
            <a:avLst/>
          </a:prstGeom>
        </p:spPr>
        <p:txBody>
          <a:bodyPr lIns="0" tIns="0" rIns="0" bIns="0" rtlCol="0" anchor="t"/>
          <a:lstStyle/>
          <a:p>
            <a:pPr lvl="0" algn="ctr">
              <a:lnSpc>
                <a:spcPct val="116199"/>
              </a:lnSpc>
            </a:pPr>
            <a:r>
              <a:rPr lang="en-US" sz="3857" b="1" i="0" u="none" strike="noStrike" dirty="0">
                <a:solidFill>
                  <a:srgbClr val="000000"/>
                </a:solidFill>
                <a:latin typeface="Pretendard Bold"/>
                <a:ea typeface="Pretendard Bold"/>
                <a:cs typeface="Pretendard Bold"/>
              </a:rPr>
              <a:t>Zero Trust </a:t>
            </a:r>
            <a:r>
              <a:rPr lang="en-US" sz="3857" b="1" i="0" u="none" strike="noStrike" dirty="0" err="1">
                <a:solidFill>
                  <a:srgbClr val="000000"/>
                </a:solidFill>
                <a:latin typeface="Pretendard Bold"/>
                <a:ea typeface="Pretendard Bold"/>
                <a:cs typeface="Pretendard Bold"/>
              </a:rPr>
              <a:t>기반</a:t>
            </a:r>
            <a:r>
              <a:rPr lang="en-US" sz="3857" b="1" i="0" u="none" strike="noStrike" dirty="0">
                <a:solidFill>
                  <a:srgbClr val="000000"/>
                </a:solidFill>
                <a:latin typeface="Pretendard Bold"/>
                <a:ea typeface="Pretendard Bold"/>
                <a:cs typeface="Pretendard Bold"/>
              </a:rPr>
              <a:t> </a:t>
            </a:r>
            <a:r>
              <a:rPr lang="en-US" sz="3857" b="1" i="0" u="none" strike="noStrike" dirty="0" err="1">
                <a:solidFill>
                  <a:srgbClr val="000000"/>
                </a:solidFill>
                <a:latin typeface="Pretendard Bold"/>
                <a:ea typeface="Pretendard Bold"/>
                <a:cs typeface="Pretendard Bold"/>
              </a:rPr>
              <a:t>설계</a:t>
            </a:r>
            <a:endParaRPr lang="en-US" sz="3857" b="1" i="0" u="none" strike="noStrike" dirty="0">
              <a:solidFill>
                <a:srgbClr val="000000"/>
              </a:solidFill>
              <a:latin typeface="Pretendard Bold"/>
              <a:ea typeface="Pretendard Bold"/>
              <a:cs typeface="Pretendard Bold"/>
            </a:endParaRPr>
          </a:p>
        </p:txBody>
      </p:sp>
      <p:grpSp>
        <p:nvGrpSpPr>
          <p:cNvPr id="25" name="그룹 24">
            <a:extLst>
              <a:ext uri="{FF2B5EF4-FFF2-40B4-BE49-F238E27FC236}">
                <a16:creationId xmlns:a16="http://schemas.microsoft.com/office/drawing/2014/main" id="{1DE17454-F0BB-2776-C589-B5B96C9659F9}"/>
              </a:ext>
            </a:extLst>
          </p:cNvPr>
          <p:cNvGrpSpPr/>
          <p:nvPr/>
        </p:nvGrpSpPr>
        <p:grpSpPr>
          <a:xfrm>
            <a:off x="11197891" y="3670304"/>
            <a:ext cx="11350959" cy="2112681"/>
            <a:chOff x="11888620" y="3517900"/>
            <a:chExt cx="11350959" cy="2112681"/>
          </a:xfrm>
          <a:effectLst>
            <a:outerShdw blurRad="139700" dist="38100" dir="18900000" algn="tl" rotWithShape="0">
              <a:prstClr val="black">
                <a:alpha val="33000"/>
              </a:prstClr>
            </a:outerShdw>
          </a:effectLst>
        </p:grpSpPr>
        <p:pic>
          <p:nvPicPr>
            <p:cNvPr id="20" name="Picture 20">
              <a:extLst>
                <a:ext uri="{FF2B5EF4-FFF2-40B4-BE49-F238E27FC236}">
                  <a16:creationId xmlns:a16="http://schemas.microsoft.com/office/drawing/2014/main" id="{96DEAB87-1D87-A283-A56A-7851077AEC6E}"/>
                </a:ext>
              </a:extLst>
            </p:cNvPr>
            <p:cNvPicPr>
              <a:picLocks noChangeAspect="1"/>
            </p:cNvPicPr>
            <p:nvPr/>
          </p:nvPicPr>
          <p:blipFill>
            <a:blip r:embed="rId8"/>
            <a:stretch>
              <a:fillRect/>
            </a:stretch>
          </p:blipFill>
          <p:spPr>
            <a:xfrm>
              <a:off x="21864097" y="4520213"/>
              <a:ext cx="266700" cy="203200"/>
            </a:xfrm>
            <a:prstGeom prst="rect">
              <a:avLst/>
            </a:prstGeom>
          </p:spPr>
        </p:pic>
        <p:pic>
          <p:nvPicPr>
            <p:cNvPr id="36" name="Picture 21" descr="스크린샷, 직사각형, 프레임이(가) 표시된 사진&#10;&#10;AI 생성 콘텐츠는 정확하지 않을 수 있습니다.">
              <a:extLst>
                <a:ext uri="{FF2B5EF4-FFF2-40B4-BE49-F238E27FC236}">
                  <a16:creationId xmlns:a16="http://schemas.microsoft.com/office/drawing/2014/main" id="{1A019FD0-5AE4-ABAE-5C68-D20AF59E7FC5}"/>
                </a:ext>
              </a:extLst>
            </p:cNvPr>
            <p:cNvPicPr>
              <a:picLocks noChangeAspect="1"/>
            </p:cNvPicPr>
            <p:nvPr/>
          </p:nvPicPr>
          <p:blipFill>
            <a:blip r:embed="rId9"/>
            <a:stretch>
              <a:fillRect/>
            </a:stretch>
          </p:blipFill>
          <p:spPr>
            <a:xfrm>
              <a:off x="11888620" y="3517900"/>
              <a:ext cx="11350959" cy="2108200"/>
            </a:xfrm>
            <a:prstGeom prst="rect">
              <a:avLst/>
            </a:prstGeom>
            <a:effectLst>
              <a:outerShdw blurRad="93663" dist="86458" dir="2700000">
                <a:srgbClr val="1A7AE1">
                  <a:alpha val="15000"/>
                </a:srgbClr>
              </a:outerShdw>
            </a:effectLst>
          </p:spPr>
        </p:pic>
        <p:pic>
          <p:nvPicPr>
            <p:cNvPr id="37" name="Picture 10">
              <a:extLst>
                <a:ext uri="{FF2B5EF4-FFF2-40B4-BE49-F238E27FC236}">
                  <a16:creationId xmlns:a16="http://schemas.microsoft.com/office/drawing/2014/main" id="{F3E413F6-938E-7ECA-79AF-C3C45609D91D}"/>
                </a:ext>
              </a:extLst>
            </p:cNvPr>
            <p:cNvPicPr>
              <a:picLocks noChangeAspect="1"/>
            </p:cNvPicPr>
            <p:nvPr/>
          </p:nvPicPr>
          <p:blipFill>
            <a:blip r:embed="rId10"/>
            <a:stretch>
              <a:fillRect/>
            </a:stretch>
          </p:blipFill>
          <p:spPr>
            <a:xfrm>
              <a:off x="11890264" y="3522381"/>
              <a:ext cx="139700" cy="2108200"/>
            </a:xfrm>
            <a:prstGeom prst="rect">
              <a:avLst/>
            </a:prstGeom>
          </p:spPr>
        </p:pic>
        <p:sp>
          <p:nvSpPr>
            <p:cNvPr id="39" name="TextBox 38">
              <a:extLst>
                <a:ext uri="{FF2B5EF4-FFF2-40B4-BE49-F238E27FC236}">
                  <a16:creationId xmlns:a16="http://schemas.microsoft.com/office/drawing/2014/main" id="{84C9FD4D-4377-D90C-8846-99F5F151674D}"/>
                </a:ext>
              </a:extLst>
            </p:cNvPr>
            <p:cNvSpPr txBox="1"/>
            <p:nvPr/>
          </p:nvSpPr>
          <p:spPr>
            <a:xfrm>
              <a:off x="13708064" y="3732525"/>
              <a:ext cx="8289383"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i="0" u="none" strike="noStrike" dirty="0" err="1">
                  <a:solidFill>
                    <a:srgbClr val="000000"/>
                  </a:solidFill>
                  <a:latin typeface="Pretendard Bold"/>
                  <a:ea typeface="Pretendard Bold"/>
                  <a:cs typeface="Arial"/>
                </a:rPr>
                <a:t>절대</a:t>
              </a:r>
              <a:r>
                <a:rPr lang="en-US" sz="3200" b="1" i="0" u="none" strike="noStrike" dirty="0">
                  <a:solidFill>
                    <a:srgbClr val="000000"/>
                  </a:solidFill>
                  <a:latin typeface="Pretendard Bold"/>
                  <a:ea typeface="Pretendard Bold"/>
                  <a:cs typeface="Arial"/>
                </a:rPr>
                <a:t> </a:t>
              </a:r>
              <a:r>
                <a:rPr lang="en-US" sz="3200" b="1" i="0" u="none" strike="noStrike" dirty="0" err="1">
                  <a:solidFill>
                    <a:srgbClr val="000000"/>
                  </a:solidFill>
                  <a:latin typeface="Pretendard Bold"/>
                  <a:ea typeface="Pretendard Bold"/>
                  <a:cs typeface="Arial"/>
                </a:rPr>
                <a:t>신뢰하지</a:t>
              </a:r>
              <a:r>
                <a:rPr lang="en-US" sz="3200" b="1" i="0" u="none" strike="noStrike" dirty="0">
                  <a:solidFill>
                    <a:srgbClr val="000000"/>
                  </a:solidFill>
                  <a:latin typeface="Pretendard Bold"/>
                  <a:ea typeface="Pretendard Bold"/>
                  <a:cs typeface="Arial"/>
                </a:rPr>
                <a:t> </a:t>
              </a:r>
              <a:r>
                <a:rPr lang="en-US" sz="3200" b="1" i="0" u="none" strike="noStrike" dirty="0" err="1">
                  <a:solidFill>
                    <a:srgbClr val="000000"/>
                  </a:solidFill>
                  <a:latin typeface="Pretendard Bold"/>
                  <a:ea typeface="Pretendard Bold"/>
                  <a:cs typeface="Arial"/>
                </a:rPr>
                <a:t>말고</a:t>
              </a:r>
              <a:r>
                <a:rPr lang="en-US" sz="3200" b="1" i="0" u="none" strike="noStrike" dirty="0">
                  <a:solidFill>
                    <a:srgbClr val="000000"/>
                  </a:solidFill>
                  <a:latin typeface="Pretendard Bold"/>
                  <a:ea typeface="Pretendard Bold"/>
                  <a:cs typeface="Arial"/>
                </a:rPr>
                <a:t> </a:t>
              </a:r>
              <a:r>
                <a:rPr lang="en-US" sz="3200" b="1" i="0" u="none" strike="noStrike" dirty="0" err="1">
                  <a:solidFill>
                    <a:srgbClr val="000000"/>
                  </a:solidFill>
                  <a:latin typeface="Pretendard Bold"/>
                  <a:ea typeface="Pretendard Bold"/>
                  <a:cs typeface="Arial"/>
                </a:rPr>
                <a:t>항상</a:t>
              </a:r>
              <a:r>
                <a:rPr lang="en-US" sz="3200" b="1" i="0" u="none" strike="noStrike" dirty="0">
                  <a:solidFill>
                    <a:srgbClr val="000000"/>
                  </a:solidFill>
                  <a:latin typeface="Pretendard Bold"/>
                  <a:ea typeface="Pretendard Bold"/>
                  <a:cs typeface="Arial"/>
                </a:rPr>
                <a:t> </a:t>
              </a:r>
              <a:r>
                <a:rPr lang="en-US" sz="3200" b="1" i="0" u="none" strike="noStrike" dirty="0" err="1">
                  <a:solidFill>
                    <a:srgbClr val="000000"/>
                  </a:solidFill>
                  <a:latin typeface="Pretendard Bold"/>
                  <a:ea typeface="Pretendard Bold"/>
                  <a:cs typeface="Arial"/>
                </a:rPr>
                <a:t>검증</a:t>
              </a:r>
              <a:r>
                <a:rPr lang="en-US" sz="3200" b="1" i="0" u="none" strike="noStrike" dirty="0">
                  <a:solidFill>
                    <a:srgbClr val="000000"/>
                  </a:solidFill>
                  <a:latin typeface="Pretendard Bold"/>
                  <a:ea typeface="Pretendard Bold"/>
                  <a:cs typeface="Arial"/>
                </a:rPr>
                <a:t> (Verify Explicitly)</a:t>
              </a:r>
              <a:endParaRPr lang="ko-KR" altLang="en-US" sz="3200" b="1" dirty="0">
                <a:latin typeface="Pretendard Bold"/>
                <a:ea typeface="Pretendard Bold"/>
                <a:cs typeface="Arial"/>
              </a:endParaRPr>
            </a:p>
          </p:txBody>
        </p:sp>
        <p:sp>
          <p:nvSpPr>
            <p:cNvPr id="40" name="TextBox 39">
              <a:extLst>
                <a:ext uri="{FF2B5EF4-FFF2-40B4-BE49-F238E27FC236}">
                  <a16:creationId xmlns:a16="http://schemas.microsoft.com/office/drawing/2014/main" id="{E27899FC-58F1-A402-45DE-8AD923F75F18}"/>
                </a:ext>
              </a:extLst>
            </p:cNvPr>
            <p:cNvSpPr txBox="1"/>
            <p:nvPr/>
          </p:nvSpPr>
          <p:spPr>
            <a:xfrm>
              <a:off x="12206571" y="4469565"/>
              <a:ext cx="10018430" cy="9140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670" b="0" i="0" u="none" strike="noStrike" dirty="0" err="1">
                  <a:solidFill>
                    <a:srgbClr val="333333"/>
                  </a:solidFill>
                  <a:latin typeface="Pretendard Medium"/>
                  <a:ea typeface="Pretendard Medium"/>
                  <a:cs typeface="Noto Sans KR"/>
                </a:rPr>
                <a:t>사용자</a:t>
              </a:r>
              <a:r>
                <a:rPr lang="en-US" sz="2670" b="0" i="0" u="none" strike="noStrike" dirty="0">
                  <a:solidFill>
                    <a:srgbClr val="333333"/>
                  </a:solidFill>
                  <a:latin typeface="Pretendard Medium"/>
                  <a:ea typeface="Pretendard Medium"/>
                  <a:cs typeface="Noto Sans KR"/>
                </a:rPr>
                <a:t>, </a:t>
              </a:r>
              <a:r>
                <a:rPr lang="en-US" sz="2670" b="0" i="0" u="none" strike="noStrike" dirty="0" err="1">
                  <a:solidFill>
                    <a:srgbClr val="333333"/>
                  </a:solidFill>
                  <a:latin typeface="Pretendard Medium"/>
                  <a:ea typeface="Pretendard Medium"/>
                  <a:cs typeface="Noto Sans KR"/>
                </a:rPr>
                <a:t>기기</a:t>
              </a:r>
              <a:r>
                <a:rPr lang="en-US" sz="2670" b="0" i="0" u="none" strike="noStrike" dirty="0">
                  <a:solidFill>
                    <a:srgbClr val="333333"/>
                  </a:solidFill>
                  <a:latin typeface="Pretendard Medium"/>
                  <a:ea typeface="Pretendard Medium"/>
                  <a:cs typeface="Noto Sans KR"/>
                </a:rPr>
                <a:t>, </a:t>
              </a:r>
              <a:r>
                <a:rPr lang="en-US" sz="2670" b="0" i="0" u="none" strike="noStrike" dirty="0" err="1">
                  <a:solidFill>
                    <a:srgbClr val="333333"/>
                  </a:solidFill>
                  <a:latin typeface="Pretendard Medium"/>
                  <a:ea typeface="Pretendard Medium"/>
                  <a:cs typeface="Noto Sans KR"/>
                </a:rPr>
                <a:t>네트워크</a:t>
              </a:r>
              <a:r>
                <a:rPr lang="en-US" sz="2670" b="0" i="0" u="none" strike="noStrike" dirty="0">
                  <a:solidFill>
                    <a:srgbClr val="333333"/>
                  </a:solidFill>
                  <a:latin typeface="Pretendard Medium"/>
                  <a:ea typeface="Pretendard Medium"/>
                  <a:cs typeface="Noto Sans KR"/>
                </a:rPr>
                <a:t> </a:t>
              </a:r>
              <a:r>
                <a:rPr lang="en-US" sz="2670" b="0" i="0" u="none" strike="noStrike" dirty="0" err="1">
                  <a:solidFill>
                    <a:srgbClr val="333333"/>
                  </a:solidFill>
                  <a:latin typeface="Pretendard Medium"/>
                  <a:ea typeface="Pretendard Medium"/>
                  <a:cs typeface="Noto Sans KR"/>
                </a:rPr>
                <a:t>위치에</a:t>
              </a:r>
              <a:r>
                <a:rPr lang="en-US" sz="2670" b="0" i="0" u="none" strike="noStrike" dirty="0">
                  <a:solidFill>
                    <a:srgbClr val="333333"/>
                  </a:solidFill>
                  <a:latin typeface="Pretendard Medium"/>
                  <a:ea typeface="Pretendard Medium"/>
                  <a:cs typeface="Noto Sans KR"/>
                </a:rPr>
                <a:t> </a:t>
              </a:r>
              <a:r>
                <a:rPr lang="en-US" sz="2670" b="0" i="0" u="none" strike="noStrike" dirty="0" err="1">
                  <a:solidFill>
                    <a:srgbClr val="333333"/>
                  </a:solidFill>
                  <a:latin typeface="Pretendard Medium"/>
                  <a:ea typeface="Pretendard Medium"/>
                  <a:cs typeface="Noto Sans KR"/>
                </a:rPr>
                <a:t>관계없이</a:t>
              </a:r>
              <a:r>
                <a:rPr lang="en-US" sz="2670" b="0" i="0" u="none" strike="noStrike" dirty="0">
                  <a:solidFill>
                    <a:srgbClr val="333333"/>
                  </a:solidFill>
                  <a:latin typeface="Pretendard Medium"/>
                  <a:ea typeface="Pretendard Medium"/>
                  <a:cs typeface="Noto Sans KR"/>
                </a:rPr>
                <a:t> </a:t>
              </a:r>
              <a:r>
                <a:rPr lang="en-US" sz="2670" b="0" i="0" u="none" strike="noStrike" dirty="0" err="1">
                  <a:solidFill>
                    <a:srgbClr val="333333"/>
                  </a:solidFill>
                  <a:latin typeface="Pretendard Medium"/>
                  <a:ea typeface="Pretendard Medium"/>
                  <a:cs typeface="Noto Sans KR"/>
                </a:rPr>
                <a:t>모든</a:t>
              </a:r>
              <a:r>
                <a:rPr lang="en-US" sz="2670" b="0" i="0" u="none" strike="noStrike" dirty="0">
                  <a:solidFill>
                    <a:srgbClr val="333333"/>
                  </a:solidFill>
                  <a:latin typeface="Pretendard Medium"/>
                  <a:ea typeface="Pretendard Medium"/>
                  <a:cs typeface="Noto Sans KR"/>
                </a:rPr>
                <a:t> </a:t>
              </a:r>
              <a:r>
                <a:rPr lang="en-US" sz="2670" b="0" i="0" u="none" strike="noStrike" dirty="0" err="1">
                  <a:solidFill>
                    <a:srgbClr val="333333"/>
                  </a:solidFill>
                  <a:latin typeface="Pretendard Medium"/>
                  <a:ea typeface="Pretendard Medium"/>
                  <a:cs typeface="Noto Sans KR"/>
                </a:rPr>
                <a:t>접근</a:t>
              </a:r>
              <a:r>
                <a:rPr lang="en-US" sz="2670" b="0" i="0" u="none" strike="noStrike" dirty="0">
                  <a:solidFill>
                    <a:srgbClr val="333333"/>
                  </a:solidFill>
                  <a:latin typeface="Pretendard Medium"/>
                  <a:ea typeface="Pretendard Medium"/>
                  <a:cs typeface="Noto Sans KR"/>
                </a:rPr>
                <a:t> </a:t>
              </a:r>
              <a:r>
                <a:rPr lang="en-US" sz="2670" b="0" i="0" u="none" strike="noStrike" dirty="0" err="1">
                  <a:solidFill>
                    <a:srgbClr val="333333"/>
                  </a:solidFill>
                  <a:latin typeface="Pretendard Medium"/>
                  <a:ea typeface="Pretendard Medium"/>
                  <a:cs typeface="Noto Sans KR"/>
                </a:rPr>
                <a:t>요청을</a:t>
              </a:r>
              <a:r>
                <a:rPr lang="en-US" sz="2670" b="0" i="0" u="none" strike="noStrike" dirty="0">
                  <a:solidFill>
                    <a:srgbClr val="333333"/>
                  </a:solidFill>
                  <a:latin typeface="Pretendard Medium"/>
                  <a:ea typeface="Pretendard Medium"/>
                  <a:cs typeface="Noto Sans KR"/>
                </a:rPr>
                <a:t> </a:t>
              </a:r>
              <a:r>
                <a:rPr lang="en-US" sz="2670" b="0" i="0" u="none" strike="noStrike" dirty="0" err="1">
                  <a:solidFill>
                    <a:srgbClr val="333333"/>
                  </a:solidFill>
                  <a:latin typeface="Pretendard Medium"/>
                  <a:ea typeface="Pretendard Medium"/>
                  <a:cs typeface="Noto Sans KR"/>
                </a:rPr>
                <a:t>신뢰하지</a:t>
              </a:r>
              <a:r>
                <a:rPr lang="en-US" sz="2670" b="0" i="0" u="none" strike="noStrike" dirty="0">
                  <a:solidFill>
                    <a:srgbClr val="333333"/>
                  </a:solidFill>
                  <a:latin typeface="Pretendard Medium"/>
                  <a:ea typeface="Pretendard Medium"/>
                  <a:cs typeface="Noto Sans KR"/>
                </a:rPr>
                <a:t> </a:t>
              </a:r>
              <a:r>
                <a:rPr lang="en-US" sz="2670" b="0" i="0" u="none" strike="noStrike" dirty="0" err="1">
                  <a:solidFill>
                    <a:srgbClr val="333333"/>
                  </a:solidFill>
                  <a:latin typeface="Pretendard Medium"/>
                  <a:ea typeface="Pretendard Medium"/>
                  <a:cs typeface="Noto Sans KR"/>
                </a:rPr>
                <a:t>않고</a:t>
              </a:r>
              <a:r>
                <a:rPr lang="en-US" sz="2670" b="0" i="0" u="none" strike="noStrike" dirty="0">
                  <a:solidFill>
                    <a:srgbClr val="333333"/>
                  </a:solidFill>
                  <a:latin typeface="Pretendard Medium"/>
                  <a:ea typeface="Pretendard Medium"/>
                  <a:cs typeface="Noto Sans KR"/>
                </a:rPr>
                <a:t>, </a:t>
              </a:r>
              <a:r>
                <a:rPr lang="en-US" sz="2670" b="0" i="0" u="none" strike="noStrike" dirty="0" err="1">
                  <a:solidFill>
                    <a:srgbClr val="333333"/>
                  </a:solidFill>
                  <a:latin typeface="Pretendard Medium"/>
                  <a:ea typeface="Pretendard Medium"/>
                  <a:cs typeface="Noto Sans KR"/>
                </a:rPr>
                <a:t>지속적으로</a:t>
              </a:r>
              <a:r>
                <a:rPr lang="en-US" sz="2670" b="0" i="0" u="none" strike="noStrike" dirty="0">
                  <a:solidFill>
                    <a:srgbClr val="333333"/>
                  </a:solidFill>
                  <a:latin typeface="Pretendard Medium"/>
                  <a:ea typeface="Pretendard Medium"/>
                  <a:cs typeface="Noto Sans KR"/>
                </a:rPr>
                <a:t> </a:t>
              </a:r>
              <a:r>
                <a:rPr lang="en-US" sz="2670" b="0" i="0" u="none" strike="noStrike" dirty="0" err="1">
                  <a:solidFill>
                    <a:srgbClr val="333333"/>
                  </a:solidFill>
                  <a:latin typeface="Pretendard Medium"/>
                  <a:ea typeface="Pretendard Medium"/>
                  <a:cs typeface="Noto Sans KR"/>
                </a:rPr>
                <a:t>신원과</a:t>
              </a:r>
              <a:r>
                <a:rPr lang="en-US" sz="2670" b="0" i="0" u="none" strike="noStrike" dirty="0">
                  <a:solidFill>
                    <a:srgbClr val="333333"/>
                  </a:solidFill>
                  <a:latin typeface="Pretendard Medium"/>
                  <a:ea typeface="Pretendard Medium"/>
                  <a:cs typeface="Noto Sans KR"/>
                </a:rPr>
                <a:t> </a:t>
              </a:r>
              <a:r>
                <a:rPr lang="en-US" sz="2670" b="0" i="0" u="none" strike="noStrike" dirty="0" err="1">
                  <a:solidFill>
                    <a:srgbClr val="333333"/>
                  </a:solidFill>
                  <a:latin typeface="Pretendard Medium"/>
                  <a:ea typeface="Pretendard Medium"/>
                  <a:cs typeface="Noto Sans KR"/>
                </a:rPr>
                <a:t>권한을</a:t>
              </a:r>
              <a:r>
                <a:rPr lang="en-US" sz="2670" b="0" i="0" u="none" strike="noStrike" dirty="0">
                  <a:solidFill>
                    <a:srgbClr val="333333"/>
                  </a:solidFill>
                  <a:latin typeface="Pretendard Medium"/>
                  <a:ea typeface="Pretendard Medium"/>
                  <a:cs typeface="Noto Sans KR"/>
                </a:rPr>
                <a:t> </a:t>
              </a:r>
              <a:r>
                <a:rPr lang="en-US" sz="2670" b="0" i="0" u="none" strike="noStrike" dirty="0" err="1">
                  <a:solidFill>
                    <a:srgbClr val="333333"/>
                  </a:solidFill>
                  <a:latin typeface="Pretendard Medium"/>
                  <a:ea typeface="Pretendard Medium"/>
                  <a:cs typeface="Noto Sans KR"/>
                </a:rPr>
                <a:t>확인</a:t>
              </a:r>
              <a:endParaRPr lang="ko-KR" altLang="en-US" sz="2670" dirty="0">
                <a:latin typeface="Pretendard Medium"/>
                <a:ea typeface="Pretendard Medium"/>
              </a:endParaRPr>
            </a:p>
          </p:txBody>
        </p:sp>
        <p:pic>
          <p:nvPicPr>
            <p:cNvPr id="19" name="Picture 12">
              <a:extLst>
                <a:ext uri="{FF2B5EF4-FFF2-40B4-BE49-F238E27FC236}">
                  <a16:creationId xmlns:a16="http://schemas.microsoft.com/office/drawing/2014/main" id="{43A5E445-3355-132C-F80E-DB7900F1EB45}"/>
                </a:ext>
              </a:extLst>
            </p:cNvPr>
            <p:cNvPicPr>
              <a:picLocks noChangeAspect="1"/>
            </p:cNvPicPr>
            <p:nvPr/>
          </p:nvPicPr>
          <p:blipFill>
            <a:blip r:embed="rId11">
              <a:alphaModFix amt="85000"/>
            </a:blip>
            <a:stretch>
              <a:fillRect/>
            </a:stretch>
          </p:blipFill>
          <p:spPr>
            <a:xfrm>
              <a:off x="12202133" y="3803260"/>
              <a:ext cx="1435100" cy="472659"/>
            </a:xfrm>
            <a:prstGeom prst="rect">
              <a:avLst/>
            </a:prstGeom>
          </p:spPr>
        </p:pic>
        <p:sp>
          <p:nvSpPr>
            <p:cNvPr id="21" name="TextBox 20">
              <a:extLst>
                <a:ext uri="{FF2B5EF4-FFF2-40B4-BE49-F238E27FC236}">
                  <a16:creationId xmlns:a16="http://schemas.microsoft.com/office/drawing/2014/main" id="{B5BE21C6-A0C1-1019-C979-BC2D334724A8}"/>
                </a:ext>
              </a:extLst>
            </p:cNvPr>
            <p:cNvSpPr txBox="1"/>
            <p:nvPr/>
          </p:nvSpPr>
          <p:spPr>
            <a:xfrm>
              <a:off x="12415761" y="3791754"/>
              <a:ext cx="1078676" cy="5032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altLang="en-US" sz="2670" b="0" i="0" u="none" strike="noStrike" dirty="0">
                  <a:solidFill>
                    <a:srgbClr val="333333"/>
                  </a:solidFill>
                  <a:latin typeface="Pretendard Medium"/>
                  <a:ea typeface="Pretendard Medium"/>
                  <a:cs typeface="Noto Sans KR"/>
                </a:rPr>
                <a:t>원칙 </a:t>
              </a:r>
              <a:r>
                <a:rPr lang="en-US" altLang="ko-KR" sz="2670" b="0" i="0" u="none" strike="noStrike" dirty="0">
                  <a:solidFill>
                    <a:srgbClr val="333333"/>
                  </a:solidFill>
                  <a:latin typeface="Pretendard Medium"/>
                  <a:ea typeface="Pretendard Medium"/>
                  <a:cs typeface="Noto Sans KR"/>
                </a:rPr>
                <a:t>1</a:t>
              </a:r>
              <a:endParaRPr lang="ko-KR" altLang="en-US" sz="2670" dirty="0">
                <a:latin typeface="Pretendard Medium"/>
                <a:ea typeface="Pretendard Medium"/>
              </a:endParaRPr>
            </a:p>
          </p:txBody>
        </p:sp>
      </p:grpSp>
      <p:grpSp>
        <p:nvGrpSpPr>
          <p:cNvPr id="26" name="그룹 25">
            <a:extLst>
              <a:ext uri="{FF2B5EF4-FFF2-40B4-BE49-F238E27FC236}">
                <a16:creationId xmlns:a16="http://schemas.microsoft.com/office/drawing/2014/main" id="{6E13C370-61A6-64CA-BA34-CD5B7D607D8A}"/>
              </a:ext>
            </a:extLst>
          </p:cNvPr>
          <p:cNvGrpSpPr/>
          <p:nvPr/>
        </p:nvGrpSpPr>
        <p:grpSpPr>
          <a:xfrm>
            <a:off x="11197891" y="6629404"/>
            <a:ext cx="11350959" cy="2112681"/>
            <a:chOff x="11888620" y="6477000"/>
            <a:chExt cx="11350959" cy="2112681"/>
          </a:xfrm>
          <a:effectLst>
            <a:outerShdw blurRad="139700" dist="38100" dir="18900000" algn="ctr" rotWithShape="0">
              <a:schemeClr val="tx1">
                <a:alpha val="33000"/>
              </a:schemeClr>
            </a:outerShdw>
          </a:effectLst>
        </p:grpSpPr>
        <p:pic>
          <p:nvPicPr>
            <p:cNvPr id="34" name="Picture 20">
              <a:extLst>
                <a:ext uri="{FF2B5EF4-FFF2-40B4-BE49-F238E27FC236}">
                  <a16:creationId xmlns:a16="http://schemas.microsoft.com/office/drawing/2014/main" id="{2EEC0CAE-D577-B3BF-BE37-65CA71C8E8F5}"/>
                </a:ext>
              </a:extLst>
            </p:cNvPr>
            <p:cNvPicPr>
              <a:picLocks noChangeAspect="1"/>
            </p:cNvPicPr>
            <p:nvPr/>
          </p:nvPicPr>
          <p:blipFill>
            <a:blip r:embed="rId8"/>
            <a:stretch>
              <a:fillRect/>
            </a:stretch>
          </p:blipFill>
          <p:spPr>
            <a:xfrm>
              <a:off x="21864097" y="7479313"/>
              <a:ext cx="266700" cy="203200"/>
            </a:xfrm>
            <a:prstGeom prst="rect">
              <a:avLst/>
            </a:prstGeom>
          </p:spPr>
        </p:pic>
        <p:pic>
          <p:nvPicPr>
            <p:cNvPr id="45" name="Picture 21" descr="스크린샷, 직사각형, 프레임이(가) 표시된 사진&#10;&#10;AI 생성 콘텐츠는 정확하지 않을 수 있습니다.">
              <a:extLst>
                <a:ext uri="{FF2B5EF4-FFF2-40B4-BE49-F238E27FC236}">
                  <a16:creationId xmlns:a16="http://schemas.microsoft.com/office/drawing/2014/main" id="{93602528-0110-982E-1188-B4E0C72F4C20}"/>
                </a:ext>
              </a:extLst>
            </p:cNvPr>
            <p:cNvPicPr>
              <a:picLocks noChangeAspect="1"/>
            </p:cNvPicPr>
            <p:nvPr/>
          </p:nvPicPr>
          <p:blipFill>
            <a:blip r:embed="rId9"/>
            <a:stretch>
              <a:fillRect/>
            </a:stretch>
          </p:blipFill>
          <p:spPr>
            <a:xfrm>
              <a:off x="11888620" y="6477000"/>
              <a:ext cx="11350959" cy="2108200"/>
            </a:xfrm>
            <a:prstGeom prst="rect">
              <a:avLst/>
            </a:prstGeom>
            <a:effectLst>
              <a:outerShdw blurRad="93663" dist="86458" dir="2700000">
                <a:srgbClr val="1A7AE1">
                  <a:alpha val="15000"/>
                </a:srgbClr>
              </a:outerShdw>
            </a:effectLst>
          </p:spPr>
        </p:pic>
        <p:pic>
          <p:nvPicPr>
            <p:cNvPr id="46" name="Picture 10">
              <a:extLst>
                <a:ext uri="{FF2B5EF4-FFF2-40B4-BE49-F238E27FC236}">
                  <a16:creationId xmlns:a16="http://schemas.microsoft.com/office/drawing/2014/main" id="{A967555B-9875-B170-6E32-FA9D7D1F99FD}"/>
                </a:ext>
              </a:extLst>
            </p:cNvPr>
            <p:cNvPicPr>
              <a:picLocks noChangeAspect="1"/>
            </p:cNvPicPr>
            <p:nvPr/>
          </p:nvPicPr>
          <p:blipFill>
            <a:blip r:embed="rId10"/>
            <a:stretch>
              <a:fillRect/>
            </a:stretch>
          </p:blipFill>
          <p:spPr>
            <a:xfrm>
              <a:off x="11890264" y="6481481"/>
              <a:ext cx="139700" cy="2108200"/>
            </a:xfrm>
            <a:prstGeom prst="rect">
              <a:avLst/>
            </a:prstGeom>
          </p:spPr>
        </p:pic>
        <p:sp>
          <p:nvSpPr>
            <p:cNvPr id="41" name="TextBox 40">
              <a:extLst>
                <a:ext uri="{FF2B5EF4-FFF2-40B4-BE49-F238E27FC236}">
                  <a16:creationId xmlns:a16="http://schemas.microsoft.com/office/drawing/2014/main" id="{A539E3BE-2F03-4EA9-8135-9603766E7CAB}"/>
                </a:ext>
              </a:extLst>
            </p:cNvPr>
            <p:cNvSpPr txBox="1"/>
            <p:nvPr/>
          </p:nvSpPr>
          <p:spPr>
            <a:xfrm>
              <a:off x="13708064" y="6691625"/>
              <a:ext cx="946491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altLang="en-US" sz="3200" b="1" i="0" u="none" strike="noStrike" dirty="0">
                  <a:solidFill>
                    <a:srgbClr val="000000"/>
                  </a:solidFill>
                  <a:latin typeface="Pretendard Bold"/>
                  <a:ea typeface="Pretendard Bold"/>
                  <a:cs typeface="Arial"/>
                </a:rPr>
                <a:t>최소 권한 접근 허용 </a:t>
              </a:r>
              <a:r>
                <a:rPr lang="en-US" altLang="ko-KR" sz="3200" b="1" i="0" u="none" strike="noStrike" dirty="0">
                  <a:solidFill>
                    <a:srgbClr val="000000"/>
                  </a:solidFill>
                  <a:latin typeface="Pretendard Bold"/>
                  <a:ea typeface="Pretendard Bold"/>
                  <a:cs typeface="Arial"/>
                </a:rPr>
                <a:t>(</a:t>
              </a:r>
              <a:r>
                <a:rPr lang="en-US" sz="3200" b="1" i="0" u="none" strike="noStrike" dirty="0">
                  <a:solidFill>
                    <a:srgbClr val="000000"/>
                  </a:solidFill>
                  <a:latin typeface="Pretendard Bold"/>
                  <a:ea typeface="Pretendard Bold"/>
                  <a:cs typeface="Arial"/>
                </a:rPr>
                <a:t>Use Least Privileged Access)</a:t>
              </a:r>
              <a:endParaRPr lang="ko-KR" altLang="en-US" sz="3200" b="1" dirty="0">
                <a:latin typeface="Pretendard Bold"/>
                <a:ea typeface="Pretendard Bold"/>
                <a:cs typeface="Arial"/>
              </a:endParaRPr>
            </a:p>
          </p:txBody>
        </p:sp>
        <p:sp>
          <p:nvSpPr>
            <p:cNvPr id="42" name="TextBox 41">
              <a:extLst>
                <a:ext uri="{FF2B5EF4-FFF2-40B4-BE49-F238E27FC236}">
                  <a16:creationId xmlns:a16="http://schemas.microsoft.com/office/drawing/2014/main" id="{E5E43252-AD66-708B-F7B2-BD81C1FCFA18}"/>
                </a:ext>
              </a:extLst>
            </p:cNvPr>
            <p:cNvSpPr txBox="1"/>
            <p:nvPr/>
          </p:nvSpPr>
          <p:spPr>
            <a:xfrm>
              <a:off x="12206571" y="7428665"/>
              <a:ext cx="10018429" cy="9140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altLang="en-US" sz="2670" b="0" i="0" u="none" strike="noStrike" dirty="0">
                  <a:solidFill>
                    <a:srgbClr val="333333"/>
                  </a:solidFill>
                  <a:latin typeface="Pretendard Medium"/>
                  <a:ea typeface="Pretendard Medium"/>
                  <a:cs typeface="Noto Sans KR"/>
                </a:rPr>
                <a:t>사용자가 업무 수행에 필요한 최소한의 리소스에만 접근하도록 제한하여</a:t>
              </a:r>
              <a:r>
                <a:rPr lang="en-US" altLang="ko-KR" sz="2670" b="0" i="0" u="none" strike="noStrike" dirty="0">
                  <a:solidFill>
                    <a:srgbClr val="333333"/>
                  </a:solidFill>
                  <a:latin typeface="Pretendard Medium"/>
                  <a:ea typeface="Pretendard Medium"/>
                  <a:cs typeface="Noto Sans KR"/>
                </a:rPr>
                <a:t>, </a:t>
              </a:r>
              <a:r>
                <a:rPr lang="ko-KR" altLang="en-US" sz="2670" b="0" i="0" u="none" strike="noStrike" dirty="0">
                  <a:solidFill>
                    <a:srgbClr val="333333"/>
                  </a:solidFill>
                  <a:latin typeface="Pretendard Medium"/>
                  <a:ea typeface="Pretendard Medium"/>
                  <a:cs typeface="Noto Sans KR"/>
                </a:rPr>
                <a:t>사고 시 피해 범위를 최소화</a:t>
              </a:r>
              <a:endParaRPr lang="en-US" altLang="ko-KR" sz="2670" b="0" i="0" u="none" strike="noStrike" dirty="0">
                <a:solidFill>
                  <a:srgbClr val="333333"/>
                </a:solidFill>
                <a:latin typeface="Pretendard Medium"/>
                <a:ea typeface="Pretendard Medium"/>
                <a:cs typeface="Noto Sans KR"/>
              </a:endParaRPr>
            </a:p>
          </p:txBody>
        </p:sp>
        <p:pic>
          <p:nvPicPr>
            <p:cNvPr id="43" name="Picture 12">
              <a:extLst>
                <a:ext uri="{FF2B5EF4-FFF2-40B4-BE49-F238E27FC236}">
                  <a16:creationId xmlns:a16="http://schemas.microsoft.com/office/drawing/2014/main" id="{2FF15EE6-BF86-D049-8FEB-2807E6D4FD62}"/>
                </a:ext>
              </a:extLst>
            </p:cNvPr>
            <p:cNvPicPr>
              <a:picLocks noChangeAspect="1"/>
            </p:cNvPicPr>
            <p:nvPr/>
          </p:nvPicPr>
          <p:blipFill>
            <a:blip r:embed="rId11">
              <a:alphaModFix amt="85000"/>
            </a:blip>
            <a:stretch>
              <a:fillRect/>
            </a:stretch>
          </p:blipFill>
          <p:spPr>
            <a:xfrm>
              <a:off x="12202133" y="6762360"/>
              <a:ext cx="1435100" cy="472659"/>
            </a:xfrm>
            <a:prstGeom prst="rect">
              <a:avLst/>
            </a:prstGeom>
          </p:spPr>
        </p:pic>
        <p:sp>
          <p:nvSpPr>
            <p:cNvPr id="44" name="TextBox 43">
              <a:extLst>
                <a:ext uri="{FF2B5EF4-FFF2-40B4-BE49-F238E27FC236}">
                  <a16:creationId xmlns:a16="http://schemas.microsoft.com/office/drawing/2014/main" id="{6D22E993-05A2-4164-76A8-422DF7DFC111}"/>
                </a:ext>
              </a:extLst>
            </p:cNvPr>
            <p:cNvSpPr txBox="1"/>
            <p:nvPr/>
          </p:nvSpPr>
          <p:spPr>
            <a:xfrm>
              <a:off x="12415761" y="6750854"/>
              <a:ext cx="1078676" cy="5032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altLang="en-US" sz="2670" b="0" i="0" u="none" strike="noStrike" dirty="0">
                  <a:solidFill>
                    <a:srgbClr val="333333"/>
                  </a:solidFill>
                  <a:latin typeface="Pretendard Medium"/>
                  <a:ea typeface="Pretendard Medium"/>
                  <a:cs typeface="Noto Sans KR"/>
                </a:rPr>
                <a:t>원칙 </a:t>
              </a:r>
              <a:r>
                <a:rPr lang="en-US" altLang="ko-KR" sz="2670" dirty="0">
                  <a:solidFill>
                    <a:srgbClr val="333333"/>
                  </a:solidFill>
                  <a:latin typeface="Pretendard Medium"/>
                  <a:ea typeface="Pretendard Medium"/>
                  <a:cs typeface="Noto Sans KR"/>
                </a:rPr>
                <a:t>2</a:t>
              </a:r>
              <a:endParaRPr lang="ko-KR" altLang="en-US" sz="2670" dirty="0">
                <a:latin typeface="Pretendard Medium"/>
                <a:ea typeface="Pretendard Medium"/>
              </a:endParaRPr>
            </a:p>
          </p:txBody>
        </p:sp>
      </p:grpSp>
      <p:grpSp>
        <p:nvGrpSpPr>
          <p:cNvPr id="27" name="그룹 26">
            <a:extLst>
              <a:ext uri="{FF2B5EF4-FFF2-40B4-BE49-F238E27FC236}">
                <a16:creationId xmlns:a16="http://schemas.microsoft.com/office/drawing/2014/main" id="{3D37B16D-CC6D-AE2F-1305-860C2ABFC9BA}"/>
              </a:ext>
            </a:extLst>
          </p:cNvPr>
          <p:cNvGrpSpPr/>
          <p:nvPr/>
        </p:nvGrpSpPr>
        <p:grpSpPr>
          <a:xfrm>
            <a:off x="11197890" y="9560863"/>
            <a:ext cx="11350959" cy="2112681"/>
            <a:chOff x="11888619" y="9408459"/>
            <a:chExt cx="11350959" cy="2112681"/>
          </a:xfrm>
          <a:effectLst>
            <a:outerShdw blurRad="139700" dist="38100" dir="18900000" algn="ctr" rotWithShape="0">
              <a:schemeClr val="tx1">
                <a:alpha val="33000"/>
              </a:schemeClr>
            </a:outerShdw>
          </a:effectLst>
        </p:grpSpPr>
        <p:pic>
          <p:nvPicPr>
            <p:cNvPr id="48" name="Picture 20">
              <a:extLst>
                <a:ext uri="{FF2B5EF4-FFF2-40B4-BE49-F238E27FC236}">
                  <a16:creationId xmlns:a16="http://schemas.microsoft.com/office/drawing/2014/main" id="{4584B824-94FF-3835-6B89-35476773C9EC}"/>
                </a:ext>
              </a:extLst>
            </p:cNvPr>
            <p:cNvPicPr>
              <a:picLocks noChangeAspect="1"/>
            </p:cNvPicPr>
            <p:nvPr/>
          </p:nvPicPr>
          <p:blipFill>
            <a:blip r:embed="rId8"/>
            <a:stretch>
              <a:fillRect/>
            </a:stretch>
          </p:blipFill>
          <p:spPr>
            <a:xfrm>
              <a:off x="21864096" y="10410772"/>
              <a:ext cx="266700" cy="203200"/>
            </a:xfrm>
            <a:prstGeom prst="rect">
              <a:avLst/>
            </a:prstGeom>
          </p:spPr>
        </p:pic>
        <p:pic>
          <p:nvPicPr>
            <p:cNvPr id="54" name="Picture 21" descr="스크린샷, 직사각형, 프레임이(가) 표시된 사진&#10;&#10;AI 생성 콘텐츠는 정확하지 않을 수 있습니다.">
              <a:extLst>
                <a:ext uri="{FF2B5EF4-FFF2-40B4-BE49-F238E27FC236}">
                  <a16:creationId xmlns:a16="http://schemas.microsoft.com/office/drawing/2014/main" id="{295A1D33-3EF5-4AB4-55F5-820F6D7BCF4A}"/>
                </a:ext>
              </a:extLst>
            </p:cNvPr>
            <p:cNvPicPr>
              <a:picLocks noChangeAspect="1"/>
            </p:cNvPicPr>
            <p:nvPr/>
          </p:nvPicPr>
          <p:blipFill>
            <a:blip r:embed="rId9"/>
            <a:stretch>
              <a:fillRect/>
            </a:stretch>
          </p:blipFill>
          <p:spPr>
            <a:xfrm>
              <a:off x="11888619" y="9408459"/>
              <a:ext cx="11350959" cy="2108200"/>
            </a:xfrm>
            <a:prstGeom prst="rect">
              <a:avLst/>
            </a:prstGeom>
            <a:effectLst>
              <a:outerShdw blurRad="93663" dist="86458" dir="2700000">
                <a:srgbClr val="1A7AE1">
                  <a:alpha val="15000"/>
                </a:srgbClr>
              </a:outerShdw>
            </a:effectLst>
          </p:spPr>
        </p:pic>
        <p:pic>
          <p:nvPicPr>
            <p:cNvPr id="55" name="Picture 10">
              <a:extLst>
                <a:ext uri="{FF2B5EF4-FFF2-40B4-BE49-F238E27FC236}">
                  <a16:creationId xmlns:a16="http://schemas.microsoft.com/office/drawing/2014/main" id="{D7CBD988-6409-AF9D-0D51-4EF461E9854C}"/>
                </a:ext>
              </a:extLst>
            </p:cNvPr>
            <p:cNvPicPr>
              <a:picLocks noChangeAspect="1"/>
            </p:cNvPicPr>
            <p:nvPr/>
          </p:nvPicPr>
          <p:blipFill>
            <a:blip r:embed="rId7"/>
            <a:stretch>
              <a:fillRect/>
            </a:stretch>
          </p:blipFill>
          <p:spPr>
            <a:xfrm>
              <a:off x="11890263" y="9412940"/>
              <a:ext cx="139700" cy="2108200"/>
            </a:xfrm>
            <a:prstGeom prst="rect">
              <a:avLst/>
            </a:prstGeom>
          </p:spPr>
        </p:pic>
        <p:sp>
          <p:nvSpPr>
            <p:cNvPr id="50" name="TextBox 49">
              <a:extLst>
                <a:ext uri="{FF2B5EF4-FFF2-40B4-BE49-F238E27FC236}">
                  <a16:creationId xmlns:a16="http://schemas.microsoft.com/office/drawing/2014/main" id="{2B94DFDF-BB70-82BF-0B92-448EC03005C8}"/>
                </a:ext>
              </a:extLst>
            </p:cNvPr>
            <p:cNvSpPr txBox="1"/>
            <p:nvPr/>
          </p:nvSpPr>
          <p:spPr>
            <a:xfrm>
              <a:off x="13708063" y="9623084"/>
              <a:ext cx="8289383"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altLang="en-US" sz="3200" b="1" i="0" u="none" strike="noStrike" dirty="0">
                  <a:solidFill>
                    <a:srgbClr val="000000"/>
                  </a:solidFill>
                  <a:latin typeface="Pretendard Bold"/>
                  <a:ea typeface="Pretendard Bold"/>
                  <a:cs typeface="Arial"/>
                </a:rPr>
                <a:t>침해 가정 </a:t>
              </a:r>
              <a:r>
                <a:rPr lang="en-US" altLang="ko-KR" sz="3200" b="1" i="0" u="none" strike="noStrike" dirty="0">
                  <a:solidFill>
                    <a:srgbClr val="000000"/>
                  </a:solidFill>
                  <a:latin typeface="Pretendard Bold"/>
                  <a:ea typeface="Pretendard Bold"/>
                  <a:cs typeface="Arial"/>
                </a:rPr>
                <a:t>(</a:t>
              </a:r>
              <a:r>
                <a:rPr lang="en-US" sz="3200" b="1" i="0" u="none" strike="noStrike" dirty="0">
                  <a:solidFill>
                    <a:srgbClr val="000000"/>
                  </a:solidFill>
                  <a:latin typeface="Pretendard Bold"/>
                  <a:ea typeface="Pretendard Bold"/>
                  <a:cs typeface="Arial"/>
                </a:rPr>
                <a:t>Assume Breach)</a:t>
              </a:r>
              <a:endParaRPr lang="ko-KR" altLang="en-US" sz="3200" b="1" dirty="0">
                <a:latin typeface="Pretendard Bold"/>
                <a:ea typeface="Pretendard Bold"/>
                <a:cs typeface="Arial"/>
              </a:endParaRPr>
            </a:p>
          </p:txBody>
        </p:sp>
        <p:sp>
          <p:nvSpPr>
            <p:cNvPr id="51" name="TextBox 50">
              <a:extLst>
                <a:ext uri="{FF2B5EF4-FFF2-40B4-BE49-F238E27FC236}">
                  <a16:creationId xmlns:a16="http://schemas.microsoft.com/office/drawing/2014/main" id="{6B6EF9D2-8B14-34E4-2337-CE3ECE48ED40}"/>
                </a:ext>
              </a:extLst>
            </p:cNvPr>
            <p:cNvSpPr txBox="1"/>
            <p:nvPr/>
          </p:nvSpPr>
          <p:spPr>
            <a:xfrm>
              <a:off x="12206570" y="10360124"/>
              <a:ext cx="10966404" cy="9140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altLang="en-US" sz="2670" b="0" i="0" u="none" strike="noStrike" dirty="0">
                  <a:solidFill>
                    <a:srgbClr val="333333"/>
                  </a:solidFill>
                  <a:latin typeface="Pretendard Medium"/>
                  <a:ea typeface="Pretendard Medium"/>
                  <a:cs typeface="Noto Sans KR"/>
                </a:rPr>
                <a:t>네트워크가 이미 침해되었다고 가정하고</a:t>
              </a:r>
              <a:r>
                <a:rPr lang="en-US" altLang="ko-KR" sz="2670" b="0" i="0" u="none" strike="noStrike" dirty="0">
                  <a:solidFill>
                    <a:srgbClr val="333333"/>
                  </a:solidFill>
                  <a:latin typeface="Pretendard Medium"/>
                  <a:ea typeface="Pretendard Medium"/>
                  <a:cs typeface="Noto Sans KR"/>
                </a:rPr>
                <a:t>, </a:t>
              </a:r>
              <a:r>
                <a:rPr lang="ko-KR" altLang="en-US" sz="2670" b="0" i="0" u="none" strike="noStrike" dirty="0">
                  <a:solidFill>
                    <a:srgbClr val="333333"/>
                  </a:solidFill>
                  <a:latin typeface="Pretendard Medium"/>
                  <a:ea typeface="Pretendard Medium"/>
                  <a:cs typeface="Noto Sans KR"/>
                </a:rPr>
                <a:t>네트워크 분할로 피해 범위를 최소화하며</a:t>
              </a:r>
              <a:r>
                <a:rPr lang="en-US" altLang="ko-KR" sz="2670" b="0" i="0" u="none" strike="noStrike" dirty="0">
                  <a:solidFill>
                    <a:srgbClr val="333333"/>
                  </a:solidFill>
                  <a:latin typeface="Pretendard Medium"/>
                  <a:ea typeface="Pretendard Medium"/>
                  <a:cs typeface="Noto Sans KR"/>
                </a:rPr>
                <a:t>, </a:t>
              </a:r>
              <a:r>
                <a:rPr lang="ko-KR" altLang="en-US" sz="2670" b="0" i="0" u="none" strike="noStrike" dirty="0">
                  <a:solidFill>
                    <a:srgbClr val="333333"/>
                  </a:solidFill>
                  <a:latin typeface="Pretendard Medium"/>
                  <a:ea typeface="Pretendard Medium"/>
                  <a:cs typeface="Noto Sans KR"/>
                </a:rPr>
                <a:t>위협 탐지 및 대응 자동화 체계 구축</a:t>
              </a:r>
              <a:endParaRPr lang="ko-KR" altLang="en-US" sz="2670" dirty="0">
                <a:latin typeface="Pretendard Medium"/>
                <a:ea typeface="Pretendard Medium"/>
              </a:endParaRPr>
            </a:p>
          </p:txBody>
        </p:sp>
        <p:pic>
          <p:nvPicPr>
            <p:cNvPr id="52" name="Picture 12">
              <a:extLst>
                <a:ext uri="{FF2B5EF4-FFF2-40B4-BE49-F238E27FC236}">
                  <a16:creationId xmlns:a16="http://schemas.microsoft.com/office/drawing/2014/main" id="{ED3B1D9A-4EF4-2C7A-7016-75E11D4FED5C}"/>
                </a:ext>
              </a:extLst>
            </p:cNvPr>
            <p:cNvPicPr>
              <a:picLocks noChangeAspect="1"/>
            </p:cNvPicPr>
            <p:nvPr/>
          </p:nvPicPr>
          <p:blipFill>
            <a:blip r:embed="rId11">
              <a:alphaModFix amt="85000"/>
            </a:blip>
            <a:stretch>
              <a:fillRect/>
            </a:stretch>
          </p:blipFill>
          <p:spPr>
            <a:xfrm>
              <a:off x="12202132" y="9693819"/>
              <a:ext cx="1435100" cy="472659"/>
            </a:xfrm>
            <a:prstGeom prst="rect">
              <a:avLst/>
            </a:prstGeom>
          </p:spPr>
        </p:pic>
        <p:sp>
          <p:nvSpPr>
            <p:cNvPr id="53" name="TextBox 52">
              <a:extLst>
                <a:ext uri="{FF2B5EF4-FFF2-40B4-BE49-F238E27FC236}">
                  <a16:creationId xmlns:a16="http://schemas.microsoft.com/office/drawing/2014/main" id="{B2E96D3A-0773-F1E1-2699-716596E570A2}"/>
                </a:ext>
              </a:extLst>
            </p:cNvPr>
            <p:cNvSpPr txBox="1"/>
            <p:nvPr/>
          </p:nvSpPr>
          <p:spPr>
            <a:xfrm>
              <a:off x="12415760" y="9682313"/>
              <a:ext cx="1078676" cy="5032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altLang="en-US" sz="2670" b="0" i="0" u="none" strike="noStrike" dirty="0">
                  <a:solidFill>
                    <a:srgbClr val="333333"/>
                  </a:solidFill>
                  <a:latin typeface="Pretendard Medium"/>
                  <a:ea typeface="Pretendard Medium"/>
                  <a:cs typeface="Noto Sans KR"/>
                </a:rPr>
                <a:t>원칙 </a:t>
              </a:r>
              <a:r>
                <a:rPr lang="en-US" altLang="ko-KR" sz="2670" dirty="0">
                  <a:solidFill>
                    <a:srgbClr val="333333"/>
                  </a:solidFill>
                  <a:latin typeface="Pretendard Medium"/>
                  <a:ea typeface="Pretendard Medium"/>
                  <a:cs typeface="Noto Sans KR"/>
                </a:rPr>
                <a:t>3</a:t>
              </a:r>
              <a:endParaRPr lang="ko-KR" altLang="en-US" sz="2670" dirty="0">
                <a:latin typeface="Pretendard Medium"/>
                <a:ea typeface="Pretendard Medium"/>
              </a:endParaRPr>
            </a:p>
          </p:txBody>
        </p:sp>
      </p:grpSp>
      <p:pic>
        <p:nvPicPr>
          <p:cNvPr id="30" name="Google Shape;86;p13" descr="image.png">
            <a:extLst>
              <a:ext uri="{FF2B5EF4-FFF2-40B4-BE49-F238E27FC236}">
                <a16:creationId xmlns:a16="http://schemas.microsoft.com/office/drawing/2014/main" id="{945054CD-AF76-3ABE-C0A3-C4405BFED7C9}"/>
              </a:ext>
            </a:extLst>
          </p:cNvPr>
          <p:cNvPicPr preferRelativeResize="0"/>
          <p:nvPr/>
        </p:nvPicPr>
        <p:blipFill rotWithShape="1">
          <a:blip r:embed="rId12">
            <a:alphaModFix/>
          </a:blip>
          <a:srcRect/>
          <a:stretch/>
        </p:blipFill>
        <p:spPr>
          <a:xfrm>
            <a:off x="5107222" y="7454218"/>
            <a:ext cx="1353079" cy="1353079"/>
          </a:xfrm>
          <a:prstGeom prst="rect">
            <a:avLst/>
          </a:prstGeom>
          <a:noFill/>
          <a:ln>
            <a:noFill/>
          </a:ln>
        </p:spPr>
      </p:pic>
      <p:sp>
        <p:nvSpPr>
          <p:cNvPr id="32" name="Google Shape;88;p13">
            <a:extLst>
              <a:ext uri="{FF2B5EF4-FFF2-40B4-BE49-F238E27FC236}">
                <a16:creationId xmlns:a16="http://schemas.microsoft.com/office/drawing/2014/main" id="{AF892EBA-539D-6517-9144-B3A8DBD0CCF6}"/>
              </a:ext>
            </a:extLst>
          </p:cNvPr>
          <p:cNvSpPr txBox="1"/>
          <p:nvPr/>
        </p:nvSpPr>
        <p:spPr>
          <a:xfrm>
            <a:off x="4493920" y="5444111"/>
            <a:ext cx="2604944" cy="43088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00" b="1" i="0" u="none" strike="noStrike" cap="none" dirty="0" err="1">
                <a:solidFill>
                  <a:srgbClr val="1A1A1A"/>
                </a:solidFill>
                <a:latin typeface="Pretendard Bold" panose="020B0604020202020204" charset="-127"/>
                <a:ea typeface="Pretendard Bold" panose="020B0604020202020204" charset="-127"/>
                <a:cs typeface="Noto Sans KR"/>
                <a:sym typeface="Noto Sans KR"/>
              </a:rPr>
              <a:t>식별자</a:t>
            </a:r>
            <a:endParaRPr sz="2800" dirty="0">
              <a:latin typeface="Pretendard Bold" panose="020B0604020202020204" charset="-127"/>
              <a:ea typeface="Pretendard Bold" panose="020B0604020202020204" charset="-127"/>
            </a:endParaRPr>
          </a:p>
        </p:txBody>
      </p:sp>
      <p:sp>
        <p:nvSpPr>
          <p:cNvPr id="38" name="Google Shape;90;p13">
            <a:extLst>
              <a:ext uri="{FF2B5EF4-FFF2-40B4-BE49-F238E27FC236}">
                <a16:creationId xmlns:a16="http://schemas.microsoft.com/office/drawing/2014/main" id="{C70574CD-148F-5FC4-58ED-C3D3803890C0}"/>
              </a:ext>
            </a:extLst>
          </p:cNvPr>
          <p:cNvSpPr txBox="1"/>
          <p:nvPr/>
        </p:nvSpPr>
        <p:spPr>
          <a:xfrm>
            <a:off x="8086038" y="7966106"/>
            <a:ext cx="2097273" cy="43088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00" b="1" i="0" u="none" strike="noStrike" cap="none">
                <a:solidFill>
                  <a:srgbClr val="1A1A1A"/>
                </a:solidFill>
                <a:latin typeface="Pretendard Bold" panose="020B0604020202020204" charset="-127"/>
                <a:ea typeface="Pretendard Bold" panose="020B0604020202020204" charset="-127"/>
                <a:cs typeface="Noto Sans KR"/>
                <a:sym typeface="Noto Sans KR"/>
              </a:rPr>
              <a:t>기기</a:t>
            </a:r>
            <a:endParaRPr sz="2800">
              <a:latin typeface="Pretendard Bold" panose="020B0604020202020204" charset="-127"/>
              <a:ea typeface="Pretendard Bold" panose="020B0604020202020204" charset="-127"/>
            </a:endParaRPr>
          </a:p>
        </p:txBody>
      </p:sp>
      <p:sp>
        <p:nvSpPr>
          <p:cNvPr id="49" name="Google Shape;92;p13">
            <a:extLst>
              <a:ext uri="{FF2B5EF4-FFF2-40B4-BE49-F238E27FC236}">
                <a16:creationId xmlns:a16="http://schemas.microsoft.com/office/drawing/2014/main" id="{08932A9C-860C-9A9F-D8F0-27EE5FE56BD4}"/>
              </a:ext>
            </a:extLst>
          </p:cNvPr>
          <p:cNvSpPr txBox="1"/>
          <p:nvPr/>
        </p:nvSpPr>
        <p:spPr>
          <a:xfrm>
            <a:off x="6375734" y="11435215"/>
            <a:ext cx="3044428" cy="43088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00" b="1" i="0" u="none" strike="noStrike" cap="none">
                <a:solidFill>
                  <a:srgbClr val="1A1A1A"/>
                </a:solidFill>
                <a:latin typeface="Pretendard Bold" panose="020B0604020202020204" charset="-127"/>
                <a:ea typeface="Pretendard Bold" panose="020B0604020202020204" charset="-127"/>
                <a:cs typeface="Noto Sans KR"/>
                <a:sym typeface="Noto Sans KR"/>
              </a:rPr>
              <a:t>네트워크</a:t>
            </a:r>
            <a:endParaRPr sz="2800">
              <a:latin typeface="Pretendard Bold" panose="020B0604020202020204" charset="-127"/>
              <a:ea typeface="Pretendard Bold" panose="020B0604020202020204" charset="-127"/>
            </a:endParaRPr>
          </a:p>
        </p:txBody>
      </p:sp>
      <p:sp>
        <p:nvSpPr>
          <p:cNvPr id="57" name="Google Shape;94;p13">
            <a:extLst>
              <a:ext uri="{FF2B5EF4-FFF2-40B4-BE49-F238E27FC236}">
                <a16:creationId xmlns:a16="http://schemas.microsoft.com/office/drawing/2014/main" id="{EDEC43E0-F73A-420F-2573-381F9BA284BF}"/>
              </a:ext>
            </a:extLst>
          </p:cNvPr>
          <p:cNvSpPr txBox="1"/>
          <p:nvPr/>
        </p:nvSpPr>
        <p:spPr>
          <a:xfrm>
            <a:off x="2443325" y="11435170"/>
            <a:ext cx="3044428" cy="43088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00" b="1">
                <a:solidFill>
                  <a:srgbClr val="1A1A1A"/>
                </a:solidFill>
                <a:latin typeface="Pretendard Bold" panose="020B0604020202020204" charset="-127"/>
                <a:ea typeface="Pretendard Bold" panose="020B0604020202020204" charset="-127"/>
                <a:cs typeface="Noto Sans KR"/>
                <a:sym typeface="Noto Sans KR"/>
              </a:rPr>
              <a:t>애플리케이션</a:t>
            </a:r>
            <a:endParaRPr sz="2800">
              <a:latin typeface="Pretendard Bold" panose="020B0604020202020204" charset="-127"/>
              <a:ea typeface="Pretendard Bold" panose="020B0604020202020204" charset="-127"/>
            </a:endParaRPr>
          </a:p>
        </p:txBody>
      </p:sp>
      <p:sp>
        <p:nvSpPr>
          <p:cNvPr id="59" name="Google Shape;96;p13">
            <a:extLst>
              <a:ext uri="{FF2B5EF4-FFF2-40B4-BE49-F238E27FC236}">
                <a16:creationId xmlns:a16="http://schemas.microsoft.com/office/drawing/2014/main" id="{AEC80338-C34B-67EF-F908-86C72BB0BE86}"/>
              </a:ext>
            </a:extLst>
          </p:cNvPr>
          <p:cNvSpPr txBox="1"/>
          <p:nvPr/>
        </p:nvSpPr>
        <p:spPr>
          <a:xfrm>
            <a:off x="1434841" y="7966085"/>
            <a:ext cx="2046665" cy="430887"/>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800" b="1" i="0" u="none" strike="noStrike" cap="none">
                <a:solidFill>
                  <a:srgbClr val="1A1A1A"/>
                </a:solidFill>
                <a:latin typeface="Pretendard Bold" panose="020B0604020202020204" charset="-127"/>
                <a:ea typeface="Pretendard Bold" panose="020B0604020202020204" charset="-127"/>
                <a:cs typeface="Noto Sans KR"/>
                <a:sym typeface="Noto Sans KR"/>
              </a:rPr>
              <a:t>데이터</a:t>
            </a:r>
            <a:endParaRPr sz="2800">
              <a:latin typeface="Pretendard Bold" panose="020B0604020202020204" charset="-127"/>
              <a:ea typeface="Pretendard Bold" panose="020B0604020202020204" charset="-127"/>
            </a:endParaRPr>
          </a:p>
        </p:txBody>
      </p:sp>
      <p:pic>
        <p:nvPicPr>
          <p:cNvPr id="61" name="Google Shape;98;p13" descr="image.png">
            <a:extLst>
              <a:ext uri="{FF2B5EF4-FFF2-40B4-BE49-F238E27FC236}">
                <a16:creationId xmlns:a16="http://schemas.microsoft.com/office/drawing/2014/main" id="{A9D86E5C-9BFB-154C-828D-AA8090BA2EAA}"/>
              </a:ext>
            </a:extLst>
          </p:cNvPr>
          <p:cNvPicPr preferRelativeResize="0"/>
          <p:nvPr/>
        </p:nvPicPr>
        <p:blipFill rotWithShape="1">
          <a:blip r:embed="rId13">
            <a:alphaModFix/>
          </a:blip>
          <a:srcRect/>
          <a:stretch/>
        </p:blipFill>
        <p:spPr>
          <a:xfrm>
            <a:off x="8838688" y="6883643"/>
            <a:ext cx="591972" cy="473578"/>
          </a:xfrm>
          <a:prstGeom prst="rect">
            <a:avLst/>
          </a:prstGeom>
          <a:noFill/>
          <a:ln>
            <a:noFill/>
          </a:ln>
        </p:spPr>
      </p:pic>
      <p:pic>
        <p:nvPicPr>
          <p:cNvPr id="62" name="Google Shape;99;p13" descr="image.png">
            <a:extLst>
              <a:ext uri="{FF2B5EF4-FFF2-40B4-BE49-F238E27FC236}">
                <a16:creationId xmlns:a16="http://schemas.microsoft.com/office/drawing/2014/main" id="{E55BAC7E-D939-D852-85AA-53C4A047C3B7}"/>
              </a:ext>
            </a:extLst>
          </p:cNvPr>
          <p:cNvPicPr preferRelativeResize="0"/>
          <p:nvPr/>
        </p:nvPicPr>
        <p:blipFill rotWithShape="1">
          <a:blip r:embed="rId14">
            <a:alphaModFix/>
          </a:blip>
          <a:srcRect/>
          <a:stretch/>
        </p:blipFill>
        <p:spPr>
          <a:xfrm>
            <a:off x="7601961" y="10352751"/>
            <a:ext cx="591972" cy="473578"/>
          </a:xfrm>
          <a:prstGeom prst="rect">
            <a:avLst/>
          </a:prstGeom>
          <a:noFill/>
          <a:ln>
            <a:noFill/>
          </a:ln>
        </p:spPr>
      </p:pic>
      <p:pic>
        <p:nvPicPr>
          <p:cNvPr id="63" name="Google Shape;100;p13" descr="image.png">
            <a:extLst>
              <a:ext uri="{FF2B5EF4-FFF2-40B4-BE49-F238E27FC236}">
                <a16:creationId xmlns:a16="http://schemas.microsoft.com/office/drawing/2014/main" id="{913EB7B6-FB1B-1A7D-89C1-2740D92F54D0}"/>
              </a:ext>
            </a:extLst>
          </p:cNvPr>
          <p:cNvPicPr preferRelativeResize="0"/>
          <p:nvPr/>
        </p:nvPicPr>
        <p:blipFill rotWithShape="1">
          <a:blip r:embed="rId15">
            <a:alphaModFix/>
          </a:blip>
          <a:srcRect/>
          <a:stretch/>
        </p:blipFill>
        <p:spPr>
          <a:xfrm>
            <a:off x="3694924" y="10352707"/>
            <a:ext cx="541232" cy="473578"/>
          </a:xfrm>
          <a:prstGeom prst="rect">
            <a:avLst/>
          </a:prstGeom>
          <a:noFill/>
          <a:ln>
            <a:noFill/>
          </a:ln>
        </p:spPr>
      </p:pic>
      <p:pic>
        <p:nvPicPr>
          <p:cNvPr id="64" name="Google Shape;101;p13" descr="image.png">
            <a:extLst>
              <a:ext uri="{FF2B5EF4-FFF2-40B4-BE49-F238E27FC236}">
                <a16:creationId xmlns:a16="http://schemas.microsoft.com/office/drawing/2014/main" id="{4A8E8E33-9E3F-00D9-4A5C-16A0EEC55724}"/>
              </a:ext>
            </a:extLst>
          </p:cNvPr>
          <p:cNvPicPr preferRelativeResize="0"/>
          <p:nvPr/>
        </p:nvPicPr>
        <p:blipFill rotWithShape="1">
          <a:blip r:embed="rId16">
            <a:alphaModFix/>
          </a:blip>
          <a:srcRect/>
          <a:stretch/>
        </p:blipFill>
        <p:spPr>
          <a:xfrm>
            <a:off x="2246688" y="6883622"/>
            <a:ext cx="422837" cy="473578"/>
          </a:xfrm>
          <a:prstGeom prst="rect">
            <a:avLst/>
          </a:prstGeom>
          <a:noFill/>
          <a:ln>
            <a:noFill/>
          </a:ln>
        </p:spPr>
      </p:pic>
      <p:sp>
        <p:nvSpPr>
          <p:cNvPr id="71" name="타원 70">
            <a:extLst>
              <a:ext uri="{FF2B5EF4-FFF2-40B4-BE49-F238E27FC236}">
                <a16:creationId xmlns:a16="http://schemas.microsoft.com/office/drawing/2014/main" id="{34828D5E-45BA-56D5-C446-70893E1EEE09}"/>
              </a:ext>
            </a:extLst>
          </p:cNvPr>
          <p:cNvSpPr/>
          <p:nvPr/>
        </p:nvSpPr>
        <p:spPr>
          <a:xfrm>
            <a:off x="5176430" y="4005237"/>
            <a:ext cx="1199304" cy="1225936"/>
          </a:xfrm>
          <a:prstGeom prst="ellipse">
            <a:avLst/>
          </a:prstGeom>
          <a:solidFill>
            <a:srgbClr val="8EB4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60" name="Google Shape;97;p13" descr="image.png">
            <a:extLst>
              <a:ext uri="{FF2B5EF4-FFF2-40B4-BE49-F238E27FC236}">
                <a16:creationId xmlns:a16="http://schemas.microsoft.com/office/drawing/2014/main" id="{8384F551-48A2-4A4C-487A-F7250777F2B5}"/>
              </a:ext>
            </a:extLst>
          </p:cNvPr>
          <p:cNvPicPr preferRelativeResize="0"/>
          <p:nvPr/>
        </p:nvPicPr>
        <p:blipFill rotWithShape="1">
          <a:blip r:embed="rId17">
            <a:alphaModFix/>
          </a:blip>
          <a:srcRect/>
          <a:stretch/>
        </p:blipFill>
        <p:spPr>
          <a:xfrm>
            <a:off x="5500272" y="4361647"/>
            <a:ext cx="591972" cy="473578"/>
          </a:xfrm>
          <a:prstGeom prst="rect">
            <a:avLst/>
          </a:prstGeom>
          <a:noFill/>
          <a:ln>
            <a:noFill/>
          </a:ln>
        </p:spPr>
      </p:pic>
      <p:sp>
        <p:nvSpPr>
          <p:cNvPr id="22" name="TextBox 14">
            <a:extLst>
              <a:ext uri="{FF2B5EF4-FFF2-40B4-BE49-F238E27FC236}">
                <a16:creationId xmlns:a16="http://schemas.microsoft.com/office/drawing/2014/main" id="{72CA6CD7-237F-1A72-F319-B37BD843CDF6}"/>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4" name="TextBox 14">
            <a:extLst>
              <a:ext uri="{FF2B5EF4-FFF2-40B4-BE49-F238E27FC236}">
                <a16:creationId xmlns:a16="http://schemas.microsoft.com/office/drawing/2014/main" id="{29D713D3-59F8-8B19-1832-AE8D83BE7D3B}"/>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8" name="Picture 2">
            <a:extLst>
              <a:ext uri="{FF2B5EF4-FFF2-40B4-BE49-F238E27FC236}">
                <a16:creationId xmlns:a16="http://schemas.microsoft.com/office/drawing/2014/main" id="{9FFC4986-0550-31B6-F70B-B20B0E856DBC}"/>
              </a:ext>
            </a:extLst>
          </p:cNvPr>
          <p:cNvPicPr>
            <a:picLocks noChangeAspect="1"/>
          </p:cNvPicPr>
          <p:nvPr/>
        </p:nvPicPr>
        <p:blipFill>
          <a:blip r:embed="rId18">
            <a:alphaModFix amt="85000"/>
          </a:blip>
          <a:stretch>
            <a:fillRect/>
          </a:stretch>
        </p:blipFill>
        <p:spPr>
          <a:xfrm>
            <a:off x="11201400" y="558800"/>
            <a:ext cx="2705100" cy="444500"/>
          </a:xfrm>
          <a:prstGeom prst="rect">
            <a:avLst/>
          </a:prstGeom>
        </p:spPr>
      </p:pic>
      <p:sp>
        <p:nvSpPr>
          <p:cNvPr id="31" name="TextBox 16">
            <a:extLst>
              <a:ext uri="{FF2B5EF4-FFF2-40B4-BE49-F238E27FC236}">
                <a16:creationId xmlns:a16="http://schemas.microsoft.com/office/drawing/2014/main" id="{37C2D8D7-5732-77F9-A5DD-22F8EDAE6C41}"/>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33" name="TextBox 18">
            <a:extLst>
              <a:ext uri="{FF2B5EF4-FFF2-40B4-BE49-F238E27FC236}">
                <a16:creationId xmlns:a16="http://schemas.microsoft.com/office/drawing/2014/main" id="{ACA9148D-68E8-8221-E249-55B3F8F7E076}"/>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35" name="TextBox 19">
            <a:extLst>
              <a:ext uri="{FF2B5EF4-FFF2-40B4-BE49-F238E27FC236}">
                <a16:creationId xmlns:a16="http://schemas.microsoft.com/office/drawing/2014/main" id="{7CB6AFFA-1862-65EC-1003-6E0FD22B57D2}"/>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47" name="TextBox 20">
            <a:extLst>
              <a:ext uri="{FF2B5EF4-FFF2-40B4-BE49-F238E27FC236}">
                <a16:creationId xmlns:a16="http://schemas.microsoft.com/office/drawing/2014/main" id="{F816C960-F266-69C0-F95E-EB0F34A5D8CC}"/>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extLst>
      <p:ext uri="{BB962C8B-B14F-4D97-AF65-F5344CB8AC3E}">
        <p14:creationId xmlns:p14="http://schemas.microsoft.com/office/powerpoint/2010/main" val="211916277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a:extLst>
            <a:ext uri="{FF2B5EF4-FFF2-40B4-BE49-F238E27FC236}">
              <a16:creationId xmlns:a16="http://schemas.microsoft.com/office/drawing/2014/main" id="{C261FAEB-7CDB-6504-1C2F-21401FD7B21F}"/>
            </a:ext>
          </a:extLst>
        </p:cNvPr>
        <p:cNvGrpSpPr/>
        <p:nvPr/>
      </p:nvGrpSpPr>
      <p:grpSpPr>
        <a:xfrm>
          <a:off x="0" y="0"/>
          <a:ext cx="0" cy="0"/>
          <a:chOff x="0" y="0"/>
          <a:chExt cx="0" cy="0"/>
        </a:xfrm>
      </p:grpSpPr>
      <p:pic>
        <p:nvPicPr>
          <p:cNvPr id="355" name="Picture 26">
            <a:extLst>
              <a:ext uri="{FF2B5EF4-FFF2-40B4-BE49-F238E27FC236}">
                <a16:creationId xmlns:a16="http://schemas.microsoft.com/office/drawing/2014/main" id="{9166CB23-4461-5995-C73D-1F035F3B7D9F}"/>
              </a:ext>
            </a:extLst>
          </p:cNvPr>
          <p:cNvPicPr>
            <a:picLocks noChangeAspect="1"/>
          </p:cNvPicPr>
          <p:nvPr/>
        </p:nvPicPr>
        <p:blipFill>
          <a:blip r:embed="rId3"/>
          <a:stretch>
            <a:fillRect/>
          </a:stretch>
        </p:blipFill>
        <p:spPr>
          <a:xfrm>
            <a:off x="14848095" y="7121736"/>
            <a:ext cx="3718797" cy="3936718"/>
          </a:xfrm>
          <a:prstGeom prst="rect">
            <a:avLst/>
          </a:prstGeom>
          <a:effectLst>
            <a:outerShdw blurRad="139700" dist="38100" dir="2700000">
              <a:schemeClr val="tx1">
                <a:alpha val="33000"/>
              </a:schemeClr>
            </a:outerShdw>
          </a:effectLst>
        </p:spPr>
      </p:pic>
      <p:pic>
        <p:nvPicPr>
          <p:cNvPr id="356" name="Picture 26">
            <a:extLst>
              <a:ext uri="{FF2B5EF4-FFF2-40B4-BE49-F238E27FC236}">
                <a16:creationId xmlns:a16="http://schemas.microsoft.com/office/drawing/2014/main" id="{BCBD511A-566B-9800-CA6F-5578D8281C2C}"/>
              </a:ext>
            </a:extLst>
          </p:cNvPr>
          <p:cNvPicPr>
            <a:picLocks noChangeAspect="1"/>
          </p:cNvPicPr>
          <p:nvPr/>
        </p:nvPicPr>
        <p:blipFill>
          <a:blip r:embed="rId3"/>
          <a:stretch>
            <a:fillRect/>
          </a:stretch>
        </p:blipFill>
        <p:spPr>
          <a:xfrm>
            <a:off x="10580141" y="7102673"/>
            <a:ext cx="3718797" cy="3936718"/>
          </a:xfrm>
          <a:prstGeom prst="rect">
            <a:avLst/>
          </a:prstGeom>
          <a:effectLst>
            <a:outerShdw blurRad="139700" dist="38100" dir="2700000">
              <a:schemeClr val="tx1">
                <a:alpha val="33000"/>
              </a:schemeClr>
            </a:outerShdw>
          </a:effectLst>
        </p:spPr>
      </p:pic>
      <p:pic>
        <p:nvPicPr>
          <p:cNvPr id="357" name="Picture 26">
            <a:extLst>
              <a:ext uri="{FF2B5EF4-FFF2-40B4-BE49-F238E27FC236}">
                <a16:creationId xmlns:a16="http://schemas.microsoft.com/office/drawing/2014/main" id="{8499F49D-E2E6-BC92-897D-7E09BD83244E}"/>
              </a:ext>
            </a:extLst>
          </p:cNvPr>
          <p:cNvPicPr>
            <a:picLocks noChangeAspect="1"/>
          </p:cNvPicPr>
          <p:nvPr/>
        </p:nvPicPr>
        <p:blipFill>
          <a:blip r:embed="rId3"/>
          <a:stretch>
            <a:fillRect/>
          </a:stretch>
        </p:blipFill>
        <p:spPr>
          <a:xfrm>
            <a:off x="19126720" y="7102673"/>
            <a:ext cx="3718797" cy="3936718"/>
          </a:xfrm>
          <a:prstGeom prst="rect">
            <a:avLst/>
          </a:prstGeom>
          <a:effectLst>
            <a:outerShdw blurRad="139700" dist="38100" dir="2700000">
              <a:schemeClr val="tx1">
                <a:alpha val="33000"/>
              </a:schemeClr>
            </a:outerShdw>
          </a:effectLst>
        </p:spPr>
      </p:pic>
      <p:pic>
        <p:nvPicPr>
          <p:cNvPr id="354" name="Picture 26">
            <a:extLst>
              <a:ext uri="{FF2B5EF4-FFF2-40B4-BE49-F238E27FC236}">
                <a16:creationId xmlns:a16="http://schemas.microsoft.com/office/drawing/2014/main" id="{94F9D0B0-9185-F1B7-7A1A-0628835EB781}"/>
              </a:ext>
            </a:extLst>
          </p:cNvPr>
          <p:cNvPicPr>
            <a:picLocks noChangeAspect="1"/>
          </p:cNvPicPr>
          <p:nvPr/>
        </p:nvPicPr>
        <p:blipFill>
          <a:blip r:embed="rId3"/>
          <a:stretch>
            <a:fillRect/>
          </a:stretch>
        </p:blipFill>
        <p:spPr>
          <a:xfrm>
            <a:off x="6225802" y="7121736"/>
            <a:ext cx="3718797" cy="3936718"/>
          </a:xfrm>
          <a:prstGeom prst="rect">
            <a:avLst/>
          </a:prstGeom>
          <a:effectLst>
            <a:outerShdw blurRad="139700" dist="38100" dir="2700000">
              <a:schemeClr val="tx1">
                <a:alpha val="33000"/>
              </a:schemeClr>
            </a:outerShdw>
          </a:effectLst>
        </p:spPr>
      </p:pic>
      <p:pic>
        <p:nvPicPr>
          <p:cNvPr id="353" name="Picture 26">
            <a:extLst>
              <a:ext uri="{FF2B5EF4-FFF2-40B4-BE49-F238E27FC236}">
                <a16:creationId xmlns:a16="http://schemas.microsoft.com/office/drawing/2014/main" id="{046AA62C-8D41-05AC-233A-182B5497AAA5}"/>
              </a:ext>
            </a:extLst>
          </p:cNvPr>
          <p:cNvPicPr>
            <a:picLocks noChangeAspect="1"/>
          </p:cNvPicPr>
          <p:nvPr/>
        </p:nvPicPr>
        <p:blipFill>
          <a:blip r:embed="rId3"/>
          <a:stretch>
            <a:fillRect/>
          </a:stretch>
        </p:blipFill>
        <p:spPr>
          <a:xfrm>
            <a:off x="1926506" y="7102673"/>
            <a:ext cx="3718797" cy="3936718"/>
          </a:xfrm>
          <a:prstGeom prst="rect">
            <a:avLst/>
          </a:prstGeom>
          <a:effectLst>
            <a:outerShdw blurRad="139700" dist="38100" dir="2700000">
              <a:schemeClr val="tx1">
                <a:alpha val="33000"/>
              </a:schemeClr>
            </a:outerShdw>
          </a:effectLst>
        </p:spPr>
      </p:pic>
      <p:pic>
        <p:nvPicPr>
          <p:cNvPr id="2" name="Picture 2">
            <a:extLst>
              <a:ext uri="{FF2B5EF4-FFF2-40B4-BE49-F238E27FC236}">
                <a16:creationId xmlns:a16="http://schemas.microsoft.com/office/drawing/2014/main" id="{05EEA898-6D30-A496-EC48-4BD8F93720A2}"/>
              </a:ext>
            </a:extLst>
          </p:cNvPr>
          <p:cNvPicPr>
            <a:picLocks noChangeAspect="1"/>
          </p:cNvPicPr>
          <p:nvPr/>
        </p:nvPicPr>
        <p:blipFill>
          <a:blip r:embed="rId4">
            <a:alphaModFix amt="70000"/>
          </a:blip>
          <a:stretch>
            <a:fillRect/>
          </a:stretch>
        </p:blipFill>
        <p:spPr>
          <a:xfrm>
            <a:off x="16230600" y="-2590800"/>
            <a:ext cx="11442700" cy="11442700"/>
          </a:xfrm>
          <a:prstGeom prst="rect">
            <a:avLst/>
          </a:prstGeom>
        </p:spPr>
      </p:pic>
      <p:pic>
        <p:nvPicPr>
          <p:cNvPr id="3" name="Picture 3">
            <a:extLst>
              <a:ext uri="{FF2B5EF4-FFF2-40B4-BE49-F238E27FC236}">
                <a16:creationId xmlns:a16="http://schemas.microsoft.com/office/drawing/2014/main" id="{A08A229B-AC80-9895-F1C6-B672C8DF1E53}"/>
              </a:ext>
            </a:extLst>
          </p:cNvPr>
          <p:cNvPicPr>
            <a:picLocks noChangeAspect="1"/>
          </p:cNvPicPr>
          <p:nvPr/>
        </p:nvPicPr>
        <p:blipFill>
          <a:blip r:embed="rId5"/>
          <a:stretch>
            <a:fillRect/>
          </a:stretch>
        </p:blipFill>
        <p:spPr>
          <a:xfrm>
            <a:off x="762000" y="1092200"/>
            <a:ext cx="22860000" cy="12700"/>
          </a:xfrm>
          <a:prstGeom prst="rect">
            <a:avLst/>
          </a:prstGeom>
        </p:spPr>
      </p:pic>
      <p:pic>
        <p:nvPicPr>
          <p:cNvPr id="4" name="Picture 4">
            <a:extLst>
              <a:ext uri="{FF2B5EF4-FFF2-40B4-BE49-F238E27FC236}">
                <a16:creationId xmlns:a16="http://schemas.microsoft.com/office/drawing/2014/main" id="{9FE97992-65DF-7EDA-9BBB-E0E358E93A3A}"/>
              </a:ext>
            </a:extLst>
          </p:cNvPr>
          <p:cNvPicPr>
            <a:picLocks noChangeAspect="1"/>
          </p:cNvPicPr>
          <p:nvPr/>
        </p:nvPicPr>
        <p:blipFill>
          <a:blip r:embed="rId6"/>
          <a:stretch>
            <a:fillRect/>
          </a:stretch>
        </p:blipFill>
        <p:spPr>
          <a:xfrm rot="5400000">
            <a:off x="3200400" y="787400"/>
            <a:ext cx="635000" cy="12700"/>
          </a:xfrm>
          <a:prstGeom prst="rect">
            <a:avLst/>
          </a:prstGeom>
        </p:spPr>
      </p:pic>
      <p:pic>
        <p:nvPicPr>
          <p:cNvPr id="5" name="Picture 5">
            <a:extLst>
              <a:ext uri="{FF2B5EF4-FFF2-40B4-BE49-F238E27FC236}">
                <a16:creationId xmlns:a16="http://schemas.microsoft.com/office/drawing/2014/main" id="{EB292C66-862D-0F05-F8B4-8CE8FE724148}"/>
              </a:ext>
            </a:extLst>
          </p:cNvPr>
          <p:cNvPicPr>
            <a:picLocks noChangeAspect="1"/>
          </p:cNvPicPr>
          <p:nvPr/>
        </p:nvPicPr>
        <p:blipFill>
          <a:blip r:embed="rId6"/>
          <a:stretch>
            <a:fillRect/>
          </a:stretch>
        </p:blipFill>
        <p:spPr>
          <a:xfrm rot="5400000">
            <a:off x="22225000" y="787400"/>
            <a:ext cx="635000" cy="12700"/>
          </a:xfrm>
          <a:prstGeom prst="rect">
            <a:avLst/>
          </a:prstGeom>
        </p:spPr>
      </p:pic>
      <p:pic>
        <p:nvPicPr>
          <p:cNvPr id="6" name="Picture 6">
            <a:extLst>
              <a:ext uri="{FF2B5EF4-FFF2-40B4-BE49-F238E27FC236}">
                <a16:creationId xmlns:a16="http://schemas.microsoft.com/office/drawing/2014/main" id="{E6526FB0-1650-0C3C-5A2B-CB61875FF794}"/>
              </a:ext>
            </a:extLst>
          </p:cNvPr>
          <p:cNvPicPr>
            <a:picLocks noChangeAspect="1"/>
          </p:cNvPicPr>
          <p:nvPr/>
        </p:nvPicPr>
        <p:blipFill>
          <a:blip r:embed="rId6"/>
          <a:stretch>
            <a:fillRect/>
          </a:stretch>
        </p:blipFill>
        <p:spPr>
          <a:xfrm rot="5400000">
            <a:off x="6337300" y="787400"/>
            <a:ext cx="635000" cy="12700"/>
          </a:xfrm>
          <a:prstGeom prst="rect">
            <a:avLst/>
          </a:prstGeom>
        </p:spPr>
      </p:pic>
      <p:pic>
        <p:nvPicPr>
          <p:cNvPr id="7" name="Picture 7">
            <a:extLst>
              <a:ext uri="{FF2B5EF4-FFF2-40B4-BE49-F238E27FC236}">
                <a16:creationId xmlns:a16="http://schemas.microsoft.com/office/drawing/2014/main" id="{DDAD2CCD-EB3E-7EE7-157F-7F268D2D7A11}"/>
              </a:ext>
            </a:extLst>
          </p:cNvPr>
          <p:cNvPicPr>
            <a:picLocks noChangeAspect="1"/>
          </p:cNvPicPr>
          <p:nvPr/>
        </p:nvPicPr>
        <p:blipFill>
          <a:blip r:embed="rId5"/>
          <a:stretch>
            <a:fillRect/>
          </a:stretch>
        </p:blipFill>
        <p:spPr>
          <a:xfrm>
            <a:off x="723900" y="457200"/>
            <a:ext cx="22860000" cy="12700"/>
          </a:xfrm>
          <a:prstGeom prst="rect">
            <a:avLst/>
          </a:prstGeom>
        </p:spPr>
      </p:pic>
      <p:pic>
        <p:nvPicPr>
          <p:cNvPr id="10" name="Picture 10">
            <a:extLst>
              <a:ext uri="{FF2B5EF4-FFF2-40B4-BE49-F238E27FC236}">
                <a16:creationId xmlns:a16="http://schemas.microsoft.com/office/drawing/2014/main" id="{0B4E3892-8C90-E72D-9D14-5D480C2247D8}"/>
              </a:ext>
            </a:extLst>
          </p:cNvPr>
          <p:cNvPicPr>
            <a:picLocks noChangeAspect="1"/>
          </p:cNvPicPr>
          <p:nvPr/>
        </p:nvPicPr>
        <p:blipFill>
          <a:blip r:embed="rId7"/>
          <a:stretch>
            <a:fillRect/>
          </a:stretch>
        </p:blipFill>
        <p:spPr>
          <a:xfrm>
            <a:off x="1485900" y="1612900"/>
            <a:ext cx="88900" cy="850900"/>
          </a:xfrm>
          <a:prstGeom prst="rect">
            <a:avLst/>
          </a:prstGeom>
        </p:spPr>
      </p:pic>
      <p:sp>
        <p:nvSpPr>
          <p:cNvPr id="11" name="TextBox 11">
            <a:extLst>
              <a:ext uri="{FF2B5EF4-FFF2-40B4-BE49-F238E27FC236}">
                <a16:creationId xmlns:a16="http://schemas.microsoft.com/office/drawing/2014/main" id="{9E476A5A-1773-02B4-522F-0847D551CFE4}"/>
              </a:ext>
            </a:extLst>
          </p:cNvPr>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cap="all" dirty="0">
                <a:solidFill>
                  <a:srgbClr val="024EA0"/>
                </a:solidFill>
                <a:latin typeface="Geologica Roman Light"/>
                <a:ea typeface="Geologica Roman Light"/>
                <a:cs typeface="Geologica Roman Light"/>
              </a:rPr>
              <a:t>79</a:t>
            </a:r>
            <a:endParaRPr lang="en-US" sz="2133" b="0" i="0" u="none" strike="noStrike" cap="all" dirty="0">
              <a:solidFill>
                <a:srgbClr val="024EA0"/>
              </a:solidFill>
              <a:latin typeface="Geologica Roman Light"/>
              <a:ea typeface="Geologica Roman Light"/>
              <a:cs typeface="Geologica Roman Light"/>
            </a:endParaRPr>
          </a:p>
        </p:txBody>
      </p:sp>
      <p:sp>
        <p:nvSpPr>
          <p:cNvPr id="18" name="TextBox 18">
            <a:extLst>
              <a:ext uri="{FF2B5EF4-FFF2-40B4-BE49-F238E27FC236}">
                <a16:creationId xmlns:a16="http://schemas.microsoft.com/office/drawing/2014/main" id="{39BFF4E2-49A8-560F-1C76-2CA33BBDC5EE}"/>
              </a:ext>
            </a:extLst>
          </p:cNvPr>
          <p:cNvSpPr txBox="1"/>
          <p:nvPr/>
        </p:nvSpPr>
        <p:spPr>
          <a:xfrm>
            <a:off x="1943100" y="1409700"/>
            <a:ext cx="20281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시나리오 보안 대책</a:t>
            </a:r>
          </a:p>
        </p:txBody>
      </p:sp>
      <p:sp>
        <p:nvSpPr>
          <p:cNvPr id="23" name="TextBox 23">
            <a:extLst>
              <a:ext uri="{FF2B5EF4-FFF2-40B4-BE49-F238E27FC236}">
                <a16:creationId xmlns:a16="http://schemas.microsoft.com/office/drawing/2014/main" id="{01B2DB5B-3B78-9AD3-4F12-C44FAE1C915A}"/>
              </a:ext>
            </a:extLst>
          </p:cNvPr>
          <p:cNvSpPr txBox="1"/>
          <p:nvPr/>
        </p:nvSpPr>
        <p:spPr>
          <a:xfrm>
            <a:off x="1943100" y="2774783"/>
            <a:ext cx="9144000" cy="685800"/>
          </a:xfrm>
          <a:prstGeom prst="rect">
            <a:avLst/>
          </a:prstGeom>
        </p:spPr>
        <p:txBody>
          <a:bodyPr lIns="0" tIns="0" rIns="0" bIns="0" rtlCol="0" anchor="t"/>
          <a:lstStyle/>
          <a:p>
            <a:pPr lvl="0">
              <a:lnSpc>
                <a:spcPct val="116199"/>
              </a:lnSpc>
            </a:pPr>
            <a:r>
              <a:rPr lang="en-US" sz="3857" b="1" i="0" u="none" strike="noStrike" dirty="0">
                <a:solidFill>
                  <a:srgbClr val="000000"/>
                </a:solidFill>
                <a:latin typeface="Pretendard Bold"/>
                <a:ea typeface="Pretendard Bold"/>
                <a:cs typeface="Pretendard Bold"/>
              </a:rPr>
              <a:t>Zero Trust </a:t>
            </a:r>
            <a:r>
              <a:rPr lang="en-US" sz="3857" b="1" i="0" u="none" strike="noStrike" dirty="0" err="1">
                <a:solidFill>
                  <a:srgbClr val="000000"/>
                </a:solidFill>
                <a:latin typeface="Pretendard Bold"/>
                <a:ea typeface="Pretendard Bold"/>
                <a:cs typeface="Pretendard Bold"/>
              </a:rPr>
              <a:t>기반</a:t>
            </a:r>
            <a:r>
              <a:rPr lang="en-US" sz="3857" b="1" i="0" u="none" strike="noStrike" dirty="0">
                <a:solidFill>
                  <a:srgbClr val="000000"/>
                </a:solidFill>
                <a:latin typeface="Pretendard Bold"/>
                <a:ea typeface="Pretendard Bold"/>
                <a:cs typeface="Pretendard Bold"/>
              </a:rPr>
              <a:t> </a:t>
            </a:r>
            <a:r>
              <a:rPr lang="en-US" sz="3857" b="1" i="0" u="none" strike="noStrike" dirty="0" err="1">
                <a:solidFill>
                  <a:srgbClr val="000000"/>
                </a:solidFill>
                <a:latin typeface="Pretendard Bold"/>
                <a:ea typeface="Pretendard Bold"/>
                <a:cs typeface="Pretendard Bold"/>
              </a:rPr>
              <a:t>설계</a:t>
            </a:r>
            <a:r>
              <a:rPr lang="en-US" sz="3857" b="1" i="0" u="none" strike="noStrike" dirty="0">
                <a:solidFill>
                  <a:srgbClr val="000000"/>
                </a:solidFill>
                <a:latin typeface="Pretendard Bold"/>
                <a:ea typeface="Pretendard Bold"/>
                <a:cs typeface="Pretendard Bold"/>
              </a:rPr>
              <a:t> – </a:t>
            </a:r>
            <a:r>
              <a:rPr lang="ko-KR" altLang="en-US" sz="3857" b="1" dirty="0">
                <a:solidFill>
                  <a:srgbClr val="000000"/>
                </a:solidFill>
                <a:latin typeface="Pretendard Bold"/>
                <a:ea typeface="Pretendard Bold"/>
                <a:cs typeface="Pretendard Bold"/>
              </a:rPr>
              <a:t>공급망 공격</a:t>
            </a:r>
            <a:endParaRPr lang="en-US" sz="3857" b="1" i="0" u="none" strike="noStrike" dirty="0">
              <a:solidFill>
                <a:srgbClr val="000000"/>
              </a:solidFill>
              <a:latin typeface="Pretendard Bold"/>
              <a:ea typeface="Pretendard Bold"/>
              <a:cs typeface="Pretendard Bold"/>
            </a:endParaRPr>
          </a:p>
        </p:txBody>
      </p:sp>
      <p:pic>
        <p:nvPicPr>
          <p:cNvPr id="302" name="Google Shape;94;p13" descr="image.png">
            <a:extLst>
              <a:ext uri="{FF2B5EF4-FFF2-40B4-BE49-F238E27FC236}">
                <a16:creationId xmlns:a16="http://schemas.microsoft.com/office/drawing/2014/main" id="{39D48BD4-B99E-7898-B207-FDA9B31A0C83}"/>
              </a:ext>
            </a:extLst>
          </p:cNvPr>
          <p:cNvPicPr preferRelativeResize="0"/>
          <p:nvPr/>
        </p:nvPicPr>
        <p:blipFill rotWithShape="1">
          <a:blip r:embed="rId8">
            <a:alphaModFix/>
          </a:blip>
          <a:srcRect/>
          <a:stretch/>
        </p:blipFill>
        <p:spPr>
          <a:xfrm>
            <a:off x="3481096" y="4242605"/>
            <a:ext cx="627379" cy="689768"/>
          </a:xfrm>
          <a:prstGeom prst="rect">
            <a:avLst/>
          </a:prstGeom>
          <a:noFill/>
          <a:ln>
            <a:noFill/>
          </a:ln>
        </p:spPr>
      </p:pic>
      <p:sp>
        <p:nvSpPr>
          <p:cNvPr id="304" name="Google Shape;96;p13">
            <a:extLst>
              <a:ext uri="{FF2B5EF4-FFF2-40B4-BE49-F238E27FC236}">
                <a16:creationId xmlns:a16="http://schemas.microsoft.com/office/drawing/2014/main" id="{4FBEBE31-BAB2-A640-2E7A-A3335FD6A101}"/>
              </a:ext>
            </a:extLst>
          </p:cNvPr>
          <p:cNvSpPr txBox="1"/>
          <p:nvPr/>
        </p:nvSpPr>
        <p:spPr>
          <a:xfrm>
            <a:off x="2288632" y="8206991"/>
            <a:ext cx="3286443" cy="430887"/>
          </a:xfrm>
          <a:prstGeom prst="rect">
            <a:avLst/>
          </a:prstGeom>
          <a:noFill/>
          <a:ln>
            <a:noFill/>
          </a:ln>
        </p:spPr>
        <p:txBody>
          <a:bodyPr spcFirstLastPara="1" wrap="square" lIns="0" tIns="0" rIns="0" bIns="0" anchor="t" anchorCtr="0">
            <a:spAutoFit/>
          </a:bodyPr>
          <a:lstStyle/>
          <a:p>
            <a:pPr marR="0" lvl="0" indent="0">
              <a:spcBef>
                <a:spcPts val="0"/>
              </a:spcBef>
              <a:spcAft>
                <a:spcPts val="0"/>
              </a:spcAft>
              <a:buNone/>
            </a:pPr>
            <a:r>
              <a:rPr lang="en-US" sz="2800" b="1" dirty="0" err="1">
                <a:solidFill>
                  <a:srgbClr val="000000"/>
                </a:solidFill>
                <a:latin typeface="Pretendard Bold"/>
                <a:ea typeface="Pretendard Bold"/>
                <a:cs typeface="Arial"/>
                <a:sym typeface="Noto Sans KR"/>
              </a:rPr>
              <a:t>마이크로</a:t>
            </a:r>
            <a:r>
              <a:rPr lang="en-US" sz="2800" b="1" dirty="0">
                <a:solidFill>
                  <a:srgbClr val="000000"/>
                </a:solidFill>
                <a:latin typeface="Pretendard Bold"/>
                <a:ea typeface="Pretendard Bold"/>
                <a:cs typeface="Arial"/>
                <a:sym typeface="Noto Sans KR"/>
              </a:rPr>
              <a:t> </a:t>
            </a:r>
            <a:r>
              <a:rPr lang="en-US" sz="2800" b="1" dirty="0" err="1">
                <a:solidFill>
                  <a:srgbClr val="000000"/>
                </a:solidFill>
                <a:latin typeface="Pretendard Bold"/>
                <a:ea typeface="Pretendard Bold"/>
                <a:cs typeface="Arial"/>
                <a:sym typeface="Noto Sans KR"/>
              </a:rPr>
              <a:t>세그멘테이션</a:t>
            </a:r>
            <a:endParaRPr sz="2800" b="1" dirty="0">
              <a:solidFill>
                <a:srgbClr val="000000"/>
              </a:solidFill>
              <a:latin typeface="Pretendard Bold"/>
              <a:ea typeface="Pretendard Bold"/>
              <a:cs typeface="Arial"/>
            </a:endParaRPr>
          </a:p>
        </p:txBody>
      </p:sp>
      <p:sp>
        <p:nvSpPr>
          <p:cNvPr id="305" name="Google Shape;97;p13">
            <a:extLst>
              <a:ext uri="{FF2B5EF4-FFF2-40B4-BE49-F238E27FC236}">
                <a16:creationId xmlns:a16="http://schemas.microsoft.com/office/drawing/2014/main" id="{C04ECD1E-B6F1-A121-9FBE-8B529749382D}"/>
              </a:ext>
            </a:extLst>
          </p:cNvPr>
          <p:cNvSpPr txBox="1"/>
          <p:nvPr/>
        </p:nvSpPr>
        <p:spPr>
          <a:xfrm>
            <a:off x="2303849" y="9054333"/>
            <a:ext cx="3129888" cy="861774"/>
          </a:xfrm>
          <a:prstGeom prst="rect">
            <a:avLst/>
          </a:prstGeom>
          <a:noFill/>
          <a:ln>
            <a:noFill/>
          </a:ln>
        </p:spPr>
        <p:txBody>
          <a:bodyPr spcFirstLastPara="1" wrap="square" lIns="0" tIns="0" rIns="0" bIns="0" anchor="t" anchorCtr="0">
            <a:spAutoFit/>
          </a:bodyPr>
          <a:lstStyle/>
          <a:p>
            <a:pPr marR="0" lvl="0" indent="0">
              <a:lnSpc>
                <a:spcPct val="140000"/>
              </a:lnSpc>
              <a:spcBef>
                <a:spcPts val="0"/>
              </a:spcBef>
              <a:spcAft>
                <a:spcPts val="0"/>
              </a:spcAft>
              <a:buNone/>
            </a:pPr>
            <a:r>
              <a:rPr lang="en-US" sz="2000" dirty="0" err="1">
                <a:solidFill>
                  <a:srgbClr val="000000"/>
                </a:solidFill>
                <a:latin typeface="Pretendard Medium" panose="020B0604020202020204" charset="-127"/>
                <a:ea typeface="Pretendard Medium" panose="020B0604020202020204" charset="-127"/>
                <a:cs typeface="Arial"/>
                <a:sym typeface="Noto Sans KR"/>
              </a:rPr>
              <a:t>포트</a:t>
            </a:r>
            <a:r>
              <a:rPr lang="en-US" sz="2000" dirty="0">
                <a:solidFill>
                  <a:srgbClr val="000000"/>
                </a:solidFill>
                <a:latin typeface="Pretendard Medium" panose="020B0604020202020204" charset="-127"/>
                <a:ea typeface="Pretendard Medium" panose="020B0604020202020204" charset="-127"/>
                <a:cs typeface="Arial"/>
                <a:sym typeface="Noto Sans KR"/>
              </a:rPr>
              <a:t> 631 </a:t>
            </a:r>
            <a:r>
              <a:rPr lang="en-US" sz="2000" dirty="0" err="1">
                <a:solidFill>
                  <a:srgbClr val="000000"/>
                </a:solidFill>
                <a:latin typeface="Pretendard Medium" panose="020B0604020202020204" charset="-127"/>
                <a:ea typeface="Pretendard Medium" panose="020B0604020202020204" charset="-127"/>
                <a:cs typeface="Arial"/>
                <a:sym typeface="Noto Sans KR"/>
              </a:rPr>
              <a:t>외부</a:t>
            </a:r>
            <a:r>
              <a:rPr lang="en-US" sz="2000" dirty="0">
                <a:solidFill>
                  <a:srgbClr val="000000"/>
                </a:solidFill>
                <a:latin typeface="Pretendard Medium" panose="020B0604020202020204" charset="-127"/>
                <a:ea typeface="Pretendard Medium" panose="020B0604020202020204" charset="-127"/>
                <a:cs typeface="Arial"/>
                <a:sym typeface="Noto Sans KR"/>
              </a:rPr>
              <a:t> </a:t>
            </a:r>
            <a:r>
              <a:rPr lang="en-US" sz="2000" dirty="0" err="1">
                <a:solidFill>
                  <a:srgbClr val="000000"/>
                </a:solidFill>
                <a:latin typeface="Pretendard Medium" panose="020B0604020202020204" charset="-127"/>
                <a:ea typeface="Pretendard Medium" panose="020B0604020202020204" charset="-127"/>
                <a:cs typeface="Arial"/>
                <a:sym typeface="Noto Sans KR"/>
              </a:rPr>
              <a:t>노출</a:t>
            </a:r>
            <a:r>
              <a:rPr lang="en-US" sz="2000" dirty="0">
                <a:solidFill>
                  <a:srgbClr val="000000"/>
                </a:solidFill>
                <a:latin typeface="Pretendard Medium" panose="020B0604020202020204" charset="-127"/>
                <a:ea typeface="Pretendard Medium" panose="020B0604020202020204" charset="-127"/>
                <a:cs typeface="Arial"/>
                <a:sym typeface="Noto Sans KR"/>
              </a:rPr>
              <a:t> </a:t>
            </a:r>
            <a:r>
              <a:rPr lang="en-US" sz="2000" dirty="0" err="1">
                <a:solidFill>
                  <a:srgbClr val="000000"/>
                </a:solidFill>
                <a:latin typeface="Pretendard Medium" panose="020B0604020202020204" charset="-127"/>
                <a:ea typeface="Pretendard Medium" panose="020B0604020202020204" charset="-127"/>
                <a:cs typeface="Arial"/>
                <a:sym typeface="Noto Sans KR"/>
              </a:rPr>
              <a:t>차단</a:t>
            </a:r>
            <a:endParaRPr sz="2000" dirty="0">
              <a:solidFill>
                <a:srgbClr val="000000"/>
              </a:solidFill>
              <a:latin typeface="Pretendard Medium" panose="020B0604020202020204" charset="-127"/>
              <a:ea typeface="Pretendard Medium" panose="020B0604020202020204" charset="-127"/>
              <a:cs typeface="Arial"/>
              <a:sym typeface="Noto Sans KR"/>
            </a:endParaRPr>
          </a:p>
          <a:p>
            <a:pPr marR="0" lvl="0" indent="0">
              <a:lnSpc>
                <a:spcPct val="140000"/>
              </a:lnSpc>
              <a:spcBef>
                <a:spcPts val="0"/>
              </a:spcBef>
              <a:spcAft>
                <a:spcPts val="0"/>
              </a:spcAft>
              <a:buNone/>
            </a:pPr>
            <a:r>
              <a:rPr lang="en-US" sz="2000" dirty="0" err="1">
                <a:solidFill>
                  <a:srgbClr val="000000"/>
                </a:solidFill>
                <a:latin typeface="Pretendard Medium" panose="020B0604020202020204" charset="-127"/>
                <a:ea typeface="Pretendard Medium" panose="020B0604020202020204" charset="-127"/>
                <a:cs typeface="Arial"/>
                <a:sym typeface="Noto Sans KR"/>
              </a:rPr>
              <a:t>내부망</a:t>
            </a:r>
            <a:r>
              <a:rPr lang="en-US" sz="2000" dirty="0">
                <a:solidFill>
                  <a:srgbClr val="000000"/>
                </a:solidFill>
                <a:latin typeface="Pretendard Medium" panose="020B0604020202020204" charset="-127"/>
                <a:ea typeface="Pretendard Medium" panose="020B0604020202020204" charset="-127"/>
                <a:cs typeface="Arial"/>
                <a:sym typeface="Noto Sans KR"/>
              </a:rPr>
              <a:t> </a:t>
            </a:r>
            <a:r>
              <a:rPr lang="en-US" sz="2000" dirty="0" err="1">
                <a:solidFill>
                  <a:srgbClr val="000000"/>
                </a:solidFill>
                <a:latin typeface="Pretendard Medium" panose="020B0604020202020204" charset="-127"/>
                <a:ea typeface="Pretendard Medium" panose="020B0604020202020204" charset="-127"/>
                <a:cs typeface="Arial"/>
                <a:sym typeface="Noto Sans KR"/>
              </a:rPr>
              <a:t>이동</a:t>
            </a:r>
            <a:r>
              <a:rPr lang="en-US" sz="2000" dirty="0">
                <a:solidFill>
                  <a:srgbClr val="000000"/>
                </a:solidFill>
                <a:latin typeface="Pretendard Medium" panose="020B0604020202020204" charset="-127"/>
                <a:ea typeface="Pretendard Medium" panose="020B0604020202020204" charset="-127"/>
                <a:cs typeface="Arial"/>
                <a:sym typeface="Noto Sans KR"/>
              </a:rPr>
              <a:t> </a:t>
            </a:r>
            <a:r>
              <a:rPr lang="en-US" sz="2000" dirty="0" err="1">
                <a:solidFill>
                  <a:srgbClr val="000000"/>
                </a:solidFill>
                <a:latin typeface="Pretendard Medium" panose="020B0604020202020204" charset="-127"/>
                <a:ea typeface="Pretendard Medium" panose="020B0604020202020204" charset="-127"/>
                <a:cs typeface="Arial"/>
                <a:sym typeface="Noto Sans KR"/>
              </a:rPr>
              <a:t>경로</a:t>
            </a:r>
            <a:r>
              <a:rPr lang="en-US" sz="2000" dirty="0">
                <a:solidFill>
                  <a:srgbClr val="000000"/>
                </a:solidFill>
                <a:latin typeface="Pretendard Medium" panose="020B0604020202020204" charset="-127"/>
                <a:ea typeface="Pretendard Medium" panose="020B0604020202020204" charset="-127"/>
                <a:cs typeface="Arial"/>
                <a:sym typeface="Noto Sans KR"/>
              </a:rPr>
              <a:t> </a:t>
            </a:r>
            <a:r>
              <a:rPr lang="en-US" sz="2000" dirty="0" err="1">
                <a:solidFill>
                  <a:srgbClr val="000000"/>
                </a:solidFill>
                <a:latin typeface="Pretendard Medium" panose="020B0604020202020204" charset="-127"/>
                <a:ea typeface="Pretendard Medium" panose="020B0604020202020204" charset="-127"/>
                <a:cs typeface="Arial"/>
                <a:sym typeface="Noto Sans KR"/>
              </a:rPr>
              <a:t>통제</a:t>
            </a:r>
            <a:endParaRPr sz="2000" dirty="0">
              <a:solidFill>
                <a:srgbClr val="000000"/>
              </a:solidFill>
              <a:latin typeface="Pretendard Medium" panose="020B0604020202020204" charset="-127"/>
              <a:ea typeface="Pretendard Medium" panose="020B0604020202020204" charset="-127"/>
              <a:cs typeface="Arial"/>
            </a:endParaRPr>
          </a:p>
        </p:txBody>
      </p:sp>
      <p:pic>
        <p:nvPicPr>
          <p:cNvPr id="306" name="Google Shape;98;p13" descr="image.png">
            <a:extLst>
              <a:ext uri="{FF2B5EF4-FFF2-40B4-BE49-F238E27FC236}">
                <a16:creationId xmlns:a16="http://schemas.microsoft.com/office/drawing/2014/main" id="{5EF4B04B-FA77-B1D7-A0E7-2B92F110B0D0}"/>
              </a:ext>
            </a:extLst>
          </p:cNvPr>
          <p:cNvPicPr preferRelativeResize="0"/>
          <p:nvPr/>
        </p:nvPicPr>
        <p:blipFill rotWithShape="1">
          <a:blip r:embed="rId9">
            <a:alphaModFix/>
          </a:blip>
          <a:srcRect/>
          <a:stretch/>
        </p:blipFill>
        <p:spPr>
          <a:xfrm>
            <a:off x="7692704" y="4242631"/>
            <a:ext cx="784223" cy="689768"/>
          </a:xfrm>
          <a:prstGeom prst="rect">
            <a:avLst/>
          </a:prstGeom>
          <a:noFill/>
          <a:ln>
            <a:noFill/>
          </a:ln>
        </p:spPr>
      </p:pic>
      <p:sp>
        <p:nvSpPr>
          <p:cNvPr id="308" name="Google Shape;100;p13">
            <a:extLst>
              <a:ext uri="{FF2B5EF4-FFF2-40B4-BE49-F238E27FC236}">
                <a16:creationId xmlns:a16="http://schemas.microsoft.com/office/drawing/2014/main" id="{5DDD5EBC-F1D6-1EF8-F580-99EC6A50288A}"/>
              </a:ext>
            </a:extLst>
          </p:cNvPr>
          <p:cNvSpPr txBox="1"/>
          <p:nvPr/>
        </p:nvSpPr>
        <p:spPr>
          <a:xfrm>
            <a:off x="6543892" y="8190612"/>
            <a:ext cx="3286443" cy="430887"/>
          </a:xfrm>
          <a:prstGeom prst="rect">
            <a:avLst/>
          </a:prstGeom>
        </p:spPr>
        <p:txBody>
          <a:bodyPr spcFirstLastPara="1" wrap="square" lIns="0" tIns="0" rIns="0" bIns="0" anchor="t" anchorCtr="0">
            <a:spAutoFit/>
          </a:bodyPr>
          <a:lstStyle/>
          <a:p>
            <a:pPr marR="0" lvl="0" indent="0">
              <a:spcBef>
                <a:spcPts val="0"/>
              </a:spcBef>
              <a:spcAft>
                <a:spcPts val="0"/>
              </a:spcAft>
              <a:buNone/>
            </a:pPr>
            <a:r>
              <a:rPr lang="en-US" sz="2800" b="1" dirty="0" err="1">
                <a:solidFill>
                  <a:srgbClr val="000000"/>
                </a:solidFill>
                <a:latin typeface="Pretendard Bold"/>
                <a:ea typeface="Pretendard Bold"/>
                <a:cs typeface="Arial"/>
                <a:sym typeface="Noto Sans KR"/>
              </a:rPr>
              <a:t>엔드포인트</a:t>
            </a:r>
            <a:r>
              <a:rPr lang="en-US" sz="2800" b="1" dirty="0">
                <a:solidFill>
                  <a:srgbClr val="000000"/>
                </a:solidFill>
                <a:latin typeface="Pretendard Bold"/>
                <a:ea typeface="Pretendard Bold"/>
                <a:cs typeface="Arial"/>
                <a:sym typeface="Noto Sans KR"/>
              </a:rPr>
              <a:t> </a:t>
            </a:r>
            <a:r>
              <a:rPr lang="en-US" sz="2800" b="1" dirty="0" err="1">
                <a:solidFill>
                  <a:srgbClr val="000000"/>
                </a:solidFill>
                <a:latin typeface="Pretendard Bold"/>
                <a:ea typeface="Pretendard Bold"/>
                <a:cs typeface="Arial"/>
                <a:sym typeface="Noto Sans KR"/>
              </a:rPr>
              <a:t>무결성</a:t>
            </a:r>
            <a:endParaRPr sz="2800" b="1" dirty="0">
              <a:solidFill>
                <a:srgbClr val="000000"/>
              </a:solidFill>
              <a:latin typeface="Pretendard Bold"/>
              <a:ea typeface="Pretendard Bold"/>
              <a:cs typeface="Arial"/>
            </a:endParaRPr>
          </a:p>
        </p:txBody>
      </p:sp>
      <p:sp>
        <p:nvSpPr>
          <p:cNvPr id="309" name="Google Shape;101;p13">
            <a:extLst>
              <a:ext uri="{FF2B5EF4-FFF2-40B4-BE49-F238E27FC236}">
                <a16:creationId xmlns:a16="http://schemas.microsoft.com/office/drawing/2014/main" id="{A0089169-823F-8ADA-DADF-796B55D28536}"/>
              </a:ext>
            </a:extLst>
          </p:cNvPr>
          <p:cNvSpPr txBox="1"/>
          <p:nvPr/>
        </p:nvSpPr>
        <p:spPr>
          <a:xfrm>
            <a:off x="6574707" y="8970978"/>
            <a:ext cx="3129888" cy="1292662"/>
          </a:xfrm>
          <a:prstGeom prst="rect">
            <a:avLst/>
          </a:prstGeom>
          <a:noFill/>
          <a:ln>
            <a:noFill/>
          </a:ln>
        </p:spPr>
        <p:txBody>
          <a:bodyPr spcFirstLastPara="1" wrap="square" lIns="0" tIns="0" rIns="0" bIns="0" anchor="t" anchorCtr="0">
            <a:spAutoFit/>
          </a:bodyPr>
          <a:lstStyle/>
          <a:p>
            <a:pPr marR="0" lvl="0" indent="0">
              <a:lnSpc>
                <a:spcPct val="140000"/>
              </a:lnSpc>
              <a:spcBef>
                <a:spcPts val="0"/>
              </a:spcBef>
              <a:spcAft>
                <a:spcPts val="0"/>
              </a:spcAft>
              <a:buNone/>
            </a:pPr>
            <a:r>
              <a:rPr lang="en-US" sz="2000" dirty="0">
                <a:solidFill>
                  <a:srgbClr val="000000"/>
                </a:solidFill>
                <a:latin typeface="Pretendard Medium" panose="020B0604020202020204" charset="-127"/>
                <a:ea typeface="Pretendard Medium" panose="020B0604020202020204" charset="-127"/>
                <a:cs typeface="Arial"/>
                <a:sym typeface="Noto Sans KR"/>
              </a:rPr>
              <a:t>EDR </a:t>
            </a:r>
            <a:r>
              <a:rPr lang="en-US" sz="2000" dirty="0" err="1">
                <a:solidFill>
                  <a:srgbClr val="000000"/>
                </a:solidFill>
                <a:latin typeface="Pretendard Medium" panose="020B0604020202020204" charset="-127"/>
                <a:ea typeface="Pretendard Medium" panose="020B0604020202020204" charset="-127"/>
                <a:cs typeface="Arial"/>
                <a:sym typeface="Noto Sans KR"/>
              </a:rPr>
              <a:t>도입</a:t>
            </a:r>
            <a:endParaRPr sz="2000" dirty="0">
              <a:solidFill>
                <a:srgbClr val="000000"/>
              </a:solidFill>
              <a:latin typeface="Pretendard Medium" panose="020B0604020202020204" charset="-127"/>
              <a:ea typeface="Pretendard Medium" panose="020B0604020202020204" charset="-127"/>
              <a:cs typeface="Arial"/>
              <a:sym typeface="Noto Sans KR"/>
            </a:endParaRPr>
          </a:p>
          <a:p>
            <a:pPr marR="0" lvl="0" indent="0">
              <a:lnSpc>
                <a:spcPct val="140000"/>
              </a:lnSpc>
              <a:spcBef>
                <a:spcPts val="0"/>
              </a:spcBef>
              <a:spcAft>
                <a:spcPts val="0"/>
              </a:spcAft>
              <a:buNone/>
            </a:pPr>
            <a:r>
              <a:rPr lang="en-US" sz="2000" dirty="0" err="1">
                <a:solidFill>
                  <a:srgbClr val="000000"/>
                </a:solidFill>
                <a:latin typeface="Pretendard Medium" panose="020B0604020202020204" charset="-127"/>
                <a:ea typeface="Pretendard Medium" panose="020B0604020202020204" charset="-127"/>
                <a:cs typeface="Arial"/>
                <a:sym typeface="Noto Sans KR"/>
              </a:rPr>
              <a:t>파일</a:t>
            </a:r>
            <a:r>
              <a:rPr lang="en-US" sz="2000" dirty="0">
                <a:solidFill>
                  <a:srgbClr val="000000"/>
                </a:solidFill>
                <a:latin typeface="Pretendard Medium" panose="020B0604020202020204" charset="-127"/>
                <a:ea typeface="Pretendard Medium" panose="020B0604020202020204" charset="-127"/>
                <a:cs typeface="Arial"/>
                <a:sym typeface="Noto Sans KR"/>
              </a:rPr>
              <a:t> </a:t>
            </a:r>
            <a:r>
              <a:rPr lang="en-US" sz="2000" dirty="0" err="1">
                <a:solidFill>
                  <a:srgbClr val="000000"/>
                </a:solidFill>
                <a:latin typeface="Pretendard Medium" panose="020B0604020202020204" charset="-127"/>
                <a:ea typeface="Pretendard Medium" panose="020B0604020202020204" charset="-127"/>
                <a:cs typeface="Arial"/>
                <a:sym typeface="Noto Sans KR"/>
              </a:rPr>
              <a:t>무결성</a:t>
            </a:r>
            <a:r>
              <a:rPr lang="en-US" sz="2000" dirty="0">
                <a:solidFill>
                  <a:srgbClr val="000000"/>
                </a:solidFill>
                <a:latin typeface="Pretendard Medium" panose="020B0604020202020204" charset="-127"/>
                <a:ea typeface="Pretendard Medium" panose="020B0604020202020204" charset="-127"/>
                <a:cs typeface="Arial"/>
                <a:sym typeface="Noto Sans KR"/>
              </a:rPr>
              <a:t> </a:t>
            </a:r>
            <a:r>
              <a:rPr lang="en-US" sz="2000" dirty="0" err="1">
                <a:solidFill>
                  <a:srgbClr val="000000"/>
                </a:solidFill>
                <a:latin typeface="Pretendard Medium" panose="020B0604020202020204" charset="-127"/>
                <a:ea typeface="Pretendard Medium" panose="020B0604020202020204" charset="-127"/>
                <a:cs typeface="Arial"/>
                <a:sym typeface="Noto Sans KR"/>
              </a:rPr>
              <a:t>검증</a:t>
            </a:r>
            <a:endParaRPr sz="2000" dirty="0">
              <a:solidFill>
                <a:srgbClr val="000000"/>
              </a:solidFill>
              <a:latin typeface="Pretendard Medium" panose="020B0604020202020204" charset="-127"/>
              <a:ea typeface="Pretendard Medium" panose="020B0604020202020204" charset="-127"/>
              <a:cs typeface="Arial"/>
              <a:sym typeface="Noto Sans KR"/>
            </a:endParaRPr>
          </a:p>
          <a:p>
            <a:pPr marR="0" lvl="0" indent="0">
              <a:lnSpc>
                <a:spcPct val="140000"/>
              </a:lnSpc>
              <a:spcBef>
                <a:spcPts val="0"/>
              </a:spcBef>
              <a:spcAft>
                <a:spcPts val="0"/>
              </a:spcAft>
              <a:buNone/>
            </a:pPr>
            <a:r>
              <a:rPr lang="en-US" sz="2000" dirty="0" err="1">
                <a:solidFill>
                  <a:srgbClr val="000000"/>
                </a:solidFill>
                <a:latin typeface="Pretendard Medium" panose="020B0604020202020204" charset="-127"/>
                <a:ea typeface="Pretendard Medium" panose="020B0604020202020204" charset="-127"/>
                <a:cs typeface="Arial"/>
                <a:sym typeface="Noto Sans KR"/>
              </a:rPr>
              <a:t>애플리케이션</a:t>
            </a:r>
            <a:r>
              <a:rPr lang="en-US" sz="2000" dirty="0">
                <a:solidFill>
                  <a:srgbClr val="000000"/>
                </a:solidFill>
                <a:latin typeface="Pretendard Medium" panose="020B0604020202020204" charset="-127"/>
                <a:ea typeface="Pretendard Medium" panose="020B0604020202020204" charset="-127"/>
                <a:cs typeface="Arial"/>
                <a:sym typeface="Noto Sans KR"/>
              </a:rPr>
              <a:t> </a:t>
            </a:r>
            <a:r>
              <a:rPr lang="en-US" sz="2000" dirty="0" err="1">
                <a:solidFill>
                  <a:srgbClr val="000000"/>
                </a:solidFill>
                <a:latin typeface="Pretendard Medium" panose="020B0604020202020204" charset="-127"/>
                <a:ea typeface="Pretendard Medium" panose="020B0604020202020204" charset="-127"/>
                <a:cs typeface="Arial"/>
                <a:sym typeface="Noto Sans KR"/>
              </a:rPr>
              <a:t>실행</a:t>
            </a:r>
            <a:r>
              <a:rPr lang="en-US" sz="2000" dirty="0">
                <a:solidFill>
                  <a:srgbClr val="000000"/>
                </a:solidFill>
                <a:latin typeface="Pretendard Medium" panose="020B0604020202020204" charset="-127"/>
                <a:ea typeface="Pretendard Medium" panose="020B0604020202020204" charset="-127"/>
                <a:cs typeface="Arial"/>
                <a:sym typeface="Noto Sans KR"/>
              </a:rPr>
              <a:t> </a:t>
            </a:r>
            <a:r>
              <a:rPr lang="en-US" sz="2000" dirty="0" err="1">
                <a:solidFill>
                  <a:srgbClr val="000000"/>
                </a:solidFill>
                <a:latin typeface="Pretendard Medium" panose="020B0604020202020204" charset="-127"/>
                <a:ea typeface="Pretendard Medium" panose="020B0604020202020204" charset="-127"/>
                <a:cs typeface="Arial"/>
                <a:sym typeface="Noto Sans KR"/>
              </a:rPr>
              <a:t>제어</a:t>
            </a:r>
            <a:endParaRPr sz="2000" dirty="0">
              <a:solidFill>
                <a:srgbClr val="000000"/>
              </a:solidFill>
              <a:latin typeface="Pretendard Medium" panose="020B0604020202020204" charset="-127"/>
              <a:ea typeface="Pretendard Medium" panose="020B0604020202020204" charset="-127"/>
              <a:cs typeface="Arial"/>
            </a:endParaRPr>
          </a:p>
        </p:txBody>
      </p:sp>
      <p:pic>
        <p:nvPicPr>
          <p:cNvPr id="310" name="Google Shape;102;p13" descr="image.png">
            <a:extLst>
              <a:ext uri="{FF2B5EF4-FFF2-40B4-BE49-F238E27FC236}">
                <a16:creationId xmlns:a16="http://schemas.microsoft.com/office/drawing/2014/main" id="{7433B96D-1238-30EF-1C2A-E255FBE3EA80}"/>
              </a:ext>
            </a:extLst>
          </p:cNvPr>
          <p:cNvPicPr preferRelativeResize="0"/>
          <p:nvPr/>
        </p:nvPicPr>
        <p:blipFill rotWithShape="1">
          <a:blip r:embed="rId10">
            <a:alphaModFix/>
          </a:blip>
          <a:srcRect/>
          <a:stretch/>
        </p:blipFill>
        <p:spPr>
          <a:xfrm>
            <a:off x="12061186" y="4242605"/>
            <a:ext cx="627379" cy="689768"/>
          </a:xfrm>
          <a:prstGeom prst="rect">
            <a:avLst/>
          </a:prstGeom>
          <a:noFill/>
          <a:ln>
            <a:noFill/>
          </a:ln>
        </p:spPr>
      </p:pic>
      <p:sp>
        <p:nvSpPr>
          <p:cNvPr id="311" name="Google Shape;103;p13">
            <a:extLst>
              <a:ext uri="{FF2B5EF4-FFF2-40B4-BE49-F238E27FC236}">
                <a16:creationId xmlns:a16="http://schemas.microsoft.com/office/drawing/2014/main" id="{B91C3CF2-B935-6A56-A190-EB4CB790668F}"/>
              </a:ext>
            </a:extLst>
          </p:cNvPr>
          <p:cNvSpPr txBox="1"/>
          <p:nvPr/>
        </p:nvSpPr>
        <p:spPr>
          <a:xfrm>
            <a:off x="10807706" y="8206991"/>
            <a:ext cx="3286353" cy="430887"/>
          </a:xfrm>
          <a:prstGeom prst="rect">
            <a:avLst/>
          </a:prstGeom>
          <a:noFill/>
          <a:ln>
            <a:noFill/>
          </a:ln>
        </p:spPr>
        <p:txBody>
          <a:bodyPr spcFirstLastPara="1" wrap="square" lIns="0" tIns="0" rIns="0" bIns="0" anchor="t" anchorCtr="0">
            <a:spAutoFit/>
          </a:bodyPr>
          <a:lstStyle/>
          <a:p>
            <a:pPr marR="0" lvl="0" indent="0">
              <a:spcBef>
                <a:spcPts val="0"/>
              </a:spcBef>
              <a:spcAft>
                <a:spcPts val="0"/>
              </a:spcAft>
              <a:buNone/>
            </a:pPr>
            <a:r>
              <a:rPr lang="en-US" sz="2800" b="1" dirty="0" err="1">
                <a:solidFill>
                  <a:srgbClr val="000000"/>
                </a:solidFill>
                <a:latin typeface="Pretendard Bold"/>
                <a:ea typeface="Pretendard Bold"/>
                <a:cs typeface="Arial"/>
                <a:sym typeface="Noto Sans KR"/>
              </a:rPr>
              <a:t>브라우저·단말</a:t>
            </a:r>
            <a:r>
              <a:rPr lang="en-US" sz="2800" b="1" dirty="0">
                <a:solidFill>
                  <a:srgbClr val="000000"/>
                </a:solidFill>
                <a:latin typeface="Pretendard Bold"/>
                <a:ea typeface="Pretendard Bold"/>
                <a:cs typeface="Arial"/>
                <a:sym typeface="Noto Sans KR"/>
              </a:rPr>
              <a:t> </a:t>
            </a:r>
            <a:r>
              <a:rPr lang="en-US" sz="2800" b="1" dirty="0" err="1">
                <a:solidFill>
                  <a:srgbClr val="000000"/>
                </a:solidFill>
                <a:latin typeface="Pretendard Bold"/>
                <a:ea typeface="Pretendard Bold"/>
                <a:cs typeface="Arial"/>
                <a:sym typeface="Noto Sans KR"/>
              </a:rPr>
              <a:t>보호</a:t>
            </a:r>
            <a:r>
              <a:rPr lang="en-US" sz="2800" b="1" dirty="0">
                <a:solidFill>
                  <a:srgbClr val="000000"/>
                </a:solidFill>
                <a:latin typeface="Pretendard Bold"/>
                <a:ea typeface="Pretendard Bold"/>
                <a:cs typeface="Arial"/>
                <a:sym typeface="Noto Sans KR"/>
              </a:rPr>
              <a:t> </a:t>
            </a:r>
            <a:endParaRPr sz="2800" b="1" dirty="0">
              <a:solidFill>
                <a:srgbClr val="000000"/>
              </a:solidFill>
              <a:latin typeface="Pretendard Bold"/>
              <a:ea typeface="Pretendard Bold"/>
              <a:cs typeface="Arial"/>
            </a:endParaRPr>
          </a:p>
        </p:txBody>
      </p:sp>
      <p:sp>
        <p:nvSpPr>
          <p:cNvPr id="312" name="Google Shape;104;p13">
            <a:extLst>
              <a:ext uri="{FF2B5EF4-FFF2-40B4-BE49-F238E27FC236}">
                <a16:creationId xmlns:a16="http://schemas.microsoft.com/office/drawing/2014/main" id="{CA23735B-0AAF-1B64-2967-2AA6AE05128D}"/>
              </a:ext>
            </a:extLst>
          </p:cNvPr>
          <p:cNvSpPr txBox="1"/>
          <p:nvPr/>
        </p:nvSpPr>
        <p:spPr>
          <a:xfrm>
            <a:off x="10865468" y="8953128"/>
            <a:ext cx="3129888" cy="1292662"/>
          </a:xfrm>
          <a:prstGeom prst="rect">
            <a:avLst/>
          </a:prstGeom>
          <a:noFill/>
          <a:ln>
            <a:noFill/>
          </a:ln>
        </p:spPr>
        <p:txBody>
          <a:bodyPr spcFirstLastPara="1" wrap="square" lIns="0" tIns="0" rIns="0" bIns="0" anchor="t" anchorCtr="0">
            <a:spAutoFit/>
          </a:bodyPr>
          <a:lstStyle/>
          <a:p>
            <a:pPr marR="0" lvl="0" indent="0">
              <a:lnSpc>
                <a:spcPct val="140000"/>
              </a:lnSpc>
              <a:spcBef>
                <a:spcPts val="0"/>
              </a:spcBef>
              <a:spcAft>
                <a:spcPts val="0"/>
              </a:spcAft>
              <a:buNone/>
            </a:pPr>
            <a:r>
              <a:rPr lang="en-US" sz="2000" dirty="0" err="1">
                <a:solidFill>
                  <a:srgbClr val="000000"/>
                </a:solidFill>
                <a:latin typeface="Pretendard Medium" panose="020B0604020202020204" charset="-127"/>
                <a:ea typeface="Pretendard Medium" panose="020B0604020202020204" charset="-127"/>
                <a:cs typeface="Arial"/>
                <a:sym typeface="Noto Sans KR"/>
              </a:rPr>
              <a:t>브라우저</a:t>
            </a:r>
            <a:r>
              <a:rPr lang="en-US" sz="2000" dirty="0">
                <a:solidFill>
                  <a:srgbClr val="000000"/>
                </a:solidFill>
                <a:latin typeface="Pretendard Medium" panose="020B0604020202020204" charset="-127"/>
                <a:ea typeface="Pretendard Medium" panose="020B0604020202020204" charset="-127"/>
                <a:cs typeface="Arial"/>
                <a:sym typeface="Noto Sans KR"/>
              </a:rPr>
              <a:t> </a:t>
            </a:r>
            <a:r>
              <a:rPr lang="en-US" sz="2000" dirty="0" err="1">
                <a:solidFill>
                  <a:srgbClr val="000000"/>
                </a:solidFill>
                <a:latin typeface="Pretendard Medium" panose="020B0604020202020204" charset="-127"/>
                <a:ea typeface="Pretendard Medium" panose="020B0604020202020204" charset="-127"/>
                <a:cs typeface="Arial"/>
                <a:sym typeface="Noto Sans KR"/>
              </a:rPr>
              <a:t>격리</a:t>
            </a:r>
            <a:endParaRPr sz="2000" dirty="0">
              <a:solidFill>
                <a:srgbClr val="000000"/>
              </a:solidFill>
              <a:latin typeface="Pretendard Medium" panose="020B0604020202020204" charset="-127"/>
              <a:ea typeface="Pretendard Medium" panose="020B0604020202020204" charset="-127"/>
              <a:cs typeface="Arial"/>
              <a:sym typeface="Noto Sans KR"/>
            </a:endParaRPr>
          </a:p>
          <a:p>
            <a:pPr marR="0" lvl="0" indent="0">
              <a:lnSpc>
                <a:spcPct val="140000"/>
              </a:lnSpc>
              <a:spcBef>
                <a:spcPts val="0"/>
              </a:spcBef>
              <a:spcAft>
                <a:spcPts val="0"/>
              </a:spcAft>
              <a:buNone/>
            </a:pPr>
            <a:r>
              <a:rPr lang="en-US" sz="2000" dirty="0" err="1">
                <a:solidFill>
                  <a:srgbClr val="000000"/>
                </a:solidFill>
                <a:latin typeface="Pretendard Medium" panose="020B0604020202020204" charset="-127"/>
                <a:ea typeface="Pretendard Medium" panose="020B0604020202020204" charset="-127"/>
                <a:cs typeface="Arial"/>
                <a:sym typeface="Noto Sans KR"/>
              </a:rPr>
              <a:t>패치</a:t>
            </a:r>
            <a:r>
              <a:rPr lang="en-US" sz="2000" dirty="0">
                <a:solidFill>
                  <a:srgbClr val="000000"/>
                </a:solidFill>
                <a:latin typeface="Pretendard Medium" panose="020B0604020202020204" charset="-127"/>
                <a:ea typeface="Pretendard Medium" panose="020B0604020202020204" charset="-127"/>
                <a:cs typeface="Arial"/>
                <a:sym typeface="Noto Sans KR"/>
              </a:rPr>
              <a:t> </a:t>
            </a:r>
            <a:r>
              <a:rPr lang="en-US" sz="2000" dirty="0" err="1">
                <a:solidFill>
                  <a:srgbClr val="000000"/>
                </a:solidFill>
                <a:latin typeface="Pretendard Medium" panose="020B0604020202020204" charset="-127"/>
                <a:ea typeface="Pretendard Medium" panose="020B0604020202020204" charset="-127"/>
                <a:cs typeface="Arial"/>
                <a:sym typeface="Noto Sans KR"/>
              </a:rPr>
              <a:t>관리</a:t>
            </a:r>
            <a:endParaRPr sz="2000" dirty="0">
              <a:solidFill>
                <a:srgbClr val="000000"/>
              </a:solidFill>
              <a:latin typeface="Pretendard Medium" panose="020B0604020202020204" charset="-127"/>
              <a:ea typeface="Pretendard Medium" panose="020B0604020202020204" charset="-127"/>
              <a:cs typeface="Arial"/>
              <a:sym typeface="Noto Sans KR"/>
            </a:endParaRPr>
          </a:p>
          <a:p>
            <a:pPr marR="0" lvl="0" indent="0">
              <a:lnSpc>
                <a:spcPct val="140000"/>
              </a:lnSpc>
              <a:spcBef>
                <a:spcPts val="0"/>
              </a:spcBef>
              <a:spcAft>
                <a:spcPts val="0"/>
              </a:spcAft>
              <a:buNone/>
            </a:pPr>
            <a:r>
              <a:rPr lang="en-US" sz="2000" dirty="0">
                <a:solidFill>
                  <a:srgbClr val="000000"/>
                </a:solidFill>
                <a:latin typeface="Pretendard Medium" panose="020B0604020202020204" charset="-127"/>
                <a:ea typeface="Pretendard Medium" panose="020B0604020202020204" charset="-127"/>
                <a:cs typeface="Arial"/>
                <a:sym typeface="Noto Sans KR"/>
              </a:rPr>
              <a:t>EDR </a:t>
            </a:r>
            <a:r>
              <a:rPr lang="en-US" sz="2000" dirty="0" err="1">
                <a:solidFill>
                  <a:srgbClr val="000000"/>
                </a:solidFill>
                <a:latin typeface="Pretendard Medium" panose="020B0604020202020204" charset="-127"/>
                <a:ea typeface="Pretendard Medium" panose="020B0604020202020204" charset="-127"/>
                <a:cs typeface="Arial"/>
                <a:sym typeface="Noto Sans KR"/>
              </a:rPr>
              <a:t>행위</a:t>
            </a:r>
            <a:r>
              <a:rPr lang="en-US" sz="2000" dirty="0">
                <a:solidFill>
                  <a:srgbClr val="000000"/>
                </a:solidFill>
                <a:latin typeface="Pretendard Medium" panose="020B0604020202020204" charset="-127"/>
                <a:ea typeface="Pretendard Medium" panose="020B0604020202020204" charset="-127"/>
                <a:cs typeface="Arial"/>
                <a:sym typeface="Noto Sans KR"/>
              </a:rPr>
              <a:t> </a:t>
            </a:r>
            <a:r>
              <a:rPr lang="en-US" sz="2000" dirty="0" err="1">
                <a:solidFill>
                  <a:srgbClr val="000000"/>
                </a:solidFill>
                <a:latin typeface="Pretendard Medium" panose="020B0604020202020204" charset="-127"/>
                <a:ea typeface="Pretendard Medium" panose="020B0604020202020204" charset="-127"/>
                <a:cs typeface="Arial"/>
                <a:sym typeface="Noto Sans KR"/>
              </a:rPr>
              <a:t>탐지</a:t>
            </a:r>
            <a:r>
              <a:rPr lang="en-US" sz="2000" dirty="0">
                <a:solidFill>
                  <a:srgbClr val="000000"/>
                </a:solidFill>
                <a:latin typeface="Pretendard Medium" panose="020B0604020202020204" charset="-127"/>
                <a:ea typeface="Pretendard Medium" panose="020B0604020202020204" charset="-127"/>
                <a:cs typeface="Arial"/>
                <a:sym typeface="Noto Sans KR"/>
              </a:rPr>
              <a:t> </a:t>
            </a:r>
            <a:endParaRPr sz="2000" dirty="0">
              <a:solidFill>
                <a:srgbClr val="000000"/>
              </a:solidFill>
              <a:latin typeface="Pretendard Medium" panose="020B0604020202020204" charset="-127"/>
              <a:ea typeface="Pretendard Medium" panose="020B0604020202020204" charset="-127"/>
              <a:cs typeface="Arial"/>
            </a:endParaRPr>
          </a:p>
        </p:txBody>
      </p:sp>
      <p:pic>
        <p:nvPicPr>
          <p:cNvPr id="313" name="Google Shape;105;p13" descr="image.png">
            <a:extLst>
              <a:ext uri="{FF2B5EF4-FFF2-40B4-BE49-F238E27FC236}">
                <a16:creationId xmlns:a16="http://schemas.microsoft.com/office/drawing/2014/main" id="{5AB3B46F-063A-16BB-2935-B6217C463A6A}"/>
              </a:ext>
            </a:extLst>
          </p:cNvPr>
          <p:cNvPicPr preferRelativeResize="0"/>
          <p:nvPr/>
        </p:nvPicPr>
        <p:blipFill rotWithShape="1">
          <a:blip r:embed="rId11">
            <a:alphaModFix/>
          </a:blip>
          <a:srcRect/>
          <a:stretch/>
        </p:blipFill>
        <p:spPr>
          <a:xfrm>
            <a:off x="16230600" y="4191592"/>
            <a:ext cx="784223" cy="689768"/>
          </a:xfrm>
          <a:prstGeom prst="rect">
            <a:avLst/>
          </a:prstGeom>
          <a:noFill/>
          <a:ln>
            <a:noFill/>
          </a:ln>
        </p:spPr>
      </p:pic>
      <p:sp>
        <p:nvSpPr>
          <p:cNvPr id="315" name="Google Shape;107;p13">
            <a:extLst>
              <a:ext uri="{FF2B5EF4-FFF2-40B4-BE49-F238E27FC236}">
                <a16:creationId xmlns:a16="http://schemas.microsoft.com/office/drawing/2014/main" id="{EF6C7A3C-833F-04BC-3561-148576AA181F}"/>
              </a:ext>
            </a:extLst>
          </p:cNvPr>
          <p:cNvSpPr txBox="1"/>
          <p:nvPr/>
        </p:nvSpPr>
        <p:spPr>
          <a:xfrm>
            <a:off x="15095554" y="8206991"/>
            <a:ext cx="3286443" cy="430887"/>
          </a:xfrm>
          <a:prstGeom prst="rect">
            <a:avLst/>
          </a:prstGeom>
          <a:noFill/>
          <a:ln>
            <a:noFill/>
          </a:ln>
        </p:spPr>
        <p:txBody>
          <a:bodyPr spcFirstLastPara="1" wrap="square" lIns="0" tIns="0" rIns="0" bIns="0" anchor="t" anchorCtr="0">
            <a:spAutoFit/>
          </a:bodyPr>
          <a:lstStyle/>
          <a:p>
            <a:pPr marR="0" lvl="0" indent="0">
              <a:spcBef>
                <a:spcPts val="0"/>
              </a:spcBef>
              <a:spcAft>
                <a:spcPts val="0"/>
              </a:spcAft>
              <a:buNone/>
            </a:pPr>
            <a:r>
              <a:rPr lang="en-US" sz="2800" b="1" dirty="0">
                <a:solidFill>
                  <a:srgbClr val="000000"/>
                </a:solidFill>
                <a:latin typeface="Pretendard Bold"/>
                <a:ea typeface="Pretendard Bold"/>
                <a:cs typeface="Arial"/>
                <a:sym typeface="Noto Sans KR"/>
              </a:rPr>
              <a:t>SBOM &amp; </a:t>
            </a:r>
            <a:r>
              <a:rPr lang="en-US" sz="2800" b="1" dirty="0" err="1">
                <a:solidFill>
                  <a:srgbClr val="000000"/>
                </a:solidFill>
                <a:latin typeface="Pretendard Bold"/>
                <a:ea typeface="Pretendard Bold"/>
                <a:cs typeface="Arial"/>
                <a:sym typeface="Noto Sans KR"/>
              </a:rPr>
              <a:t>파이프라인</a:t>
            </a:r>
            <a:endParaRPr sz="2800" b="1" dirty="0">
              <a:solidFill>
                <a:srgbClr val="000000"/>
              </a:solidFill>
              <a:latin typeface="Pretendard Bold"/>
              <a:ea typeface="Pretendard Bold"/>
              <a:cs typeface="Arial"/>
            </a:endParaRPr>
          </a:p>
        </p:txBody>
      </p:sp>
      <p:sp>
        <p:nvSpPr>
          <p:cNvPr id="316" name="Google Shape;108;p13">
            <a:extLst>
              <a:ext uri="{FF2B5EF4-FFF2-40B4-BE49-F238E27FC236}">
                <a16:creationId xmlns:a16="http://schemas.microsoft.com/office/drawing/2014/main" id="{2FEC17FB-D0C1-C0E9-18D5-1842F28F598C}"/>
              </a:ext>
            </a:extLst>
          </p:cNvPr>
          <p:cNvSpPr txBox="1"/>
          <p:nvPr/>
        </p:nvSpPr>
        <p:spPr>
          <a:xfrm>
            <a:off x="15127304" y="8970978"/>
            <a:ext cx="3129888" cy="1292662"/>
          </a:xfrm>
          <a:prstGeom prst="rect">
            <a:avLst/>
          </a:prstGeom>
          <a:noFill/>
          <a:ln>
            <a:noFill/>
          </a:ln>
        </p:spPr>
        <p:txBody>
          <a:bodyPr spcFirstLastPara="1" wrap="square" lIns="0" tIns="0" rIns="0" bIns="0" anchor="t" anchorCtr="0">
            <a:spAutoFit/>
          </a:bodyPr>
          <a:lstStyle/>
          <a:p>
            <a:pPr marR="0" lvl="0" indent="0">
              <a:lnSpc>
                <a:spcPct val="140000"/>
              </a:lnSpc>
              <a:spcBef>
                <a:spcPts val="0"/>
              </a:spcBef>
              <a:spcAft>
                <a:spcPts val="0"/>
              </a:spcAft>
              <a:buNone/>
            </a:pPr>
            <a:r>
              <a:rPr lang="en-US" sz="2000" dirty="0">
                <a:solidFill>
                  <a:srgbClr val="000000"/>
                </a:solidFill>
                <a:latin typeface="Pretendard Medium" panose="020B0604020202020204" charset="-127"/>
                <a:ea typeface="Pretendard Medium" panose="020B0604020202020204" charset="-127"/>
                <a:cs typeface="Arial"/>
                <a:sym typeface="Noto Sans KR"/>
              </a:rPr>
              <a:t>SBOM </a:t>
            </a:r>
            <a:r>
              <a:rPr lang="en-US" sz="2000" dirty="0" err="1">
                <a:solidFill>
                  <a:srgbClr val="000000"/>
                </a:solidFill>
                <a:latin typeface="Pretendard Medium" panose="020B0604020202020204" charset="-127"/>
                <a:ea typeface="Pretendard Medium" panose="020B0604020202020204" charset="-127"/>
                <a:cs typeface="Arial"/>
                <a:sym typeface="Noto Sans KR"/>
              </a:rPr>
              <a:t>관리</a:t>
            </a:r>
            <a:r>
              <a:rPr lang="en-US" sz="2000" dirty="0">
                <a:solidFill>
                  <a:srgbClr val="000000"/>
                </a:solidFill>
                <a:latin typeface="Pretendard Medium" panose="020B0604020202020204" charset="-127"/>
                <a:ea typeface="Pretendard Medium" panose="020B0604020202020204" charset="-127"/>
                <a:cs typeface="Arial"/>
                <a:sym typeface="Noto Sans KR"/>
              </a:rPr>
              <a:t>, </a:t>
            </a:r>
            <a:r>
              <a:rPr lang="en-US" sz="2000" dirty="0" err="1">
                <a:solidFill>
                  <a:srgbClr val="000000"/>
                </a:solidFill>
                <a:latin typeface="Pretendard Medium" panose="020B0604020202020204" charset="-127"/>
                <a:ea typeface="Pretendard Medium" panose="020B0604020202020204" charset="-127"/>
                <a:cs typeface="Arial"/>
                <a:sym typeface="Noto Sans KR"/>
              </a:rPr>
              <a:t>아티팩트</a:t>
            </a:r>
            <a:r>
              <a:rPr lang="en-US" sz="2000" dirty="0">
                <a:solidFill>
                  <a:srgbClr val="000000"/>
                </a:solidFill>
                <a:latin typeface="Pretendard Medium" panose="020B0604020202020204" charset="-127"/>
                <a:ea typeface="Pretendard Medium" panose="020B0604020202020204" charset="-127"/>
                <a:cs typeface="Arial"/>
                <a:sym typeface="Noto Sans KR"/>
              </a:rPr>
              <a:t> </a:t>
            </a:r>
            <a:r>
              <a:rPr lang="en-US" sz="2000" dirty="0" err="1">
                <a:solidFill>
                  <a:srgbClr val="000000"/>
                </a:solidFill>
                <a:latin typeface="Pretendard Medium" panose="020B0604020202020204" charset="-127"/>
                <a:ea typeface="Pretendard Medium" panose="020B0604020202020204" charset="-127"/>
                <a:cs typeface="Arial"/>
                <a:sym typeface="Noto Sans KR"/>
              </a:rPr>
              <a:t>서명</a:t>
            </a:r>
            <a:endParaRPr sz="2000" dirty="0">
              <a:solidFill>
                <a:srgbClr val="000000"/>
              </a:solidFill>
              <a:latin typeface="Pretendard Medium" panose="020B0604020202020204" charset="-127"/>
              <a:ea typeface="Pretendard Medium" panose="020B0604020202020204" charset="-127"/>
              <a:cs typeface="Arial"/>
              <a:sym typeface="Noto Sans KR"/>
            </a:endParaRPr>
          </a:p>
          <a:p>
            <a:pPr marR="0" lvl="0" indent="0">
              <a:lnSpc>
                <a:spcPct val="140000"/>
              </a:lnSpc>
              <a:spcBef>
                <a:spcPts val="0"/>
              </a:spcBef>
              <a:spcAft>
                <a:spcPts val="0"/>
              </a:spcAft>
              <a:buNone/>
            </a:pPr>
            <a:r>
              <a:rPr lang="en-US" sz="2000" dirty="0" err="1">
                <a:solidFill>
                  <a:srgbClr val="000000"/>
                </a:solidFill>
                <a:latin typeface="Pretendard Medium" panose="020B0604020202020204" charset="-127"/>
                <a:ea typeface="Pretendard Medium" panose="020B0604020202020204" charset="-127"/>
                <a:cs typeface="Arial"/>
                <a:sym typeface="Noto Sans KR"/>
              </a:rPr>
              <a:t>빌드</a:t>
            </a:r>
            <a:r>
              <a:rPr lang="en-US" sz="2000" dirty="0">
                <a:solidFill>
                  <a:srgbClr val="000000"/>
                </a:solidFill>
                <a:latin typeface="Pretendard Medium" panose="020B0604020202020204" charset="-127"/>
                <a:ea typeface="Pretendard Medium" panose="020B0604020202020204" charset="-127"/>
                <a:cs typeface="Arial"/>
                <a:sym typeface="Noto Sans KR"/>
              </a:rPr>
              <a:t> </a:t>
            </a:r>
            <a:r>
              <a:rPr lang="en-US" sz="2000" dirty="0" err="1">
                <a:solidFill>
                  <a:srgbClr val="000000"/>
                </a:solidFill>
                <a:latin typeface="Pretendard Medium" panose="020B0604020202020204" charset="-127"/>
                <a:ea typeface="Pretendard Medium" panose="020B0604020202020204" charset="-127"/>
                <a:cs typeface="Arial"/>
                <a:sym typeface="Noto Sans KR"/>
              </a:rPr>
              <a:t>변경</a:t>
            </a:r>
            <a:r>
              <a:rPr lang="en-US" sz="2000" dirty="0">
                <a:solidFill>
                  <a:srgbClr val="000000"/>
                </a:solidFill>
                <a:latin typeface="Pretendard Medium" panose="020B0604020202020204" charset="-127"/>
                <a:ea typeface="Pretendard Medium" panose="020B0604020202020204" charset="-127"/>
                <a:cs typeface="Arial"/>
                <a:sym typeface="Noto Sans KR"/>
              </a:rPr>
              <a:t> </a:t>
            </a:r>
            <a:r>
              <a:rPr lang="en-US" sz="2000" dirty="0" err="1">
                <a:solidFill>
                  <a:srgbClr val="000000"/>
                </a:solidFill>
                <a:latin typeface="Pretendard Medium" panose="020B0604020202020204" charset="-127"/>
                <a:ea typeface="Pretendard Medium" panose="020B0604020202020204" charset="-127"/>
                <a:cs typeface="Arial"/>
                <a:sym typeface="Noto Sans KR"/>
              </a:rPr>
              <a:t>승인</a:t>
            </a:r>
            <a:endParaRPr sz="2000" dirty="0">
              <a:solidFill>
                <a:srgbClr val="000000"/>
              </a:solidFill>
              <a:latin typeface="Pretendard Medium" panose="020B0604020202020204" charset="-127"/>
              <a:ea typeface="Pretendard Medium" panose="020B0604020202020204" charset="-127"/>
              <a:cs typeface="Arial"/>
              <a:sym typeface="Noto Sans KR"/>
            </a:endParaRPr>
          </a:p>
          <a:p>
            <a:pPr marR="0" lvl="0" indent="0">
              <a:lnSpc>
                <a:spcPct val="140000"/>
              </a:lnSpc>
              <a:spcBef>
                <a:spcPts val="0"/>
              </a:spcBef>
              <a:spcAft>
                <a:spcPts val="0"/>
              </a:spcAft>
              <a:buNone/>
            </a:pPr>
            <a:r>
              <a:rPr lang="en-US" sz="2000" dirty="0" err="1">
                <a:solidFill>
                  <a:srgbClr val="000000"/>
                </a:solidFill>
                <a:latin typeface="Pretendard Medium" panose="020B0604020202020204" charset="-127"/>
                <a:ea typeface="Pretendard Medium" panose="020B0604020202020204" charset="-127"/>
                <a:cs typeface="Arial"/>
                <a:sym typeface="Noto Sans KR"/>
              </a:rPr>
              <a:t>파이프라인</a:t>
            </a:r>
            <a:r>
              <a:rPr lang="en-US" sz="2000" dirty="0">
                <a:solidFill>
                  <a:srgbClr val="000000"/>
                </a:solidFill>
                <a:latin typeface="Pretendard Medium" panose="020B0604020202020204" charset="-127"/>
                <a:ea typeface="Pretendard Medium" panose="020B0604020202020204" charset="-127"/>
                <a:cs typeface="Arial"/>
                <a:sym typeface="Noto Sans KR"/>
              </a:rPr>
              <a:t> </a:t>
            </a:r>
            <a:r>
              <a:rPr lang="en-US" sz="2000" dirty="0" err="1">
                <a:solidFill>
                  <a:srgbClr val="000000"/>
                </a:solidFill>
                <a:latin typeface="Pretendard Medium" panose="020B0604020202020204" charset="-127"/>
                <a:ea typeface="Pretendard Medium" panose="020B0604020202020204" charset="-127"/>
                <a:cs typeface="Arial"/>
                <a:sym typeface="Noto Sans KR"/>
              </a:rPr>
              <a:t>최소</a:t>
            </a:r>
            <a:r>
              <a:rPr lang="en-US" sz="2000" dirty="0">
                <a:solidFill>
                  <a:srgbClr val="000000"/>
                </a:solidFill>
                <a:latin typeface="Pretendard Medium" panose="020B0604020202020204" charset="-127"/>
                <a:ea typeface="Pretendard Medium" panose="020B0604020202020204" charset="-127"/>
                <a:cs typeface="Arial"/>
                <a:sym typeface="Noto Sans KR"/>
              </a:rPr>
              <a:t> </a:t>
            </a:r>
            <a:r>
              <a:rPr lang="en-US" sz="2000" dirty="0" err="1">
                <a:solidFill>
                  <a:srgbClr val="000000"/>
                </a:solidFill>
                <a:latin typeface="Pretendard Medium" panose="020B0604020202020204" charset="-127"/>
                <a:ea typeface="Pretendard Medium" panose="020B0604020202020204" charset="-127"/>
                <a:cs typeface="Arial"/>
                <a:sym typeface="Noto Sans KR"/>
              </a:rPr>
              <a:t>권한</a:t>
            </a:r>
            <a:r>
              <a:rPr lang="en-US" sz="2000" dirty="0">
                <a:solidFill>
                  <a:srgbClr val="000000"/>
                </a:solidFill>
                <a:latin typeface="Pretendard Medium" panose="020B0604020202020204" charset="-127"/>
                <a:ea typeface="Pretendard Medium" panose="020B0604020202020204" charset="-127"/>
                <a:cs typeface="Arial"/>
                <a:sym typeface="Noto Sans KR"/>
              </a:rPr>
              <a:t> </a:t>
            </a:r>
            <a:endParaRPr sz="2000" dirty="0">
              <a:solidFill>
                <a:srgbClr val="000000"/>
              </a:solidFill>
              <a:latin typeface="Pretendard Medium" panose="020B0604020202020204" charset="-127"/>
              <a:ea typeface="Pretendard Medium" panose="020B0604020202020204" charset="-127"/>
              <a:cs typeface="Arial"/>
            </a:endParaRPr>
          </a:p>
        </p:txBody>
      </p:sp>
      <p:pic>
        <p:nvPicPr>
          <p:cNvPr id="317" name="Google Shape;109;p13" descr="image.png">
            <a:extLst>
              <a:ext uri="{FF2B5EF4-FFF2-40B4-BE49-F238E27FC236}">
                <a16:creationId xmlns:a16="http://schemas.microsoft.com/office/drawing/2014/main" id="{2387EA83-27E9-D3F3-32B4-E299E937BB79}"/>
              </a:ext>
            </a:extLst>
          </p:cNvPr>
          <p:cNvPicPr preferRelativeResize="0"/>
          <p:nvPr/>
        </p:nvPicPr>
        <p:blipFill rotWithShape="1">
          <a:blip r:embed="rId12">
            <a:alphaModFix/>
          </a:blip>
          <a:srcRect/>
          <a:stretch/>
        </p:blipFill>
        <p:spPr>
          <a:xfrm>
            <a:off x="20673893" y="4152900"/>
            <a:ext cx="548957" cy="689768"/>
          </a:xfrm>
          <a:prstGeom prst="rect">
            <a:avLst/>
          </a:prstGeom>
          <a:noFill/>
          <a:ln>
            <a:noFill/>
          </a:ln>
        </p:spPr>
      </p:pic>
      <p:sp>
        <p:nvSpPr>
          <p:cNvPr id="319" name="Google Shape;111;p13">
            <a:extLst>
              <a:ext uri="{FF2B5EF4-FFF2-40B4-BE49-F238E27FC236}">
                <a16:creationId xmlns:a16="http://schemas.microsoft.com/office/drawing/2014/main" id="{C0418B5E-693D-4093-3CD9-CBF4E91E3326}"/>
              </a:ext>
            </a:extLst>
          </p:cNvPr>
          <p:cNvSpPr txBox="1"/>
          <p:nvPr/>
        </p:nvSpPr>
        <p:spPr>
          <a:xfrm>
            <a:off x="19383400" y="8206991"/>
            <a:ext cx="3286443" cy="430887"/>
          </a:xfrm>
          <a:prstGeom prst="rect">
            <a:avLst/>
          </a:prstGeom>
          <a:noFill/>
          <a:ln>
            <a:noFill/>
          </a:ln>
        </p:spPr>
        <p:txBody>
          <a:bodyPr spcFirstLastPara="1" wrap="square" lIns="0" tIns="0" rIns="0" bIns="0" anchor="t" anchorCtr="0">
            <a:spAutoFit/>
          </a:bodyPr>
          <a:lstStyle/>
          <a:p>
            <a:pPr marR="0" lvl="0" indent="0">
              <a:spcBef>
                <a:spcPts val="0"/>
              </a:spcBef>
              <a:spcAft>
                <a:spcPts val="0"/>
              </a:spcAft>
              <a:buNone/>
            </a:pPr>
            <a:r>
              <a:rPr lang="en-US" sz="2800" b="1" dirty="0" err="1">
                <a:solidFill>
                  <a:srgbClr val="000000"/>
                </a:solidFill>
                <a:latin typeface="Pretendard Bold"/>
                <a:ea typeface="Pretendard Bold"/>
                <a:cs typeface="Arial"/>
                <a:sym typeface="Noto Sans KR"/>
              </a:rPr>
              <a:t>데이터</a:t>
            </a:r>
            <a:r>
              <a:rPr lang="en-US" sz="2800" b="1" dirty="0">
                <a:solidFill>
                  <a:srgbClr val="000000"/>
                </a:solidFill>
                <a:latin typeface="Pretendard Bold"/>
                <a:ea typeface="Pretendard Bold"/>
                <a:cs typeface="Arial"/>
                <a:sym typeface="Noto Sans KR"/>
              </a:rPr>
              <a:t> </a:t>
            </a:r>
            <a:r>
              <a:rPr lang="en-US" sz="2800" b="1" dirty="0" err="1">
                <a:solidFill>
                  <a:srgbClr val="000000"/>
                </a:solidFill>
                <a:latin typeface="Pretendard Bold"/>
                <a:ea typeface="Pretendard Bold"/>
                <a:cs typeface="Arial"/>
                <a:sym typeface="Noto Sans KR"/>
              </a:rPr>
              <a:t>보호</a:t>
            </a:r>
            <a:r>
              <a:rPr lang="en-US" sz="2800" b="1" dirty="0">
                <a:solidFill>
                  <a:srgbClr val="000000"/>
                </a:solidFill>
                <a:latin typeface="Pretendard Bold"/>
                <a:ea typeface="Pretendard Bold"/>
                <a:cs typeface="Arial"/>
                <a:sym typeface="Noto Sans KR"/>
              </a:rPr>
              <a:t> 및 </a:t>
            </a:r>
            <a:r>
              <a:rPr lang="en-US" sz="2800" b="1" dirty="0" err="1">
                <a:solidFill>
                  <a:srgbClr val="000000"/>
                </a:solidFill>
                <a:latin typeface="Pretendard Bold"/>
                <a:ea typeface="Pretendard Bold"/>
                <a:cs typeface="Arial"/>
                <a:sym typeface="Noto Sans KR"/>
              </a:rPr>
              <a:t>탐지</a:t>
            </a:r>
            <a:endParaRPr sz="2800" b="1" dirty="0">
              <a:solidFill>
                <a:srgbClr val="000000"/>
              </a:solidFill>
              <a:latin typeface="Pretendard Bold"/>
              <a:ea typeface="Pretendard Bold"/>
              <a:cs typeface="Arial"/>
            </a:endParaRPr>
          </a:p>
        </p:txBody>
      </p:sp>
      <p:sp>
        <p:nvSpPr>
          <p:cNvPr id="320" name="Google Shape;112;p13">
            <a:extLst>
              <a:ext uri="{FF2B5EF4-FFF2-40B4-BE49-F238E27FC236}">
                <a16:creationId xmlns:a16="http://schemas.microsoft.com/office/drawing/2014/main" id="{C820A6B2-FAFA-4963-DADB-DB81754690B4}"/>
              </a:ext>
            </a:extLst>
          </p:cNvPr>
          <p:cNvSpPr txBox="1"/>
          <p:nvPr/>
        </p:nvSpPr>
        <p:spPr>
          <a:xfrm>
            <a:off x="19383400" y="8970978"/>
            <a:ext cx="3129888" cy="1292662"/>
          </a:xfrm>
          <a:prstGeom prst="rect">
            <a:avLst/>
          </a:prstGeom>
          <a:noFill/>
          <a:ln>
            <a:noFill/>
          </a:ln>
        </p:spPr>
        <p:txBody>
          <a:bodyPr spcFirstLastPara="1" wrap="square" lIns="0" tIns="0" rIns="0" bIns="0" anchor="t" anchorCtr="0">
            <a:spAutoFit/>
          </a:bodyPr>
          <a:lstStyle/>
          <a:p>
            <a:pPr lvl="0" indent="0">
              <a:lnSpc>
                <a:spcPct val="140000"/>
              </a:lnSpc>
              <a:spcBef>
                <a:spcPts val="0"/>
              </a:spcBef>
              <a:spcAft>
                <a:spcPts val="0"/>
              </a:spcAft>
              <a:buClr>
                <a:schemeClr val="dk1"/>
              </a:buClr>
              <a:buFont typeface="Arial"/>
              <a:buNone/>
            </a:pPr>
            <a:r>
              <a:rPr lang="en-US" sz="2000" dirty="0">
                <a:solidFill>
                  <a:srgbClr val="000000"/>
                </a:solidFill>
                <a:latin typeface="Pretendard Medium" panose="020B0604020202020204" charset="-127"/>
                <a:ea typeface="Pretendard Medium" panose="020B0604020202020204" charset="-127"/>
                <a:cs typeface="Arial"/>
                <a:sym typeface="Noto Sans KR"/>
              </a:rPr>
              <a:t>DLP</a:t>
            </a:r>
            <a:endParaRPr sz="2000" dirty="0">
              <a:solidFill>
                <a:srgbClr val="000000"/>
              </a:solidFill>
              <a:latin typeface="Pretendard Medium" panose="020B0604020202020204" charset="-127"/>
              <a:ea typeface="Pretendard Medium" panose="020B0604020202020204" charset="-127"/>
              <a:cs typeface="Arial"/>
              <a:sym typeface="Noto Sans KR"/>
            </a:endParaRPr>
          </a:p>
          <a:p>
            <a:pPr marR="0" lvl="0" indent="0">
              <a:lnSpc>
                <a:spcPct val="140000"/>
              </a:lnSpc>
              <a:spcBef>
                <a:spcPts val="0"/>
              </a:spcBef>
              <a:spcAft>
                <a:spcPts val="0"/>
              </a:spcAft>
              <a:buNone/>
            </a:pPr>
            <a:r>
              <a:rPr lang="ko-KR" altLang="en-US" sz="2000" dirty="0">
                <a:solidFill>
                  <a:srgbClr val="000000"/>
                </a:solidFill>
                <a:latin typeface="Pretendard Medium" panose="020B0604020202020204" charset="-127"/>
                <a:ea typeface="Pretendard Medium" panose="020B0604020202020204" charset="-127"/>
                <a:cs typeface="Arial"/>
                <a:sym typeface="Noto Sans KR"/>
              </a:rPr>
              <a:t>데이터 </a:t>
            </a:r>
            <a:r>
              <a:rPr lang="en-US" sz="2000" dirty="0" err="1">
                <a:solidFill>
                  <a:srgbClr val="000000"/>
                </a:solidFill>
                <a:latin typeface="Pretendard Medium" panose="020B0604020202020204" charset="-127"/>
                <a:ea typeface="Pretendard Medium" panose="020B0604020202020204" charset="-127"/>
                <a:cs typeface="Arial"/>
                <a:sym typeface="Noto Sans KR"/>
              </a:rPr>
              <a:t>암호화</a:t>
            </a:r>
            <a:endParaRPr sz="2000" dirty="0">
              <a:solidFill>
                <a:srgbClr val="000000"/>
              </a:solidFill>
              <a:latin typeface="Pretendard Medium" panose="020B0604020202020204" charset="-127"/>
              <a:ea typeface="Pretendard Medium" panose="020B0604020202020204" charset="-127"/>
              <a:cs typeface="Arial"/>
              <a:sym typeface="Noto Sans KR"/>
            </a:endParaRPr>
          </a:p>
          <a:p>
            <a:pPr marR="0" lvl="0" indent="0">
              <a:lnSpc>
                <a:spcPct val="140000"/>
              </a:lnSpc>
              <a:spcBef>
                <a:spcPts val="0"/>
              </a:spcBef>
              <a:spcAft>
                <a:spcPts val="0"/>
              </a:spcAft>
              <a:buNone/>
            </a:pPr>
            <a:r>
              <a:rPr lang="en-US" sz="2000" dirty="0" err="1">
                <a:solidFill>
                  <a:srgbClr val="000000"/>
                </a:solidFill>
                <a:latin typeface="Pretendard Medium" panose="020B0604020202020204" charset="-127"/>
                <a:ea typeface="Pretendard Medium" panose="020B0604020202020204" charset="-127"/>
                <a:cs typeface="Arial"/>
                <a:sym typeface="Noto Sans KR"/>
              </a:rPr>
              <a:t>이상</a:t>
            </a:r>
            <a:r>
              <a:rPr lang="en-US" sz="2000" dirty="0">
                <a:solidFill>
                  <a:srgbClr val="000000"/>
                </a:solidFill>
                <a:latin typeface="Pretendard Medium" panose="020B0604020202020204" charset="-127"/>
                <a:ea typeface="Pretendard Medium" panose="020B0604020202020204" charset="-127"/>
                <a:cs typeface="Arial"/>
                <a:sym typeface="Noto Sans KR"/>
              </a:rPr>
              <a:t> </a:t>
            </a:r>
            <a:r>
              <a:rPr lang="en-US" sz="2000" dirty="0" err="1">
                <a:solidFill>
                  <a:srgbClr val="000000"/>
                </a:solidFill>
                <a:latin typeface="Pretendard Medium" panose="020B0604020202020204" charset="-127"/>
                <a:ea typeface="Pretendard Medium" panose="020B0604020202020204" charset="-127"/>
                <a:cs typeface="Arial"/>
                <a:sym typeface="Noto Sans KR"/>
              </a:rPr>
              <a:t>행위</a:t>
            </a:r>
            <a:r>
              <a:rPr lang="en-US" sz="2000" dirty="0">
                <a:solidFill>
                  <a:srgbClr val="000000"/>
                </a:solidFill>
                <a:latin typeface="Pretendard Medium" panose="020B0604020202020204" charset="-127"/>
                <a:ea typeface="Pretendard Medium" panose="020B0604020202020204" charset="-127"/>
                <a:cs typeface="Arial"/>
                <a:sym typeface="Noto Sans KR"/>
              </a:rPr>
              <a:t> </a:t>
            </a:r>
            <a:r>
              <a:rPr lang="en-US" sz="2000" dirty="0" err="1">
                <a:solidFill>
                  <a:srgbClr val="000000"/>
                </a:solidFill>
                <a:latin typeface="Pretendard Medium" panose="020B0604020202020204" charset="-127"/>
                <a:ea typeface="Pretendard Medium" panose="020B0604020202020204" charset="-127"/>
                <a:cs typeface="Arial"/>
                <a:sym typeface="Noto Sans KR"/>
              </a:rPr>
              <a:t>기반</a:t>
            </a:r>
            <a:r>
              <a:rPr lang="en-US" sz="2000" dirty="0">
                <a:solidFill>
                  <a:srgbClr val="000000"/>
                </a:solidFill>
                <a:latin typeface="Pretendard Medium" panose="020B0604020202020204" charset="-127"/>
                <a:ea typeface="Pretendard Medium" panose="020B0604020202020204" charset="-127"/>
                <a:cs typeface="Arial"/>
                <a:sym typeface="Noto Sans KR"/>
              </a:rPr>
              <a:t> </a:t>
            </a:r>
            <a:r>
              <a:rPr lang="en-US" sz="2000" dirty="0" err="1">
                <a:solidFill>
                  <a:srgbClr val="000000"/>
                </a:solidFill>
                <a:latin typeface="Pretendard Medium" panose="020B0604020202020204" charset="-127"/>
                <a:ea typeface="Pretendard Medium" panose="020B0604020202020204" charset="-127"/>
                <a:cs typeface="Arial"/>
                <a:sym typeface="Noto Sans KR"/>
              </a:rPr>
              <a:t>반출</a:t>
            </a:r>
            <a:r>
              <a:rPr lang="en-US" sz="2000" dirty="0">
                <a:solidFill>
                  <a:srgbClr val="000000"/>
                </a:solidFill>
                <a:latin typeface="Pretendard Medium" panose="020B0604020202020204" charset="-127"/>
                <a:ea typeface="Pretendard Medium" panose="020B0604020202020204" charset="-127"/>
                <a:cs typeface="Arial"/>
                <a:sym typeface="Noto Sans KR"/>
              </a:rPr>
              <a:t> </a:t>
            </a:r>
            <a:r>
              <a:rPr lang="en-US" sz="2000" dirty="0" err="1">
                <a:solidFill>
                  <a:srgbClr val="000000"/>
                </a:solidFill>
                <a:latin typeface="Pretendard Medium" panose="020B0604020202020204" charset="-127"/>
                <a:ea typeface="Pretendard Medium" panose="020B0604020202020204" charset="-127"/>
                <a:cs typeface="Arial"/>
                <a:sym typeface="Noto Sans KR"/>
              </a:rPr>
              <a:t>차단</a:t>
            </a:r>
            <a:endParaRPr sz="2000" dirty="0">
              <a:solidFill>
                <a:srgbClr val="000000"/>
              </a:solidFill>
              <a:latin typeface="Pretendard Medium" panose="020B0604020202020204" charset="-127"/>
              <a:ea typeface="Pretendard Medium" panose="020B0604020202020204" charset="-127"/>
              <a:cs typeface="Arial"/>
            </a:endParaRPr>
          </a:p>
        </p:txBody>
      </p:sp>
      <p:pic>
        <p:nvPicPr>
          <p:cNvPr id="321" name="Google Shape;115;p13" descr="image.png">
            <a:extLst>
              <a:ext uri="{FF2B5EF4-FFF2-40B4-BE49-F238E27FC236}">
                <a16:creationId xmlns:a16="http://schemas.microsoft.com/office/drawing/2014/main" id="{1F6EB28B-F552-0701-364A-F38702ACBD2B}"/>
              </a:ext>
            </a:extLst>
          </p:cNvPr>
          <p:cNvPicPr preferRelativeResize="0"/>
          <p:nvPr/>
        </p:nvPicPr>
        <p:blipFill rotWithShape="1">
          <a:blip r:embed="rId13">
            <a:alphaModFix/>
          </a:blip>
          <a:srcRect/>
          <a:stretch/>
        </p:blipFill>
        <p:spPr>
          <a:xfrm>
            <a:off x="5470221" y="4382147"/>
            <a:ext cx="933790" cy="410660"/>
          </a:xfrm>
          <a:prstGeom prst="rect">
            <a:avLst/>
          </a:prstGeom>
          <a:noFill/>
          <a:ln>
            <a:noFill/>
          </a:ln>
        </p:spPr>
      </p:pic>
      <p:pic>
        <p:nvPicPr>
          <p:cNvPr id="322" name="Google Shape;116;p13" descr="image.png">
            <a:extLst>
              <a:ext uri="{FF2B5EF4-FFF2-40B4-BE49-F238E27FC236}">
                <a16:creationId xmlns:a16="http://schemas.microsoft.com/office/drawing/2014/main" id="{FF3A2EE9-B7E2-0561-5944-D7A83C83F37A}"/>
              </a:ext>
            </a:extLst>
          </p:cNvPr>
          <p:cNvPicPr preferRelativeResize="0"/>
          <p:nvPr/>
        </p:nvPicPr>
        <p:blipFill rotWithShape="1">
          <a:blip r:embed="rId13">
            <a:alphaModFix/>
          </a:blip>
          <a:srcRect/>
          <a:stretch/>
        </p:blipFill>
        <p:spPr>
          <a:xfrm>
            <a:off x="9820629" y="4382147"/>
            <a:ext cx="933790" cy="410660"/>
          </a:xfrm>
          <a:prstGeom prst="rect">
            <a:avLst/>
          </a:prstGeom>
          <a:noFill/>
          <a:ln>
            <a:noFill/>
          </a:ln>
        </p:spPr>
      </p:pic>
      <p:pic>
        <p:nvPicPr>
          <p:cNvPr id="323" name="Google Shape;117;p13" descr="image.png">
            <a:extLst>
              <a:ext uri="{FF2B5EF4-FFF2-40B4-BE49-F238E27FC236}">
                <a16:creationId xmlns:a16="http://schemas.microsoft.com/office/drawing/2014/main" id="{875CF6E3-B08A-BDC3-8EA0-1F3B1A0B34B0}"/>
              </a:ext>
            </a:extLst>
          </p:cNvPr>
          <p:cNvPicPr preferRelativeResize="0"/>
          <p:nvPr/>
        </p:nvPicPr>
        <p:blipFill rotWithShape="1">
          <a:blip r:embed="rId13">
            <a:alphaModFix/>
          </a:blip>
          <a:srcRect/>
          <a:stretch/>
        </p:blipFill>
        <p:spPr>
          <a:xfrm>
            <a:off x="13995356" y="4382201"/>
            <a:ext cx="933790" cy="410660"/>
          </a:xfrm>
          <a:prstGeom prst="rect">
            <a:avLst/>
          </a:prstGeom>
          <a:noFill/>
          <a:ln>
            <a:noFill/>
          </a:ln>
        </p:spPr>
      </p:pic>
      <p:pic>
        <p:nvPicPr>
          <p:cNvPr id="324" name="Google Shape;118;p13" descr="image.png">
            <a:extLst>
              <a:ext uri="{FF2B5EF4-FFF2-40B4-BE49-F238E27FC236}">
                <a16:creationId xmlns:a16="http://schemas.microsoft.com/office/drawing/2014/main" id="{54CDB179-7512-55D1-A009-D5A5A46358BC}"/>
              </a:ext>
            </a:extLst>
          </p:cNvPr>
          <p:cNvPicPr preferRelativeResize="0"/>
          <p:nvPr/>
        </p:nvPicPr>
        <p:blipFill rotWithShape="1">
          <a:blip r:embed="rId13">
            <a:alphaModFix/>
          </a:blip>
          <a:srcRect/>
          <a:stretch/>
        </p:blipFill>
        <p:spPr>
          <a:xfrm>
            <a:off x="18337112" y="4382173"/>
            <a:ext cx="933790" cy="410660"/>
          </a:xfrm>
          <a:prstGeom prst="rect">
            <a:avLst/>
          </a:prstGeom>
          <a:noFill/>
          <a:ln>
            <a:noFill/>
          </a:ln>
        </p:spPr>
      </p:pic>
      <p:sp>
        <p:nvSpPr>
          <p:cNvPr id="325" name="Google Shape;119;p13">
            <a:extLst>
              <a:ext uri="{FF2B5EF4-FFF2-40B4-BE49-F238E27FC236}">
                <a16:creationId xmlns:a16="http://schemas.microsoft.com/office/drawing/2014/main" id="{F234E50A-8BC3-21A6-569D-41E6B46F699B}"/>
              </a:ext>
            </a:extLst>
          </p:cNvPr>
          <p:cNvSpPr/>
          <p:nvPr/>
        </p:nvSpPr>
        <p:spPr>
          <a:xfrm>
            <a:off x="3813335" y="6336276"/>
            <a:ext cx="37646" cy="82132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6" name="Google Shape;120;p13">
            <a:extLst>
              <a:ext uri="{FF2B5EF4-FFF2-40B4-BE49-F238E27FC236}">
                <a16:creationId xmlns:a16="http://schemas.microsoft.com/office/drawing/2014/main" id="{3A403619-B368-A7FC-2739-6EE9A0188A39}"/>
              </a:ext>
            </a:extLst>
          </p:cNvPr>
          <p:cNvSpPr/>
          <p:nvPr/>
        </p:nvSpPr>
        <p:spPr>
          <a:xfrm>
            <a:off x="8095466" y="6336293"/>
            <a:ext cx="37646" cy="82132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7" name="Google Shape;121;p13">
            <a:extLst>
              <a:ext uri="{FF2B5EF4-FFF2-40B4-BE49-F238E27FC236}">
                <a16:creationId xmlns:a16="http://schemas.microsoft.com/office/drawing/2014/main" id="{F402BCDF-81FA-122B-8D8E-95B9CE4C4C31}"/>
              </a:ext>
            </a:extLst>
          </p:cNvPr>
          <p:cNvSpPr/>
          <p:nvPr/>
        </p:nvSpPr>
        <p:spPr>
          <a:xfrm>
            <a:off x="12389782" y="6317225"/>
            <a:ext cx="45719" cy="839979"/>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8" name="Google Shape;122;p13">
            <a:extLst>
              <a:ext uri="{FF2B5EF4-FFF2-40B4-BE49-F238E27FC236}">
                <a16:creationId xmlns:a16="http://schemas.microsoft.com/office/drawing/2014/main" id="{19704BB2-E82A-CE90-9712-1634B9F7216C}"/>
              </a:ext>
            </a:extLst>
          </p:cNvPr>
          <p:cNvSpPr/>
          <p:nvPr/>
        </p:nvSpPr>
        <p:spPr>
          <a:xfrm>
            <a:off x="16693149" y="6336304"/>
            <a:ext cx="37646" cy="82132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9" name="Google Shape;123;p13">
            <a:extLst>
              <a:ext uri="{FF2B5EF4-FFF2-40B4-BE49-F238E27FC236}">
                <a16:creationId xmlns:a16="http://schemas.microsoft.com/office/drawing/2014/main" id="{C98496CF-0092-3945-8987-D4895EF5A9C2}"/>
              </a:ext>
            </a:extLst>
          </p:cNvPr>
          <p:cNvSpPr/>
          <p:nvPr/>
        </p:nvSpPr>
        <p:spPr>
          <a:xfrm>
            <a:off x="20967296" y="6336304"/>
            <a:ext cx="37646" cy="82132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6" name="사각형: 둥근 모서리 335">
            <a:extLst>
              <a:ext uri="{FF2B5EF4-FFF2-40B4-BE49-F238E27FC236}">
                <a16:creationId xmlns:a16="http://schemas.microsoft.com/office/drawing/2014/main" id="{FB212145-CBFD-44B1-3C2E-FAF6C88E3551}"/>
              </a:ext>
            </a:extLst>
          </p:cNvPr>
          <p:cNvSpPr/>
          <p:nvPr/>
        </p:nvSpPr>
        <p:spPr>
          <a:xfrm>
            <a:off x="10424943" y="5236118"/>
            <a:ext cx="3773657" cy="1095358"/>
          </a:xfrm>
          <a:prstGeom prst="roundRect">
            <a:avLst/>
          </a:prstGeom>
          <a:solidFill>
            <a:srgbClr val="3A7DCE"/>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ko-KR" sz="2000" dirty="0">
                <a:latin typeface="Pretendard Bold" panose="020B0604020202020204" charset="-127"/>
                <a:ea typeface="Pretendard Bold" panose="020B0604020202020204" charset="-127"/>
              </a:rPr>
              <a:t>Zimbra</a:t>
            </a:r>
            <a:r>
              <a:rPr lang="ko-KR" altLang="en-US" sz="2000" dirty="0">
                <a:latin typeface="Pretendard Bold" panose="020B0604020202020204" charset="-127"/>
                <a:ea typeface="Pretendard Bold" panose="020B0604020202020204" charset="-127"/>
              </a:rPr>
              <a:t> </a:t>
            </a:r>
            <a:r>
              <a:rPr lang="en-US" altLang="ko-KR" sz="2000" dirty="0">
                <a:latin typeface="Pretendard Bold" panose="020B0604020202020204" charset="-127"/>
                <a:ea typeface="Pretendard Bold" panose="020B0604020202020204" charset="-127"/>
              </a:rPr>
              <a:t>+</a:t>
            </a:r>
            <a:r>
              <a:rPr lang="ko-KR" altLang="en-US" sz="2000" dirty="0">
                <a:latin typeface="Pretendard Bold" panose="020B0604020202020204" charset="-127"/>
                <a:ea typeface="Pretendard Bold" panose="020B0604020202020204" charset="-127"/>
              </a:rPr>
              <a:t> </a:t>
            </a:r>
            <a:r>
              <a:rPr lang="en-US" altLang="ko-KR" sz="2000" dirty="0">
                <a:latin typeface="Pretendard Bold" panose="020B0604020202020204" charset="-127"/>
                <a:ea typeface="Pretendard Bold" panose="020B0604020202020204" charset="-127"/>
              </a:rPr>
              <a:t>Chrome</a:t>
            </a:r>
            <a:r>
              <a:rPr lang="ko-KR" altLang="en-US" sz="2000" dirty="0">
                <a:latin typeface="Pretendard Bold" panose="020B0604020202020204" charset="-127"/>
                <a:ea typeface="Pretendard Bold" panose="020B0604020202020204" charset="-127"/>
              </a:rPr>
              <a:t> 체인</a:t>
            </a:r>
          </a:p>
        </p:txBody>
      </p:sp>
      <p:sp>
        <p:nvSpPr>
          <p:cNvPr id="337" name="사각형: 둥근 모서리 336">
            <a:extLst>
              <a:ext uri="{FF2B5EF4-FFF2-40B4-BE49-F238E27FC236}">
                <a16:creationId xmlns:a16="http://schemas.microsoft.com/office/drawing/2014/main" id="{4AB2696A-80DD-6475-3C23-AAF89DD943F2}"/>
              </a:ext>
            </a:extLst>
          </p:cNvPr>
          <p:cNvSpPr/>
          <p:nvPr/>
        </p:nvSpPr>
        <p:spPr>
          <a:xfrm>
            <a:off x="1926506" y="5233210"/>
            <a:ext cx="3773657" cy="1095358"/>
          </a:xfrm>
          <a:prstGeom prst="roundRect">
            <a:avLst/>
          </a:prstGeom>
          <a:solidFill>
            <a:schemeClr val="tx2">
              <a:lumMod val="40000"/>
              <a:lumOff val="6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ko-KR" sz="2000" dirty="0">
                <a:latin typeface="Pretendard Bold" panose="020B0604020202020204" charset="-127"/>
                <a:ea typeface="Pretendard Bold" panose="020B0604020202020204" charset="-127"/>
              </a:rPr>
              <a:t>CUPS </a:t>
            </a:r>
            <a:r>
              <a:rPr lang="ko-KR" altLang="en-US" sz="2000" dirty="0">
                <a:latin typeface="Pretendard Bold" panose="020B0604020202020204" charset="-127"/>
                <a:ea typeface="Pretendard Bold" panose="020B0604020202020204" charset="-127"/>
              </a:rPr>
              <a:t>초기 침투</a:t>
            </a:r>
          </a:p>
        </p:txBody>
      </p:sp>
      <p:sp>
        <p:nvSpPr>
          <p:cNvPr id="338" name="사각형: 둥근 모서리 337">
            <a:extLst>
              <a:ext uri="{FF2B5EF4-FFF2-40B4-BE49-F238E27FC236}">
                <a16:creationId xmlns:a16="http://schemas.microsoft.com/office/drawing/2014/main" id="{CE2AE12A-BAAC-6AEC-1FE7-80C222CEE6E6}"/>
              </a:ext>
            </a:extLst>
          </p:cNvPr>
          <p:cNvSpPr/>
          <p:nvPr/>
        </p:nvSpPr>
        <p:spPr>
          <a:xfrm>
            <a:off x="6142222" y="5246012"/>
            <a:ext cx="3773657" cy="1095358"/>
          </a:xfrm>
          <a:prstGeom prst="roundRect">
            <a:avLst/>
          </a:prstGeom>
          <a:solidFill>
            <a:srgbClr val="6FA0DB"/>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ko-KR" sz="2000" dirty="0" err="1">
                <a:latin typeface="Pretendard Bold" panose="020B0604020202020204" charset="-127"/>
                <a:ea typeface="Pretendard Bold" panose="020B0604020202020204" charset="-127"/>
              </a:rPr>
              <a:t>WingFTP</a:t>
            </a:r>
            <a:r>
              <a:rPr lang="en-US" altLang="ko-KR" sz="2000" dirty="0">
                <a:latin typeface="Pretendard Bold" panose="020B0604020202020204" charset="-127"/>
                <a:ea typeface="Pretendard Bold" panose="020B0604020202020204" charset="-127"/>
              </a:rPr>
              <a:t> </a:t>
            </a:r>
            <a:r>
              <a:rPr lang="ko-KR" altLang="en-US" sz="2000" dirty="0">
                <a:latin typeface="Pretendard Bold" panose="020B0604020202020204" charset="-127"/>
                <a:ea typeface="Pretendard Bold" panose="020B0604020202020204" charset="-127"/>
              </a:rPr>
              <a:t>→ 관리자 </a:t>
            </a:r>
            <a:r>
              <a:rPr lang="en-US" altLang="ko-KR" sz="2000" dirty="0">
                <a:latin typeface="Pretendard Bold" panose="020B0604020202020204" charset="-127"/>
                <a:ea typeface="Pretendard Bold" panose="020B0604020202020204" charset="-127"/>
              </a:rPr>
              <a:t>PC</a:t>
            </a:r>
            <a:endParaRPr lang="ko-KR" altLang="en-US" sz="2000" dirty="0">
              <a:latin typeface="Pretendard Bold" panose="020B0604020202020204" charset="-127"/>
              <a:ea typeface="Pretendard Bold" panose="020B0604020202020204" charset="-127"/>
            </a:endParaRPr>
          </a:p>
        </p:txBody>
      </p:sp>
      <p:sp>
        <p:nvSpPr>
          <p:cNvPr id="339" name="사각형: 둥근 모서리 338">
            <a:extLst>
              <a:ext uri="{FF2B5EF4-FFF2-40B4-BE49-F238E27FC236}">
                <a16:creationId xmlns:a16="http://schemas.microsoft.com/office/drawing/2014/main" id="{1421E264-2AA8-9195-5566-FDCB9E19BF29}"/>
              </a:ext>
            </a:extLst>
          </p:cNvPr>
          <p:cNvSpPr/>
          <p:nvPr/>
        </p:nvSpPr>
        <p:spPr>
          <a:xfrm>
            <a:off x="14747037" y="5246012"/>
            <a:ext cx="3773657" cy="1095358"/>
          </a:xfrm>
          <a:prstGeom prst="roundRect">
            <a:avLst/>
          </a:prstGeom>
          <a:solidFill>
            <a:srgbClr val="2E6EBC"/>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ko-KR" sz="2000" dirty="0">
                <a:latin typeface="Pretendard Bold" panose="020B0604020202020204" charset="-127"/>
                <a:ea typeface="Pretendard Bold" panose="020B0604020202020204" charset="-127"/>
              </a:rPr>
              <a:t>Jenkins </a:t>
            </a:r>
            <a:r>
              <a:rPr lang="ko-KR" altLang="en-US" sz="2000" dirty="0">
                <a:latin typeface="Pretendard Bold" panose="020B0604020202020204" charset="-127"/>
                <a:ea typeface="Pretendard Bold" panose="020B0604020202020204" charset="-127"/>
              </a:rPr>
              <a:t>악성 빌드</a:t>
            </a:r>
          </a:p>
        </p:txBody>
      </p:sp>
      <p:sp>
        <p:nvSpPr>
          <p:cNvPr id="340" name="사각형: 둥근 모서리 339">
            <a:extLst>
              <a:ext uri="{FF2B5EF4-FFF2-40B4-BE49-F238E27FC236}">
                <a16:creationId xmlns:a16="http://schemas.microsoft.com/office/drawing/2014/main" id="{FF00422D-8563-37B7-B71E-E1BC635E2774}"/>
              </a:ext>
            </a:extLst>
          </p:cNvPr>
          <p:cNvSpPr/>
          <p:nvPr/>
        </p:nvSpPr>
        <p:spPr>
          <a:xfrm>
            <a:off x="18988965" y="5233210"/>
            <a:ext cx="3773657" cy="1095358"/>
          </a:xfrm>
          <a:prstGeom prst="roundRect">
            <a:avLst/>
          </a:prstGeom>
          <a:solidFill>
            <a:srgbClr val="005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2000" dirty="0">
                <a:latin typeface="Pretendard Bold" panose="020B0604020202020204" charset="-127"/>
                <a:ea typeface="Pretendard Bold" panose="020B0604020202020204" charset="-127"/>
              </a:rPr>
              <a:t>데이터 탈취</a:t>
            </a:r>
            <a:r>
              <a:rPr lang="en-US" altLang="ko-KR" sz="2000" dirty="0">
                <a:latin typeface="Pretendard Bold" panose="020B0604020202020204" charset="-127"/>
                <a:ea typeface="Pretendard Bold" panose="020B0604020202020204" charset="-127"/>
              </a:rPr>
              <a:t>/</a:t>
            </a:r>
            <a:r>
              <a:rPr lang="ko-KR" altLang="en-US" sz="2000" dirty="0" err="1">
                <a:latin typeface="Pretendard Bold" panose="020B0604020202020204" charset="-127"/>
                <a:ea typeface="Pretendard Bold" panose="020B0604020202020204" charset="-127"/>
              </a:rPr>
              <a:t>랜섬웨어</a:t>
            </a:r>
            <a:endParaRPr lang="ko-KR" altLang="en-US" sz="2000" dirty="0">
              <a:latin typeface="Pretendard Bold" panose="020B0604020202020204" charset="-127"/>
              <a:ea typeface="Pretendard Bold" panose="020B0604020202020204" charset="-127"/>
            </a:endParaRPr>
          </a:p>
        </p:txBody>
      </p:sp>
      <p:sp>
        <p:nvSpPr>
          <p:cNvPr id="341" name="사각형: 둥근 모서리 340">
            <a:extLst>
              <a:ext uri="{FF2B5EF4-FFF2-40B4-BE49-F238E27FC236}">
                <a16:creationId xmlns:a16="http://schemas.microsoft.com/office/drawing/2014/main" id="{106A9E5E-40EF-AB72-776D-D0336FBB21E9}"/>
              </a:ext>
            </a:extLst>
          </p:cNvPr>
          <p:cNvSpPr/>
          <p:nvPr/>
        </p:nvSpPr>
        <p:spPr>
          <a:xfrm>
            <a:off x="2291495" y="7482223"/>
            <a:ext cx="1325983" cy="410660"/>
          </a:xfrm>
          <a:prstGeom prst="roundRect">
            <a:avLst/>
          </a:prstGeom>
          <a:solidFill>
            <a:srgbClr val="1A7A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pc="-100" dirty="0">
                <a:solidFill>
                  <a:schemeClr val="bg1"/>
                </a:solidFill>
                <a:latin typeface="Pretendard SemiBold"/>
                <a:ea typeface="Pretendard SemiBold"/>
              </a:rPr>
              <a:t>NETWORK</a:t>
            </a:r>
            <a:endParaRPr lang="ko-KR" altLang="en-US" sz="2000" spc="-100" dirty="0">
              <a:solidFill>
                <a:schemeClr val="bg1"/>
              </a:solidFill>
              <a:latin typeface="Pretendard SemiBold"/>
              <a:ea typeface="Pretendard SemiBold"/>
            </a:endParaRPr>
          </a:p>
        </p:txBody>
      </p:sp>
      <p:sp>
        <p:nvSpPr>
          <p:cNvPr id="342" name="사각형: 둥근 모서리 341">
            <a:extLst>
              <a:ext uri="{FF2B5EF4-FFF2-40B4-BE49-F238E27FC236}">
                <a16:creationId xmlns:a16="http://schemas.microsoft.com/office/drawing/2014/main" id="{139876B1-249D-9CF7-F7B7-9C11B04FEC52}"/>
              </a:ext>
            </a:extLst>
          </p:cNvPr>
          <p:cNvSpPr/>
          <p:nvPr/>
        </p:nvSpPr>
        <p:spPr>
          <a:xfrm>
            <a:off x="6574707" y="7506857"/>
            <a:ext cx="1049019" cy="361393"/>
          </a:xfrm>
          <a:prstGeom prst="roundRect">
            <a:avLst/>
          </a:prstGeom>
          <a:solidFill>
            <a:srgbClr val="1A7A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pc="-100" dirty="0">
                <a:solidFill>
                  <a:schemeClr val="bg1"/>
                </a:solidFill>
                <a:latin typeface="Pretendard SemiBold"/>
                <a:ea typeface="Pretendard SemiBold"/>
              </a:rPr>
              <a:t>DEVICE</a:t>
            </a:r>
            <a:endParaRPr lang="ko-KR" altLang="en-US" spc="-100" dirty="0">
              <a:solidFill>
                <a:schemeClr val="bg1"/>
              </a:solidFill>
              <a:latin typeface="Pretendard SemiBold"/>
              <a:ea typeface="Pretendard SemiBold"/>
            </a:endParaRPr>
          </a:p>
        </p:txBody>
      </p:sp>
      <p:sp>
        <p:nvSpPr>
          <p:cNvPr id="344" name="사각형: 둥근 모서리 343">
            <a:extLst>
              <a:ext uri="{FF2B5EF4-FFF2-40B4-BE49-F238E27FC236}">
                <a16:creationId xmlns:a16="http://schemas.microsoft.com/office/drawing/2014/main" id="{9A5EFAF0-2C70-6E95-57D2-DE834C4A13D4}"/>
              </a:ext>
            </a:extLst>
          </p:cNvPr>
          <p:cNvSpPr/>
          <p:nvPr/>
        </p:nvSpPr>
        <p:spPr>
          <a:xfrm>
            <a:off x="15164092" y="7517437"/>
            <a:ext cx="1466331" cy="410660"/>
          </a:xfrm>
          <a:prstGeom prst="roundRect">
            <a:avLst/>
          </a:prstGeom>
          <a:solidFill>
            <a:srgbClr val="1A7A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pc="-100" dirty="0">
                <a:solidFill>
                  <a:schemeClr val="bg1"/>
                </a:solidFill>
                <a:latin typeface="Pretendard SemiBold"/>
                <a:ea typeface="Pretendard SemiBold"/>
              </a:rPr>
              <a:t>WORKLOAD</a:t>
            </a:r>
            <a:endParaRPr lang="ko-KR" altLang="en-US" spc="-100" dirty="0">
              <a:solidFill>
                <a:schemeClr val="bg1"/>
              </a:solidFill>
              <a:latin typeface="Pretendard SemiBold"/>
              <a:ea typeface="Pretendard SemiBold"/>
            </a:endParaRPr>
          </a:p>
        </p:txBody>
      </p:sp>
      <p:sp>
        <p:nvSpPr>
          <p:cNvPr id="345" name="사각형: 둥근 모서리 344">
            <a:extLst>
              <a:ext uri="{FF2B5EF4-FFF2-40B4-BE49-F238E27FC236}">
                <a16:creationId xmlns:a16="http://schemas.microsoft.com/office/drawing/2014/main" id="{F479F15E-8AE2-E07B-E3FC-3159E190D59A}"/>
              </a:ext>
            </a:extLst>
          </p:cNvPr>
          <p:cNvSpPr/>
          <p:nvPr/>
        </p:nvSpPr>
        <p:spPr>
          <a:xfrm>
            <a:off x="19501919" y="7586307"/>
            <a:ext cx="757227" cy="343682"/>
          </a:xfrm>
          <a:prstGeom prst="roundRect">
            <a:avLst/>
          </a:prstGeom>
          <a:solidFill>
            <a:srgbClr val="1A7A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spc="-100" dirty="0">
                <a:solidFill>
                  <a:schemeClr val="bg1"/>
                </a:solidFill>
                <a:latin typeface="Pretendard SemiBold"/>
                <a:ea typeface="Pretendard SemiBold"/>
              </a:rPr>
              <a:t>DATA</a:t>
            </a:r>
            <a:endParaRPr lang="ko-KR" altLang="en-US" sz="1600" spc="-100" dirty="0">
              <a:solidFill>
                <a:schemeClr val="bg1"/>
              </a:solidFill>
              <a:latin typeface="Pretendard SemiBold"/>
              <a:ea typeface="Pretendard SemiBold"/>
            </a:endParaRPr>
          </a:p>
        </p:txBody>
      </p:sp>
      <p:sp>
        <p:nvSpPr>
          <p:cNvPr id="346" name="사각형: 둥근 모서리 345">
            <a:extLst>
              <a:ext uri="{FF2B5EF4-FFF2-40B4-BE49-F238E27FC236}">
                <a16:creationId xmlns:a16="http://schemas.microsoft.com/office/drawing/2014/main" id="{BBE67B94-20FC-31BA-AFF3-87F0125C34F9}"/>
              </a:ext>
            </a:extLst>
          </p:cNvPr>
          <p:cNvSpPr/>
          <p:nvPr/>
        </p:nvSpPr>
        <p:spPr>
          <a:xfrm>
            <a:off x="10874481" y="7517437"/>
            <a:ext cx="1049019" cy="361393"/>
          </a:xfrm>
          <a:prstGeom prst="roundRect">
            <a:avLst/>
          </a:prstGeom>
          <a:solidFill>
            <a:srgbClr val="1A7A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pc="-100" dirty="0">
                <a:solidFill>
                  <a:schemeClr val="bg1"/>
                </a:solidFill>
                <a:latin typeface="Pretendard SemiBold"/>
                <a:ea typeface="Pretendard SemiBold"/>
              </a:rPr>
              <a:t>DEVICE</a:t>
            </a:r>
            <a:endParaRPr lang="ko-KR" altLang="en-US" spc="-100" dirty="0">
              <a:solidFill>
                <a:schemeClr val="bg1"/>
              </a:solidFill>
              <a:latin typeface="Pretendard SemiBold"/>
              <a:ea typeface="Pretendard SemiBold"/>
            </a:endParaRPr>
          </a:p>
        </p:txBody>
      </p:sp>
      <p:sp>
        <p:nvSpPr>
          <p:cNvPr id="19" name="TextBox 14">
            <a:extLst>
              <a:ext uri="{FF2B5EF4-FFF2-40B4-BE49-F238E27FC236}">
                <a16:creationId xmlns:a16="http://schemas.microsoft.com/office/drawing/2014/main" id="{B03CC323-BB09-22FD-A171-8D6E15066EBB}"/>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0" name="TextBox 14">
            <a:extLst>
              <a:ext uri="{FF2B5EF4-FFF2-40B4-BE49-F238E27FC236}">
                <a16:creationId xmlns:a16="http://schemas.microsoft.com/office/drawing/2014/main" id="{2314FADE-E80D-F8AF-70E5-4A58F120084F}"/>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1" name="Picture 2">
            <a:extLst>
              <a:ext uri="{FF2B5EF4-FFF2-40B4-BE49-F238E27FC236}">
                <a16:creationId xmlns:a16="http://schemas.microsoft.com/office/drawing/2014/main" id="{528BD80D-87A3-0913-510F-3415DA98FC8F}"/>
              </a:ext>
            </a:extLst>
          </p:cNvPr>
          <p:cNvPicPr>
            <a:picLocks noChangeAspect="1"/>
          </p:cNvPicPr>
          <p:nvPr/>
        </p:nvPicPr>
        <p:blipFill>
          <a:blip r:embed="rId14">
            <a:alphaModFix amt="85000"/>
          </a:blip>
          <a:stretch>
            <a:fillRect/>
          </a:stretch>
        </p:blipFill>
        <p:spPr>
          <a:xfrm>
            <a:off x="11201400" y="558800"/>
            <a:ext cx="2705100" cy="444500"/>
          </a:xfrm>
          <a:prstGeom prst="rect">
            <a:avLst/>
          </a:prstGeom>
        </p:spPr>
      </p:pic>
      <p:sp>
        <p:nvSpPr>
          <p:cNvPr id="22" name="TextBox 16">
            <a:extLst>
              <a:ext uri="{FF2B5EF4-FFF2-40B4-BE49-F238E27FC236}">
                <a16:creationId xmlns:a16="http://schemas.microsoft.com/office/drawing/2014/main" id="{FE0677AC-AF34-8318-6995-26510F9414AB}"/>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4" name="TextBox 18">
            <a:extLst>
              <a:ext uri="{FF2B5EF4-FFF2-40B4-BE49-F238E27FC236}">
                <a16:creationId xmlns:a16="http://schemas.microsoft.com/office/drawing/2014/main" id="{15EBD140-5374-D59C-392F-89ABCBC17527}"/>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25" name="TextBox 19">
            <a:extLst>
              <a:ext uri="{FF2B5EF4-FFF2-40B4-BE49-F238E27FC236}">
                <a16:creationId xmlns:a16="http://schemas.microsoft.com/office/drawing/2014/main" id="{63A6982E-502C-CE88-5645-6805A1AC0CF8}"/>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26" name="TextBox 20">
            <a:extLst>
              <a:ext uri="{FF2B5EF4-FFF2-40B4-BE49-F238E27FC236}">
                <a16:creationId xmlns:a16="http://schemas.microsoft.com/office/drawing/2014/main" id="{610A0933-72F4-9F66-E983-046C0083AC48}"/>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extLst>
      <p:ext uri="{BB962C8B-B14F-4D97-AF65-F5344CB8AC3E}">
        <p14:creationId xmlns:p14="http://schemas.microsoft.com/office/powerpoint/2010/main" val="267935944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a:extLst>
            <a:ext uri="{FF2B5EF4-FFF2-40B4-BE49-F238E27FC236}">
              <a16:creationId xmlns:a16="http://schemas.microsoft.com/office/drawing/2014/main" id="{B79BB645-6FE7-1F93-1144-FCF7CD884AF2}"/>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4202182A-26D2-212C-9969-A68EDC4BF0A3}"/>
              </a:ext>
            </a:extLst>
          </p:cNvPr>
          <p:cNvPicPr>
            <a:picLocks noChangeAspect="1"/>
          </p:cNvPicPr>
          <p:nvPr/>
        </p:nvPicPr>
        <p:blipFill>
          <a:blip r:embed="rId3">
            <a:alphaModFix amt="70000"/>
          </a:blip>
          <a:stretch>
            <a:fillRect/>
          </a:stretch>
        </p:blipFill>
        <p:spPr>
          <a:xfrm>
            <a:off x="16230600" y="-2590800"/>
            <a:ext cx="11442700" cy="11442700"/>
          </a:xfrm>
          <a:prstGeom prst="rect">
            <a:avLst/>
          </a:prstGeom>
        </p:spPr>
      </p:pic>
      <p:pic>
        <p:nvPicPr>
          <p:cNvPr id="3" name="Picture 3">
            <a:extLst>
              <a:ext uri="{FF2B5EF4-FFF2-40B4-BE49-F238E27FC236}">
                <a16:creationId xmlns:a16="http://schemas.microsoft.com/office/drawing/2014/main" id="{F5A35DF8-75D3-03C9-8A86-2A1E1EC33371}"/>
              </a:ext>
            </a:extLst>
          </p:cNvPr>
          <p:cNvPicPr>
            <a:picLocks noChangeAspect="1"/>
          </p:cNvPicPr>
          <p:nvPr/>
        </p:nvPicPr>
        <p:blipFill>
          <a:blip r:embed="rId4"/>
          <a:stretch>
            <a:fillRect/>
          </a:stretch>
        </p:blipFill>
        <p:spPr>
          <a:xfrm>
            <a:off x="762000" y="1092200"/>
            <a:ext cx="22860000" cy="12700"/>
          </a:xfrm>
          <a:prstGeom prst="rect">
            <a:avLst/>
          </a:prstGeom>
        </p:spPr>
      </p:pic>
      <p:pic>
        <p:nvPicPr>
          <p:cNvPr id="4" name="Picture 4">
            <a:extLst>
              <a:ext uri="{FF2B5EF4-FFF2-40B4-BE49-F238E27FC236}">
                <a16:creationId xmlns:a16="http://schemas.microsoft.com/office/drawing/2014/main" id="{EA39B3A2-A317-ACFF-1E3B-42D166CD8D04}"/>
              </a:ext>
            </a:extLst>
          </p:cNvPr>
          <p:cNvPicPr>
            <a:picLocks noChangeAspect="1"/>
          </p:cNvPicPr>
          <p:nvPr/>
        </p:nvPicPr>
        <p:blipFill>
          <a:blip r:embed="rId5"/>
          <a:stretch>
            <a:fillRect/>
          </a:stretch>
        </p:blipFill>
        <p:spPr>
          <a:xfrm rot="5400000">
            <a:off x="3200400" y="787400"/>
            <a:ext cx="635000" cy="12700"/>
          </a:xfrm>
          <a:prstGeom prst="rect">
            <a:avLst/>
          </a:prstGeom>
        </p:spPr>
      </p:pic>
      <p:pic>
        <p:nvPicPr>
          <p:cNvPr id="5" name="Picture 5">
            <a:extLst>
              <a:ext uri="{FF2B5EF4-FFF2-40B4-BE49-F238E27FC236}">
                <a16:creationId xmlns:a16="http://schemas.microsoft.com/office/drawing/2014/main" id="{5FB896CF-BDD2-6825-9AE4-FA9B69FE4D91}"/>
              </a:ext>
            </a:extLst>
          </p:cNvPr>
          <p:cNvPicPr>
            <a:picLocks noChangeAspect="1"/>
          </p:cNvPicPr>
          <p:nvPr/>
        </p:nvPicPr>
        <p:blipFill>
          <a:blip r:embed="rId5"/>
          <a:stretch>
            <a:fillRect/>
          </a:stretch>
        </p:blipFill>
        <p:spPr>
          <a:xfrm rot="5400000">
            <a:off x="22225000" y="787400"/>
            <a:ext cx="635000" cy="12700"/>
          </a:xfrm>
          <a:prstGeom prst="rect">
            <a:avLst/>
          </a:prstGeom>
        </p:spPr>
      </p:pic>
      <p:pic>
        <p:nvPicPr>
          <p:cNvPr id="6" name="Picture 6">
            <a:extLst>
              <a:ext uri="{FF2B5EF4-FFF2-40B4-BE49-F238E27FC236}">
                <a16:creationId xmlns:a16="http://schemas.microsoft.com/office/drawing/2014/main" id="{ED44BBAB-A57A-6E1A-C9BD-6033211C8A65}"/>
              </a:ext>
            </a:extLst>
          </p:cNvPr>
          <p:cNvPicPr>
            <a:picLocks noChangeAspect="1"/>
          </p:cNvPicPr>
          <p:nvPr/>
        </p:nvPicPr>
        <p:blipFill>
          <a:blip r:embed="rId5"/>
          <a:stretch>
            <a:fillRect/>
          </a:stretch>
        </p:blipFill>
        <p:spPr>
          <a:xfrm rot="5400000">
            <a:off x="6337300" y="787400"/>
            <a:ext cx="635000" cy="12700"/>
          </a:xfrm>
          <a:prstGeom prst="rect">
            <a:avLst/>
          </a:prstGeom>
        </p:spPr>
      </p:pic>
      <p:pic>
        <p:nvPicPr>
          <p:cNvPr id="7" name="Picture 7">
            <a:extLst>
              <a:ext uri="{FF2B5EF4-FFF2-40B4-BE49-F238E27FC236}">
                <a16:creationId xmlns:a16="http://schemas.microsoft.com/office/drawing/2014/main" id="{E610BA08-3BCA-BB8C-15C7-5E281FC5E0DB}"/>
              </a:ext>
            </a:extLst>
          </p:cNvPr>
          <p:cNvPicPr>
            <a:picLocks noChangeAspect="1"/>
          </p:cNvPicPr>
          <p:nvPr/>
        </p:nvPicPr>
        <p:blipFill>
          <a:blip r:embed="rId4"/>
          <a:stretch>
            <a:fillRect/>
          </a:stretch>
        </p:blipFill>
        <p:spPr>
          <a:xfrm>
            <a:off x="723900" y="457200"/>
            <a:ext cx="22860000" cy="12700"/>
          </a:xfrm>
          <a:prstGeom prst="rect">
            <a:avLst/>
          </a:prstGeom>
        </p:spPr>
      </p:pic>
      <p:pic>
        <p:nvPicPr>
          <p:cNvPr id="10" name="Picture 10">
            <a:extLst>
              <a:ext uri="{FF2B5EF4-FFF2-40B4-BE49-F238E27FC236}">
                <a16:creationId xmlns:a16="http://schemas.microsoft.com/office/drawing/2014/main" id="{CBB2E65A-61EC-4EE9-E521-ADE9FF9D0A2C}"/>
              </a:ext>
            </a:extLst>
          </p:cNvPr>
          <p:cNvPicPr>
            <a:picLocks noChangeAspect="1"/>
          </p:cNvPicPr>
          <p:nvPr/>
        </p:nvPicPr>
        <p:blipFill>
          <a:blip r:embed="rId6"/>
          <a:stretch>
            <a:fillRect/>
          </a:stretch>
        </p:blipFill>
        <p:spPr>
          <a:xfrm>
            <a:off x="1485900" y="1612900"/>
            <a:ext cx="88900" cy="850900"/>
          </a:xfrm>
          <a:prstGeom prst="rect">
            <a:avLst/>
          </a:prstGeom>
        </p:spPr>
      </p:pic>
      <p:sp>
        <p:nvSpPr>
          <p:cNvPr id="11" name="TextBox 11">
            <a:extLst>
              <a:ext uri="{FF2B5EF4-FFF2-40B4-BE49-F238E27FC236}">
                <a16:creationId xmlns:a16="http://schemas.microsoft.com/office/drawing/2014/main" id="{45FC3159-2E03-E171-D9BB-DB215E71C122}"/>
              </a:ext>
            </a:extLst>
          </p:cNvPr>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80</a:t>
            </a:r>
          </a:p>
        </p:txBody>
      </p:sp>
      <p:sp>
        <p:nvSpPr>
          <p:cNvPr id="18" name="TextBox 18">
            <a:extLst>
              <a:ext uri="{FF2B5EF4-FFF2-40B4-BE49-F238E27FC236}">
                <a16:creationId xmlns:a16="http://schemas.microsoft.com/office/drawing/2014/main" id="{1332E8E0-1F86-5ECB-85A7-8BA15A61EA50}"/>
              </a:ext>
            </a:extLst>
          </p:cNvPr>
          <p:cNvSpPr txBox="1"/>
          <p:nvPr/>
        </p:nvSpPr>
        <p:spPr>
          <a:xfrm>
            <a:off x="1943100" y="1409700"/>
            <a:ext cx="202819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시나리오 보안 대책</a:t>
            </a:r>
          </a:p>
        </p:txBody>
      </p:sp>
      <p:sp>
        <p:nvSpPr>
          <p:cNvPr id="23" name="TextBox 23">
            <a:extLst>
              <a:ext uri="{FF2B5EF4-FFF2-40B4-BE49-F238E27FC236}">
                <a16:creationId xmlns:a16="http://schemas.microsoft.com/office/drawing/2014/main" id="{5AE738EC-F99B-85C6-0660-D1252DA69EB7}"/>
              </a:ext>
            </a:extLst>
          </p:cNvPr>
          <p:cNvSpPr txBox="1"/>
          <p:nvPr/>
        </p:nvSpPr>
        <p:spPr>
          <a:xfrm>
            <a:off x="1943100" y="2774783"/>
            <a:ext cx="8884468" cy="685800"/>
          </a:xfrm>
          <a:prstGeom prst="rect">
            <a:avLst/>
          </a:prstGeom>
        </p:spPr>
        <p:txBody>
          <a:bodyPr lIns="0" tIns="0" rIns="0" bIns="0" rtlCol="0" anchor="t"/>
          <a:lstStyle/>
          <a:p>
            <a:pPr lvl="0">
              <a:lnSpc>
                <a:spcPct val="116199"/>
              </a:lnSpc>
            </a:pPr>
            <a:r>
              <a:rPr lang="en-US" sz="3857" b="1" i="0" u="none" strike="noStrike" dirty="0">
                <a:solidFill>
                  <a:srgbClr val="000000"/>
                </a:solidFill>
                <a:latin typeface="Pretendard Bold"/>
                <a:ea typeface="Pretendard Bold"/>
                <a:cs typeface="Pretendard Bold"/>
              </a:rPr>
              <a:t>Zero Trust </a:t>
            </a:r>
            <a:r>
              <a:rPr lang="en-US" sz="3857" b="1" i="0" u="none" strike="noStrike" dirty="0" err="1">
                <a:solidFill>
                  <a:srgbClr val="000000"/>
                </a:solidFill>
                <a:latin typeface="Pretendard Bold"/>
                <a:ea typeface="Pretendard Bold"/>
                <a:cs typeface="Pretendard Bold"/>
              </a:rPr>
              <a:t>기반</a:t>
            </a:r>
            <a:r>
              <a:rPr lang="en-US" sz="3857" b="1" i="0" u="none" strike="noStrike" dirty="0">
                <a:solidFill>
                  <a:srgbClr val="000000"/>
                </a:solidFill>
                <a:latin typeface="Pretendard Bold"/>
                <a:ea typeface="Pretendard Bold"/>
                <a:cs typeface="Pretendard Bold"/>
              </a:rPr>
              <a:t> </a:t>
            </a:r>
            <a:r>
              <a:rPr lang="en-US" sz="3857" b="1" i="0" u="none" strike="noStrike" dirty="0" err="1">
                <a:solidFill>
                  <a:srgbClr val="000000"/>
                </a:solidFill>
                <a:latin typeface="Pretendard Bold"/>
                <a:ea typeface="Pretendard Bold"/>
                <a:cs typeface="Pretendard Bold"/>
              </a:rPr>
              <a:t>설계</a:t>
            </a:r>
            <a:r>
              <a:rPr lang="en-US" sz="3857" b="1" i="0" u="none" strike="noStrike" dirty="0">
                <a:solidFill>
                  <a:srgbClr val="000000"/>
                </a:solidFill>
                <a:latin typeface="Pretendard Bold"/>
                <a:ea typeface="Pretendard Bold"/>
                <a:cs typeface="Pretendard Bold"/>
              </a:rPr>
              <a:t> – </a:t>
            </a:r>
            <a:r>
              <a:rPr lang="ko-KR" altLang="en-US" sz="3857" b="1" i="0" u="none" strike="noStrike" dirty="0">
                <a:solidFill>
                  <a:srgbClr val="000000"/>
                </a:solidFill>
                <a:latin typeface="Pretendard Bold"/>
                <a:ea typeface="Pretendard Bold"/>
                <a:cs typeface="Pretendard Bold"/>
              </a:rPr>
              <a:t>보이스피싱</a:t>
            </a:r>
            <a:endParaRPr lang="en-US" sz="3857" b="1" i="0" u="none" strike="noStrike" dirty="0">
              <a:solidFill>
                <a:srgbClr val="000000"/>
              </a:solidFill>
              <a:latin typeface="Pretendard Bold"/>
              <a:ea typeface="Pretendard Bold"/>
              <a:cs typeface="Pretendard Bold"/>
            </a:endParaRPr>
          </a:p>
        </p:txBody>
      </p:sp>
      <p:pic>
        <p:nvPicPr>
          <p:cNvPr id="30" name="Google Shape;140;p14" descr="image.png">
            <a:extLst>
              <a:ext uri="{FF2B5EF4-FFF2-40B4-BE49-F238E27FC236}">
                <a16:creationId xmlns:a16="http://schemas.microsoft.com/office/drawing/2014/main" id="{44A072F2-319D-D504-6DFE-0A23E4829C18}"/>
              </a:ext>
            </a:extLst>
          </p:cNvPr>
          <p:cNvPicPr preferRelativeResize="0"/>
          <p:nvPr/>
        </p:nvPicPr>
        <p:blipFill rotWithShape="1">
          <a:blip r:embed="rId7"/>
          <a:srcRect/>
          <a:stretch/>
        </p:blipFill>
        <p:spPr>
          <a:xfrm>
            <a:off x="3594105" y="4170008"/>
            <a:ext cx="471626" cy="721501"/>
          </a:xfrm>
          <a:prstGeom prst="rect">
            <a:avLst/>
          </a:prstGeom>
        </p:spPr>
      </p:pic>
      <p:pic>
        <p:nvPicPr>
          <p:cNvPr id="290" name="Google Shape;144;p14" descr="image.png">
            <a:extLst>
              <a:ext uri="{FF2B5EF4-FFF2-40B4-BE49-F238E27FC236}">
                <a16:creationId xmlns:a16="http://schemas.microsoft.com/office/drawing/2014/main" id="{7AC0C9D5-81C8-1138-21D8-966B460C12EC}"/>
              </a:ext>
            </a:extLst>
          </p:cNvPr>
          <p:cNvPicPr preferRelativeResize="0"/>
          <p:nvPr/>
        </p:nvPicPr>
        <p:blipFill rotWithShape="1">
          <a:blip r:embed="rId8"/>
          <a:srcRect/>
          <a:stretch/>
        </p:blipFill>
        <p:spPr>
          <a:xfrm>
            <a:off x="7695931" y="4170008"/>
            <a:ext cx="786042" cy="721501"/>
          </a:xfrm>
          <a:prstGeom prst="rect">
            <a:avLst/>
          </a:prstGeom>
        </p:spPr>
      </p:pic>
      <p:pic>
        <p:nvPicPr>
          <p:cNvPr id="334" name="Google Shape;148;p14" descr="image.png">
            <a:extLst>
              <a:ext uri="{FF2B5EF4-FFF2-40B4-BE49-F238E27FC236}">
                <a16:creationId xmlns:a16="http://schemas.microsoft.com/office/drawing/2014/main" id="{127B4AD5-96BC-CEFC-D40B-5F16B48F407F}"/>
              </a:ext>
            </a:extLst>
          </p:cNvPr>
          <p:cNvPicPr preferRelativeResize="0"/>
          <p:nvPr/>
        </p:nvPicPr>
        <p:blipFill rotWithShape="1">
          <a:blip r:embed="rId9"/>
          <a:srcRect/>
          <a:stretch/>
        </p:blipFill>
        <p:spPr>
          <a:xfrm>
            <a:off x="12187391" y="4152900"/>
            <a:ext cx="550230" cy="721501"/>
          </a:xfrm>
          <a:prstGeom prst="rect">
            <a:avLst/>
          </a:prstGeom>
        </p:spPr>
      </p:pic>
      <p:pic>
        <p:nvPicPr>
          <p:cNvPr id="338" name="Google Shape;152;p14" descr="image.png">
            <a:extLst>
              <a:ext uri="{FF2B5EF4-FFF2-40B4-BE49-F238E27FC236}">
                <a16:creationId xmlns:a16="http://schemas.microsoft.com/office/drawing/2014/main" id="{608F709F-BB59-438A-B8B4-2275E99F5788}"/>
              </a:ext>
            </a:extLst>
          </p:cNvPr>
          <p:cNvPicPr preferRelativeResize="0"/>
          <p:nvPr/>
        </p:nvPicPr>
        <p:blipFill rotWithShape="1">
          <a:blip r:embed="rId10"/>
          <a:srcRect/>
          <a:stretch/>
        </p:blipFill>
        <p:spPr>
          <a:xfrm>
            <a:off x="16430819" y="4152900"/>
            <a:ext cx="471626" cy="721501"/>
          </a:xfrm>
          <a:prstGeom prst="rect">
            <a:avLst/>
          </a:prstGeom>
        </p:spPr>
      </p:pic>
      <p:pic>
        <p:nvPicPr>
          <p:cNvPr id="342" name="Google Shape;156;p14" descr="image.png">
            <a:extLst>
              <a:ext uri="{FF2B5EF4-FFF2-40B4-BE49-F238E27FC236}">
                <a16:creationId xmlns:a16="http://schemas.microsoft.com/office/drawing/2014/main" id="{CF71A479-61F3-7BDE-9423-77955CFB0D77}"/>
              </a:ext>
            </a:extLst>
          </p:cNvPr>
          <p:cNvPicPr preferRelativeResize="0"/>
          <p:nvPr/>
        </p:nvPicPr>
        <p:blipFill rotWithShape="1">
          <a:blip r:embed="rId11"/>
          <a:srcRect/>
          <a:stretch/>
        </p:blipFill>
        <p:spPr>
          <a:xfrm>
            <a:off x="20566372" y="4152900"/>
            <a:ext cx="707437" cy="721501"/>
          </a:xfrm>
          <a:prstGeom prst="rect">
            <a:avLst/>
          </a:prstGeom>
        </p:spPr>
      </p:pic>
      <p:pic>
        <p:nvPicPr>
          <p:cNvPr id="346" name="Google Shape;162;p14" descr="image.png">
            <a:extLst>
              <a:ext uri="{FF2B5EF4-FFF2-40B4-BE49-F238E27FC236}">
                <a16:creationId xmlns:a16="http://schemas.microsoft.com/office/drawing/2014/main" id="{721C71F7-D2BC-5D3C-B2BF-DF9E63E2DF00}"/>
              </a:ext>
            </a:extLst>
          </p:cNvPr>
          <p:cNvPicPr preferRelativeResize="0"/>
          <p:nvPr/>
        </p:nvPicPr>
        <p:blipFill rotWithShape="1">
          <a:blip r:embed="rId12"/>
          <a:srcRect/>
          <a:stretch/>
        </p:blipFill>
        <p:spPr>
          <a:xfrm>
            <a:off x="5507044" y="4315999"/>
            <a:ext cx="935956" cy="429552"/>
          </a:xfrm>
          <a:prstGeom prst="rect">
            <a:avLst/>
          </a:prstGeom>
        </p:spPr>
      </p:pic>
      <p:pic>
        <p:nvPicPr>
          <p:cNvPr id="347" name="Google Shape;163;p14" descr="image.png">
            <a:extLst>
              <a:ext uri="{FF2B5EF4-FFF2-40B4-BE49-F238E27FC236}">
                <a16:creationId xmlns:a16="http://schemas.microsoft.com/office/drawing/2014/main" id="{698A0A01-5B5C-C11D-AF24-14115A18E698}"/>
              </a:ext>
            </a:extLst>
          </p:cNvPr>
          <p:cNvPicPr preferRelativeResize="0"/>
          <p:nvPr/>
        </p:nvPicPr>
        <p:blipFill rotWithShape="1">
          <a:blip r:embed="rId12"/>
          <a:srcRect/>
          <a:stretch/>
        </p:blipFill>
        <p:spPr>
          <a:xfrm>
            <a:off x="9891612" y="4371048"/>
            <a:ext cx="935956" cy="429552"/>
          </a:xfrm>
          <a:prstGeom prst="rect">
            <a:avLst/>
          </a:prstGeom>
        </p:spPr>
      </p:pic>
      <p:pic>
        <p:nvPicPr>
          <p:cNvPr id="348" name="Google Shape;164;p14" descr="image.png">
            <a:extLst>
              <a:ext uri="{FF2B5EF4-FFF2-40B4-BE49-F238E27FC236}">
                <a16:creationId xmlns:a16="http://schemas.microsoft.com/office/drawing/2014/main" id="{2FB3B2BF-A38A-3720-44DE-CB93BE0A7925}"/>
              </a:ext>
            </a:extLst>
          </p:cNvPr>
          <p:cNvPicPr preferRelativeResize="0"/>
          <p:nvPr/>
        </p:nvPicPr>
        <p:blipFill rotWithShape="1">
          <a:blip r:embed="rId12"/>
          <a:srcRect/>
          <a:stretch/>
        </p:blipFill>
        <p:spPr>
          <a:xfrm>
            <a:off x="14198600" y="4371048"/>
            <a:ext cx="935956" cy="429552"/>
          </a:xfrm>
          <a:prstGeom prst="rect">
            <a:avLst/>
          </a:prstGeom>
        </p:spPr>
      </p:pic>
      <p:pic>
        <p:nvPicPr>
          <p:cNvPr id="349" name="Google Shape;165;p14" descr="image.png">
            <a:extLst>
              <a:ext uri="{FF2B5EF4-FFF2-40B4-BE49-F238E27FC236}">
                <a16:creationId xmlns:a16="http://schemas.microsoft.com/office/drawing/2014/main" id="{8AC8DBC1-2855-5242-8630-EC801A958922}"/>
              </a:ext>
            </a:extLst>
          </p:cNvPr>
          <p:cNvPicPr preferRelativeResize="0"/>
          <p:nvPr/>
        </p:nvPicPr>
        <p:blipFill rotWithShape="1">
          <a:blip r:embed="rId12"/>
          <a:srcRect/>
          <a:stretch/>
        </p:blipFill>
        <p:spPr>
          <a:xfrm>
            <a:off x="18465376" y="4411043"/>
            <a:ext cx="935956" cy="429552"/>
          </a:xfrm>
          <a:prstGeom prst="rect">
            <a:avLst/>
          </a:prstGeom>
        </p:spPr>
      </p:pic>
      <p:pic>
        <p:nvPicPr>
          <p:cNvPr id="367" name="Picture 26">
            <a:extLst>
              <a:ext uri="{FF2B5EF4-FFF2-40B4-BE49-F238E27FC236}">
                <a16:creationId xmlns:a16="http://schemas.microsoft.com/office/drawing/2014/main" id="{EE165F7A-9363-F856-6DD7-DCE220BA9434}"/>
              </a:ext>
            </a:extLst>
          </p:cNvPr>
          <p:cNvPicPr>
            <a:picLocks noChangeAspect="1"/>
          </p:cNvPicPr>
          <p:nvPr/>
        </p:nvPicPr>
        <p:blipFill>
          <a:blip r:embed="rId13"/>
          <a:stretch>
            <a:fillRect/>
          </a:stretch>
        </p:blipFill>
        <p:spPr>
          <a:xfrm>
            <a:off x="14848095" y="7160154"/>
            <a:ext cx="3718797" cy="3936718"/>
          </a:xfrm>
          <a:prstGeom prst="rect">
            <a:avLst/>
          </a:prstGeom>
          <a:effectLst>
            <a:outerShdw blurRad="139700" dist="38100" dir="2700000">
              <a:schemeClr val="tx1">
                <a:alpha val="33000"/>
              </a:schemeClr>
            </a:outerShdw>
          </a:effectLst>
        </p:spPr>
      </p:pic>
      <p:pic>
        <p:nvPicPr>
          <p:cNvPr id="368" name="Picture 26">
            <a:extLst>
              <a:ext uri="{FF2B5EF4-FFF2-40B4-BE49-F238E27FC236}">
                <a16:creationId xmlns:a16="http://schemas.microsoft.com/office/drawing/2014/main" id="{1EA056C8-27A1-1E07-546C-A5D96265798C}"/>
              </a:ext>
            </a:extLst>
          </p:cNvPr>
          <p:cNvPicPr>
            <a:picLocks noChangeAspect="1"/>
          </p:cNvPicPr>
          <p:nvPr/>
        </p:nvPicPr>
        <p:blipFill>
          <a:blip r:embed="rId13"/>
          <a:stretch>
            <a:fillRect/>
          </a:stretch>
        </p:blipFill>
        <p:spPr>
          <a:xfrm>
            <a:off x="10580141" y="7141091"/>
            <a:ext cx="3718797" cy="3936718"/>
          </a:xfrm>
          <a:prstGeom prst="rect">
            <a:avLst/>
          </a:prstGeom>
          <a:effectLst>
            <a:outerShdw blurRad="139700" dist="38100" dir="2700000">
              <a:schemeClr val="tx1">
                <a:alpha val="33000"/>
              </a:schemeClr>
            </a:outerShdw>
          </a:effectLst>
        </p:spPr>
      </p:pic>
      <p:pic>
        <p:nvPicPr>
          <p:cNvPr id="369" name="Picture 26">
            <a:extLst>
              <a:ext uri="{FF2B5EF4-FFF2-40B4-BE49-F238E27FC236}">
                <a16:creationId xmlns:a16="http://schemas.microsoft.com/office/drawing/2014/main" id="{0054B79B-4B9D-EBF1-F4F7-CE24AA6E6D63}"/>
              </a:ext>
            </a:extLst>
          </p:cNvPr>
          <p:cNvPicPr>
            <a:picLocks noChangeAspect="1"/>
          </p:cNvPicPr>
          <p:nvPr/>
        </p:nvPicPr>
        <p:blipFill>
          <a:blip r:embed="rId13"/>
          <a:stretch>
            <a:fillRect/>
          </a:stretch>
        </p:blipFill>
        <p:spPr>
          <a:xfrm>
            <a:off x="19126720" y="7141091"/>
            <a:ext cx="3718797" cy="3936718"/>
          </a:xfrm>
          <a:prstGeom prst="rect">
            <a:avLst/>
          </a:prstGeom>
          <a:effectLst>
            <a:outerShdw blurRad="139700" dist="38100" dir="2700000">
              <a:schemeClr val="tx1">
                <a:alpha val="33000"/>
              </a:schemeClr>
            </a:outerShdw>
          </a:effectLst>
        </p:spPr>
      </p:pic>
      <p:pic>
        <p:nvPicPr>
          <p:cNvPr id="370" name="Picture 26">
            <a:extLst>
              <a:ext uri="{FF2B5EF4-FFF2-40B4-BE49-F238E27FC236}">
                <a16:creationId xmlns:a16="http://schemas.microsoft.com/office/drawing/2014/main" id="{9919FEA3-7F25-FA29-145F-E8D537B36C7A}"/>
              </a:ext>
            </a:extLst>
          </p:cNvPr>
          <p:cNvPicPr>
            <a:picLocks noChangeAspect="1"/>
          </p:cNvPicPr>
          <p:nvPr/>
        </p:nvPicPr>
        <p:blipFill>
          <a:blip r:embed="rId13"/>
          <a:stretch>
            <a:fillRect/>
          </a:stretch>
        </p:blipFill>
        <p:spPr>
          <a:xfrm>
            <a:off x="6225802" y="7160154"/>
            <a:ext cx="3718797" cy="3936718"/>
          </a:xfrm>
          <a:prstGeom prst="rect">
            <a:avLst/>
          </a:prstGeom>
          <a:effectLst>
            <a:outerShdw blurRad="139700" dist="38100" dir="2700000">
              <a:schemeClr val="tx1">
                <a:alpha val="33000"/>
              </a:schemeClr>
            </a:outerShdw>
          </a:effectLst>
        </p:spPr>
      </p:pic>
      <p:pic>
        <p:nvPicPr>
          <p:cNvPr id="371" name="Picture 26">
            <a:extLst>
              <a:ext uri="{FF2B5EF4-FFF2-40B4-BE49-F238E27FC236}">
                <a16:creationId xmlns:a16="http://schemas.microsoft.com/office/drawing/2014/main" id="{389CA553-6866-1BF6-C7B6-B03EA8A76F1D}"/>
              </a:ext>
            </a:extLst>
          </p:cNvPr>
          <p:cNvPicPr>
            <a:picLocks noChangeAspect="1"/>
          </p:cNvPicPr>
          <p:nvPr/>
        </p:nvPicPr>
        <p:blipFill>
          <a:blip r:embed="rId13"/>
          <a:stretch>
            <a:fillRect/>
          </a:stretch>
        </p:blipFill>
        <p:spPr>
          <a:xfrm>
            <a:off x="1926506" y="7141091"/>
            <a:ext cx="3718797" cy="3936718"/>
          </a:xfrm>
          <a:prstGeom prst="rect">
            <a:avLst/>
          </a:prstGeom>
          <a:effectLst>
            <a:outerShdw blurRad="139700" dist="38100" dir="2700000">
              <a:schemeClr val="tx1">
                <a:alpha val="33000"/>
              </a:schemeClr>
            </a:outerShdw>
          </a:effectLst>
        </p:spPr>
      </p:pic>
      <p:sp>
        <p:nvSpPr>
          <p:cNvPr id="372" name="Google Shape;96;p13">
            <a:extLst>
              <a:ext uri="{FF2B5EF4-FFF2-40B4-BE49-F238E27FC236}">
                <a16:creationId xmlns:a16="http://schemas.microsoft.com/office/drawing/2014/main" id="{0689AB4B-4946-26E0-1980-2A369F1DDA3F}"/>
              </a:ext>
            </a:extLst>
          </p:cNvPr>
          <p:cNvSpPr txBox="1"/>
          <p:nvPr/>
        </p:nvSpPr>
        <p:spPr>
          <a:xfrm>
            <a:off x="2288632" y="8245409"/>
            <a:ext cx="3286443" cy="430887"/>
          </a:xfrm>
          <a:prstGeom prst="rect">
            <a:avLst/>
          </a:prstGeom>
          <a:noFill/>
          <a:ln>
            <a:noFill/>
          </a:ln>
        </p:spPr>
        <p:txBody>
          <a:bodyPr spcFirstLastPara="1" wrap="square" lIns="0" tIns="0" rIns="0" bIns="0" anchor="t" anchorCtr="0">
            <a:spAutoFit/>
          </a:bodyPr>
          <a:lstStyle/>
          <a:p>
            <a:pPr lvl="0"/>
            <a:r>
              <a:rPr lang="ko-KR" altLang="en-US" sz="2800" b="1" dirty="0" err="1">
                <a:solidFill>
                  <a:srgbClr val="000000"/>
                </a:solidFill>
                <a:latin typeface="Pretendard Bold" panose="020B0604020202020204" charset="-127"/>
                <a:ea typeface="Pretendard Bold" panose="020B0604020202020204" charset="-127"/>
                <a:cs typeface="Noto Sans KR"/>
                <a:sym typeface="Noto Sans KR"/>
              </a:rPr>
              <a:t>입력값</a:t>
            </a:r>
            <a:r>
              <a:rPr lang="ko-KR" altLang="en-US" sz="2800" b="1" dirty="0">
                <a:solidFill>
                  <a:srgbClr val="000000"/>
                </a:solidFill>
                <a:latin typeface="Pretendard Bold" panose="020B0604020202020204" charset="-127"/>
                <a:ea typeface="Pretendard Bold" panose="020B0604020202020204" charset="-127"/>
                <a:cs typeface="Noto Sans KR"/>
                <a:sym typeface="Noto Sans KR"/>
              </a:rPr>
              <a:t> 이중 검증</a:t>
            </a:r>
            <a:endParaRPr lang="ko-KR" altLang="en-US" sz="2800" dirty="0">
              <a:latin typeface="Pretendard Bold" panose="020B0604020202020204" charset="-127"/>
              <a:ea typeface="Pretendard Bold" panose="020B0604020202020204" charset="-127"/>
            </a:endParaRPr>
          </a:p>
        </p:txBody>
      </p:sp>
      <p:sp>
        <p:nvSpPr>
          <p:cNvPr id="373" name="Google Shape;97;p13">
            <a:extLst>
              <a:ext uri="{FF2B5EF4-FFF2-40B4-BE49-F238E27FC236}">
                <a16:creationId xmlns:a16="http://schemas.microsoft.com/office/drawing/2014/main" id="{D0876318-C369-2EE2-AB86-CD4E73673B48}"/>
              </a:ext>
            </a:extLst>
          </p:cNvPr>
          <p:cNvSpPr txBox="1"/>
          <p:nvPr/>
        </p:nvSpPr>
        <p:spPr>
          <a:xfrm>
            <a:off x="2303849" y="9092751"/>
            <a:ext cx="3129888" cy="1163395"/>
          </a:xfrm>
          <a:prstGeom prst="rect">
            <a:avLst/>
          </a:prstGeom>
          <a:noFill/>
          <a:ln>
            <a:noFill/>
          </a:ln>
        </p:spPr>
        <p:txBody>
          <a:bodyPr spcFirstLastPara="1" wrap="square" lIns="0" tIns="0" rIns="0" bIns="0" anchor="t" anchorCtr="0">
            <a:spAutoFit/>
          </a:bodyPr>
          <a:lstStyle/>
          <a:p>
            <a:pPr lvl="0">
              <a:lnSpc>
                <a:spcPct val="140000"/>
              </a:lnSpc>
              <a:buClr>
                <a:schemeClr val="dk1"/>
              </a:buClr>
              <a:buSzPts val="1100"/>
            </a:pPr>
            <a:r>
              <a:rPr lang="ko-KR" altLang="en-US" dirty="0">
                <a:solidFill>
                  <a:srgbClr val="444444"/>
                </a:solidFill>
                <a:latin typeface="Pretendard Medium" panose="020B0604020202020204" charset="-127"/>
                <a:ea typeface="Pretendard Medium" panose="020B0604020202020204" charset="-127"/>
                <a:cs typeface="Noto Sans KR"/>
                <a:sym typeface="Noto Sans KR"/>
              </a:rPr>
              <a:t>파일 확장자</a:t>
            </a:r>
            <a:r>
              <a:rPr lang="en-US" altLang="ko-KR" dirty="0">
                <a:solidFill>
                  <a:srgbClr val="444444"/>
                </a:solidFill>
                <a:latin typeface="Pretendard Medium" panose="020B0604020202020204" charset="-127"/>
                <a:ea typeface="Pretendard Medium" panose="020B0604020202020204" charset="-127"/>
                <a:cs typeface="Noto Sans KR"/>
                <a:sym typeface="Noto Sans KR"/>
              </a:rPr>
              <a:t>,MIME,</a:t>
            </a:r>
            <a:r>
              <a:rPr lang="ko-KR" altLang="en-US" dirty="0" err="1">
                <a:solidFill>
                  <a:srgbClr val="444444"/>
                </a:solidFill>
                <a:latin typeface="Pretendard Medium" panose="020B0604020202020204" charset="-127"/>
                <a:ea typeface="Pretendard Medium" panose="020B0604020202020204" charset="-127"/>
                <a:cs typeface="Noto Sans KR"/>
                <a:sym typeface="Noto Sans KR"/>
              </a:rPr>
              <a:t>시그니처</a:t>
            </a:r>
            <a:r>
              <a:rPr lang="ko-KR" altLang="en-US" dirty="0">
                <a:solidFill>
                  <a:srgbClr val="444444"/>
                </a:solidFill>
                <a:latin typeface="Pretendard Medium" panose="020B0604020202020204" charset="-127"/>
                <a:ea typeface="Pretendard Medium" panose="020B0604020202020204" charset="-127"/>
                <a:cs typeface="Noto Sans KR"/>
                <a:sym typeface="Noto Sans KR"/>
              </a:rPr>
              <a:t> 검증</a:t>
            </a:r>
          </a:p>
          <a:p>
            <a:pPr lvl="0">
              <a:lnSpc>
                <a:spcPct val="140000"/>
              </a:lnSpc>
            </a:pPr>
            <a:r>
              <a:rPr lang="ko-KR" altLang="en-US" dirty="0">
                <a:solidFill>
                  <a:srgbClr val="444444"/>
                </a:solidFill>
                <a:latin typeface="Pretendard Medium" panose="020B0604020202020204" charset="-127"/>
                <a:ea typeface="Pretendard Medium" panose="020B0604020202020204" charset="-127"/>
                <a:cs typeface="Noto Sans KR"/>
                <a:sym typeface="Noto Sans KR"/>
              </a:rPr>
              <a:t>실행 권한 제거</a:t>
            </a:r>
          </a:p>
          <a:p>
            <a:pPr lvl="0">
              <a:lnSpc>
                <a:spcPct val="140000"/>
              </a:lnSpc>
            </a:pPr>
            <a:r>
              <a:rPr lang="ko-KR" altLang="en-US" dirty="0">
                <a:solidFill>
                  <a:srgbClr val="444444"/>
                </a:solidFill>
                <a:latin typeface="Pretendard Medium" panose="020B0604020202020204" charset="-127"/>
                <a:ea typeface="Pretendard Medium" panose="020B0604020202020204" charset="-127"/>
                <a:cs typeface="Noto Sans KR"/>
                <a:sym typeface="Noto Sans KR"/>
              </a:rPr>
              <a:t>업로드 경로 분리 </a:t>
            </a:r>
          </a:p>
        </p:txBody>
      </p:sp>
      <p:sp>
        <p:nvSpPr>
          <p:cNvPr id="374" name="Google Shape;100;p13">
            <a:extLst>
              <a:ext uri="{FF2B5EF4-FFF2-40B4-BE49-F238E27FC236}">
                <a16:creationId xmlns:a16="http://schemas.microsoft.com/office/drawing/2014/main" id="{111B7F65-C976-58D9-AD48-3EF6516B3638}"/>
              </a:ext>
            </a:extLst>
          </p:cNvPr>
          <p:cNvSpPr txBox="1"/>
          <p:nvPr/>
        </p:nvSpPr>
        <p:spPr>
          <a:xfrm>
            <a:off x="6543892" y="8229030"/>
            <a:ext cx="3286443" cy="430887"/>
          </a:xfrm>
          <a:prstGeom prst="rect">
            <a:avLst/>
          </a:prstGeom>
        </p:spPr>
        <p:txBody>
          <a:bodyPr spcFirstLastPara="1" wrap="square" lIns="0" tIns="0" rIns="0" bIns="0" anchor="t" anchorCtr="0">
            <a:spAutoFit/>
          </a:bodyPr>
          <a:lstStyle/>
          <a:p>
            <a:pPr lvl="0"/>
            <a:r>
              <a:rPr lang="ko-KR" altLang="en-US" sz="2800" b="1" dirty="0">
                <a:solidFill>
                  <a:srgbClr val="000000"/>
                </a:solidFill>
                <a:latin typeface="Pretendard Bold" panose="020B0604020202020204" charset="-127"/>
                <a:ea typeface="Pretendard Bold" panose="020B0604020202020204" charset="-127"/>
                <a:cs typeface="Noto Sans KR"/>
                <a:sym typeface="Noto Sans KR"/>
              </a:rPr>
              <a:t>자격증명 보호</a:t>
            </a:r>
            <a:endParaRPr lang="ko-KR" altLang="en-US" sz="2800" dirty="0">
              <a:latin typeface="Pretendard Bold" panose="020B0604020202020204" charset="-127"/>
              <a:ea typeface="Pretendard Bold" panose="020B0604020202020204" charset="-127"/>
            </a:endParaRPr>
          </a:p>
        </p:txBody>
      </p:sp>
      <p:sp>
        <p:nvSpPr>
          <p:cNvPr id="375" name="Google Shape;101;p13">
            <a:extLst>
              <a:ext uri="{FF2B5EF4-FFF2-40B4-BE49-F238E27FC236}">
                <a16:creationId xmlns:a16="http://schemas.microsoft.com/office/drawing/2014/main" id="{EF8FD53C-7201-5CDA-A9F2-3B88D8CD461F}"/>
              </a:ext>
            </a:extLst>
          </p:cNvPr>
          <p:cNvSpPr txBox="1"/>
          <p:nvPr/>
        </p:nvSpPr>
        <p:spPr>
          <a:xfrm>
            <a:off x="6574707" y="9009396"/>
            <a:ext cx="3129888" cy="1292662"/>
          </a:xfrm>
          <a:prstGeom prst="rect">
            <a:avLst/>
          </a:prstGeom>
          <a:noFill/>
          <a:ln>
            <a:noFill/>
          </a:ln>
        </p:spPr>
        <p:txBody>
          <a:bodyPr spcFirstLastPara="1" wrap="square" lIns="0" tIns="0" rIns="0" bIns="0" anchor="t" anchorCtr="0">
            <a:spAutoFit/>
          </a:bodyPr>
          <a:lstStyle/>
          <a:p>
            <a:pPr lvl="0">
              <a:lnSpc>
                <a:spcPct val="140000"/>
              </a:lnSpc>
              <a:buClr>
                <a:schemeClr val="dk1"/>
              </a:buClr>
              <a:buSzPts val="1100"/>
            </a:pPr>
            <a:r>
              <a:rPr lang="en-US" altLang="ko-KR" sz="2000" dirty="0">
                <a:solidFill>
                  <a:srgbClr val="444444"/>
                </a:solidFill>
                <a:latin typeface="Pretendard Medium" panose="020B0604020202020204" charset="-127"/>
                <a:ea typeface="Pretendard Medium" panose="020B0604020202020204" charset="-127"/>
                <a:cs typeface="Noto Sans KR"/>
                <a:sym typeface="Noto Sans KR"/>
              </a:rPr>
              <a:t>JWT </a:t>
            </a:r>
            <a:r>
              <a:rPr lang="ko-KR" altLang="en-US" sz="2000" dirty="0">
                <a:solidFill>
                  <a:srgbClr val="444444"/>
                </a:solidFill>
                <a:latin typeface="Pretendard Medium" panose="020B0604020202020204" charset="-127"/>
                <a:ea typeface="Pretendard Medium" panose="020B0604020202020204" charset="-127"/>
                <a:cs typeface="Noto Sans KR"/>
                <a:sym typeface="Noto Sans KR"/>
              </a:rPr>
              <a:t>서명키 </a:t>
            </a:r>
            <a:r>
              <a:rPr lang="en-US" altLang="ko-KR" sz="2000" dirty="0">
                <a:solidFill>
                  <a:srgbClr val="444444"/>
                </a:solidFill>
                <a:latin typeface="Pretendard Medium" panose="020B0604020202020204" charset="-127"/>
                <a:ea typeface="Pretendard Medium" panose="020B0604020202020204" charset="-127"/>
                <a:cs typeface="Noto Sans KR"/>
                <a:sym typeface="Noto Sans KR"/>
              </a:rPr>
              <a:t>HSM/KMS </a:t>
            </a:r>
            <a:r>
              <a:rPr lang="ko-KR" altLang="en-US" sz="2000" dirty="0">
                <a:solidFill>
                  <a:srgbClr val="444444"/>
                </a:solidFill>
                <a:latin typeface="Pretendard Medium" panose="020B0604020202020204" charset="-127"/>
                <a:ea typeface="Pretendard Medium" panose="020B0604020202020204" charset="-127"/>
                <a:cs typeface="Noto Sans KR"/>
                <a:sym typeface="Noto Sans KR"/>
              </a:rPr>
              <a:t>보관</a:t>
            </a:r>
          </a:p>
          <a:p>
            <a:pPr lvl="0">
              <a:lnSpc>
                <a:spcPct val="140000"/>
              </a:lnSpc>
              <a:buClr>
                <a:schemeClr val="dk1"/>
              </a:buClr>
              <a:buSzPts val="1100"/>
            </a:pPr>
            <a:r>
              <a:rPr lang="ko-KR" altLang="en-US" sz="2000" dirty="0">
                <a:solidFill>
                  <a:srgbClr val="444444"/>
                </a:solidFill>
                <a:latin typeface="Pretendard Medium" panose="020B0604020202020204" charset="-127"/>
                <a:ea typeface="Pretendard Medium" panose="020B0604020202020204" charset="-127"/>
                <a:cs typeface="Noto Sans KR"/>
                <a:sym typeface="Noto Sans KR"/>
              </a:rPr>
              <a:t>관리자 </a:t>
            </a:r>
            <a:r>
              <a:rPr lang="en-US" altLang="ko-KR" sz="2000" dirty="0">
                <a:solidFill>
                  <a:srgbClr val="444444"/>
                </a:solidFill>
                <a:latin typeface="Pretendard Medium" panose="020B0604020202020204" charset="-127"/>
                <a:ea typeface="Pretendard Medium" panose="020B0604020202020204" charset="-127"/>
                <a:cs typeface="Noto Sans KR"/>
                <a:sym typeface="Noto Sans KR"/>
              </a:rPr>
              <a:t>JIT </a:t>
            </a:r>
            <a:r>
              <a:rPr lang="ko-KR" altLang="en-US" sz="2000" dirty="0">
                <a:solidFill>
                  <a:srgbClr val="444444"/>
                </a:solidFill>
                <a:latin typeface="Pretendard Medium" panose="020B0604020202020204" charset="-127"/>
                <a:ea typeface="Pretendard Medium" panose="020B0604020202020204" charset="-127"/>
                <a:cs typeface="Noto Sans KR"/>
                <a:sym typeface="Noto Sans KR"/>
              </a:rPr>
              <a:t>권한 부여</a:t>
            </a:r>
          </a:p>
          <a:p>
            <a:pPr lvl="0">
              <a:lnSpc>
                <a:spcPct val="140000"/>
              </a:lnSpc>
            </a:pPr>
            <a:r>
              <a:rPr lang="en-US" altLang="ko-KR" sz="2000" dirty="0">
                <a:solidFill>
                  <a:srgbClr val="444444"/>
                </a:solidFill>
                <a:latin typeface="Pretendard Medium" panose="020B0604020202020204" charset="-127"/>
                <a:ea typeface="Pretendard Medium" panose="020B0604020202020204" charset="-127"/>
                <a:cs typeface="Noto Sans KR"/>
                <a:sym typeface="Noto Sans KR"/>
              </a:rPr>
              <a:t>API </a:t>
            </a:r>
            <a:r>
              <a:rPr lang="ko-KR" altLang="en-US" sz="2000" dirty="0">
                <a:solidFill>
                  <a:srgbClr val="444444"/>
                </a:solidFill>
                <a:latin typeface="Pretendard Medium" panose="020B0604020202020204" charset="-127"/>
                <a:ea typeface="Pretendard Medium" panose="020B0604020202020204" charset="-127"/>
                <a:cs typeface="Noto Sans KR"/>
                <a:sym typeface="Noto Sans KR"/>
              </a:rPr>
              <a:t>키 최소 권한 </a:t>
            </a:r>
          </a:p>
        </p:txBody>
      </p:sp>
      <p:sp>
        <p:nvSpPr>
          <p:cNvPr id="376" name="Google Shape;103;p13">
            <a:extLst>
              <a:ext uri="{FF2B5EF4-FFF2-40B4-BE49-F238E27FC236}">
                <a16:creationId xmlns:a16="http://schemas.microsoft.com/office/drawing/2014/main" id="{84057A11-7D79-8BAD-6417-7501A68A0373}"/>
              </a:ext>
            </a:extLst>
          </p:cNvPr>
          <p:cNvSpPr txBox="1"/>
          <p:nvPr/>
        </p:nvSpPr>
        <p:spPr>
          <a:xfrm>
            <a:off x="10851486" y="8245409"/>
            <a:ext cx="3286353" cy="430887"/>
          </a:xfrm>
          <a:prstGeom prst="rect">
            <a:avLst/>
          </a:prstGeom>
          <a:noFill/>
          <a:ln>
            <a:noFill/>
          </a:ln>
        </p:spPr>
        <p:txBody>
          <a:bodyPr spcFirstLastPara="1" wrap="square" lIns="0" tIns="0" rIns="0" bIns="0" anchor="t" anchorCtr="0">
            <a:spAutoFit/>
          </a:bodyPr>
          <a:lstStyle/>
          <a:p>
            <a:pPr marR="0" lvl="0" indent="0">
              <a:spcBef>
                <a:spcPts val="0"/>
              </a:spcBef>
              <a:spcAft>
                <a:spcPts val="0"/>
              </a:spcAft>
              <a:buNone/>
            </a:pPr>
            <a:r>
              <a:rPr lang="en-US" sz="2800" b="1" dirty="0" err="1">
                <a:solidFill>
                  <a:srgbClr val="000000"/>
                </a:solidFill>
                <a:latin typeface="Pretendard Bold"/>
                <a:ea typeface="Pretendard Bold"/>
                <a:cs typeface="Arial"/>
                <a:sym typeface="Noto Sans KR"/>
              </a:rPr>
              <a:t>브라우저·단말</a:t>
            </a:r>
            <a:r>
              <a:rPr lang="en-US" sz="2800" b="1" dirty="0">
                <a:solidFill>
                  <a:srgbClr val="000000"/>
                </a:solidFill>
                <a:latin typeface="Pretendard Bold"/>
                <a:ea typeface="Pretendard Bold"/>
                <a:cs typeface="Arial"/>
                <a:sym typeface="Noto Sans KR"/>
              </a:rPr>
              <a:t> </a:t>
            </a:r>
            <a:r>
              <a:rPr lang="en-US" sz="2800" b="1" dirty="0" err="1">
                <a:solidFill>
                  <a:srgbClr val="000000"/>
                </a:solidFill>
                <a:latin typeface="Pretendard Bold"/>
                <a:ea typeface="Pretendard Bold"/>
                <a:cs typeface="Arial"/>
                <a:sym typeface="Noto Sans KR"/>
              </a:rPr>
              <a:t>보호</a:t>
            </a:r>
            <a:r>
              <a:rPr lang="en-US" sz="2800" b="1" dirty="0">
                <a:solidFill>
                  <a:srgbClr val="000000"/>
                </a:solidFill>
                <a:latin typeface="Pretendard Bold"/>
                <a:ea typeface="Pretendard Bold"/>
                <a:cs typeface="Arial"/>
                <a:sym typeface="Noto Sans KR"/>
              </a:rPr>
              <a:t> </a:t>
            </a:r>
            <a:endParaRPr sz="2800" b="1" dirty="0">
              <a:solidFill>
                <a:srgbClr val="000000"/>
              </a:solidFill>
              <a:latin typeface="Pretendard Bold"/>
              <a:ea typeface="Pretendard Bold"/>
              <a:cs typeface="Arial"/>
            </a:endParaRPr>
          </a:p>
        </p:txBody>
      </p:sp>
      <p:sp>
        <p:nvSpPr>
          <p:cNvPr id="377" name="Google Shape;104;p13">
            <a:extLst>
              <a:ext uri="{FF2B5EF4-FFF2-40B4-BE49-F238E27FC236}">
                <a16:creationId xmlns:a16="http://schemas.microsoft.com/office/drawing/2014/main" id="{2CB9B2F3-CB2A-C483-4C07-324D1122D5BA}"/>
              </a:ext>
            </a:extLst>
          </p:cNvPr>
          <p:cNvSpPr txBox="1"/>
          <p:nvPr/>
        </p:nvSpPr>
        <p:spPr>
          <a:xfrm>
            <a:off x="10865468" y="8991546"/>
            <a:ext cx="3129888" cy="1292662"/>
          </a:xfrm>
          <a:prstGeom prst="rect">
            <a:avLst/>
          </a:prstGeom>
          <a:noFill/>
          <a:ln>
            <a:noFill/>
          </a:ln>
        </p:spPr>
        <p:txBody>
          <a:bodyPr spcFirstLastPara="1" wrap="square" lIns="0" tIns="0" rIns="0" bIns="0" anchor="t" anchorCtr="0">
            <a:spAutoFit/>
          </a:bodyPr>
          <a:lstStyle/>
          <a:p>
            <a:pPr lvl="0">
              <a:lnSpc>
                <a:spcPct val="140000"/>
              </a:lnSpc>
              <a:buClr>
                <a:schemeClr val="dk1"/>
              </a:buClr>
              <a:buSzPts val="1100"/>
            </a:pPr>
            <a:r>
              <a:rPr lang="en-US" altLang="ko-KR" sz="2000" dirty="0">
                <a:solidFill>
                  <a:srgbClr val="444444"/>
                </a:solidFill>
                <a:latin typeface="Pretendard Medium" panose="020B0604020202020204" charset="-127"/>
                <a:ea typeface="Pretendard Medium" panose="020B0604020202020204" charset="-127"/>
                <a:cs typeface="Noto Sans KR"/>
                <a:sym typeface="Noto Sans KR"/>
              </a:rPr>
              <a:t>CSP </a:t>
            </a:r>
            <a:r>
              <a:rPr lang="ko-KR" altLang="en-US" sz="2000" dirty="0">
                <a:solidFill>
                  <a:srgbClr val="444444"/>
                </a:solidFill>
                <a:latin typeface="Pretendard Medium" panose="020B0604020202020204" charset="-127"/>
                <a:ea typeface="Pretendard Medium" panose="020B0604020202020204" charset="-127"/>
                <a:cs typeface="Noto Sans KR"/>
                <a:sym typeface="Noto Sans KR"/>
              </a:rPr>
              <a:t>적용</a:t>
            </a:r>
          </a:p>
          <a:p>
            <a:pPr lvl="0">
              <a:lnSpc>
                <a:spcPct val="140000"/>
              </a:lnSpc>
              <a:buClr>
                <a:schemeClr val="dk1"/>
              </a:buClr>
              <a:buSzPts val="1100"/>
            </a:pPr>
            <a:r>
              <a:rPr lang="en-US" altLang="ko-KR" sz="2000" dirty="0" err="1">
                <a:solidFill>
                  <a:srgbClr val="444444"/>
                </a:solidFill>
                <a:latin typeface="Pretendard Medium" panose="020B0604020202020204" charset="-127"/>
                <a:ea typeface="Pretendard Medium" panose="020B0604020202020204" charset="-127"/>
                <a:cs typeface="Noto Sans KR"/>
                <a:sym typeface="Noto Sans KR"/>
              </a:rPr>
              <a:t>HttpOnly·SameSite</a:t>
            </a:r>
            <a:r>
              <a:rPr lang="ko-KR" altLang="en-US" sz="2000" dirty="0">
                <a:solidFill>
                  <a:srgbClr val="444444"/>
                </a:solidFill>
                <a:latin typeface="Pretendard Medium" panose="020B0604020202020204" charset="-127"/>
                <a:ea typeface="Pretendard Medium" panose="020B0604020202020204" charset="-127"/>
                <a:cs typeface="Noto Sans KR"/>
                <a:sym typeface="Noto Sans KR"/>
              </a:rPr>
              <a:t> 쿠키</a:t>
            </a:r>
          </a:p>
          <a:p>
            <a:pPr lvl="0">
              <a:lnSpc>
                <a:spcPct val="140000"/>
              </a:lnSpc>
            </a:pPr>
            <a:r>
              <a:rPr lang="ko-KR" altLang="en-US" sz="2000" dirty="0">
                <a:solidFill>
                  <a:srgbClr val="444444"/>
                </a:solidFill>
                <a:latin typeface="Pretendard Medium" panose="020B0604020202020204" charset="-127"/>
                <a:ea typeface="Pretendard Medium" panose="020B0604020202020204" charset="-127"/>
                <a:cs typeface="Noto Sans KR"/>
                <a:sym typeface="Noto Sans KR"/>
              </a:rPr>
              <a:t>세션 재사용 탐지 </a:t>
            </a:r>
          </a:p>
        </p:txBody>
      </p:sp>
      <p:sp>
        <p:nvSpPr>
          <p:cNvPr id="378" name="Google Shape;107;p13">
            <a:extLst>
              <a:ext uri="{FF2B5EF4-FFF2-40B4-BE49-F238E27FC236}">
                <a16:creationId xmlns:a16="http://schemas.microsoft.com/office/drawing/2014/main" id="{08D52F8B-D405-4209-D383-61400241E8C0}"/>
              </a:ext>
            </a:extLst>
          </p:cNvPr>
          <p:cNvSpPr txBox="1"/>
          <p:nvPr/>
        </p:nvSpPr>
        <p:spPr>
          <a:xfrm>
            <a:off x="15095554" y="8245409"/>
            <a:ext cx="3286443" cy="430887"/>
          </a:xfrm>
          <a:prstGeom prst="rect">
            <a:avLst/>
          </a:prstGeom>
          <a:noFill/>
          <a:ln>
            <a:noFill/>
          </a:ln>
        </p:spPr>
        <p:txBody>
          <a:bodyPr spcFirstLastPara="1" wrap="square" lIns="0" tIns="0" rIns="0" bIns="0" anchor="t" anchorCtr="0">
            <a:spAutoFit/>
          </a:bodyPr>
          <a:lstStyle/>
          <a:p>
            <a:pPr lvl="0"/>
            <a:r>
              <a:rPr lang="ko-KR" altLang="en-US" sz="2800" b="1" dirty="0">
                <a:solidFill>
                  <a:srgbClr val="000000"/>
                </a:solidFill>
                <a:latin typeface="Pretendard Bold" panose="020B0604020202020204" charset="-127"/>
                <a:ea typeface="Pretendard Bold" panose="020B0604020202020204" charset="-127"/>
                <a:cs typeface="Noto Sans KR"/>
                <a:sym typeface="Noto Sans KR"/>
              </a:rPr>
              <a:t>최소 권한 및 암호화</a:t>
            </a:r>
            <a:endParaRPr lang="ko-KR" altLang="en-US" sz="2800" dirty="0">
              <a:latin typeface="Pretendard Bold" panose="020B0604020202020204" charset="-127"/>
              <a:ea typeface="Pretendard Bold" panose="020B0604020202020204" charset="-127"/>
            </a:endParaRPr>
          </a:p>
        </p:txBody>
      </p:sp>
      <p:sp>
        <p:nvSpPr>
          <p:cNvPr id="379" name="Google Shape;108;p13">
            <a:extLst>
              <a:ext uri="{FF2B5EF4-FFF2-40B4-BE49-F238E27FC236}">
                <a16:creationId xmlns:a16="http://schemas.microsoft.com/office/drawing/2014/main" id="{34F667EE-19CB-6E11-05AC-B64E33169E7A}"/>
              </a:ext>
            </a:extLst>
          </p:cNvPr>
          <p:cNvSpPr txBox="1"/>
          <p:nvPr/>
        </p:nvSpPr>
        <p:spPr>
          <a:xfrm>
            <a:off x="15127304" y="9009396"/>
            <a:ext cx="3129888" cy="1292662"/>
          </a:xfrm>
          <a:prstGeom prst="rect">
            <a:avLst/>
          </a:prstGeom>
          <a:noFill/>
          <a:ln>
            <a:noFill/>
          </a:ln>
        </p:spPr>
        <p:txBody>
          <a:bodyPr spcFirstLastPara="1" wrap="square" lIns="0" tIns="0" rIns="0" bIns="0" anchor="t" anchorCtr="0">
            <a:spAutoFit/>
          </a:bodyPr>
          <a:lstStyle/>
          <a:p>
            <a:pPr lvl="0">
              <a:lnSpc>
                <a:spcPct val="140000"/>
              </a:lnSpc>
            </a:pPr>
            <a:r>
              <a:rPr lang="en-US" altLang="ko-KR" sz="2000" dirty="0">
                <a:solidFill>
                  <a:srgbClr val="444444"/>
                </a:solidFill>
                <a:latin typeface="Pretendard Medium" panose="020B0604020202020204" charset="-127"/>
                <a:ea typeface="Pretendard Medium" panose="020B0604020202020204" charset="-127"/>
                <a:cs typeface="Noto Sans KR"/>
                <a:sym typeface="Noto Sans KR"/>
              </a:rPr>
              <a:t>DB </a:t>
            </a:r>
            <a:r>
              <a:rPr lang="ko-KR" altLang="en-US" sz="2000" dirty="0">
                <a:solidFill>
                  <a:srgbClr val="444444"/>
                </a:solidFill>
                <a:latin typeface="Pretendard Medium" panose="020B0604020202020204" charset="-127"/>
                <a:ea typeface="Pretendard Medium" panose="020B0604020202020204" charset="-127"/>
                <a:cs typeface="Noto Sans KR"/>
                <a:sym typeface="Noto Sans KR"/>
              </a:rPr>
              <a:t>최소 권한</a:t>
            </a:r>
          </a:p>
          <a:p>
            <a:pPr lvl="0">
              <a:lnSpc>
                <a:spcPct val="140000"/>
              </a:lnSpc>
            </a:pPr>
            <a:r>
              <a:rPr lang="ko-KR" altLang="en-US" sz="2000" dirty="0">
                <a:solidFill>
                  <a:srgbClr val="444444"/>
                </a:solidFill>
                <a:latin typeface="Pretendard Medium" panose="020B0604020202020204" charset="-127"/>
                <a:ea typeface="Pretendard Medium" panose="020B0604020202020204" charset="-127"/>
                <a:cs typeface="Noto Sans KR"/>
                <a:sym typeface="Noto Sans KR"/>
              </a:rPr>
              <a:t>녹취 데이터 암호화</a:t>
            </a:r>
          </a:p>
          <a:p>
            <a:pPr lvl="0">
              <a:lnSpc>
                <a:spcPct val="140000"/>
              </a:lnSpc>
            </a:pPr>
            <a:r>
              <a:rPr lang="ko-KR" altLang="en-US" sz="2000" dirty="0">
                <a:solidFill>
                  <a:srgbClr val="444444"/>
                </a:solidFill>
                <a:latin typeface="Pretendard Medium" panose="020B0604020202020204" charset="-127"/>
                <a:ea typeface="Pretendard Medium" panose="020B0604020202020204" charset="-127"/>
                <a:cs typeface="Noto Sans KR"/>
                <a:sym typeface="Noto Sans KR"/>
              </a:rPr>
              <a:t>접근 감사 및 대량 조회 탐지</a:t>
            </a:r>
            <a:endParaRPr lang="ko-KR" altLang="en-US" sz="2000" dirty="0">
              <a:latin typeface="Pretendard Medium" panose="020B0604020202020204" charset="-127"/>
              <a:ea typeface="Pretendard Medium" panose="020B0604020202020204" charset="-127"/>
            </a:endParaRPr>
          </a:p>
        </p:txBody>
      </p:sp>
      <p:sp>
        <p:nvSpPr>
          <p:cNvPr id="380" name="Google Shape;111;p13">
            <a:extLst>
              <a:ext uri="{FF2B5EF4-FFF2-40B4-BE49-F238E27FC236}">
                <a16:creationId xmlns:a16="http://schemas.microsoft.com/office/drawing/2014/main" id="{7552B006-6C9B-D19F-F18C-8206323B51BD}"/>
              </a:ext>
            </a:extLst>
          </p:cNvPr>
          <p:cNvSpPr txBox="1"/>
          <p:nvPr/>
        </p:nvSpPr>
        <p:spPr>
          <a:xfrm>
            <a:off x="19383400" y="8245409"/>
            <a:ext cx="3286443" cy="430887"/>
          </a:xfrm>
          <a:prstGeom prst="rect">
            <a:avLst/>
          </a:prstGeom>
          <a:noFill/>
          <a:ln>
            <a:noFill/>
          </a:ln>
        </p:spPr>
        <p:txBody>
          <a:bodyPr spcFirstLastPara="1" wrap="square" lIns="0" tIns="0" rIns="0" bIns="0" anchor="t" anchorCtr="0">
            <a:spAutoFit/>
          </a:bodyPr>
          <a:lstStyle/>
          <a:p>
            <a:pPr lvl="0"/>
            <a:r>
              <a:rPr lang="ko-KR" altLang="en-US" sz="2800" b="1" dirty="0">
                <a:solidFill>
                  <a:srgbClr val="000000"/>
                </a:solidFill>
                <a:latin typeface="Pretendard Bold" panose="020B0604020202020204" charset="-127"/>
                <a:ea typeface="Pretendard Bold" panose="020B0604020202020204" charset="-127"/>
                <a:cs typeface="Noto Sans KR"/>
                <a:sym typeface="Noto Sans KR"/>
              </a:rPr>
              <a:t>사칭 방지 및 본인확인</a:t>
            </a:r>
            <a:endParaRPr lang="ko-KR" altLang="en-US" sz="2800" dirty="0">
              <a:latin typeface="Pretendard Bold" panose="020B0604020202020204" charset="-127"/>
              <a:ea typeface="Pretendard Bold" panose="020B0604020202020204" charset="-127"/>
            </a:endParaRPr>
          </a:p>
        </p:txBody>
      </p:sp>
      <p:sp>
        <p:nvSpPr>
          <p:cNvPr id="381" name="Google Shape;112;p13">
            <a:extLst>
              <a:ext uri="{FF2B5EF4-FFF2-40B4-BE49-F238E27FC236}">
                <a16:creationId xmlns:a16="http://schemas.microsoft.com/office/drawing/2014/main" id="{4810920D-D529-C13A-35FD-787165C4B564}"/>
              </a:ext>
            </a:extLst>
          </p:cNvPr>
          <p:cNvSpPr txBox="1"/>
          <p:nvPr/>
        </p:nvSpPr>
        <p:spPr>
          <a:xfrm>
            <a:off x="19383400" y="9009396"/>
            <a:ext cx="3129888" cy="1292662"/>
          </a:xfrm>
          <a:prstGeom prst="rect">
            <a:avLst/>
          </a:prstGeom>
          <a:noFill/>
          <a:ln>
            <a:noFill/>
          </a:ln>
        </p:spPr>
        <p:txBody>
          <a:bodyPr spcFirstLastPara="1" wrap="square" lIns="0" tIns="0" rIns="0" bIns="0" anchor="t" anchorCtr="0">
            <a:spAutoFit/>
          </a:bodyPr>
          <a:lstStyle/>
          <a:p>
            <a:pPr lvl="0">
              <a:lnSpc>
                <a:spcPct val="140000"/>
              </a:lnSpc>
            </a:pPr>
            <a:r>
              <a:rPr lang="ko-KR" altLang="en-US" sz="2000" dirty="0">
                <a:solidFill>
                  <a:srgbClr val="444444"/>
                </a:solidFill>
                <a:latin typeface="Pretendard Medium" panose="020B0604020202020204" charset="-127"/>
                <a:ea typeface="Pretendard Medium" panose="020B0604020202020204" charset="-127"/>
                <a:cs typeface="Noto Sans KR"/>
                <a:sym typeface="Noto Sans KR"/>
              </a:rPr>
              <a:t>음성 단독 인증 금지</a:t>
            </a:r>
          </a:p>
          <a:p>
            <a:pPr lvl="0">
              <a:lnSpc>
                <a:spcPct val="140000"/>
              </a:lnSpc>
            </a:pPr>
            <a:r>
              <a:rPr lang="en-US" altLang="ko-KR" sz="2000" dirty="0">
                <a:solidFill>
                  <a:srgbClr val="444444"/>
                </a:solidFill>
                <a:latin typeface="Pretendard Medium" panose="020B0604020202020204" charset="-127"/>
                <a:ea typeface="Pretendard Medium" panose="020B0604020202020204" charset="-127"/>
                <a:cs typeface="Noto Sans KR"/>
                <a:sym typeface="Noto Sans KR"/>
              </a:rPr>
              <a:t>2</a:t>
            </a:r>
            <a:r>
              <a:rPr lang="ko-KR" altLang="en-US" sz="2000" dirty="0">
                <a:solidFill>
                  <a:srgbClr val="444444"/>
                </a:solidFill>
                <a:latin typeface="Pretendard Medium" panose="020B0604020202020204" charset="-127"/>
                <a:ea typeface="Pretendard Medium" panose="020B0604020202020204" charset="-127"/>
                <a:cs typeface="Noto Sans KR"/>
                <a:sym typeface="Noto Sans KR"/>
              </a:rPr>
              <a:t>채널 본인확인</a:t>
            </a:r>
          </a:p>
          <a:p>
            <a:pPr lvl="0">
              <a:lnSpc>
                <a:spcPct val="140000"/>
              </a:lnSpc>
            </a:pPr>
            <a:r>
              <a:rPr lang="ko-KR" altLang="en-US" sz="2000" dirty="0">
                <a:solidFill>
                  <a:srgbClr val="444444"/>
                </a:solidFill>
                <a:latin typeface="Pretendard Medium" panose="020B0604020202020204" charset="-127"/>
                <a:ea typeface="Pretendard Medium" panose="020B0604020202020204" charset="-127"/>
                <a:cs typeface="Noto Sans KR"/>
                <a:sym typeface="Noto Sans KR"/>
              </a:rPr>
              <a:t>고액 송금 시 지연</a:t>
            </a:r>
            <a:r>
              <a:rPr lang="en-US" altLang="ko-KR" sz="2000" dirty="0">
                <a:solidFill>
                  <a:srgbClr val="444444"/>
                </a:solidFill>
                <a:latin typeface="Pretendard Medium" panose="020B0604020202020204" charset="-127"/>
                <a:ea typeface="Pretendard Medium" panose="020B0604020202020204" charset="-127"/>
                <a:cs typeface="Noto Sans KR"/>
                <a:sym typeface="Noto Sans KR"/>
              </a:rPr>
              <a:t>·</a:t>
            </a:r>
            <a:r>
              <a:rPr lang="ko-KR" altLang="en-US" sz="2000" dirty="0">
                <a:solidFill>
                  <a:srgbClr val="444444"/>
                </a:solidFill>
                <a:latin typeface="Pretendard Medium" panose="020B0604020202020204" charset="-127"/>
                <a:ea typeface="Pretendard Medium" panose="020B0604020202020204" charset="-127"/>
                <a:cs typeface="Noto Sans KR"/>
                <a:sym typeface="Noto Sans KR"/>
              </a:rPr>
              <a:t>재확인</a:t>
            </a:r>
            <a:endParaRPr lang="ko-KR" altLang="en-US" sz="2000" dirty="0">
              <a:latin typeface="Pretendard Medium" panose="020B0604020202020204" charset="-127"/>
              <a:ea typeface="Pretendard Medium" panose="020B0604020202020204" charset="-127"/>
            </a:endParaRPr>
          </a:p>
        </p:txBody>
      </p:sp>
      <p:sp>
        <p:nvSpPr>
          <p:cNvPr id="382" name="Google Shape;119;p13">
            <a:extLst>
              <a:ext uri="{FF2B5EF4-FFF2-40B4-BE49-F238E27FC236}">
                <a16:creationId xmlns:a16="http://schemas.microsoft.com/office/drawing/2014/main" id="{C9157203-9B72-06A2-A2DD-BB8DCF6BCB16}"/>
              </a:ext>
            </a:extLst>
          </p:cNvPr>
          <p:cNvSpPr/>
          <p:nvPr/>
        </p:nvSpPr>
        <p:spPr>
          <a:xfrm>
            <a:off x="3813335" y="6374694"/>
            <a:ext cx="37646" cy="82132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3" name="Google Shape;120;p13">
            <a:extLst>
              <a:ext uri="{FF2B5EF4-FFF2-40B4-BE49-F238E27FC236}">
                <a16:creationId xmlns:a16="http://schemas.microsoft.com/office/drawing/2014/main" id="{D8FAB21C-2D6D-40FD-4AC7-64729CEFEFDC}"/>
              </a:ext>
            </a:extLst>
          </p:cNvPr>
          <p:cNvSpPr/>
          <p:nvPr/>
        </p:nvSpPr>
        <p:spPr>
          <a:xfrm>
            <a:off x="8095466" y="6374711"/>
            <a:ext cx="37646" cy="82132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4" name="Google Shape;121;p13">
            <a:extLst>
              <a:ext uri="{FF2B5EF4-FFF2-40B4-BE49-F238E27FC236}">
                <a16:creationId xmlns:a16="http://schemas.microsoft.com/office/drawing/2014/main" id="{4D603A50-F7E3-2F0B-DD04-F00730AF1795}"/>
              </a:ext>
            </a:extLst>
          </p:cNvPr>
          <p:cNvSpPr/>
          <p:nvPr/>
        </p:nvSpPr>
        <p:spPr>
          <a:xfrm>
            <a:off x="12397973" y="6366986"/>
            <a:ext cx="45719" cy="829056"/>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5" name="Google Shape;122;p13">
            <a:extLst>
              <a:ext uri="{FF2B5EF4-FFF2-40B4-BE49-F238E27FC236}">
                <a16:creationId xmlns:a16="http://schemas.microsoft.com/office/drawing/2014/main" id="{CB640B2F-0318-8C91-1043-56259EC227D1}"/>
              </a:ext>
            </a:extLst>
          </p:cNvPr>
          <p:cNvSpPr/>
          <p:nvPr/>
        </p:nvSpPr>
        <p:spPr>
          <a:xfrm>
            <a:off x="16693149" y="6374722"/>
            <a:ext cx="37646" cy="82132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6" name="Google Shape;123;p13">
            <a:extLst>
              <a:ext uri="{FF2B5EF4-FFF2-40B4-BE49-F238E27FC236}">
                <a16:creationId xmlns:a16="http://schemas.microsoft.com/office/drawing/2014/main" id="{BC6E15AA-F8A0-5584-8E5E-BC882F42430E}"/>
              </a:ext>
            </a:extLst>
          </p:cNvPr>
          <p:cNvSpPr/>
          <p:nvPr/>
        </p:nvSpPr>
        <p:spPr>
          <a:xfrm>
            <a:off x="20967296" y="6374722"/>
            <a:ext cx="37646" cy="82132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7" name="사각형: 둥근 모서리 386">
            <a:extLst>
              <a:ext uri="{FF2B5EF4-FFF2-40B4-BE49-F238E27FC236}">
                <a16:creationId xmlns:a16="http://schemas.microsoft.com/office/drawing/2014/main" id="{F6180888-E9E2-CB4C-C686-CF5F5F0E5CFF}"/>
              </a:ext>
            </a:extLst>
          </p:cNvPr>
          <p:cNvSpPr/>
          <p:nvPr/>
        </p:nvSpPr>
        <p:spPr>
          <a:xfrm>
            <a:off x="10424943" y="5274536"/>
            <a:ext cx="3773657" cy="1095358"/>
          </a:xfrm>
          <a:prstGeom prst="roundRect">
            <a:avLst/>
          </a:prstGeom>
          <a:solidFill>
            <a:srgbClr val="3A7DCE"/>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ko-KR" sz="2000" dirty="0">
                <a:latin typeface="Pretendard Bold" panose="020B0604020202020204" charset="-127"/>
                <a:ea typeface="Pretendard Bold" panose="020B0604020202020204" charset="-127"/>
              </a:rPr>
              <a:t>CS XSS + </a:t>
            </a:r>
            <a:r>
              <a:rPr lang="ko-KR" altLang="en-US" sz="2000" dirty="0">
                <a:latin typeface="Pretendard Bold" panose="020B0604020202020204" charset="-127"/>
                <a:ea typeface="Pretendard Bold" panose="020B0604020202020204" charset="-127"/>
              </a:rPr>
              <a:t>세션 재사용</a:t>
            </a:r>
          </a:p>
        </p:txBody>
      </p:sp>
      <p:sp>
        <p:nvSpPr>
          <p:cNvPr id="388" name="사각형: 둥근 모서리 387">
            <a:extLst>
              <a:ext uri="{FF2B5EF4-FFF2-40B4-BE49-F238E27FC236}">
                <a16:creationId xmlns:a16="http://schemas.microsoft.com/office/drawing/2014/main" id="{7B8C325D-CB0D-C1A4-CEBA-6D48D9DFE68B}"/>
              </a:ext>
            </a:extLst>
          </p:cNvPr>
          <p:cNvSpPr/>
          <p:nvPr/>
        </p:nvSpPr>
        <p:spPr>
          <a:xfrm>
            <a:off x="1926506" y="5271628"/>
            <a:ext cx="3773657" cy="1095358"/>
          </a:xfrm>
          <a:prstGeom prst="roundRect">
            <a:avLst/>
          </a:prstGeom>
          <a:solidFill>
            <a:schemeClr val="tx2">
              <a:lumMod val="40000"/>
              <a:lumOff val="6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ko-KR" altLang="en-US" sz="2000" dirty="0">
                <a:latin typeface="Pretendard Bold" panose="020B0604020202020204" charset="-127"/>
                <a:ea typeface="Pretendard Bold" panose="020B0604020202020204" charset="-127"/>
              </a:rPr>
              <a:t>파일 업로드 취약점</a:t>
            </a:r>
          </a:p>
        </p:txBody>
      </p:sp>
      <p:sp>
        <p:nvSpPr>
          <p:cNvPr id="389" name="사각형: 둥근 모서리 388">
            <a:extLst>
              <a:ext uri="{FF2B5EF4-FFF2-40B4-BE49-F238E27FC236}">
                <a16:creationId xmlns:a16="http://schemas.microsoft.com/office/drawing/2014/main" id="{EAB5B8AE-1421-1DAF-ACD8-26178D49235A}"/>
              </a:ext>
            </a:extLst>
          </p:cNvPr>
          <p:cNvSpPr/>
          <p:nvPr/>
        </p:nvSpPr>
        <p:spPr>
          <a:xfrm>
            <a:off x="6142222" y="5284430"/>
            <a:ext cx="3773657" cy="1095358"/>
          </a:xfrm>
          <a:prstGeom prst="roundRect">
            <a:avLst/>
          </a:prstGeom>
          <a:solidFill>
            <a:srgbClr val="6FA0DB"/>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ko-KR" sz="2000" dirty="0">
                <a:latin typeface="Pretendard Bold" panose="020B0604020202020204" charset="-127"/>
                <a:ea typeface="Pretendard Bold" panose="020B0604020202020204" charset="-127"/>
              </a:rPr>
              <a:t>n8n </a:t>
            </a:r>
            <a:r>
              <a:rPr lang="ko-KR" altLang="en-US" sz="2000" dirty="0">
                <a:latin typeface="Pretendard Bold" panose="020B0604020202020204" charset="-127"/>
                <a:ea typeface="Pretendard Bold" panose="020B0604020202020204" charset="-127"/>
              </a:rPr>
              <a:t>무력화</a:t>
            </a:r>
          </a:p>
        </p:txBody>
      </p:sp>
      <p:sp>
        <p:nvSpPr>
          <p:cNvPr id="390" name="사각형: 둥근 모서리 389">
            <a:extLst>
              <a:ext uri="{FF2B5EF4-FFF2-40B4-BE49-F238E27FC236}">
                <a16:creationId xmlns:a16="http://schemas.microsoft.com/office/drawing/2014/main" id="{7CA73B0B-8FC8-08B6-7D4E-6980B5DD7522}"/>
              </a:ext>
            </a:extLst>
          </p:cNvPr>
          <p:cNvSpPr/>
          <p:nvPr/>
        </p:nvSpPr>
        <p:spPr>
          <a:xfrm>
            <a:off x="14747037" y="5284430"/>
            <a:ext cx="3773657" cy="1095358"/>
          </a:xfrm>
          <a:prstGeom prst="roundRect">
            <a:avLst/>
          </a:prstGeom>
          <a:solidFill>
            <a:srgbClr val="2E6EBC"/>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ko-KR" sz="2000" dirty="0">
                <a:latin typeface="Pretendard Bold" panose="020B0604020202020204" charset="-127"/>
                <a:ea typeface="Pretendard Bold" panose="020B0604020202020204" charset="-127"/>
              </a:rPr>
              <a:t>DB </a:t>
            </a:r>
            <a:r>
              <a:rPr lang="ko-KR" altLang="en-US" sz="2000" dirty="0">
                <a:latin typeface="Pretendard Bold" panose="020B0604020202020204" charset="-127"/>
                <a:ea typeface="Pretendard Bold" panose="020B0604020202020204" charset="-127"/>
              </a:rPr>
              <a:t>장악 </a:t>
            </a:r>
            <a:r>
              <a:rPr lang="en-US" altLang="ko-KR" sz="2000" dirty="0">
                <a:latin typeface="Pretendard Bold" panose="020B0604020202020204" charset="-127"/>
                <a:ea typeface="Pretendard Bold" panose="020B0604020202020204" charset="-127"/>
              </a:rPr>
              <a:t>+</a:t>
            </a:r>
            <a:r>
              <a:rPr lang="ko-KR" altLang="en-US" sz="2000" dirty="0">
                <a:latin typeface="Pretendard Bold" panose="020B0604020202020204" charset="-127"/>
                <a:ea typeface="Pretendard Bold" panose="020B0604020202020204" charset="-127"/>
              </a:rPr>
              <a:t> 녹취 탈취</a:t>
            </a:r>
          </a:p>
        </p:txBody>
      </p:sp>
      <p:sp>
        <p:nvSpPr>
          <p:cNvPr id="391" name="사각형: 둥근 모서리 390">
            <a:extLst>
              <a:ext uri="{FF2B5EF4-FFF2-40B4-BE49-F238E27FC236}">
                <a16:creationId xmlns:a16="http://schemas.microsoft.com/office/drawing/2014/main" id="{377D7896-C0D6-D7EE-9D53-EBAE8B4F3B64}"/>
              </a:ext>
            </a:extLst>
          </p:cNvPr>
          <p:cNvSpPr/>
          <p:nvPr/>
        </p:nvSpPr>
        <p:spPr>
          <a:xfrm>
            <a:off x="18988965" y="5271628"/>
            <a:ext cx="3773657" cy="1095358"/>
          </a:xfrm>
          <a:prstGeom prst="roundRect">
            <a:avLst/>
          </a:prstGeom>
          <a:solidFill>
            <a:srgbClr val="0051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2000" dirty="0" err="1">
                <a:latin typeface="Pretendard Bold" panose="020B0604020202020204" charset="-127"/>
                <a:ea typeface="Pretendard Bold" panose="020B0604020202020204" charset="-127"/>
              </a:rPr>
              <a:t>딥보이스</a:t>
            </a:r>
            <a:r>
              <a:rPr lang="ko-KR" altLang="en-US" sz="2000" dirty="0">
                <a:latin typeface="Pretendard Bold" panose="020B0604020202020204" charset="-127"/>
                <a:ea typeface="Pretendard Bold" panose="020B0604020202020204" charset="-127"/>
              </a:rPr>
              <a:t> 피싱 공격</a:t>
            </a:r>
          </a:p>
        </p:txBody>
      </p:sp>
      <p:sp>
        <p:nvSpPr>
          <p:cNvPr id="392" name="사각형: 둥근 모서리 391">
            <a:extLst>
              <a:ext uri="{FF2B5EF4-FFF2-40B4-BE49-F238E27FC236}">
                <a16:creationId xmlns:a16="http://schemas.microsoft.com/office/drawing/2014/main" id="{A0D2657E-8711-D99C-7643-52233FB9E01E}"/>
              </a:ext>
            </a:extLst>
          </p:cNvPr>
          <p:cNvSpPr/>
          <p:nvPr/>
        </p:nvSpPr>
        <p:spPr>
          <a:xfrm>
            <a:off x="2291495" y="7520641"/>
            <a:ext cx="1613434" cy="410660"/>
          </a:xfrm>
          <a:prstGeom prst="roundRect">
            <a:avLst/>
          </a:prstGeom>
          <a:solidFill>
            <a:srgbClr val="1A7A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2000" spc="-100" dirty="0">
                <a:solidFill>
                  <a:schemeClr val="bg1"/>
                </a:solidFill>
                <a:latin typeface="Pretendard SemiBold"/>
                <a:ea typeface="Pretendard SemiBold"/>
              </a:rPr>
              <a:t>WORKLOAD</a:t>
            </a:r>
            <a:endParaRPr lang="ko-KR" altLang="en-US" sz="2000" spc="-100" dirty="0">
              <a:solidFill>
                <a:schemeClr val="bg1"/>
              </a:solidFill>
              <a:latin typeface="Pretendard SemiBold"/>
              <a:ea typeface="Pretendard SemiBold"/>
            </a:endParaRPr>
          </a:p>
        </p:txBody>
      </p:sp>
      <p:sp>
        <p:nvSpPr>
          <p:cNvPr id="393" name="사각형: 둥근 모서리 392">
            <a:extLst>
              <a:ext uri="{FF2B5EF4-FFF2-40B4-BE49-F238E27FC236}">
                <a16:creationId xmlns:a16="http://schemas.microsoft.com/office/drawing/2014/main" id="{99F99B70-06EE-5323-4463-02DD2EDCBD77}"/>
              </a:ext>
            </a:extLst>
          </p:cNvPr>
          <p:cNvSpPr/>
          <p:nvPr/>
        </p:nvSpPr>
        <p:spPr>
          <a:xfrm>
            <a:off x="6574707" y="7545275"/>
            <a:ext cx="1197693" cy="361393"/>
          </a:xfrm>
          <a:prstGeom prst="roundRect">
            <a:avLst/>
          </a:prstGeom>
          <a:solidFill>
            <a:srgbClr val="1A7A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pc="-100" dirty="0">
                <a:solidFill>
                  <a:schemeClr val="bg1"/>
                </a:solidFill>
                <a:latin typeface="Pretendard SemiBold"/>
                <a:ea typeface="Pretendard SemiBold"/>
              </a:rPr>
              <a:t>IDENTITY</a:t>
            </a:r>
            <a:endParaRPr lang="ko-KR" altLang="en-US" spc="-100" dirty="0">
              <a:solidFill>
                <a:schemeClr val="bg1"/>
              </a:solidFill>
              <a:latin typeface="Pretendard SemiBold"/>
              <a:ea typeface="Pretendard SemiBold"/>
            </a:endParaRPr>
          </a:p>
        </p:txBody>
      </p:sp>
      <p:sp>
        <p:nvSpPr>
          <p:cNvPr id="397" name="사각형: 둥근 모서리 396">
            <a:extLst>
              <a:ext uri="{FF2B5EF4-FFF2-40B4-BE49-F238E27FC236}">
                <a16:creationId xmlns:a16="http://schemas.microsoft.com/office/drawing/2014/main" id="{61536884-33E8-80B7-7B17-5A6FB1A53EEC}"/>
              </a:ext>
            </a:extLst>
          </p:cNvPr>
          <p:cNvSpPr/>
          <p:nvPr/>
        </p:nvSpPr>
        <p:spPr>
          <a:xfrm>
            <a:off x="10847029" y="7545275"/>
            <a:ext cx="1197693" cy="361393"/>
          </a:xfrm>
          <a:prstGeom prst="roundRect">
            <a:avLst/>
          </a:prstGeom>
          <a:solidFill>
            <a:srgbClr val="1A7A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pc="-100" dirty="0">
                <a:solidFill>
                  <a:schemeClr val="bg1"/>
                </a:solidFill>
                <a:latin typeface="Pretendard SemiBold"/>
                <a:ea typeface="Pretendard SemiBold"/>
              </a:rPr>
              <a:t>IDENTITY</a:t>
            </a:r>
            <a:endParaRPr lang="ko-KR" altLang="en-US" spc="-100" dirty="0">
              <a:solidFill>
                <a:schemeClr val="bg1"/>
              </a:solidFill>
              <a:latin typeface="Pretendard SemiBold"/>
              <a:ea typeface="Pretendard SemiBold"/>
            </a:endParaRPr>
          </a:p>
        </p:txBody>
      </p:sp>
      <p:sp>
        <p:nvSpPr>
          <p:cNvPr id="398" name="사각형: 둥근 모서리 397">
            <a:extLst>
              <a:ext uri="{FF2B5EF4-FFF2-40B4-BE49-F238E27FC236}">
                <a16:creationId xmlns:a16="http://schemas.microsoft.com/office/drawing/2014/main" id="{93195951-73BE-E331-BBE3-14228A977DA2}"/>
              </a:ext>
            </a:extLst>
          </p:cNvPr>
          <p:cNvSpPr/>
          <p:nvPr/>
        </p:nvSpPr>
        <p:spPr>
          <a:xfrm>
            <a:off x="15113834" y="7554130"/>
            <a:ext cx="757227" cy="343682"/>
          </a:xfrm>
          <a:prstGeom prst="roundRect">
            <a:avLst/>
          </a:prstGeom>
          <a:solidFill>
            <a:srgbClr val="1A7A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600" spc="-100" dirty="0">
                <a:solidFill>
                  <a:schemeClr val="bg1"/>
                </a:solidFill>
                <a:latin typeface="Pretendard SemiBold"/>
                <a:ea typeface="Pretendard SemiBold"/>
              </a:rPr>
              <a:t>DATA</a:t>
            </a:r>
            <a:endParaRPr lang="ko-KR" altLang="en-US" sz="1600" spc="-100" dirty="0">
              <a:solidFill>
                <a:schemeClr val="bg1"/>
              </a:solidFill>
              <a:latin typeface="Pretendard SemiBold"/>
              <a:ea typeface="Pretendard SemiBold"/>
            </a:endParaRPr>
          </a:p>
        </p:txBody>
      </p:sp>
      <p:sp>
        <p:nvSpPr>
          <p:cNvPr id="399" name="사각형: 둥근 모서리 398">
            <a:extLst>
              <a:ext uri="{FF2B5EF4-FFF2-40B4-BE49-F238E27FC236}">
                <a16:creationId xmlns:a16="http://schemas.microsoft.com/office/drawing/2014/main" id="{625A550E-DD61-31D1-024C-ABFE9CA2AB36}"/>
              </a:ext>
            </a:extLst>
          </p:cNvPr>
          <p:cNvSpPr/>
          <p:nvPr/>
        </p:nvSpPr>
        <p:spPr>
          <a:xfrm>
            <a:off x="19401199" y="7545275"/>
            <a:ext cx="1197693" cy="361393"/>
          </a:xfrm>
          <a:prstGeom prst="roundRect">
            <a:avLst/>
          </a:prstGeom>
          <a:solidFill>
            <a:srgbClr val="1A7A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pc="-100" dirty="0">
                <a:solidFill>
                  <a:schemeClr val="bg1"/>
                </a:solidFill>
                <a:latin typeface="Pretendard SemiBold"/>
                <a:ea typeface="Pretendard SemiBold"/>
              </a:rPr>
              <a:t>IDENTITY</a:t>
            </a:r>
            <a:endParaRPr lang="ko-KR" altLang="en-US" spc="-100" dirty="0">
              <a:solidFill>
                <a:schemeClr val="bg1"/>
              </a:solidFill>
              <a:latin typeface="Pretendard SemiBold"/>
              <a:ea typeface="Pretendard SemiBold"/>
            </a:endParaRPr>
          </a:p>
        </p:txBody>
      </p:sp>
      <p:sp>
        <p:nvSpPr>
          <p:cNvPr id="19" name="TextBox 14">
            <a:extLst>
              <a:ext uri="{FF2B5EF4-FFF2-40B4-BE49-F238E27FC236}">
                <a16:creationId xmlns:a16="http://schemas.microsoft.com/office/drawing/2014/main" id="{DF305433-171D-5845-AC57-9955948C68ED}"/>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0" name="TextBox 14">
            <a:extLst>
              <a:ext uri="{FF2B5EF4-FFF2-40B4-BE49-F238E27FC236}">
                <a16:creationId xmlns:a16="http://schemas.microsoft.com/office/drawing/2014/main" id="{3D9B8FD4-D6DC-F958-B720-F37A695F9E71}"/>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1" name="Picture 2">
            <a:extLst>
              <a:ext uri="{FF2B5EF4-FFF2-40B4-BE49-F238E27FC236}">
                <a16:creationId xmlns:a16="http://schemas.microsoft.com/office/drawing/2014/main" id="{71A0B5F4-4D34-2822-E62D-045807F47767}"/>
              </a:ext>
            </a:extLst>
          </p:cNvPr>
          <p:cNvPicPr>
            <a:picLocks noChangeAspect="1"/>
          </p:cNvPicPr>
          <p:nvPr/>
        </p:nvPicPr>
        <p:blipFill>
          <a:blip r:embed="rId14">
            <a:alphaModFix amt="85000"/>
          </a:blip>
          <a:stretch>
            <a:fillRect/>
          </a:stretch>
        </p:blipFill>
        <p:spPr>
          <a:xfrm>
            <a:off x="11201400" y="558800"/>
            <a:ext cx="2705100" cy="444500"/>
          </a:xfrm>
          <a:prstGeom prst="rect">
            <a:avLst/>
          </a:prstGeom>
        </p:spPr>
      </p:pic>
      <p:sp>
        <p:nvSpPr>
          <p:cNvPr id="22" name="TextBox 16">
            <a:extLst>
              <a:ext uri="{FF2B5EF4-FFF2-40B4-BE49-F238E27FC236}">
                <a16:creationId xmlns:a16="http://schemas.microsoft.com/office/drawing/2014/main" id="{312A9A2B-2FC9-B112-99F9-21C85284242E}"/>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4" name="TextBox 18">
            <a:extLst>
              <a:ext uri="{FF2B5EF4-FFF2-40B4-BE49-F238E27FC236}">
                <a16:creationId xmlns:a16="http://schemas.microsoft.com/office/drawing/2014/main" id="{5FBE433D-D3F2-A35C-BD0D-6E1B62A46969}"/>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25" name="TextBox 19">
            <a:extLst>
              <a:ext uri="{FF2B5EF4-FFF2-40B4-BE49-F238E27FC236}">
                <a16:creationId xmlns:a16="http://schemas.microsoft.com/office/drawing/2014/main" id="{9184206C-FAE8-ED67-E3FA-3C94DF0AD20F}"/>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26" name="TextBox 20">
            <a:extLst>
              <a:ext uri="{FF2B5EF4-FFF2-40B4-BE49-F238E27FC236}">
                <a16:creationId xmlns:a16="http://schemas.microsoft.com/office/drawing/2014/main" id="{9B8B231C-B13F-53F9-A8BC-3B01A84AE78E}"/>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Tree>
    <p:extLst>
      <p:ext uri="{BB962C8B-B14F-4D97-AF65-F5344CB8AC3E}">
        <p14:creationId xmlns:p14="http://schemas.microsoft.com/office/powerpoint/2010/main" val="5544721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a:extLst>
            <a:ext uri="{FF2B5EF4-FFF2-40B4-BE49-F238E27FC236}">
              <a16:creationId xmlns:a16="http://schemas.microsoft.com/office/drawing/2014/main" id="{028ADB3C-B59A-78AE-C03D-B6DA4A3D789F}"/>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4BE936A8-C4EB-7FC9-F50A-019A25C719E6}"/>
              </a:ext>
            </a:extLst>
          </p:cNvPr>
          <p:cNvPicPr>
            <a:picLocks noChangeAspect="1"/>
          </p:cNvPicPr>
          <p:nvPr/>
        </p:nvPicPr>
        <p:blipFill>
          <a:blip r:embed="rId3">
            <a:alphaModFix amt="70000"/>
          </a:blip>
          <a:stretch>
            <a:fillRect/>
          </a:stretch>
        </p:blipFill>
        <p:spPr>
          <a:xfrm>
            <a:off x="16230600" y="-2590800"/>
            <a:ext cx="11442700" cy="11442700"/>
          </a:xfrm>
          <a:prstGeom prst="rect">
            <a:avLst/>
          </a:prstGeom>
        </p:spPr>
      </p:pic>
      <p:pic>
        <p:nvPicPr>
          <p:cNvPr id="36" name="Picture 26">
            <a:extLst>
              <a:ext uri="{FF2B5EF4-FFF2-40B4-BE49-F238E27FC236}">
                <a16:creationId xmlns:a16="http://schemas.microsoft.com/office/drawing/2014/main" id="{5502DBBA-6ABB-A263-A1F5-E6DF1DAAFF2C}"/>
              </a:ext>
            </a:extLst>
          </p:cNvPr>
          <p:cNvPicPr>
            <a:picLocks noChangeAspect="1"/>
          </p:cNvPicPr>
          <p:nvPr/>
        </p:nvPicPr>
        <p:blipFill>
          <a:blip r:embed="rId4"/>
          <a:stretch>
            <a:fillRect/>
          </a:stretch>
        </p:blipFill>
        <p:spPr>
          <a:xfrm>
            <a:off x="13957300" y="4463143"/>
            <a:ext cx="8585200" cy="7062439"/>
          </a:xfrm>
          <a:prstGeom prst="rect">
            <a:avLst/>
          </a:prstGeom>
          <a:effectLst>
            <a:outerShdw blurRad="139700" dist="38100" dir="2700000">
              <a:schemeClr val="tx1">
                <a:alpha val="33000"/>
              </a:schemeClr>
            </a:outerShdw>
          </a:effectLst>
        </p:spPr>
      </p:pic>
      <p:pic>
        <p:nvPicPr>
          <p:cNvPr id="37" name="Picture 26">
            <a:extLst>
              <a:ext uri="{FF2B5EF4-FFF2-40B4-BE49-F238E27FC236}">
                <a16:creationId xmlns:a16="http://schemas.microsoft.com/office/drawing/2014/main" id="{3BABDEE7-BB9D-14D8-6791-F64623E3D8B2}"/>
              </a:ext>
            </a:extLst>
          </p:cNvPr>
          <p:cNvPicPr>
            <a:picLocks noChangeAspect="1"/>
          </p:cNvPicPr>
          <p:nvPr/>
        </p:nvPicPr>
        <p:blipFill>
          <a:blip r:embed="rId4"/>
          <a:stretch>
            <a:fillRect/>
          </a:stretch>
        </p:blipFill>
        <p:spPr>
          <a:xfrm>
            <a:off x="1917700" y="4463143"/>
            <a:ext cx="8585200" cy="7062439"/>
          </a:xfrm>
          <a:prstGeom prst="rect">
            <a:avLst/>
          </a:prstGeom>
          <a:effectLst>
            <a:outerShdw blurRad="139700" dist="38100" dir="2700000">
              <a:schemeClr val="tx1">
                <a:alpha val="33000"/>
              </a:schemeClr>
            </a:outerShdw>
          </a:effectLst>
        </p:spPr>
      </p:pic>
      <p:pic>
        <p:nvPicPr>
          <p:cNvPr id="3" name="Picture 3">
            <a:extLst>
              <a:ext uri="{FF2B5EF4-FFF2-40B4-BE49-F238E27FC236}">
                <a16:creationId xmlns:a16="http://schemas.microsoft.com/office/drawing/2014/main" id="{BE957462-4C19-08C2-30EE-2D3481C414FE}"/>
              </a:ext>
            </a:extLst>
          </p:cNvPr>
          <p:cNvPicPr>
            <a:picLocks noChangeAspect="1"/>
          </p:cNvPicPr>
          <p:nvPr/>
        </p:nvPicPr>
        <p:blipFill>
          <a:blip r:embed="rId5"/>
          <a:stretch>
            <a:fillRect/>
          </a:stretch>
        </p:blipFill>
        <p:spPr>
          <a:xfrm>
            <a:off x="762000" y="1092200"/>
            <a:ext cx="22860000" cy="12700"/>
          </a:xfrm>
          <a:prstGeom prst="rect">
            <a:avLst/>
          </a:prstGeom>
        </p:spPr>
      </p:pic>
      <p:pic>
        <p:nvPicPr>
          <p:cNvPr id="4" name="Picture 4">
            <a:extLst>
              <a:ext uri="{FF2B5EF4-FFF2-40B4-BE49-F238E27FC236}">
                <a16:creationId xmlns:a16="http://schemas.microsoft.com/office/drawing/2014/main" id="{8178E71B-4864-BE78-8C28-6B8E10F18987}"/>
              </a:ext>
            </a:extLst>
          </p:cNvPr>
          <p:cNvPicPr>
            <a:picLocks noChangeAspect="1"/>
          </p:cNvPicPr>
          <p:nvPr/>
        </p:nvPicPr>
        <p:blipFill>
          <a:blip r:embed="rId6"/>
          <a:stretch>
            <a:fillRect/>
          </a:stretch>
        </p:blipFill>
        <p:spPr>
          <a:xfrm rot="5400000">
            <a:off x="3200400" y="787400"/>
            <a:ext cx="635000" cy="12700"/>
          </a:xfrm>
          <a:prstGeom prst="rect">
            <a:avLst/>
          </a:prstGeom>
        </p:spPr>
      </p:pic>
      <p:pic>
        <p:nvPicPr>
          <p:cNvPr id="5" name="Picture 5">
            <a:extLst>
              <a:ext uri="{FF2B5EF4-FFF2-40B4-BE49-F238E27FC236}">
                <a16:creationId xmlns:a16="http://schemas.microsoft.com/office/drawing/2014/main" id="{CA152359-CAD1-8558-AF77-889A48053C29}"/>
              </a:ext>
            </a:extLst>
          </p:cNvPr>
          <p:cNvPicPr>
            <a:picLocks noChangeAspect="1"/>
          </p:cNvPicPr>
          <p:nvPr/>
        </p:nvPicPr>
        <p:blipFill>
          <a:blip r:embed="rId6"/>
          <a:stretch>
            <a:fillRect/>
          </a:stretch>
        </p:blipFill>
        <p:spPr>
          <a:xfrm rot="5400000">
            <a:off x="22225000" y="787400"/>
            <a:ext cx="635000" cy="12700"/>
          </a:xfrm>
          <a:prstGeom prst="rect">
            <a:avLst/>
          </a:prstGeom>
        </p:spPr>
      </p:pic>
      <p:pic>
        <p:nvPicPr>
          <p:cNvPr id="6" name="Picture 6">
            <a:extLst>
              <a:ext uri="{FF2B5EF4-FFF2-40B4-BE49-F238E27FC236}">
                <a16:creationId xmlns:a16="http://schemas.microsoft.com/office/drawing/2014/main" id="{C0E63B9C-E9A4-D94F-E91F-EBBE50A0CEFB}"/>
              </a:ext>
            </a:extLst>
          </p:cNvPr>
          <p:cNvPicPr>
            <a:picLocks noChangeAspect="1"/>
          </p:cNvPicPr>
          <p:nvPr/>
        </p:nvPicPr>
        <p:blipFill>
          <a:blip r:embed="rId6"/>
          <a:stretch>
            <a:fillRect/>
          </a:stretch>
        </p:blipFill>
        <p:spPr>
          <a:xfrm rot="5400000">
            <a:off x="6337300" y="787400"/>
            <a:ext cx="635000" cy="12700"/>
          </a:xfrm>
          <a:prstGeom prst="rect">
            <a:avLst/>
          </a:prstGeom>
        </p:spPr>
      </p:pic>
      <p:pic>
        <p:nvPicPr>
          <p:cNvPr id="7" name="Picture 7">
            <a:extLst>
              <a:ext uri="{FF2B5EF4-FFF2-40B4-BE49-F238E27FC236}">
                <a16:creationId xmlns:a16="http://schemas.microsoft.com/office/drawing/2014/main" id="{82C007C7-EF2C-403C-AFCE-1961637522D3}"/>
              </a:ext>
            </a:extLst>
          </p:cNvPr>
          <p:cNvPicPr>
            <a:picLocks noChangeAspect="1"/>
          </p:cNvPicPr>
          <p:nvPr/>
        </p:nvPicPr>
        <p:blipFill>
          <a:blip r:embed="rId5"/>
          <a:stretch>
            <a:fillRect/>
          </a:stretch>
        </p:blipFill>
        <p:spPr>
          <a:xfrm>
            <a:off x="723900" y="457200"/>
            <a:ext cx="22860000" cy="12700"/>
          </a:xfrm>
          <a:prstGeom prst="rect">
            <a:avLst/>
          </a:prstGeom>
        </p:spPr>
      </p:pic>
      <p:pic>
        <p:nvPicPr>
          <p:cNvPr id="10" name="Picture 10">
            <a:extLst>
              <a:ext uri="{FF2B5EF4-FFF2-40B4-BE49-F238E27FC236}">
                <a16:creationId xmlns:a16="http://schemas.microsoft.com/office/drawing/2014/main" id="{145C41BC-92AA-2F5F-5C96-1C8A879DD873}"/>
              </a:ext>
            </a:extLst>
          </p:cNvPr>
          <p:cNvPicPr>
            <a:picLocks noChangeAspect="1"/>
          </p:cNvPicPr>
          <p:nvPr/>
        </p:nvPicPr>
        <p:blipFill>
          <a:blip r:embed="rId7"/>
          <a:stretch>
            <a:fillRect/>
          </a:stretch>
        </p:blipFill>
        <p:spPr>
          <a:xfrm>
            <a:off x="1485900" y="1612900"/>
            <a:ext cx="88900" cy="850900"/>
          </a:xfrm>
          <a:prstGeom prst="rect">
            <a:avLst/>
          </a:prstGeom>
        </p:spPr>
      </p:pic>
      <p:sp>
        <p:nvSpPr>
          <p:cNvPr id="11" name="TextBox 11">
            <a:extLst>
              <a:ext uri="{FF2B5EF4-FFF2-40B4-BE49-F238E27FC236}">
                <a16:creationId xmlns:a16="http://schemas.microsoft.com/office/drawing/2014/main" id="{CFF59277-4ABB-31D7-48D1-4E311FA7320D}"/>
              </a:ext>
            </a:extLst>
          </p:cNvPr>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81</a:t>
            </a:r>
          </a:p>
        </p:txBody>
      </p:sp>
      <p:sp>
        <p:nvSpPr>
          <p:cNvPr id="18" name="TextBox 18">
            <a:extLst>
              <a:ext uri="{FF2B5EF4-FFF2-40B4-BE49-F238E27FC236}">
                <a16:creationId xmlns:a16="http://schemas.microsoft.com/office/drawing/2014/main" id="{5D512DB7-E6BF-D56E-02BB-3FB66326E6A7}"/>
              </a:ext>
            </a:extLst>
          </p:cNvPr>
          <p:cNvSpPr txBox="1"/>
          <p:nvPr/>
        </p:nvSpPr>
        <p:spPr>
          <a:xfrm>
            <a:off x="1943100" y="1409700"/>
            <a:ext cx="20281900" cy="1257300"/>
          </a:xfrm>
          <a:prstGeom prst="rect">
            <a:avLst/>
          </a:prstGeom>
        </p:spPr>
        <p:txBody>
          <a:bodyPr lIns="0" tIns="44874" rIns="0" bIns="0" rtlCol="0" anchor="t"/>
          <a:lstStyle/>
          <a:p>
            <a:pPr lvl="0" algn="l">
              <a:lnSpc>
                <a:spcPct val="107899"/>
              </a:lnSpc>
            </a:pPr>
            <a:r>
              <a:rPr lang="ko-KR" altLang="en-US" sz="7066" b="0" i="0" u="none" strike="noStrike" spc="-300" dirty="0">
                <a:solidFill>
                  <a:srgbClr val="000000"/>
                </a:solidFill>
                <a:latin typeface="Pretendard SemiBold"/>
                <a:ea typeface="Pretendard SemiBold"/>
                <a:cs typeface="Pretendard SemiBold"/>
              </a:rPr>
              <a:t>시나리오 보안 대책</a:t>
            </a:r>
            <a:endParaRPr lang="en-US" sz="7066" b="0" i="0" u="none" strike="noStrike" spc="-300" dirty="0">
              <a:solidFill>
                <a:srgbClr val="000000"/>
              </a:solidFill>
              <a:latin typeface="Pretendard SemiBold"/>
              <a:ea typeface="Pretendard SemiBold"/>
              <a:cs typeface="Pretendard SemiBold"/>
            </a:endParaRPr>
          </a:p>
        </p:txBody>
      </p:sp>
      <p:sp>
        <p:nvSpPr>
          <p:cNvPr id="20" name="TextBox 14">
            <a:extLst>
              <a:ext uri="{FF2B5EF4-FFF2-40B4-BE49-F238E27FC236}">
                <a16:creationId xmlns:a16="http://schemas.microsoft.com/office/drawing/2014/main" id="{B1E789F3-0EB0-14F1-C3A7-61071EE332CB}"/>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1" name="TextBox 14">
            <a:extLst>
              <a:ext uri="{FF2B5EF4-FFF2-40B4-BE49-F238E27FC236}">
                <a16:creationId xmlns:a16="http://schemas.microsoft.com/office/drawing/2014/main" id="{3EA08931-2111-9624-CE49-EE046805A63C}"/>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6" name="Picture 2">
            <a:extLst>
              <a:ext uri="{FF2B5EF4-FFF2-40B4-BE49-F238E27FC236}">
                <a16:creationId xmlns:a16="http://schemas.microsoft.com/office/drawing/2014/main" id="{18976860-E659-3B2E-772F-6702F7DB5E3D}"/>
              </a:ext>
            </a:extLst>
          </p:cNvPr>
          <p:cNvPicPr>
            <a:picLocks noChangeAspect="1"/>
          </p:cNvPicPr>
          <p:nvPr/>
        </p:nvPicPr>
        <p:blipFill>
          <a:blip r:embed="rId8">
            <a:alphaModFix amt="85000"/>
          </a:blip>
          <a:stretch>
            <a:fillRect/>
          </a:stretch>
        </p:blipFill>
        <p:spPr>
          <a:xfrm>
            <a:off x="11201400" y="558800"/>
            <a:ext cx="2705100" cy="444500"/>
          </a:xfrm>
          <a:prstGeom prst="rect">
            <a:avLst/>
          </a:prstGeom>
        </p:spPr>
      </p:pic>
      <p:sp>
        <p:nvSpPr>
          <p:cNvPr id="27" name="TextBox 16">
            <a:extLst>
              <a:ext uri="{FF2B5EF4-FFF2-40B4-BE49-F238E27FC236}">
                <a16:creationId xmlns:a16="http://schemas.microsoft.com/office/drawing/2014/main" id="{187052CA-EBFB-0B03-4DA1-A5CB3FCB03CF}"/>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8" name="TextBox 18">
            <a:extLst>
              <a:ext uri="{FF2B5EF4-FFF2-40B4-BE49-F238E27FC236}">
                <a16:creationId xmlns:a16="http://schemas.microsoft.com/office/drawing/2014/main" id="{0BD324A7-1D66-B1FB-0BE6-B20EFF7C4AE5}"/>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30" name="TextBox 19">
            <a:extLst>
              <a:ext uri="{FF2B5EF4-FFF2-40B4-BE49-F238E27FC236}">
                <a16:creationId xmlns:a16="http://schemas.microsoft.com/office/drawing/2014/main" id="{5CBB4E67-02DF-F9B8-5E76-92FBEBAEA642}"/>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31" name="TextBox 20">
            <a:extLst>
              <a:ext uri="{FF2B5EF4-FFF2-40B4-BE49-F238E27FC236}">
                <a16:creationId xmlns:a16="http://schemas.microsoft.com/office/drawing/2014/main" id="{16325BFE-40C2-CCA4-3EFF-B88E1B5A9BEE}"/>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
        <p:nvSpPr>
          <p:cNvPr id="8" name="TextBox 7">
            <a:extLst>
              <a:ext uri="{FF2B5EF4-FFF2-40B4-BE49-F238E27FC236}">
                <a16:creationId xmlns:a16="http://schemas.microsoft.com/office/drawing/2014/main" id="{2AF9DC09-A589-354C-9D4C-1A262568ABA8}"/>
              </a:ext>
            </a:extLst>
          </p:cNvPr>
          <p:cNvSpPr txBox="1"/>
          <p:nvPr/>
        </p:nvSpPr>
        <p:spPr>
          <a:xfrm>
            <a:off x="1808480" y="4787900"/>
            <a:ext cx="6451600" cy="520700"/>
          </a:xfrm>
          <a:prstGeom prst="rect">
            <a:avLst/>
          </a:prstGeom>
        </p:spPr>
        <p:txBody>
          <a:bodyPr lIns="0" tIns="0" rIns="0" bIns="0" rtlCol="0" anchor="t"/>
          <a:lstStyle/>
          <a:p>
            <a:pPr lvl="0" algn="ctr">
              <a:lnSpc>
                <a:spcPct val="116199"/>
              </a:lnSpc>
            </a:pPr>
            <a:endParaRPr lang="en-US" sz="2933" b="0" i="0" u="none" strike="noStrike" dirty="0">
              <a:solidFill>
                <a:srgbClr val="000000"/>
              </a:solidFill>
              <a:latin typeface="Pretendard Bold"/>
              <a:ea typeface="Pretendard Bold"/>
              <a:cs typeface="Pretendard Bold"/>
            </a:endParaRPr>
          </a:p>
        </p:txBody>
      </p:sp>
      <p:sp>
        <p:nvSpPr>
          <p:cNvPr id="9" name="TextBox 8">
            <a:extLst>
              <a:ext uri="{FF2B5EF4-FFF2-40B4-BE49-F238E27FC236}">
                <a16:creationId xmlns:a16="http://schemas.microsoft.com/office/drawing/2014/main" id="{F8BB723C-44E5-7C88-27F6-F7981232D387}"/>
              </a:ext>
            </a:extLst>
          </p:cNvPr>
          <p:cNvSpPr txBox="1"/>
          <p:nvPr/>
        </p:nvSpPr>
        <p:spPr>
          <a:xfrm>
            <a:off x="2316480" y="5651500"/>
            <a:ext cx="7391400" cy="5791200"/>
          </a:xfrm>
          <a:prstGeom prst="rect">
            <a:avLst/>
          </a:prstGeom>
        </p:spPr>
        <p:txBody>
          <a:bodyPr lIns="0" tIns="0" rIns="0" bIns="0" rtlCol="0" anchor="t"/>
          <a:lstStyle/>
          <a:p>
            <a:pPr lvl="0">
              <a:lnSpc>
                <a:spcPct val="116199"/>
              </a:lnSpc>
            </a:pPr>
            <a:r>
              <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1.</a:t>
            </a: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 지능형 우회 공격 원천 차단</a:t>
            </a:r>
            <a:endPar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endParaRPr>
          </a:p>
          <a:p>
            <a:pPr lvl="0">
              <a:lnSpc>
                <a:spcPct val="116199"/>
              </a:lnSpc>
            </a:pPr>
            <a:r>
              <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n8n </a:t>
            </a: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무력화 등 자동화 솔루션을 우회화는 위장 공격을 보안 전문가의 분석과 판단으로 정확히 식별함</a:t>
            </a:r>
            <a:br>
              <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br>
            <a:endPar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endParaRPr>
          </a:p>
          <a:p>
            <a:pPr lvl="0">
              <a:lnSpc>
                <a:spcPct val="116199"/>
              </a:lnSpc>
            </a:pPr>
            <a:r>
              <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2. </a:t>
            </a: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체류 시간 단축</a:t>
            </a:r>
            <a:endPar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endParaRPr>
          </a:p>
          <a:p>
            <a:pPr lvl="0">
              <a:lnSpc>
                <a:spcPct val="116199"/>
              </a:lnSpc>
            </a:pP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해커의 침투부터 유출까지의 시간을 분 단위로 단축해 핵심 고객 데이터와 금융 자산을 완벽히 보호함</a:t>
            </a:r>
            <a:endPar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endParaRPr>
          </a:p>
          <a:p>
            <a:pPr lvl="0">
              <a:lnSpc>
                <a:spcPct val="116199"/>
              </a:lnSpc>
            </a:pPr>
            <a:endParaRPr lang="en-US" altLang="ko-KR" sz="2500" i="0" u="none" strike="noStrike"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endParaRPr>
          </a:p>
          <a:p>
            <a:pPr lvl="0">
              <a:lnSpc>
                <a:spcPct val="116199"/>
              </a:lnSpc>
            </a:pPr>
            <a:r>
              <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3. 24/7 </a:t>
            </a: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대응 체계</a:t>
            </a:r>
            <a:endPar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endParaRPr>
          </a:p>
          <a:p>
            <a:pPr lvl="0">
              <a:lnSpc>
                <a:spcPct val="116199"/>
              </a:lnSpc>
            </a:pPr>
            <a:r>
              <a:rPr lang="ko-KR" altLang="en-US" sz="2500" i="0" u="none" strike="noStrike"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심야 시간대 관리자 부재를 노린 빈틈 공격에 연중 무휴 실시간으로 즉각 대응함</a:t>
            </a:r>
            <a:endParaRPr lang="en-US" sz="2500" i="0" u="none" strike="noStrike"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endParaRPr>
          </a:p>
        </p:txBody>
      </p:sp>
      <p:sp>
        <p:nvSpPr>
          <p:cNvPr id="12" name="TextBox 25">
            <a:extLst>
              <a:ext uri="{FF2B5EF4-FFF2-40B4-BE49-F238E27FC236}">
                <a16:creationId xmlns:a16="http://schemas.microsoft.com/office/drawing/2014/main" id="{E6E834BB-B0F6-457C-B0F8-C12C02BCF14B}"/>
              </a:ext>
            </a:extLst>
          </p:cNvPr>
          <p:cNvSpPr txBox="1"/>
          <p:nvPr/>
        </p:nvSpPr>
        <p:spPr>
          <a:xfrm>
            <a:off x="1795780" y="4786630"/>
            <a:ext cx="8559800" cy="520700"/>
          </a:xfrm>
          <a:prstGeom prst="rect">
            <a:avLst/>
          </a:prstGeom>
        </p:spPr>
        <p:txBody>
          <a:bodyPr lIns="0" tIns="0" rIns="0" bIns="0" rtlCol="0" anchor="t"/>
          <a:lstStyle/>
          <a:p>
            <a:pPr lvl="0" algn="ctr">
              <a:lnSpc>
                <a:spcPct val="116199"/>
              </a:lnSpc>
            </a:pPr>
            <a:r>
              <a:rPr lang="en-US" sz="2933" dirty="0">
                <a:solidFill>
                  <a:srgbClr val="000000"/>
                </a:solidFill>
                <a:latin typeface="Pretendard Bold"/>
                <a:ea typeface="Pretendard Bold"/>
                <a:cs typeface="Pretendard Bold"/>
              </a:rPr>
              <a:t>MDR </a:t>
            </a:r>
            <a:r>
              <a:rPr lang="ko-KR" altLang="en-US" sz="2933" dirty="0">
                <a:solidFill>
                  <a:srgbClr val="000000"/>
                </a:solidFill>
                <a:latin typeface="Pretendard Bold"/>
                <a:ea typeface="Pretendard Bold"/>
                <a:cs typeface="Pretendard Bold"/>
              </a:rPr>
              <a:t>적용 필요성</a:t>
            </a:r>
            <a:endParaRPr lang="en-US" sz="2933" b="0" i="0" u="none" strike="noStrike" dirty="0">
              <a:solidFill>
                <a:srgbClr val="000000"/>
              </a:solidFill>
              <a:latin typeface="Pretendard Bold"/>
              <a:ea typeface="Pretendard Bold"/>
              <a:cs typeface="Pretendard Bold"/>
            </a:endParaRPr>
          </a:p>
        </p:txBody>
      </p:sp>
      <p:sp>
        <p:nvSpPr>
          <p:cNvPr id="14" name="TextBox 13">
            <a:extLst>
              <a:ext uri="{FF2B5EF4-FFF2-40B4-BE49-F238E27FC236}">
                <a16:creationId xmlns:a16="http://schemas.microsoft.com/office/drawing/2014/main" id="{D31C91D5-6C7F-E6A2-F923-6003C26F49D3}"/>
              </a:ext>
            </a:extLst>
          </p:cNvPr>
          <p:cNvSpPr txBox="1"/>
          <p:nvPr/>
        </p:nvSpPr>
        <p:spPr>
          <a:xfrm>
            <a:off x="13938250" y="4787900"/>
            <a:ext cx="6451600" cy="520700"/>
          </a:xfrm>
          <a:prstGeom prst="rect">
            <a:avLst/>
          </a:prstGeom>
        </p:spPr>
        <p:txBody>
          <a:bodyPr lIns="0" tIns="0" rIns="0" bIns="0" rtlCol="0" anchor="t"/>
          <a:lstStyle/>
          <a:p>
            <a:pPr lvl="0" algn="ctr">
              <a:lnSpc>
                <a:spcPct val="116199"/>
              </a:lnSpc>
            </a:pPr>
            <a:endParaRPr lang="en-US" sz="2933" b="0" i="0" u="none" strike="noStrike" dirty="0">
              <a:solidFill>
                <a:srgbClr val="000000"/>
              </a:solidFill>
              <a:latin typeface="Pretendard Bold"/>
              <a:ea typeface="Pretendard Bold"/>
              <a:cs typeface="Pretendard Bold"/>
            </a:endParaRPr>
          </a:p>
        </p:txBody>
      </p:sp>
      <p:sp>
        <p:nvSpPr>
          <p:cNvPr id="15" name="TextBox 14">
            <a:extLst>
              <a:ext uri="{FF2B5EF4-FFF2-40B4-BE49-F238E27FC236}">
                <a16:creationId xmlns:a16="http://schemas.microsoft.com/office/drawing/2014/main" id="{3EA871BC-2FEC-D745-252B-9DFB84F078EE}"/>
              </a:ext>
            </a:extLst>
          </p:cNvPr>
          <p:cNvSpPr txBox="1"/>
          <p:nvPr/>
        </p:nvSpPr>
        <p:spPr>
          <a:xfrm>
            <a:off x="14589038" y="5651500"/>
            <a:ext cx="7353301" cy="5791200"/>
          </a:xfrm>
          <a:prstGeom prst="rect">
            <a:avLst/>
          </a:prstGeom>
        </p:spPr>
        <p:txBody>
          <a:bodyPr lIns="0" tIns="0" rIns="0" bIns="0" rtlCol="0" anchor="t"/>
          <a:lstStyle/>
          <a:p>
            <a:pPr lvl="0">
              <a:lnSpc>
                <a:spcPct val="116199"/>
              </a:lnSpc>
            </a:pPr>
            <a:r>
              <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4. </a:t>
            </a: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능동적 위협 사냥</a:t>
            </a:r>
            <a:endPar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endParaRPr>
          </a:p>
          <a:p>
            <a:pPr lvl="0">
              <a:lnSpc>
                <a:spcPct val="116199"/>
              </a:lnSpc>
            </a:pPr>
            <a:r>
              <a:rPr lang="en-US" altLang="ko-KR" sz="2500" dirty="0" err="1">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WingFTP</a:t>
            </a:r>
            <a:r>
              <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 </a:t>
            </a: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취약점을 통한 </a:t>
            </a:r>
            <a:r>
              <a:rPr lang="ko-KR" altLang="en-US" sz="2500" dirty="0" err="1">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내부망</a:t>
            </a: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 이동 시도 전</a:t>
            </a:r>
            <a:r>
              <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 </a:t>
            </a: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미세한 잠복 흔적을 선제적으로 찾아 제거함</a:t>
            </a:r>
            <a:br>
              <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br>
            <a:endPar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endParaRPr>
          </a:p>
          <a:p>
            <a:pPr lvl="0">
              <a:lnSpc>
                <a:spcPct val="116199"/>
              </a:lnSpc>
            </a:pPr>
            <a:r>
              <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5. </a:t>
            </a: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실시간 원격 격리 및 조치</a:t>
            </a:r>
            <a:endPar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endParaRPr>
          </a:p>
          <a:p>
            <a:pPr lvl="0">
              <a:lnSpc>
                <a:spcPct val="116199"/>
              </a:lnSpc>
            </a:pP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보이스피싱 및 </a:t>
            </a:r>
            <a:r>
              <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DB </a:t>
            </a: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탈취 감지 즉시 세션 강제 로그아웃 및 네트워크를 원격 격리하여 </a:t>
            </a:r>
            <a:r>
              <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2</a:t>
            </a: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차 피해 확산을 차단함</a:t>
            </a:r>
            <a:endPar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endParaRPr>
          </a:p>
          <a:p>
            <a:pPr lvl="0">
              <a:lnSpc>
                <a:spcPct val="116199"/>
              </a:lnSpc>
            </a:pPr>
            <a:endPar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endParaRPr>
          </a:p>
        </p:txBody>
      </p:sp>
      <p:sp>
        <p:nvSpPr>
          <p:cNvPr id="17" name="TextBox 25">
            <a:extLst>
              <a:ext uri="{FF2B5EF4-FFF2-40B4-BE49-F238E27FC236}">
                <a16:creationId xmlns:a16="http://schemas.microsoft.com/office/drawing/2014/main" id="{8C0C909B-1CA3-C52E-1927-F9144B0F11E6}"/>
              </a:ext>
            </a:extLst>
          </p:cNvPr>
          <p:cNvSpPr txBox="1"/>
          <p:nvPr/>
        </p:nvSpPr>
        <p:spPr>
          <a:xfrm>
            <a:off x="13925550" y="4786630"/>
            <a:ext cx="8559800" cy="520700"/>
          </a:xfrm>
          <a:prstGeom prst="rect">
            <a:avLst/>
          </a:prstGeom>
        </p:spPr>
        <p:txBody>
          <a:bodyPr lIns="0" tIns="0" rIns="0" bIns="0" rtlCol="0" anchor="t"/>
          <a:lstStyle/>
          <a:p>
            <a:pPr lvl="0" algn="ctr">
              <a:lnSpc>
                <a:spcPct val="116199"/>
              </a:lnSpc>
            </a:pPr>
            <a:r>
              <a:rPr lang="en-US" sz="2933" dirty="0">
                <a:solidFill>
                  <a:srgbClr val="000000"/>
                </a:solidFill>
                <a:latin typeface="Pretendard Bold"/>
                <a:ea typeface="Pretendard Bold"/>
                <a:cs typeface="Pretendard Bold"/>
              </a:rPr>
              <a:t>MDR</a:t>
            </a:r>
            <a:r>
              <a:rPr lang="ko-KR" altLang="en-US" sz="2933" dirty="0">
                <a:solidFill>
                  <a:srgbClr val="000000"/>
                </a:solidFill>
                <a:latin typeface="Pretendard Bold"/>
                <a:ea typeface="Pretendard Bold"/>
                <a:cs typeface="Pretendard Bold"/>
              </a:rPr>
              <a:t> 적용 필요성</a:t>
            </a:r>
            <a:endParaRPr lang="en-US" sz="2933" b="0" i="0" u="none" strike="noStrike" dirty="0">
              <a:solidFill>
                <a:srgbClr val="000000"/>
              </a:solidFill>
              <a:latin typeface="Pretendard Bold"/>
              <a:ea typeface="Pretendard Bold"/>
              <a:cs typeface="Pretendard Bold"/>
            </a:endParaRPr>
          </a:p>
        </p:txBody>
      </p:sp>
      <p:sp>
        <p:nvSpPr>
          <p:cNvPr id="32" name="TextBox 18">
            <a:extLst>
              <a:ext uri="{FF2B5EF4-FFF2-40B4-BE49-F238E27FC236}">
                <a16:creationId xmlns:a16="http://schemas.microsoft.com/office/drawing/2014/main" id="{4021B9CB-DFC4-CB90-0AB1-FAF340FCCD33}"/>
              </a:ext>
            </a:extLst>
          </p:cNvPr>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dirty="0">
                <a:solidFill>
                  <a:srgbClr val="000000"/>
                </a:solidFill>
                <a:latin typeface="Pretendard Bold" panose="020B0600000101010101" charset="-127"/>
                <a:ea typeface="Pretendard Bold" panose="020B0600000101010101" charset="-127"/>
                <a:cs typeface="Pretendard Bold" panose="020B0600000101010101" charset="-127"/>
              </a:rPr>
              <a:t>M</a:t>
            </a:r>
            <a:r>
              <a:rPr lang="en-US" sz="3333" b="0" i="0" u="none" strike="noStrike" dirty="0">
                <a:solidFill>
                  <a:srgbClr val="000000"/>
                </a:solidFill>
                <a:latin typeface="Pretendard Bold" panose="020B0600000101010101" charset="-127"/>
                <a:ea typeface="Pretendard Bold" panose="020B0600000101010101" charset="-127"/>
                <a:cs typeface="Pretendard Bold" panose="020B0600000101010101" charset="-127"/>
              </a:rPr>
              <a:t>DR (</a:t>
            </a:r>
            <a:r>
              <a:rPr lang="en-US" sz="3333" dirty="0">
                <a:solidFill>
                  <a:srgbClr val="000000"/>
                </a:solidFill>
                <a:latin typeface="Pretendard Bold" panose="020B0600000101010101" charset="-127"/>
                <a:ea typeface="Pretendard Bold" panose="020B0600000101010101" charset="-127"/>
                <a:cs typeface="Pretendard Bold" panose="020B0600000101010101" charset="-127"/>
              </a:rPr>
              <a:t>Managed</a:t>
            </a:r>
            <a:r>
              <a:rPr lang="en-US" sz="3333" b="0" i="0" u="none" strike="noStrike" dirty="0">
                <a:solidFill>
                  <a:srgbClr val="000000"/>
                </a:solidFill>
                <a:latin typeface="Pretendard Bold" panose="020B0600000101010101" charset="-127"/>
                <a:ea typeface="Pretendard Bold" panose="020B0600000101010101" charset="-127"/>
                <a:cs typeface="Pretendard Bold" panose="020B0600000101010101" charset="-127"/>
              </a:rPr>
              <a:t> Detection and Response)</a:t>
            </a:r>
          </a:p>
        </p:txBody>
      </p:sp>
    </p:spTree>
    <p:extLst>
      <p:ext uri="{BB962C8B-B14F-4D97-AF65-F5344CB8AC3E}">
        <p14:creationId xmlns:p14="http://schemas.microsoft.com/office/powerpoint/2010/main" val="153787593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a:extLst>
            <a:ext uri="{FF2B5EF4-FFF2-40B4-BE49-F238E27FC236}">
              <a16:creationId xmlns:a16="http://schemas.microsoft.com/office/drawing/2014/main" id="{B48B0414-159A-BD32-0386-E140CA69FB92}"/>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0066139C-70BB-00EB-5684-46F106BC64E2}"/>
              </a:ext>
            </a:extLst>
          </p:cNvPr>
          <p:cNvPicPr>
            <a:picLocks noChangeAspect="1"/>
          </p:cNvPicPr>
          <p:nvPr/>
        </p:nvPicPr>
        <p:blipFill>
          <a:blip r:embed="rId3">
            <a:alphaModFix amt="70000"/>
          </a:blip>
          <a:stretch>
            <a:fillRect/>
          </a:stretch>
        </p:blipFill>
        <p:spPr>
          <a:xfrm>
            <a:off x="16230600" y="-2590800"/>
            <a:ext cx="11442700" cy="11442700"/>
          </a:xfrm>
          <a:prstGeom prst="rect">
            <a:avLst/>
          </a:prstGeom>
        </p:spPr>
      </p:pic>
      <p:pic>
        <p:nvPicPr>
          <p:cNvPr id="36" name="Picture 26">
            <a:extLst>
              <a:ext uri="{FF2B5EF4-FFF2-40B4-BE49-F238E27FC236}">
                <a16:creationId xmlns:a16="http://schemas.microsoft.com/office/drawing/2014/main" id="{32D3C35B-1EC6-03E7-0272-662B00E1E943}"/>
              </a:ext>
            </a:extLst>
          </p:cNvPr>
          <p:cNvPicPr>
            <a:picLocks noChangeAspect="1"/>
          </p:cNvPicPr>
          <p:nvPr/>
        </p:nvPicPr>
        <p:blipFill>
          <a:blip r:embed="rId4"/>
          <a:stretch>
            <a:fillRect/>
          </a:stretch>
        </p:blipFill>
        <p:spPr>
          <a:xfrm>
            <a:off x="13957300" y="4463143"/>
            <a:ext cx="8585200" cy="7062439"/>
          </a:xfrm>
          <a:prstGeom prst="rect">
            <a:avLst/>
          </a:prstGeom>
          <a:effectLst>
            <a:outerShdw blurRad="139700" dist="38100" dir="2700000">
              <a:schemeClr val="tx1">
                <a:alpha val="33000"/>
              </a:schemeClr>
            </a:outerShdw>
          </a:effectLst>
        </p:spPr>
      </p:pic>
      <p:pic>
        <p:nvPicPr>
          <p:cNvPr id="37" name="Picture 26">
            <a:extLst>
              <a:ext uri="{FF2B5EF4-FFF2-40B4-BE49-F238E27FC236}">
                <a16:creationId xmlns:a16="http://schemas.microsoft.com/office/drawing/2014/main" id="{56F7F9F2-CE8C-166C-AB81-2A4E8071196A}"/>
              </a:ext>
            </a:extLst>
          </p:cNvPr>
          <p:cNvPicPr>
            <a:picLocks noChangeAspect="1"/>
          </p:cNvPicPr>
          <p:nvPr/>
        </p:nvPicPr>
        <p:blipFill>
          <a:blip r:embed="rId4"/>
          <a:stretch>
            <a:fillRect/>
          </a:stretch>
        </p:blipFill>
        <p:spPr>
          <a:xfrm>
            <a:off x="1917700" y="4463143"/>
            <a:ext cx="8585200" cy="7062439"/>
          </a:xfrm>
          <a:prstGeom prst="rect">
            <a:avLst/>
          </a:prstGeom>
          <a:effectLst>
            <a:outerShdw blurRad="139700" dist="38100" dir="2700000">
              <a:schemeClr val="tx1">
                <a:alpha val="33000"/>
              </a:schemeClr>
            </a:outerShdw>
          </a:effectLst>
        </p:spPr>
      </p:pic>
      <p:pic>
        <p:nvPicPr>
          <p:cNvPr id="3" name="Picture 3">
            <a:extLst>
              <a:ext uri="{FF2B5EF4-FFF2-40B4-BE49-F238E27FC236}">
                <a16:creationId xmlns:a16="http://schemas.microsoft.com/office/drawing/2014/main" id="{CB8CA315-935A-A7E0-11DE-25F777CE8916}"/>
              </a:ext>
            </a:extLst>
          </p:cNvPr>
          <p:cNvPicPr>
            <a:picLocks noChangeAspect="1"/>
          </p:cNvPicPr>
          <p:nvPr/>
        </p:nvPicPr>
        <p:blipFill>
          <a:blip r:embed="rId5"/>
          <a:stretch>
            <a:fillRect/>
          </a:stretch>
        </p:blipFill>
        <p:spPr>
          <a:xfrm>
            <a:off x="762000" y="1092200"/>
            <a:ext cx="22860000" cy="12700"/>
          </a:xfrm>
          <a:prstGeom prst="rect">
            <a:avLst/>
          </a:prstGeom>
        </p:spPr>
      </p:pic>
      <p:pic>
        <p:nvPicPr>
          <p:cNvPr id="4" name="Picture 4">
            <a:extLst>
              <a:ext uri="{FF2B5EF4-FFF2-40B4-BE49-F238E27FC236}">
                <a16:creationId xmlns:a16="http://schemas.microsoft.com/office/drawing/2014/main" id="{16DD9342-7964-882F-60F7-6B219815D682}"/>
              </a:ext>
            </a:extLst>
          </p:cNvPr>
          <p:cNvPicPr>
            <a:picLocks noChangeAspect="1"/>
          </p:cNvPicPr>
          <p:nvPr/>
        </p:nvPicPr>
        <p:blipFill>
          <a:blip r:embed="rId6"/>
          <a:stretch>
            <a:fillRect/>
          </a:stretch>
        </p:blipFill>
        <p:spPr>
          <a:xfrm rot="5400000">
            <a:off x="3200400" y="787400"/>
            <a:ext cx="635000" cy="12700"/>
          </a:xfrm>
          <a:prstGeom prst="rect">
            <a:avLst/>
          </a:prstGeom>
        </p:spPr>
      </p:pic>
      <p:pic>
        <p:nvPicPr>
          <p:cNvPr id="5" name="Picture 5">
            <a:extLst>
              <a:ext uri="{FF2B5EF4-FFF2-40B4-BE49-F238E27FC236}">
                <a16:creationId xmlns:a16="http://schemas.microsoft.com/office/drawing/2014/main" id="{AD767685-B069-F0E3-3808-674631360180}"/>
              </a:ext>
            </a:extLst>
          </p:cNvPr>
          <p:cNvPicPr>
            <a:picLocks noChangeAspect="1"/>
          </p:cNvPicPr>
          <p:nvPr/>
        </p:nvPicPr>
        <p:blipFill>
          <a:blip r:embed="rId6"/>
          <a:stretch>
            <a:fillRect/>
          </a:stretch>
        </p:blipFill>
        <p:spPr>
          <a:xfrm rot="5400000">
            <a:off x="22225000" y="787400"/>
            <a:ext cx="635000" cy="12700"/>
          </a:xfrm>
          <a:prstGeom prst="rect">
            <a:avLst/>
          </a:prstGeom>
        </p:spPr>
      </p:pic>
      <p:pic>
        <p:nvPicPr>
          <p:cNvPr id="6" name="Picture 6">
            <a:extLst>
              <a:ext uri="{FF2B5EF4-FFF2-40B4-BE49-F238E27FC236}">
                <a16:creationId xmlns:a16="http://schemas.microsoft.com/office/drawing/2014/main" id="{BA47EF23-2DBC-1745-D74C-61C5FF8A0ECA}"/>
              </a:ext>
            </a:extLst>
          </p:cNvPr>
          <p:cNvPicPr>
            <a:picLocks noChangeAspect="1"/>
          </p:cNvPicPr>
          <p:nvPr/>
        </p:nvPicPr>
        <p:blipFill>
          <a:blip r:embed="rId6"/>
          <a:stretch>
            <a:fillRect/>
          </a:stretch>
        </p:blipFill>
        <p:spPr>
          <a:xfrm rot="5400000">
            <a:off x="6337300" y="787400"/>
            <a:ext cx="635000" cy="12700"/>
          </a:xfrm>
          <a:prstGeom prst="rect">
            <a:avLst/>
          </a:prstGeom>
        </p:spPr>
      </p:pic>
      <p:pic>
        <p:nvPicPr>
          <p:cNvPr id="7" name="Picture 7">
            <a:extLst>
              <a:ext uri="{FF2B5EF4-FFF2-40B4-BE49-F238E27FC236}">
                <a16:creationId xmlns:a16="http://schemas.microsoft.com/office/drawing/2014/main" id="{7214ABDB-E89D-19BB-2174-B8849F893CFF}"/>
              </a:ext>
            </a:extLst>
          </p:cNvPr>
          <p:cNvPicPr>
            <a:picLocks noChangeAspect="1"/>
          </p:cNvPicPr>
          <p:nvPr/>
        </p:nvPicPr>
        <p:blipFill>
          <a:blip r:embed="rId5"/>
          <a:stretch>
            <a:fillRect/>
          </a:stretch>
        </p:blipFill>
        <p:spPr>
          <a:xfrm>
            <a:off x="723900" y="457200"/>
            <a:ext cx="22860000" cy="12700"/>
          </a:xfrm>
          <a:prstGeom prst="rect">
            <a:avLst/>
          </a:prstGeom>
        </p:spPr>
      </p:pic>
      <p:pic>
        <p:nvPicPr>
          <p:cNvPr id="10" name="Picture 10">
            <a:extLst>
              <a:ext uri="{FF2B5EF4-FFF2-40B4-BE49-F238E27FC236}">
                <a16:creationId xmlns:a16="http://schemas.microsoft.com/office/drawing/2014/main" id="{B0C4FDA2-0FCB-A03D-DD27-B629FA2AA2BC}"/>
              </a:ext>
            </a:extLst>
          </p:cNvPr>
          <p:cNvPicPr>
            <a:picLocks noChangeAspect="1"/>
          </p:cNvPicPr>
          <p:nvPr/>
        </p:nvPicPr>
        <p:blipFill>
          <a:blip r:embed="rId7"/>
          <a:stretch>
            <a:fillRect/>
          </a:stretch>
        </p:blipFill>
        <p:spPr>
          <a:xfrm>
            <a:off x="1485900" y="1612900"/>
            <a:ext cx="88900" cy="850900"/>
          </a:xfrm>
          <a:prstGeom prst="rect">
            <a:avLst/>
          </a:prstGeom>
        </p:spPr>
      </p:pic>
      <p:sp>
        <p:nvSpPr>
          <p:cNvPr id="11" name="TextBox 11">
            <a:extLst>
              <a:ext uri="{FF2B5EF4-FFF2-40B4-BE49-F238E27FC236}">
                <a16:creationId xmlns:a16="http://schemas.microsoft.com/office/drawing/2014/main" id="{1281356A-483F-946D-7C7B-2A486C9841E1}"/>
              </a:ext>
            </a:extLst>
          </p:cNvPr>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82</a:t>
            </a:r>
          </a:p>
        </p:txBody>
      </p:sp>
      <p:sp>
        <p:nvSpPr>
          <p:cNvPr id="18" name="TextBox 18">
            <a:extLst>
              <a:ext uri="{FF2B5EF4-FFF2-40B4-BE49-F238E27FC236}">
                <a16:creationId xmlns:a16="http://schemas.microsoft.com/office/drawing/2014/main" id="{B8CA7BE7-274D-FB78-42F4-080A5E4631DB}"/>
              </a:ext>
            </a:extLst>
          </p:cNvPr>
          <p:cNvSpPr txBox="1"/>
          <p:nvPr/>
        </p:nvSpPr>
        <p:spPr>
          <a:xfrm>
            <a:off x="1943100" y="1409700"/>
            <a:ext cx="20281900" cy="1257300"/>
          </a:xfrm>
          <a:prstGeom prst="rect">
            <a:avLst/>
          </a:prstGeom>
        </p:spPr>
        <p:txBody>
          <a:bodyPr lIns="0" tIns="44874" rIns="0" bIns="0" rtlCol="0" anchor="t"/>
          <a:lstStyle/>
          <a:p>
            <a:pPr lvl="0" algn="l">
              <a:lnSpc>
                <a:spcPct val="107899"/>
              </a:lnSpc>
            </a:pPr>
            <a:r>
              <a:rPr lang="ko-KR" altLang="en-US" sz="7066" b="0" i="0" u="none" strike="noStrike" spc="-300" dirty="0">
                <a:solidFill>
                  <a:srgbClr val="000000"/>
                </a:solidFill>
                <a:latin typeface="Pretendard SemiBold"/>
                <a:ea typeface="Pretendard SemiBold"/>
                <a:cs typeface="Pretendard SemiBold"/>
              </a:rPr>
              <a:t>시나리오 보안 대책</a:t>
            </a:r>
            <a:endParaRPr lang="en-US" sz="7066" b="0" i="0" u="none" strike="noStrike" spc="-300" dirty="0">
              <a:solidFill>
                <a:srgbClr val="000000"/>
              </a:solidFill>
              <a:latin typeface="Pretendard SemiBold"/>
              <a:ea typeface="Pretendard SemiBold"/>
              <a:cs typeface="Pretendard SemiBold"/>
            </a:endParaRPr>
          </a:p>
        </p:txBody>
      </p:sp>
      <p:sp>
        <p:nvSpPr>
          <p:cNvPr id="20" name="TextBox 14">
            <a:extLst>
              <a:ext uri="{FF2B5EF4-FFF2-40B4-BE49-F238E27FC236}">
                <a16:creationId xmlns:a16="http://schemas.microsoft.com/office/drawing/2014/main" id="{959F2D79-26D6-3F9B-100E-870D709B6E39}"/>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1" name="TextBox 14">
            <a:extLst>
              <a:ext uri="{FF2B5EF4-FFF2-40B4-BE49-F238E27FC236}">
                <a16:creationId xmlns:a16="http://schemas.microsoft.com/office/drawing/2014/main" id="{7D3E214A-4395-3477-82E5-FE034F3B00C3}"/>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6" name="Picture 2">
            <a:extLst>
              <a:ext uri="{FF2B5EF4-FFF2-40B4-BE49-F238E27FC236}">
                <a16:creationId xmlns:a16="http://schemas.microsoft.com/office/drawing/2014/main" id="{13A627D5-B2D8-057F-9AA0-2DA45C3B4EA8}"/>
              </a:ext>
            </a:extLst>
          </p:cNvPr>
          <p:cNvPicPr>
            <a:picLocks noChangeAspect="1"/>
          </p:cNvPicPr>
          <p:nvPr/>
        </p:nvPicPr>
        <p:blipFill>
          <a:blip r:embed="rId8">
            <a:alphaModFix amt="85000"/>
          </a:blip>
          <a:stretch>
            <a:fillRect/>
          </a:stretch>
        </p:blipFill>
        <p:spPr>
          <a:xfrm>
            <a:off x="11201400" y="558800"/>
            <a:ext cx="2705100" cy="444500"/>
          </a:xfrm>
          <a:prstGeom prst="rect">
            <a:avLst/>
          </a:prstGeom>
        </p:spPr>
      </p:pic>
      <p:sp>
        <p:nvSpPr>
          <p:cNvPr id="27" name="TextBox 16">
            <a:extLst>
              <a:ext uri="{FF2B5EF4-FFF2-40B4-BE49-F238E27FC236}">
                <a16:creationId xmlns:a16="http://schemas.microsoft.com/office/drawing/2014/main" id="{F5D742F7-C863-0131-9015-5B8210D241AC}"/>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8" name="TextBox 18">
            <a:extLst>
              <a:ext uri="{FF2B5EF4-FFF2-40B4-BE49-F238E27FC236}">
                <a16:creationId xmlns:a16="http://schemas.microsoft.com/office/drawing/2014/main" id="{4E61D35B-DBFD-DA7B-A3EB-CB506BCAF8C7}"/>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30" name="TextBox 19">
            <a:extLst>
              <a:ext uri="{FF2B5EF4-FFF2-40B4-BE49-F238E27FC236}">
                <a16:creationId xmlns:a16="http://schemas.microsoft.com/office/drawing/2014/main" id="{74F5AF30-9913-CAFF-61A4-1009F666F25C}"/>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31" name="TextBox 20">
            <a:extLst>
              <a:ext uri="{FF2B5EF4-FFF2-40B4-BE49-F238E27FC236}">
                <a16:creationId xmlns:a16="http://schemas.microsoft.com/office/drawing/2014/main" id="{5C8B8F0F-F7D6-336B-E22E-C79D60C7349B}"/>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sp>
        <p:nvSpPr>
          <p:cNvPr id="8" name="TextBox 7">
            <a:extLst>
              <a:ext uri="{FF2B5EF4-FFF2-40B4-BE49-F238E27FC236}">
                <a16:creationId xmlns:a16="http://schemas.microsoft.com/office/drawing/2014/main" id="{3CC551D5-0491-6146-15D5-46B6681E947F}"/>
              </a:ext>
            </a:extLst>
          </p:cNvPr>
          <p:cNvSpPr txBox="1"/>
          <p:nvPr/>
        </p:nvSpPr>
        <p:spPr>
          <a:xfrm>
            <a:off x="1808480" y="4787900"/>
            <a:ext cx="6451600" cy="520700"/>
          </a:xfrm>
          <a:prstGeom prst="rect">
            <a:avLst/>
          </a:prstGeom>
        </p:spPr>
        <p:txBody>
          <a:bodyPr lIns="0" tIns="0" rIns="0" bIns="0" rtlCol="0" anchor="t"/>
          <a:lstStyle/>
          <a:p>
            <a:pPr lvl="0" algn="ctr">
              <a:lnSpc>
                <a:spcPct val="116199"/>
              </a:lnSpc>
            </a:pPr>
            <a:endParaRPr lang="en-US" sz="2933" b="0" i="0" u="none" strike="noStrike" dirty="0">
              <a:solidFill>
                <a:srgbClr val="000000"/>
              </a:solidFill>
              <a:latin typeface="Pretendard Bold"/>
              <a:ea typeface="Pretendard Bold"/>
              <a:cs typeface="Pretendard Bold"/>
            </a:endParaRPr>
          </a:p>
        </p:txBody>
      </p:sp>
      <p:sp>
        <p:nvSpPr>
          <p:cNvPr id="9" name="TextBox 8">
            <a:extLst>
              <a:ext uri="{FF2B5EF4-FFF2-40B4-BE49-F238E27FC236}">
                <a16:creationId xmlns:a16="http://schemas.microsoft.com/office/drawing/2014/main" id="{525EB23D-40C2-0491-2ACB-E950EE6EE0FD}"/>
              </a:ext>
            </a:extLst>
          </p:cNvPr>
          <p:cNvSpPr txBox="1"/>
          <p:nvPr/>
        </p:nvSpPr>
        <p:spPr>
          <a:xfrm>
            <a:off x="2316480" y="5651500"/>
            <a:ext cx="7391400" cy="5791200"/>
          </a:xfrm>
          <a:prstGeom prst="rect">
            <a:avLst/>
          </a:prstGeom>
        </p:spPr>
        <p:txBody>
          <a:bodyPr lIns="0" tIns="0" rIns="0" bIns="0" rtlCol="0" anchor="t"/>
          <a:lstStyle/>
          <a:p>
            <a:pPr lvl="0">
              <a:lnSpc>
                <a:spcPct val="116199"/>
              </a:lnSpc>
            </a:pPr>
            <a:r>
              <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1.</a:t>
            </a: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 적용 대상</a:t>
            </a:r>
            <a:endPar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endParaRPr>
          </a:p>
          <a:p>
            <a:pPr lvl="0">
              <a:lnSpc>
                <a:spcPct val="116199"/>
              </a:lnSpc>
            </a:pP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관리자 </a:t>
            </a:r>
            <a:r>
              <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PC, </a:t>
            </a: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빌드 서버</a:t>
            </a:r>
            <a:r>
              <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 DB </a:t>
            </a: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서버 등 개별 </a:t>
            </a:r>
            <a:r>
              <a:rPr lang="ko-KR" altLang="en-US" sz="2500" dirty="0" err="1">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엔드포인트</a:t>
            </a:r>
            <a:br>
              <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br>
            <a:endPar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endParaRPr>
          </a:p>
          <a:p>
            <a:pPr lvl="0">
              <a:lnSpc>
                <a:spcPct val="116199"/>
              </a:lnSpc>
            </a:pPr>
            <a:r>
              <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2. </a:t>
            </a: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핵심 기능</a:t>
            </a:r>
            <a:endPar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endParaRPr>
          </a:p>
          <a:p>
            <a:pPr lvl="0">
              <a:lnSpc>
                <a:spcPct val="116199"/>
              </a:lnSpc>
            </a:pP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단말기 내부에서 발생하는 모든 행위를 실시간으로 모니터링하고 기록함</a:t>
            </a:r>
            <a:endPar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endParaRPr>
          </a:p>
          <a:p>
            <a:pPr lvl="0">
              <a:lnSpc>
                <a:spcPct val="116199"/>
              </a:lnSpc>
            </a:pPr>
            <a:endParaRPr lang="en-US" altLang="ko-KR" sz="2500" i="0" u="none" strike="noStrike"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endParaRPr>
          </a:p>
          <a:p>
            <a:pPr lvl="0">
              <a:lnSpc>
                <a:spcPct val="116199"/>
              </a:lnSpc>
            </a:pPr>
            <a:r>
              <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3. </a:t>
            </a: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시나리오 적용</a:t>
            </a:r>
            <a:endPar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endParaRPr>
          </a:p>
          <a:p>
            <a:pPr lvl="0">
              <a:lnSpc>
                <a:spcPct val="116199"/>
              </a:lnSpc>
            </a:pPr>
            <a:r>
              <a:rPr lang="en-US" sz="2500" dirty="0" err="1">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WingFTP</a:t>
            </a: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 침투 이후 관리자 </a:t>
            </a:r>
            <a:r>
              <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PC</a:t>
            </a: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에서 발생하는 악성 스크립트 실행이나 파일 무결성 훼손 시도를 실시간으로 감시하고</a:t>
            </a:r>
            <a:r>
              <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 </a:t>
            </a: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즉각적인 프로세스 차단을 수행함</a:t>
            </a:r>
            <a:endParaRPr lang="en-US" sz="2500" i="0" u="none" strike="noStrike"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endParaRPr>
          </a:p>
        </p:txBody>
      </p:sp>
      <p:sp>
        <p:nvSpPr>
          <p:cNvPr id="12" name="TextBox 25">
            <a:extLst>
              <a:ext uri="{FF2B5EF4-FFF2-40B4-BE49-F238E27FC236}">
                <a16:creationId xmlns:a16="http://schemas.microsoft.com/office/drawing/2014/main" id="{92333ECE-9F4A-5C71-1FB9-1E9440C56B16}"/>
              </a:ext>
            </a:extLst>
          </p:cNvPr>
          <p:cNvSpPr txBox="1"/>
          <p:nvPr/>
        </p:nvSpPr>
        <p:spPr>
          <a:xfrm>
            <a:off x="1795780" y="4786630"/>
            <a:ext cx="8559800" cy="520700"/>
          </a:xfrm>
          <a:prstGeom prst="rect">
            <a:avLst/>
          </a:prstGeom>
        </p:spPr>
        <p:txBody>
          <a:bodyPr lIns="0" tIns="0" rIns="0" bIns="0" rtlCol="0" anchor="t"/>
          <a:lstStyle/>
          <a:p>
            <a:pPr lvl="0" algn="ctr">
              <a:lnSpc>
                <a:spcPct val="116199"/>
              </a:lnSpc>
            </a:pPr>
            <a:r>
              <a:rPr lang="en-US" sz="2933" dirty="0">
                <a:solidFill>
                  <a:srgbClr val="000000"/>
                </a:solidFill>
                <a:latin typeface="Pretendard Bold"/>
                <a:ea typeface="Pretendard Bold"/>
                <a:cs typeface="Pretendard Bold"/>
              </a:rPr>
              <a:t>EDR (</a:t>
            </a:r>
            <a:r>
              <a:rPr lang="ko-KR" altLang="en-US" sz="2933" dirty="0" err="1">
                <a:solidFill>
                  <a:srgbClr val="000000"/>
                </a:solidFill>
                <a:latin typeface="Pretendard Bold"/>
                <a:ea typeface="Pretendard Bold"/>
                <a:cs typeface="Pretendard Bold"/>
              </a:rPr>
              <a:t>엔드포인트</a:t>
            </a:r>
            <a:r>
              <a:rPr lang="ko-KR" altLang="en-US" sz="2933" dirty="0">
                <a:solidFill>
                  <a:srgbClr val="000000"/>
                </a:solidFill>
                <a:latin typeface="Pretendard Bold"/>
                <a:ea typeface="Pretendard Bold"/>
                <a:cs typeface="Pretendard Bold"/>
              </a:rPr>
              <a:t> 탐지 및 대응</a:t>
            </a:r>
            <a:r>
              <a:rPr lang="en-US" altLang="ko-KR" sz="2933" dirty="0">
                <a:solidFill>
                  <a:srgbClr val="000000"/>
                </a:solidFill>
                <a:latin typeface="Pretendard Bold"/>
                <a:ea typeface="Pretendard Bold"/>
                <a:cs typeface="Pretendard Bold"/>
              </a:rPr>
              <a:t>)</a:t>
            </a:r>
            <a:endParaRPr lang="en-US" sz="2933" b="0" i="0" u="none" strike="noStrike" dirty="0">
              <a:solidFill>
                <a:srgbClr val="000000"/>
              </a:solidFill>
              <a:latin typeface="Pretendard Bold"/>
              <a:ea typeface="Pretendard Bold"/>
              <a:cs typeface="Pretendard Bold"/>
            </a:endParaRPr>
          </a:p>
        </p:txBody>
      </p:sp>
      <p:sp>
        <p:nvSpPr>
          <p:cNvPr id="15" name="TextBox 14">
            <a:extLst>
              <a:ext uri="{FF2B5EF4-FFF2-40B4-BE49-F238E27FC236}">
                <a16:creationId xmlns:a16="http://schemas.microsoft.com/office/drawing/2014/main" id="{9CAD6301-25CF-9A50-53CB-22055410918C}"/>
              </a:ext>
            </a:extLst>
          </p:cNvPr>
          <p:cNvSpPr txBox="1"/>
          <p:nvPr/>
        </p:nvSpPr>
        <p:spPr>
          <a:xfrm>
            <a:off x="13938250" y="4787900"/>
            <a:ext cx="6451600" cy="520700"/>
          </a:xfrm>
          <a:prstGeom prst="rect">
            <a:avLst/>
          </a:prstGeom>
        </p:spPr>
        <p:txBody>
          <a:bodyPr lIns="0" tIns="0" rIns="0" bIns="0" rtlCol="0" anchor="t"/>
          <a:lstStyle/>
          <a:p>
            <a:pPr lvl="0" algn="ctr">
              <a:lnSpc>
                <a:spcPct val="116199"/>
              </a:lnSpc>
            </a:pPr>
            <a:endParaRPr lang="en-US" sz="2933" b="0" i="0" u="none" strike="noStrike" dirty="0">
              <a:solidFill>
                <a:srgbClr val="000000"/>
              </a:solidFill>
              <a:latin typeface="Pretendard Bold"/>
              <a:ea typeface="Pretendard Bold"/>
              <a:cs typeface="Pretendard Bold"/>
            </a:endParaRPr>
          </a:p>
        </p:txBody>
      </p:sp>
      <p:sp>
        <p:nvSpPr>
          <p:cNvPr id="16" name="TextBox 15">
            <a:extLst>
              <a:ext uri="{FF2B5EF4-FFF2-40B4-BE49-F238E27FC236}">
                <a16:creationId xmlns:a16="http://schemas.microsoft.com/office/drawing/2014/main" id="{C935D4C0-F1E8-1968-A41A-FCF42E2ECC61}"/>
              </a:ext>
            </a:extLst>
          </p:cNvPr>
          <p:cNvSpPr txBox="1"/>
          <p:nvPr/>
        </p:nvSpPr>
        <p:spPr>
          <a:xfrm>
            <a:off x="14589038" y="5651500"/>
            <a:ext cx="7353301" cy="5791200"/>
          </a:xfrm>
          <a:prstGeom prst="rect">
            <a:avLst/>
          </a:prstGeom>
        </p:spPr>
        <p:txBody>
          <a:bodyPr lIns="0" tIns="0" rIns="0" bIns="0" rtlCol="0" anchor="t"/>
          <a:lstStyle/>
          <a:p>
            <a:pPr lvl="0">
              <a:lnSpc>
                <a:spcPct val="116199"/>
              </a:lnSpc>
            </a:pPr>
            <a:r>
              <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1. </a:t>
            </a: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적용 대상</a:t>
            </a:r>
            <a:endPar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endParaRPr>
          </a:p>
          <a:p>
            <a:pPr lvl="0">
              <a:lnSpc>
                <a:spcPct val="116199"/>
              </a:lnSpc>
            </a:pP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네트워크</a:t>
            </a:r>
            <a:r>
              <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 </a:t>
            </a: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클라우드</a:t>
            </a:r>
            <a:r>
              <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 </a:t>
            </a: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이메일</a:t>
            </a:r>
            <a:r>
              <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 </a:t>
            </a: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인증 계정 등 </a:t>
            </a:r>
            <a:r>
              <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IT </a:t>
            </a: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인프라 전 계층</a:t>
            </a:r>
            <a:endPar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endParaRPr>
          </a:p>
          <a:p>
            <a:pPr lvl="0">
              <a:lnSpc>
                <a:spcPct val="116199"/>
              </a:lnSpc>
            </a:pPr>
            <a:endPar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endParaRPr>
          </a:p>
          <a:p>
            <a:pPr lvl="0">
              <a:lnSpc>
                <a:spcPct val="116199"/>
              </a:lnSpc>
            </a:pPr>
            <a:r>
              <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2. </a:t>
            </a: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핵심 기능</a:t>
            </a:r>
            <a:endPar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endParaRPr>
          </a:p>
          <a:p>
            <a:pPr lvl="0">
              <a:lnSpc>
                <a:spcPct val="116199"/>
              </a:lnSpc>
            </a:pP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서로 다른 영역에 분산된 보안 데이터를 하나로 통합하고 기계 주도형 상관관계를 분석하여</a:t>
            </a:r>
            <a:r>
              <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 </a:t>
            </a: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단일 도구로는 찾기 힘든 다단계 공격의 전체 경로를 시각화 함</a:t>
            </a:r>
            <a:endPar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endParaRPr>
          </a:p>
          <a:p>
            <a:pPr lvl="0">
              <a:lnSpc>
                <a:spcPct val="116199"/>
              </a:lnSpc>
            </a:pPr>
            <a:endPar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endParaRPr>
          </a:p>
          <a:p>
            <a:pPr lvl="0">
              <a:lnSpc>
                <a:spcPct val="116199"/>
              </a:lnSpc>
            </a:pPr>
            <a:r>
              <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3. </a:t>
            </a: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시나리오 적용</a:t>
            </a:r>
            <a:br>
              <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b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피싱부터 </a:t>
            </a:r>
            <a:r>
              <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DB </a:t>
            </a:r>
            <a:r>
              <a:rPr lang="ko-KR" altLang="en-US"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rPr>
              <a:t>접근까지 복합 공격 맥락 파악 및 대응 우선순위 결정함</a:t>
            </a:r>
            <a:endParaRPr lang="en-US" altLang="ko-KR" sz="2500" dirty="0">
              <a:solidFill>
                <a:srgbClr val="000000"/>
              </a:solidFill>
              <a:latin typeface="Pretendard SemiBold" panose="02000703000000020004" pitchFamily="2" charset="-127"/>
              <a:ea typeface="Pretendard SemiBold" panose="02000703000000020004" pitchFamily="2" charset="-127"/>
              <a:cs typeface="Pretendard SemiBold" panose="02000703000000020004" pitchFamily="2" charset="-127"/>
            </a:endParaRPr>
          </a:p>
        </p:txBody>
      </p:sp>
      <p:sp>
        <p:nvSpPr>
          <p:cNvPr id="17" name="TextBox 25">
            <a:extLst>
              <a:ext uri="{FF2B5EF4-FFF2-40B4-BE49-F238E27FC236}">
                <a16:creationId xmlns:a16="http://schemas.microsoft.com/office/drawing/2014/main" id="{718DE7C6-FCEE-6E3A-BFF3-D99115CCB720}"/>
              </a:ext>
            </a:extLst>
          </p:cNvPr>
          <p:cNvSpPr txBox="1"/>
          <p:nvPr/>
        </p:nvSpPr>
        <p:spPr>
          <a:xfrm>
            <a:off x="13925550" y="4786630"/>
            <a:ext cx="8559800" cy="520700"/>
          </a:xfrm>
          <a:prstGeom prst="rect">
            <a:avLst/>
          </a:prstGeom>
        </p:spPr>
        <p:txBody>
          <a:bodyPr lIns="0" tIns="0" rIns="0" bIns="0" rtlCol="0" anchor="t"/>
          <a:lstStyle/>
          <a:p>
            <a:pPr lvl="0" algn="ctr">
              <a:lnSpc>
                <a:spcPct val="116199"/>
              </a:lnSpc>
            </a:pPr>
            <a:r>
              <a:rPr lang="en-US" sz="2933" dirty="0">
                <a:solidFill>
                  <a:srgbClr val="000000"/>
                </a:solidFill>
                <a:latin typeface="Pretendard Bold"/>
                <a:ea typeface="Pretendard Bold"/>
                <a:cs typeface="Pretendard Bold"/>
              </a:rPr>
              <a:t>XDR</a:t>
            </a:r>
            <a:r>
              <a:rPr lang="ko-KR" altLang="en-US" sz="2933" dirty="0">
                <a:solidFill>
                  <a:srgbClr val="000000"/>
                </a:solidFill>
                <a:latin typeface="Pretendard Bold"/>
                <a:ea typeface="Pretendard Bold"/>
                <a:cs typeface="Pretendard Bold"/>
              </a:rPr>
              <a:t> </a:t>
            </a:r>
            <a:r>
              <a:rPr lang="en-US" altLang="ko-KR" sz="2933" dirty="0">
                <a:solidFill>
                  <a:srgbClr val="000000"/>
                </a:solidFill>
                <a:latin typeface="Pretendard Bold"/>
                <a:ea typeface="Pretendard Bold"/>
                <a:cs typeface="Pretendard Bold"/>
              </a:rPr>
              <a:t>(</a:t>
            </a:r>
            <a:r>
              <a:rPr lang="ko-KR" altLang="en-US" sz="2933" dirty="0">
                <a:solidFill>
                  <a:srgbClr val="000000"/>
                </a:solidFill>
                <a:latin typeface="Pretendard Bold"/>
                <a:ea typeface="Pretendard Bold"/>
                <a:cs typeface="Pretendard Bold"/>
              </a:rPr>
              <a:t>확장 탐지 및 대응</a:t>
            </a:r>
            <a:r>
              <a:rPr lang="en-US" altLang="ko-KR" sz="2933" dirty="0">
                <a:solidFill>
                  <a:srgbClr val="000000"/>
                </a:solidFill>
                <a:latin typeface="Pretendard Bold"/>
                <a:ea typeface="Pretendard Bold"/>
                <a:cs typeface="Pretendard Bold"/>
              </a:rPr>
              <a:t>)</a:t>
            </a:r>
            <a:endParaRPr lang="en-US" sz="2933" b="0" i="0" u="none" strike="noStrike" dirty="0">
              <a:solidFill>
                <a:srgbClr val="000000"/>
              </a:solidFill>
              <a:latin typeface="Pretendard Bold"/>
              <a:ea typeface="Pretendard Bold"/>
              <a:cs typeface="Pretendard Bold"/>
            </a:endParaRPr>
          </a:p>
        </p:txBody>
      </p:sp>
      <p:sp>
        <p:nvSpPr>
          <p:cNvPr id="32" name="TextBox 18">
            <a:extLst>
              <a:ext uri="{FF2B5EF4-FFF2-40B4-BE49-F238E27FC236}">
                <a16:creationId xmlns:a16="http://schemas.microsoft.com/office/drawing/2014/main" id="{A277EAAE-92E1-1688-0CE9-93C9B2B778F5}"/>
              </a:ext>
            </a:extLst>
          </p:cNvPr>
          <p:cNvSpPr txBox="1"/>
          <p:nvPr/>
        </p:nvSpPr>
        <p:spPr>
          <a:xfrm>
            <a:off x="2120900" y="2971800"/>
            <a:ext cx="19240500" cy="596900"/>
          </a:xfrm>
          <a:prstGeom prst="rect">
            <a:avLst/>
          </a:prstGeom>
        </p:spPr>
        <p:txBody>
          <a:bodyPr lIns="0" tIns="0" rIns="0" bIns="0" rtlCol="0" anchor="t"/>
          <a:lstStyle/>
          <a:p>
            <a:pPr lvl="0" algn="l">
              <a:lnSpc>
                <a:spcPct val="116199"/>
              </a:lnSpc>
            </a:pPr>
            <a:r>
              <a:rPr lang="en-US" sz="3333" b="0" i="0" u="none" strike="noStrike" dirty="0">
                <a:solidFill>
                  <a:srgbClr val="000000"/>
                </a:solidFill>
                <a:latin typeface="Pretendard Bold" panose="020B0600000101010101" charset="-127"/>
                <a:ea typeface="Pretendard Bold" panose="020B0600000101010101" charset="-127"/>
                <a:cs typeface="Pretendard Bold" panose="020B0600000101010101" charset="-127"/>
              </a:rPr>
              <a:t>EDR,</a:t>
            </a:r>
            <a:r>
              <a:rPr lang="en-US" sz="3333" dirty="0">
                <a:solidFill>
                  <a:srgbClr val="000000"/>
                </a:solidFill>
                <a:latin typeface="Pretendard Bold" panose="020B0600000101010101" charset="-127"/>
                <a:ea typeface="Pretendard Bold" panose="020B0600000101010101" charset="-127"/>
                <a:cs typeface="Pretendard Bold" panose="020B0600000101010101" charset="-127"/>
              </a:rPr>
              <a:t> XDR</a:t>
            </a:r>
            <a:endParaRPr lang="en-US" sz="3333" b="0" i="0" u="none" strike="noStrike" dirty="0">
              <a:solidFill>
                <a:srgbClr val="000000"/>
              </a:solidFill>
              <a:latin typeface="Pretendard Bold" panose="020B0600000101010101" charset="-127"/>
              <a:ea typeface="Pretendard Bold" panose="020B0600000101010101" charset="-127"/>
              <a:cs typeface="Pretendard Bold" panose="020B0600000101010101" charset="-127"/>
            </a:endParaRPr>
          </a:p>
        </p:txBody>
      </p:sp>
    </p:spTree>
    <p:extLst>
      <p:ext uri="{BB962C8B-B14F-4D97-AF65-F5344CB8AC3E}">
        <p14:creationId xmlns:p14="http://schemas.microsoft.com/office/powerpoint/2010/main" val="186306810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alphaModFix amt="70000"/>
          </a:blip>
          <a:stretch>
            <a:fillRect/>
          </a:stretch>
        </p:blipFill>
        <p:spPr>
          <a:xfrm>
            <a:off x="16230600" y="-2590800"/>
            <a:ext cx="11442700" cy="11442700"/>
          </a:xfrm>
          <a:prstGeom prst="rect">
            <a:avLst/>
          </a:prstGeom>
        </p:spPr>
      </p:pic>
      <p:pic>
        <p:nvPicPr>
          <p:cNvPr id="15" name="Picture 26">
            <a:extLst>
              <a:ext uri="{FF2B5EF4-FFF2-40B4-BE49-F238E27FC236}">
                <a16:creationId xmlns:a16="http://schemas.microsoft.com/office/drawing/2014/main" id="{6E5FD643-26FE-0E23-C3B7-60FC017347E1}"/>
              </a:ext>
            </a:extLst>
          </p:cNvPr>
          <p:cNvPicPr>
            <a:picLocks noChangeAspect="1"/>
          </p:cNvPicPr>
          <p:nvPr/>
        </p:nvPicPr>
        <p:blipFill>
          <a:blip r:embed="rId4"/>
          <a:stretch>
            <a:fillRect/>
          </a:stretch>
        </p:blipFill>
        <p:spPr>
          <a:xfrm>
            <a:off x="12630150" y="3881524"/>
            <a:ext cx="10426700" cy="8018376"/>
          </a:xfrm>
          <a:prstGeom prst="rect">
            <a:avLst/>
          </a:prstGeom>
          <a:effectLst>
            <a:outerShdw blurRad="139700" dist="38100" dir="2700000">
              <a:schemeClr val="tx1">
                <a:alpha val="33000"/>
              </a:schemeClr>
            </a:outerShdw>
          </a:effectLst>
        </p:spPr>
      </p:pic>
      <p:pic>
        <p:nvPicPr>
          <p:cNvPr id="16" name="Picture 26">
            <a:extLst>
              <a:ext uri="{FF2B5EF4-FFF2-40B4-BE49-F238E27FC236}">
                <a16:creationId xmlns:a16="http://schemas.microsoft.com/office/drawing/2014/main" id="{E11F16E4-58EF-0033-C140-E190E9B40DDF}"/>
              </a:ext>
            </a:extLst>
          </p:cNvPr>
          <p:cNvPicPr>
            <a:picLocks noChangeAspect="1"/>
          </p:cNvPicPr>
          <p:nvPr/>
        </p:nvPicPr>
        <p:blipFill>
          <a:blip r:embed="rId4"/>
          <a:stretch>
            <a:fillRect/>
          </a:stretch>
        </p:blipFill>
        <p:spPr>
          <a:xfrm>
            <a:off x="1498600" y="3881524"/>
            <a:ext cx="10426700" cy="8018376"/>
          </a:xfrm>
          <a:prstGeom prst="rect">
            <a:avLst/>
          </a:prstGeom>
          <a:effectLst>
            <a:outerShdw blurRad="139700" dist="38100" dir="2700000">
              <a:schemeClr val="tx1">
                <a:alpha val="33000"/>
              </a:schemeClr>
            </a:outerShdw>
          </a:effectLst>
        </p:spPr>
      </p:pic>
      <p:pic>
        <p:nvPicPr>
          <p:cNvPr id="3" name="Picture 3"/>
          <p:cNvPicPr>
            <a:picLocks noChangeAspect="1"/>
          </p:cNvPicPr>
          <p:nvPr/>
        </p:nvPicPr>
        <p:blipFill>
          <a:blip r:embed="rId5"/>
          <a:stretch>
            <a:fillRect/>
          </a:stretch>
        </p:blipFill>
        <p:spPr>
          <a:xfrm>
            <a:off x="762000" y="1092200"/>
            <a:ext cx="22860000" cy="12700"/>
          </a:xfrm>
          <a:prstGeom prst="rect">
            <a:avLst/>
          </a:prstGeom>
        </p:spPr>
      </p:pic>
      <p:pic>
        <p:nvPicPr>
          <p:cNvPr id="4" name="Picture 4"/>
          <p:cNvPicPr>
            <a:picLocks noChangeAspect="1"/>
          </p:cNvPicPr>
          <p:nvPr/>
        </p:nvPicPr>
        <p:blipFill>
          <a:blip r:embed="rId6"/>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6"/>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6"/>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5"/>
          <a:stretch>
            <a:fillRect/>
          </a:stretch>
        </p:blipFill>
        <p:spPr>
          <a:xfrm>
            <a:off x="723900" y="457200"/>
            <a:ext cx="22860000" cy="12700"/>
          </a:xfrm>
          <a:prstGeom prst="rect">
            <a:avLst/>
          </a:prstGeom>
        </p:spPr>
      </p:pic>
      <p:pic>
        <p:nvPicPr>
          <p:cNvPr id="10" name="Picture 10"/>
          <p:cNvPicPr>
            <a:picLocks noChangeAspect="1"/>
          </p:cNvPicPr>
          <p:nvPr/>
        </p:nvPicPr>
        <p:blipFill>
          <a:blip r:embed="rId7"/>
          <a:stretch>
            <a:fillRect/>
          </a:stretch>
        </p:blipFill>
        <p:spPr>
          <a:xfrm>
            <a:off x="1485900" y="1612900"/>
            <a:ext cx="88900" cy="850900"/>
          </a:xfrm>
          <a:prstGeom prst="rect">
            <a:avLst/>
          </a:prstGeom>
        </p:spPr>
      </p:pic>
      <p:sp>
        <p:nvSpPr>
          <p:cNvPr id="11" name="TextBox 11"/>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8</a:t>
            </a:r>
            <a:r>
              <a:rPr lang="en-US" sz="2133" cap="all" dirty="0">
                <a:solidFill>
                  <a:srgbClr val="024EA0"/>
                </a:solidFill>
                <a:latin typeface="Geologica Roman Light"/>
                <a:ea typeface="Geologica Roman Light"/>
                <a:cs typeface="Geologica Roman Light"/>
              </a:rPr>
              <a:t>3</a:t>
            </a:r>
            <a:endParaRPr lang="en-US" sz="2133" b="0" i="0" u="none" strike="noStrike" cap="all" dirty="0">
              <a:solidFill>
                <a:srgbClr val="024EA0"/>
              </a:solidFill>
              <a:latin typeface="Geologica Roman Light"/>
              <a:ea typeface="Geologica Roman Light"/>
              <a:cs typeface="Geologica Roman Light"/>
            </a:endParaRPr>
          </a:p>
        </p:txBody>
      </p:sp>
      <p:sp>
        <p:nvSpPr>
          <p:cNvPr id="18" name="TextBox 18"/>
          <p:cNvSpPr txBox="1"/>
          <p:nvPr/>
        </p:nvSpPr>
        <p:spPr>
          <a:xfrm>
            <a:off x="1943100" y="1409700"/>
            <a:ext cx="20281900" cy="1257300"/>
          </a:xfrm>
          <a:prstGeom prst="rect">
            <a:avLst/>
          </a:prstGeom>
        </p:spPr>
        <p:txBody>
          <a:bodyPr lIns="0" tIns="44874" rIns="0" bIns="0" rtlCol="0" anchor="t"/>
          <a:lstStyle/>
          <a:p>
            <a:pPr lvl="0" algn="l">
              <a:lnSpc>
                <a:spcPct val="107899"/>
              </a:lnSpc>
            </a:pPr>
            <a:r>
              <a:rPr lang="en-US" sz="7066" b="0" i="0" u="none" strike="noStrike" spc="-300" dirty="0" err="1">
                <a:solidFill>
                  <a:srgbClr val="000000"/>
                </a:solidFill>
                <a:latin typeface="Pretendard SemiBold"/>
                <a:ea typeface="Pretendard SemiBold"/>
                <a:cs typeface="Pretendard SemiBold"/>
              </a:rPr>
              <a:t>시나리오</a:t>
            </a:r>
            <a:r>
              <a:rPr lang="en-US" sz="7066" b="0" i="0" u="none" strike="noStrike" spc="-300" dirty="0">
                <a:solidFill>
                  <a:srgbClr val="000000"/>
                </a:solidFill>
                <a:latin typeface="Pretendard SemiBold"/>
                <a:ea typeface="Pretendard SemiBold"/>
                <a:cs typeface="Pretendard SemiBold"/>
              </a:rPr>
              <a:t> </a:t>
            </a:r>
            <a:r>
              <a:rPr lang="en-US" sz="7066" b="0" i="0" u="none" strike="noStrike" spc="-300" dirty="0" err="1">
                <a:solidFill>
                  <a:srgbClr val="000000"/>
                </a:solidFill>
                <a:latin typeface="Pretendard SemiBold"/>
                <a:ea typeface="Pretendard SemiBold"/>
                <a:cs typeface="Pretendard SemiBold"/>
              </a:rPr>
              <a:t>보안</a:t>
            </a:r>
            <a:r>
              <a:rPr lang="en-US" sz="7066" b="0" i="0" u="none" strike="noStrike" spc="-300" dirty="0">
                <a:solidFill>
                  <a:srgbClr val="000000"/>
                </a:solidFill>
                <a:latin typeface="Pretendard SemiBold"/>
                <a:ea typeface="Pretendard SemiBold"/>
                <a:cs typeface="Pretendard SemiBold"/>
              </a:rPr>
              <a:t> </a:t>
            </a:r>
            <a:r>
              <a:rPr lang="en-US" sz="7066" b="0" i="0" u="none" strike="noStrike" spc="-300" dirty="0" err="1">
                <a:solidFill>
                  <a:srgbClr val="000000"/>
                </a:solidFill>
                <a:latin typeface="Pretendard SemiBold"/>
                <a:ea typeface="Pretendard SemiBold"/>
                <a:cs typeface="Pretendard SemiBold"/>
              </a:rPr>
              <a:t>대책</a:t>
            </a:r>
            <a:endParaRPr lang="en-US" sz="7066" b="0" i="0" u="none" strike="noStrike" spc="-300" dirty="0">
              <a:solidFill>
                <a:srgbClr val="000000"/>
              </a:solidFill>
              <a:latin typeface="Pretendard SemiBold"/>
              <a:ea typeface="Pretendard SemiBold"/>
              <a:cs typeface="Pretendard SemiBold"/>
            </a:endParaRPr>
          </a:p>
        </p:txBody>
      </p:sp>
      <p:sp>
        <p:nvSpPr>
          <p:cNvPr id="25" name="TextBox 23">
            <a:extLst>
              <a:ext uri="{FF2B5EF4-FFF2-40B4-BE49-F238E27FC236}">
                <a16:creationId xmlns:a16="http://schemas.microsoft.com/office/drawing/2014/main" id="{EEF17B0D-E7B2-6E24-35A4-DBBFA69F899D}"/>
              </a:ext>
            </a:extLst>
          </p:cNvPr>
          <p:cNvSpPr txBox="1"/>
          <p:nvPr/>
        </p:nvSpPr>
        <p:spPr>
          <a:xfrm>
            <a:off x="1955799" y="2736850"/>
            <a:ext cx="6197601" cy="685800"/>
          </a:xfrm>
          <a:prstGeom prst="rect">
            <a:avLst/>
          </a:prstGeom>
        </p:spPr>
        <p:txBody>
          <a:bodyPr lIns="0" tIns="0" rIns="0" bIns="0" rtlCol="0" anchor="t"/>
          <a:lstStyle/>
          <a:p>
            <a:pPr lvl="0" algn="ctr">
              <a:lnSpc>
                <a:spcPct val="116199"/>
              </a:lnSpc>
            </a:pPr>
            <a:r>
              <a:rPr lang="en-US" sz="3857" b="1" dirty="0">
                <a:solidFill>
                  <a:srgbClr val="000000"/>
                </a:solidFill>
                <a:latin typeface="Pretendard Bold"/>
                <a:ea typeface="Pretendard Bold"/>
                <a:cs typeface="Pretendard Bold"/>
              </a:rPr>
              <a:t>SBOM(</a:t>
            </a:r>
            <a:r>
              <a:rPr lang="ko-KR" altLang="en-US" sz="3857" b="1" dirty="0">
                <a:solidFill>
                  <a:srgbClr val="000000"/>
                </a:solidFill>
                <a:latin typeface="Pretendard Bold"/>
                <a:ea typeface="Pretendard Bold"/>
                <a:cs typeface="Pretendard Bold"/>
              </a:rPr>
              <a:t>소프트웨어 명세서</a:t>
            </a:r>
            <a:r>
              <a:rPr lang="en-US" sz="3857" b="1" dirty="0">
                <a:solidFill>
                  <a:srgbClr val="000000"/>
                </a:solidFill>
                <a:latin typeface="Pretendard Bold"/>
                <a:ea typeface="Pretendard Bold"/>
                <a:cs typeface="Pretendard Bold"/>
              </a:rPr>
              <a:t>)</a:t>
            </a:r>
          </a:p>
        </p:txBody>
      </p:sp>
      <p:sp>
        <p:nvSpPr>
          <p:cNvPr id="22" name="TextBox 14">
            <a:extLst>
              <a:ext uri="{FF2B5EF4-FFF2-40B4-BE49-F238E27FC236}">
                <a16:creationId xmlns:a16="http://schemas.microsoft.com/office/drawing/2014/main" id="{893A83EA-429F-6CEB-0004-62F3F9633765}"/>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6" name="TextBox 14">
            <a:extLst>
              <a:ext uri="{FF2B5EF4-FFF2-40B4-BE49-F238E27FC236}">
                <a16:creationId xmlns:a16="http://schemas.microsoft.com/office/drawing/2014/main" id="{3B3AB8AE-778E-80A0-2DC2-281A7E721A87}"/>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7" name="Picture 2">
            <a:extLst>
              <a:ext uri="{FF2B5EF4-FFF2-40B4-BE49-F238E27FC236}">
                <a16:creationId xmlns:a16="http://schemas.microsoft.com/office/drawing/2014/main" id="{C9520738-E529-3B55-D803-D4903579A3FE}"/>
              </a:ext>
            </a:extLst>
          </p:cNvPr>
          <p:cNvPicPr>
            <a:picLocks noChangeAspect="1"/>
          </p:cNvPicPr>
          <p:nvPr/>
        </p:nvPicPr>
        <p:blipFill>
          <a:blip r:embed="rId8">
            <a:alphaModFix amt="85000"/>
          </a:blip>
          <a:stretch>
            <a:fillRect/>
          </a:stretch>
        </p:blipFill>
        <p:spPr>
          <a:xfrm>
            <a:off x="11201400" y="558800"/>
            <a:ext cx="2705100" cy="444500"/>
          </a:xfrm>
          <a:prstGeom prst="rect">
            <a:avLst/>
          </a:prstGeom>
        </p:spPr>
      </p:pic>
      <p:sp>
        <p:nvSpPr>
          <p:cNvPr id="28" name="TextBox 16">
            <a:extLst>
              <a:ext uri="{FF2B5EF4-FFF2-40B4-BE49-F238E27FC236}">
                <a16:creationId xmlns:a16="http://schemas.microsoft.com/office/drawing/2014/main" id="{66B97B31-8010-4305-8291-04635ADB249E}"/>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9" name="TextBox 18">
            <a:extLst>
              <a:ext uri="{FF2B5EF4-FFF2-40B4-BE49-F238E27FC236}">
                <a16:creationId xmlns:a16="http://schemas.microsoft.com/office/drawing/2014/main" id="{76E3EE09-470F-E8F7-470E-C3A466DA48AA}"/>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30" name="TextBox 19">
            <a:extLst>
              <a:ext uri="{FF2B5EF4-FFF2-40B4-BE49-F238E27FC236}">
                <a16:creationId xmlns:a16="http://schemas.microsoft.com/office/drawing/2014/main" id="{6061C82B-86CE-21B2-15E5-3FB19FFFF854}"/>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31" name="TextBox 20">
            <a:extLst>
              <a:ext uri="{FF2B5EF4-FFF2-40B4-BE49-F238E27FC236}">
                <a16:creationId xmlns:a16="http://schemas.microsoft.com/office/drawing/2014/main" id="{CD77B13D-BA03-CBD4-24C1-873935B56416}"/>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개발 및 진단</a:t>
            </a:r>
          </a:p>
        </p:txBody>
      </p:sp>
      <p:pic>
        <p:nvPicPr>
          <p:cNvPr id="20" name="Picture 20"/>
          <p:cNvPicPr>
            <a:picLocks noChangeAspect="1"/>
          </p:cNvPicPr>
          <p:nvPr/>
        </p:nvPicPr>
        <p:blipFill>
          <a:blip r:embed="rId9"/>
          <a:stretch>
            <a:fillRect/>
          </a:stretch>
        </p:blipFill>
        <p:spPr>
          <a:xfrm>
            <a:off x="22161500" y="5060950"/>
            <a:ext cx="266700" cy="203200"/>
          </a:xfrm>
          <a:prstGeom prst="rect">
            <a:avLst/>
          </a:prstGeom>
        </p:spPr>
      </p:pic>
      <p:sp>
        <p:nvSpPr>
          <p:cNvPr id="24" name="TextBox 41">
            <a:extLst>
              <a:ext uri="{FF2B5EF4-FFF2-40B4-BE49-F238E27FC236}">
                <a16:creationId xmlns:a16="http://schemas.microsoft.com/office/drawing/2014/main" id="{BDF73C01-2050-1AD3-12D0-65E5D724A17B}"/>
              </a:ext>
            </a:extLst>
          </p:cNvPr>
          <p:cNvSpPr txBox="1"/>
          <p:nvPr/>
        </p:nvSpPr>
        <p:spPr>
          <a:xfrm>
            <a:off x="13385800" y="5664201"/>
            <a:ext cx="9321800" cy="5575300"/>
          </a:xfrm>
          <a:prstGeom prst="rect">
            <a:avLst/>
          </a:prstGeom>
        </p:spPr>
        <p:txBody>
          <a:bodyPr lIns="0" tIns="0" rIns="0" bIns="0" rtlCol="0" anchor="t"/>
          <a:lstStyle/>
          <a:p>
            <a:pPr marL="457200" lvl="0" indent="-457200">
              <a:lnSpc>
                <a:spcPct val="116199"/>
              </a:lnSpc>
              <a:buFontTx/>
              <a:buChar char="-"/>
            </a:pPr>
            <a:r>
              <a:rPr lang="ko-KR" altLang="en-US" sz="2800" dirty="0">
                <a:latin typeface="Pretendard Bold" panose="02000803000000020004" pitchFamily="2" charset="-127"/>
                <a:ea typeface="Pretendard Bold" panose="02000803000000020004" pitchFamily="2" charset="-127"/>
                <a:cs typeface="Pretendard Bold" panose="02000803000000020004" pitchFamily="2" charset="-127"/>
              </a:rPr>
              <a:t>최근 소프트웨어 개발 및 클라우드 인프라 구축 방식이 복잡해지면서</a:t>
            </a:r>
            <a:r>
              <a:rPr lang="en-US" altLang="ko-KR" sz="2800" dirty="0">
                <a:latin typeface="Pretendard Bold" panose="02000803000000020004" pitchFamily="2" charset="-127"/>
                <a:ea typeface="Pretendard Bold" panose="02000803000000020004" pitchFamily="2" charset="-127"/>
                <a:cs typeface="Pretendard Bold" panose="02000803000000020004" pitchFamily="2" charset="-127"/>
              </a:rPr>
              <a:t>, </a:t>
            </a:r>
            <a:r>
              <a:rPr lang="ko-KR" altLang="en-US" sz="2800" dirty="0">
                <a:latin typeface="Pretendard Bold" panose="02000803000000020004" pitchFamily="2" charset="-127"/>
                <a:ea typeface="Pretendard Bold" panose="02000803000000020004" pitchFamily="2" charset="-127"/>
                <a:cs typeface="Pretendard Bold" panose="02000803000000020004" pitchFamily="2" charset="-127"/>
              </a:rPr>
              <a:t>시스템을 구성하는 코드</a:t>
            </a:r>
            <a:r>
              <a:rPr lang="en-US" altLang="ko-KR" sz="2800" dirty="0">
                <a:latin typeface="Pretendard Bold" panose="02000803000000020004" pitchFamily="2" charset="-127"/>
                <a:ea typeface="Pretendard Bold" panose="02000803000000020004" pitchFamily="2" charset="-127"/>
                <a:cs typeface="Pretendard Bold" panose="02000803000000020004" pitchFamily="2" charset="-127"/>
              </a:rPr>
              <a:t>, </a:t>
            </a:r>
            <a:r>
              <a:rPr lang="ko-KR" altLang="en-US" sz="2800" dirty="0">
                <a:latin typeface="Pretendard Bold" panose="02000803000000020004" pitchFamily="2" charset="-127"/>
                <a:ea typeface="Pretendard Bold" panose="02000803000000020004" pitchFamily="2" charset="-127"/>
                <a:cs typeface="Pretendard Bold" panose="02000803000000020004" pitchFamily="2" charset="-127"/>
              </a:rPr>
              <a:t>라이브러리</a:t>
            </a:r>
            <a:r>
              <a:rPr lang="en-US" altLang="ko-KR" sz="2800" dirty="0">
                <a:latin typeface="Pretendard Bold" panose="02000803000000020004" pitchFamily="2" charset="-127"/>
                <a:ea typeface="Pretendard Bold" panose="02000803000000020004" pitchFamily="2" charset="-127"/>
                <a:cs typeface="Pretendard Bold" panose="02000803000000020004" pitchFamily="2" charset="-127"/>
              </a:rPr>
              <a:t>, </a:t>
            </a:r>
            <a:r>
              <a:rPr lang="ko-KR" altLang="en-US" sz="2800" dirty="0">
                <a:latin typeface="Pretendard Bold" panose="02000803000000020004" pitchFamily="2" charset="-127"/>
                <a:ea typeface="Pretendard Bold" panose="02000803000000020004" pitchFamily="2" charset="-127"/>
                <a:cs typeface="Pretendard Bold" panose="02000803000000020004" pitchFamily="2" charset="-127"/>
              </a:rPr>
              <a:t>의존성  등을 명확하게 식별하고 추적하여 보안 취약점에 대응하기 위하여</a:t>
            </a:r>
            <a:r>
              <a:rPr lang="en-US" altLang="ko-KR" sz="2800" dirty="0">
                <a:latin typeface="Pretendard Bold" panose="02000803000000020004" pitchFamily="2" charset="-127"/>
                <a:ea typeface="Pretendard Bold" panose="02000803000000020004" pitchFamily="2" charset="-127"/>
                <a:cs typeface="Pretendard Bold" panose="02000803000000020004" pitchFamily="2" charset="-127"/>
              </a:rPr>
              <a:t> </a:t>
            </a:r>
            <a:r>
              <a:rPr lang="ko-KR" altLang="en-US" sz="2800" dirty="0">
                <a:latin typeface="Pretendard Bold" panose="02000803000000020004" pitchFamily="2" charset="-127"/>
                <a:ea typeface="Pretendard Bold" panose="02000803000000020004" pitchFamily="2" charset="-127"/>
                <a:cs typeface="Pretendard Bold" panose="02000803000000020004" pitchFamily="2" charset="-127"/>
              </a:rPr>
              <a:t>제조업의 명세서 개념이 도입됨</a:t>
            </a:r>
            <a:r>
              <a:rPr lang="en-US" altLang="ko-KR" sz="2800" dirty="0">
                <a:latin typeface="Pretendard Bold" panose="02000803000000020004" pitchFamily="2" charset="-127"/>
                <a:ea typeface="Pretendard Bold" panose="02000803000000020004" pitchFamily="2" charset="-127"/>
                <a:cs typeface="Pretendard Bold" panose="02000803000000020004" pitchFamily="2" charset="-127"/>
              </a:rPr>
              <a:t>. </a:t>
            </a:r>
          </a:p>
          <a:p>
            <a:pPr marL="457200" lvl="0" indent="-457200">
              <a:lnSpc>
                <a:spcPct val="116199"/>
              </a:lnSpc>
              <a:buFontTx/>
              <a:buChar char="-"/>
            </a:pPr>
            <a:endParaRPr lang="en-US" altLang="ko-KR" sz="2800" dirty="0">
              <a:latin typeface="Pretendard Bold" panose="02000803000000020004" pitchFamily="2" charset="-127"/>
              <a:ea typeface="Pretendard Bold" panose="02000803000000020004" pitchFamily="2" charset="-127"/>
              <a:cs typeface="Pretendard Bold" panose="02000803000000020004" pitchFamily="2" charset="-127"/>
            </a:endParaRPr>
          </a:p>
          <a:p>
            <a:pPr marL="457200" lvl="0" indent="-457200">
              <a:lnSpc>
                <a:spcPct val="116199"/>
              </a:lnSpc>
              <a:buFontTx/>
              <a:buChar char="-"/>
            </a:pPr>
            <a:r>
              <a:rPr lang="ko-KR" altLang="en-US" sz="2800" dirty="0">
                <a:latin typeface="Pretendard Bold" panose="02000803000000020004" pitchFamily="2" charset="-127"/>
                <a:ea typeface="Pretendard Bold" panose="02000803000000020004" pitchFamily="2" charset="-127"/>
                <a:cs typeface="Pretendard Bold" panose="02000803000000020004" pitchFamily="2" charset="-127"/>
              </a:rPr>
              <a:t> </a:t>
            </a:r>
            <a:r>
              <a:rPr lang="en-US" altLang="ko-KR" sz="2800" dirty="0">
                <a:latin typeface="Pretendard Bold" panose="02000803000000020004" pitchFamily="2" charset="-127"/>
                <a:ea typeface="Pretendard Bold" panose="02000803000000020004" pitchFamily="2" charset="-127"/>
                <a:cs typeface="Pretendard Bold" panose="02000803000000020004" pitchFamily="2" charset="-127"/>
              </a:rPr>
              <a:t>SW </a:t>
            </a:r>
            <a:r>
              <a:rPr lang="ko-KR" altLang="en-US" sz="2800" dirty="0">
                <a:latin typeface="Pretendard Bold" panose="02000803000000020004" pitchFamily="2" charset="-127"/>
                <a:ea typeface="Pretendard Bold" panose="02000803000000020004" pitchFamily="2" charset="-127"/>
                <a:cs typeface="Pretendard Bold" panose="02000803000000020004" pitchFamily="2" charset="-127"/>
              </a:rPr>
              <a:t>내부에 어떤 구성요소가 존재하는지 투명하게 식별하여</a:t>
            </a:r>
            <a:r>
              <a:rPr lang="en-US" altLang="ko-KR" sz="2800" dirty="0">
                <a:latin typeface="Pretendard Bold" panose="02000803000000020004" pitchFamily="2" charset="-127"/>
                <a:ea typeface="Pretendard Bold" panose="02000803000000020004" pitchFamily="2" charset="-127"/>
                <a:cs typeface="Pretendard Bold" panose="02000803000000020004" pitchFamily="2" charset="-127"/>
              </a:rPr>
              <a:t>, </a:t>
            </a:r>
            <a:r>
              <a:rPr lang="ko-KR" altLang="en-US" sz="2800" dirty="0">
                <a:latin typeface="Pretendard Bold" panose="02000803000000020004" pitchFamily="2" charset="-127"/>
                <a:ea typeface="Pretendard Bold" panose="02000803000000020004" pitchFamily="2" charset="-127"/>
                <a:cs typeface="Pretendard Bold" panose="02000803000000020004" pitchFamily="2" charset="-127"/>
              </a:rPr>
              <a:t>사이버 위험을 신속하게 추적하고 관리하기 위한 핵심 도구가 바로 </a:t>
            </a:r>
            <a:r>
              <a:rPr lang="en-US" altLang="ko-KR" sz="2800" dirty="0">
                <a:latin typeface="Pretendard Bold" panose="02000803000000020004" pitchFamily="2" charset="-127"/>
                <a:ea typeface="Pretendard Bold" panose="02000803000000020004" pitchFamily="2" charset="-127"/>
                <a:cs typeface="Pretendard Bold" panose="02000803000000020004" pitchFamily="2" charset="-127"/>
              </a:rPr>
              <a:t>SBOM</a:t>
            </a:r>
            <a:r>
              <a:rPr lang="ko-KR" altLang="en-US" sz="2800" dirty="0">
                <a:latin typeface="Pretendard Bold" panose="02000803000000020004" pitchFamily="2" charset="-127"/>
                <a:ea typeface="Pretendard Bold" panose="02000803000000020004" pitchFamily="2" charset="-127"/>
                <a:cs typeface="Pretendard Bold" panose="02000803000000020004" pitchFamily="2" charset="-127"/>
              </a:rPr>
              <a:t>임</a:t>
            </a:r>
            <a:r>
              <a:rPr lang="en-US" altLang="ko-KR" sz="2800" dirty="0">
                <a:latin typeface="Pretendard Bold" panose="02000803000000020004" pitchFamily="2" charset="-127"/>
                <a:ea typeface="Pretendard Bold" panose="02000803000000020004" pitchFamily="2" charset="-127"/>
                <a:cs typeface="Pretendard Bold" panose="02000803000000020004" pitchFamily="2" charset="-127"/>
              </a:rPr>
              <a:t>.</a:t>
            </a:r>
          </a:p>
          <a:p>
            <a:pPr marL="457200" lvl="0" indent="-457200">
              <a:lnSpc>
                <a:spcPct val="116199"/>
              </a:lnSpc>
              <a:buFontTx/>
              <a:buChar char="-"/>
            </a:pPr>
            <a:endParaRPr lang="en-US"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endParaRPr>
          </a:p>
          <a:p>
            <a:pPr marL="457200" lvl="0" indent="-457200">
              <a:lnSpc>
                <a:spcPct val="116199"/>
              </a:lnSpc>
              <a:buFontTx/>
              <a:buChar char="-"/>
            </a:pPr>
            <a:endParaRPr lang="en-US" sz="2666"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endParaRPr>
          </a:p>
        </p:txBody>
      </p:sp>
      <p:sp>
        <p:nvSpPr>
          <p:cNvPr id="23" name="TextBox 23"/>
          <p:cNvSpPr txBox="1"/>
          <p:nvPr/>
        </p:nvSpPr>
        <p:spPr>
          <a:xfrm>
            <a:off x="15027275" y="4217670"/>
            <a:ext cx="5708650" cy="685800"/>
          </a:xfrm>
          <a:prstGeom prst="rect">
            <a:avLst/>
          </a:prstGeom>
        </p:spPr>
        <p:txBody>
          <a:bodyPr lIns="0" tIns="0" rIns="0" bIns="0" rtlCol="0" anchor="t"/>
          <a:lstStyle/>
          <a:p>
            <a:pPr lvl="0" algn="ctr">
              <a:lnSpc>
                <a:spcPct val="116199"/>
              </a:lnSpc>
            </a:pPr>
            <a:r>
              <a:rPr lang="en-US" altLang="ko-KR" sz="3857" b="1" dirty="0">
                <a:solidFill>
                  <a:srgbClr val="000000"/>
                </a:solidFill>
                <a:latin typeface="Pretendard Bold"/>
                <a:ea typeface="Pretendard Bold"/>
                <a:cs typeface="Pretendard Bold"/>
              </a:rPr>
              <a:t>SBOM</a:t>
            </a:r>
            <a:r>
              <a:rPr lang="ko-KR" altLang="en-US" sz="3857" b="1" dirty="0">
                <a:solidFill>
                  <a:srgbClr val="000000"/>
                </a:solidFill>
                <a:latin typeface="Pretendard Bold"/>
                <a:ea typeface="Pretendard Bold"/>
                <a:cs typeface="Pretendard Bold"/>
              </a:rPr>
              <a:t>이란</a:t>
            </a:r>
            <a:r>
              <a:rPr lang="en-US" altLang="ko-KR" sz="3857" b="1" dirty="0">
                <a:solidFill>
                  <a:srgbClr val="000000"/>
                </a:solidFill>
                <a:latin typeface="Pretendard Bold"/>
                <a:ea typeface="Pretendard Bold"/>
                <a:cs typeface="Pretendard Bold"/>
              </a:rPr>
              <a:t>?</a:t>
            </a:r>
          </a:p>
        </p:txBody>
      </p:sp>
      <p:pic>
        <p:nvPicPr>
          <p:cNvPr id="42" name="그림 41">
            <a:extLst>
              <a:ext uri="{FF2B5EF4-FFF2-40B4-BE49-F238E27FC236}">
                <a16:creationId xmlns:a16="http://schemas.microsoft.com/office/drawing/2014/main" id="{C2847A3A-4D02-61C9-12A8-D342C0C6CD60}"/>
              </a:ext>
            </a:extLst>
          </p:cNvPr>
          <p:cNvPicPr>
            <a:picLocks noChangeAspect="1"/>
          </p:cNvPicPr>
          <p:nvPr/>
        </p:nvPicPr>
        <p:blipFill>
          <a:blip r:embed="rId10"/>
          <a:stretch>
            <a:fillRect/>
          </a:stretch>
        </p:blipFill>
        <p:spPr>
          <a:xfrm>
            <a:off x="1654174" y="4585970"/>
            <a:ext cx="10115552" cy="6743701"/>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a:extLst>
            <a:ext uri="{FF2B5EF4-FFF2-40B4-BE49-F238E27FC236}">
              <a16:creationId xmlns:a16="http://schemas.microsoft.com/office/drawing/2014/main" id="{9E791978-43F5-075D-981C-FB1E60156299}"/>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8D9E8E93-463F-0BA2-286C-1F55DA8D0159}"/>
              </a:ext>
            </a:extLst>
          </p:cNvPr>
          <p:cNvPicPr>
            <a:picLocks noChangeAspect="1"/>
          </p:cNvPicPr>
          <p:nvPr/>
        </p:nvPicPr>
        <p:blipFill>
          <a:blip r:embed="rId3">
            <a:alphaModFix amt="70000"/>
          </a:blip>
          <a:stretch>
            <a:fillRect/>
          </a:stretch>
        </p:blipFill>
        <p:spPr>
          <a:xfrm>
            <a:off x="16230600" y="-2590800"/>
            <a:ext cx="11442700" cy="11442700"/>
          </a:xfrm>
          <a:prstGeom prst="rect">
            <a:avLst/>
          </a:prstGeom>
        </p:spPr>
      </p:pic>
      <p:pic>
        <p:nvPicPr>
          <p:cNvPr id="13" name="Picture 26">
            <a:extLst>
              <a:ext uri="{FF2B5EF4-FFF2-40B4-BE49-F238E27FC236}">
                <a16:creationId xmlns:a16="http://schemas.microsoft.com/office/drawing/2014/main" id="{AA914C91-2680-0382-2871-1B907C3A66D4}"/>
              </a:ext>
            </a:extLst>
          </p:cNvPr>
          <p:cNvPicPr>
            <a:picLocks noChangeAspect="1"/>
          </p:cNvPicPr>
          <p:nvPr/>
        </p:nvPicPr>
        <p:blipFill>
          <a:blip r:embed="rId4"/>
          <a:stretch>
            <a:fillRect/>
          </a:stretch>
        </p:blipFill>
        <p:spPr>
          <a:xfrm>
            <a:off x="12630150" y="3881524"/>
            <a:ext cx="10426700" cy="8018376"/>
          </a:xfrm>
          <a:prstGeom prst="rect">
            <a:avLst/>
          </a:prstGeom>
          <a:effectLst>
            <a:outerShdw blurRad="139700" dist="38100" dir="2700000">
              <a:schemeClr val="tx1">
                <a:alpha val="33000"/>
              </a:schemeClr>
            </a:outerShdw>
          </a:effectLst>
        </p:spPr>
      </p:pic>
      <p:pic>
        <p:nvPicPr>
          <p:cNvPr id="14" name="Picture 26">
            <a:extLst>
              <a:ext uri="{FF2B5EF4-FFF2-40B4-BE49-F238E27FC236}">
                <a16:creationId xmlns:a16="http://schemas.microsoft.com/office/drawing/2014/main" id="{9A304970-B4BB-8DD7-8DD2-8152FC55B077}"/>
              </a:ext>
            </a:extLst>
          </p:cNvPr>
          <p:cNvPicPr>
            <a:picLocks noChangeAspect="1"/>
          </p:cNvPicPr>
          <p:nvPr/>
        </p:nvPicPr>
        <p:blipFill>
          <a:blip r:embed="rId4"/>
          <a:stretch>
            <a:fillRect/>
          </a:stretch>
        </p:blipFill>
        <p:spPr>
          <a:xfrm>
            <a:off x="1498600" y="3881524"/>
            <a:ext cx="10426700" cy="8018376"/>
          </a:xfrm>
          <a:prstGeom prst="rect">
            <a:avLst/>
          </a:prstGeom>
          <a:effectLst>
            <a:outerShdw blurRad="139700" dist="38100" dir="2700000">
              <a:schemeClr val="tx1">
                <a:alpha val="33000"/>
              </a:schemeClr>
            </a:outerShdw>
          </a:effectLst>
        </p:spPr>
      </p:pic>
      <p:pic>
        <p:nvPicPr>
          <p:cNvPr id="3" name="Picture 3">
            <a:extLst>
              <a:ext uri="{FF2B5EF4-FFF2-40B4-BE49-F238E27FC236}">
                <a16:creationId xmlns:a16="http://schemas.microsoft.com/office/drawing/2014/main" id="{9CD34B78-3531-3650-2C82-5BE7F6AD2083}"/>
              </a:ext>
            </a:extLst>
          </p:cNvPr>
          <p:cNvPicPr>
            <a:picLocks noChangeAspect="1"/>
          </p:cNvPicPr>
          <p:nvPr/>
        </p:nvPicPr>
        <p:blipFill>
          <a:blip r:embed="rId5"/>
          <a:stretch>
            <a:fillRect/>
          </a:stretch>
        </p:blipFill>
        <p:spPr>
          <a:xfrm>
            <a:off x="762000" y="1092200"/>
            <a:ext cx="22860000" cy="12700"/>
          </a:xfrm>
          <a:prstGeom prst="rect">
            <a:avLst/>
          </a:prstGeom>
        </p:spPr>
      </p:pic>
      <p:pic>
        <p:nvPicPr>
          <p:cNvPr id="4" name="Picture 4">
            <a:extLst>
              <a:ext uri="{FF2B5EF4-FFF2-40B4-BE49-F238E27FC236}">
                <a16:creationId xmlns:a16="http://schemas.microsoft.com/office/drawing/2014/main" id="{5918DC24-F4C2-F8FD-A464-3EBD95439536}"/>
              </a:ext>
            </a:extLst>
          </p:cNvPr>
          <p:cNvPicPr>
            <a:picLocks noChangeAspect="1"/>
          </p:cNvPicPr>
          <p:nvPr/>
        </p:nvPicPr>
        <p:blipFill>
          <a:blip r:embed="rId6"/>
          <a:stretch>
            <a:fillRect/>
          </a:stretch>
        </p:blipFill>
        <p:spPr>
          <a:xfrm rot="5400000">
            <a:off x="3200400" y="787400"/>
            <a:ext cx="635000" cy="12700"/>
          </a:xfrm>
          <a:prstGeom prst="rect">
            <a:avLst/>
          </a:prstGeom>
        </p:spPr>
      </p:pic>
      <p:pic>
        <p:nvPicPr>
          <p:cNvPr id="5" name="Picture 5">
            <a:extLst>
              <a:ext uri="{FF2B5EF4-FFF2-40B4-BE49-F238E27FC236}">
                <a16:creationId xmlns:a16="http://schemas.microsoft.com/office/drawing/2014/main" id="{0D7DE297-FE2B-3A13-14AC-B912B179E8B0}"/>
              </a:ext>
            </a:extLst>
          </p:cNvPr>
          <p:cNvPicPr>
            <a:picLocks noChangeAspect="1"/>
          </p:cNvPicPr>
          <p:nvPr/>
        </p:nvPicPr>
        <p:blipFill>
          <a:blip r:embed="rId6"/>
          <a:stretch>
            <a:fillRect/>
          </a:stretch>
        </p:blipFill>
        <p:spPr>
          <a:xfrm rot="5400000">
            <a:off x="22225000" y="787400"/>
            <a:ext cx="635000" cy="12700"/>
          </a:xfrm>
          <a:prstGeom prst="rect">
            <a:avLst/>
          </a:prstGeom>
        </p:spPr>
      </p:pic>
      <p:pic>
        <p:nvPicPr>
          <p:cNvPr id="6" name="Picture 6">
            <a:extLst>
              <a:ext uri="{FF2B5EF4-FFF2-40B4-BE49-F238E27FC236}">
                <a16:creationId xmlns:a16="http://schemas.microsoft.com/office/drawing/2014/main" id="{5A2516B3-433E-5F01-B0C9-F4DA3E38FB3D}"/>
              </a:ext>
            </a:extLst>
          </p:cNvPr>
          <p:cNvPicPr>
            <a:picLocks noChangeAspect="1"/>
          </p:cNvPicPr>
          <p:nvPr/>
        </p:nvPicPr>
        <p:blipFill>
          <a:blip r:embed="rId6"/>
          <a:stretch>
            <a:fillRect/>
          </a:stretch>
        </p:blipFill>
        <p:spPr>
          <a:xfrm rot="5400000">
            <a:off x="6337300" y="787400"/>
            <a:ext cx="635000" cy="12700"/>
          </a:xfrm>
          <a:prstGeom prst="rect">
            <a:avLst/>
          </a:prstGeom>
        </p:spPr>
      </p:pic>
      <p:pic>
        <p:nvPicPr>
          <p:cNvPr id="7" name="Picture 7">
            <a:extLst>
              <a:ext uri="{FF2B5EF4-FFF2-40B4-BE49-F238E27FC236}">
                <a16:creationId xmlns:a16="http://schemas.microsoft.com/office/drawing/2014/main" id="{7BF4554F-2BBB-E4D2-EA31-3CC15AAAD8E7}"/>
              </a:ext>
            </a:extLst>
          </p:cNvPr>
          <p:cNvPicPr>
            <a:picLocks noChangeAspect="1"/>
          </p:cNvPicPr>
          <p:nvPr/>
        </p:nvPicPr>
        <p:blipFill>
          <a:blip r:embed="rId5"/>
          <a:stretch>
            <a:fillRect/>
          </a:stretch>
        </p:blipFill>
        <p:spPr>
          <a:xfrm>
            <a:off x="723900" y="457200"/>
            <a:ext cx="22860000" cy="12700"/>
          </a:xfrm>
          <a:prstGeom prst="rect">
            <a:avLst/>
          </a:prstGeom>
        </p:spPr>
      </p:pic>
      <p:pic>
        <p:nvPicPr>
          <p:cNvPr id="10" name="Picture 10">
            <a:extLst>
              <a:ext uri="{FF2B5EF4-FFF2-40B4-BE49-F238E27FC236}">
                <a16:creationId xmlns:a16="http://schemas.microsoft.com/office/drawing/2014/main" id="{8E172D1D-9192-E936-AE5D-A3318B37DDCA}"/>
              </a:ext>
            </a:extLst>
          </p:cNvPr>
          <p:cNvPicPr>
            <a:picLocks noChangeAspect="1"/>
          </p:cNvPicPr>
          <p:nvPr/>
        </p:nvPicPr>
        <p:blipFill>
          <a:blip r:embed="rId7"/>
          <a:stretch>
            <a:fillRect/>
          </a:stretch>
        </p:blipFill>
        <p:spPr>
          <a:xfrm>
            <a:off x="1485900" y="1612900"/>
            <a:ext cx="88900" cy="850900"/>
          </a:xfrm>
          <a:prstGeom prst="rect">
            <a:avLst/>
          </a:prstGeom>
        </p:spPr>
      </p:pic>
      <p:sp>
        <p:nvSpPr>
          <p:cNvPr id="11" name="TextBox 11">
            <a:extLst>
              <a:ext uri="{FF2B5EF4-FFF2-40B4-BE49-F238E27FC236}">
                <a16:creationId xmlns:a16="http://schemas.microsoft.com/office/drawing/2014/main" id="{CEE3491D-E377-C0EB-1113-2F8463291E64}"/>
              </a:ext>
            </a:extLst>
          </p:cNvPr>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84</a:t>
            </a:r>
          </a:p>
        </p:txBody>
      </p:sp>
      <p:sp>
        <p:nvSpPr>
          <p:cNvPr id="18" name="TextBox 18">
            <a:extLst>
              <a:ext uri="{FF2B5EF4-FFF2-40B4-BE49-F238E27FC236}">
                <a16:creationId xmlns:a16="http://schemas.microsoft.com/office/drawing/2014/main" id="{348DC450-800A-890E-A4AE-A994B537716D}"/>
              </a:ext>
            </a:extLst>
          </p:cNvPr>
          <p:cNvSpPr txBox="1"/>
          <p:nvPr/>
        </p:nvSpPr>
        <p:spPr>
          <a:xfrm>
            <a:off x="1943100" y="1409700"/>
            <a:ext cx="20281900" cy="1257300"/>
          </a:xfrm>
          <a:prstGeom prst="rect">
            <a:avLst/>
          </a:prstGeom>
        </p:spPr>
        <p:txBody>
          <a:bodyPr lIns="0" tIns="44874" rIns="0" bIns="0" rtlCol="0" anchor="t"/>
          <a:lstStyle/>
          <a:p>
            <a:pPr lvl="0" algn="l">
              <a:lnSpc>
                <a:spcPct val="107899"/>
              </a:lnSpc>
            </a:pPr>
            <a:r>
              <a:rPr lang="en-US" sz="7066" b="0" i="0" u="none" strike="noStrike" spc="-300" dirty="0" err="1">
                <a:solidFill>
                  <a:srgbClr val="000000"/>
                </a:solidFill>
                <a:latin typeface="Pretendard SemiBold"/>
                <a:ea typeface="Pretendard SemiBold"/>
                <a:cs typeface="Pretendard SemiBold"/>
              </a:rPr>
              <a:t>시나리오</a:t>
            </a:r>
            <a:r>
              <a:rPr lang="en-US" sz="7066" b="0" i="0" u="none" strike="noStrike" spc="-300" dirty="0">
                <a:solidFill>
                  <a:srgbClr val="000000"/>
                </a:solidFill>
                <a:latin typeface="Pretendard SemiBold"/>
                <a:ea typeface="Pretendard SemiBold"/>
                <a:cs typeface="Pretendard SemiBold"/>
              </a:rPr>
              <a:t> </a:t>
            </a:r>
            <a:r>
              <a:rPr lang="en-US" sz="7066" b="0" i="0" u="none" strike="noStrike" spc="-300" dirty="0" err="1">
                <a:solidFill>
                  <a:srgbClr val="000000"/>
                </a:solidFill>
                <a:latin typeface="Pretendard SemiBold"/>
                <a:ea typeface="Pretendard SemiBold"/>
                <a:cs typeface="Pretendard SemiBold"/>
              </a:rPr>
              <a:t>보안</a:t>
            </a:r>
            <a:r>
              <a:rPr lang="en-US" sz="7066" b="0" i="0" u="none" strike="noStrike" spc="-300" dirty="0">
                <a:solidFill>
                  <a:srgbClr val="000000"/>
                </a:solidFill>
                <a:latin typeface="Pretendard SemiBold"/>
                <a:ea typeface="Pretendard SemiBold"/>
                <a:cs typeface="Pretendard SemiBold"/>
              </a:rPr>
              <a:t> </a:t>
            </a:r>
            <a:r>
              <a:rPr lang="en-US" sz="7066" b="0" i="0" u="none" strike="noStrike" spc="-300" dirty="0" err="1">
                <a:solidFill>
                  <a:srgbClr val="000000"/>
                </a:solidFill>
                <a:latin typeface="Pretendard SemiBold"/>
                <a:ea typeface="Pretendard SemiBold"/>
                <a:cs typeface="Pretendard SemiBold"/>
              </a:rPr>
              <a:t>대책</a:t>
            </a:r>
            <a:endParaRPr lang="en-US" sz="7066" b="0" i="0" u="none" strike="noStrike" spc="-300" dirty="0">
              <a:solidFill>
                <a:srgbClr val="000000"/>
              </a:solidFill>
              <a:latin typeface="Pretendard SemiBold"/>
              <a:ea typeface="Pretendard SemiBold"/>
              <a:cs typeface="Pretendard SemiBold"/>
            </a:endParaRPr>
          </a:p>
        </p:txBody>
      </p:sp>
      <p:sp>
        <p:nvSpPr>
          <p:cNvPr id="32" name="TextBox 23">
            <a:extLst>
              <a:ext uri="{FF2B5EF4-FFF2-40B4-BE49-F238E27FC236}">
                <a16:creationId xmlns:a16="http://schemas.microsoft.com/office/drawing/2014/main" id="{5805D4AE-A968-44A4-387F-12F8DF3E9E14}"/>
              </a:ext>
            </a:extLst>
          </p:cNvPr>
          <p:cNvSpPr txBox="1"/>
          <p:nvPr/>
        </p:nvSpPr>
        <p:spPr>
          <a:xfrm>
            <a:off x="1955799" y="2736850"/>
            <a:ext cx="6197601" cy="685800"/>
          </a:xfrm>
          <a:prstGeom prst="rect">
            <a:avLst/>
          </a:prstGeom>
        </p:spPr>
        <p:txBody>
          <a:bodyPr lIns="0" tIns="0" rIns="0" bIns="0" rtlCol="0" anchor="t"/>
          <a:lstStyle/>
          <a:p>
            <a:pPr lvl="0" algn="ctr">
              <a:lnSpc>
                <a:spcPct val="116199"/>
              </a:lnSpc>
            </a:pPr>
            <a:r>
              <a:rPr lang="en-US" sz="3857" b="1" dirty="0">
                <a:solidFill>
                  <a:srgbClr val="000000"/>
                </a:solidFill>
                <a:latin typeface="Pretendard Bold"/>
                <a:ea typeface="Pretendard Bold"/>
                <a:cs typeface="Pretendard Bold"/>
              </a:rPr>
              <a:t>SBOM(</a:t>
            </a:r>
            <a:r>
              <a:rPr lang="ko-KR" altLang="en-US" sz="3857" b="1" dirty="0">
                <a:solidFill>
                  <a:srgbClr val="000000"/>
                </a:solidFill>
                <a:latin typeface="Pretendard Bold"/>
                <a:ea typeface="Pretendard Bold"/>
                <a:cs typeface="Pretendard Bold"/>
              </a:rPr>
              <a:t>소프트웨어 명세서</a:t>
            </a:r>
            <a:r>
              <a:rPr lang="en-US" sz="3857" b="1" dirty="0">
                <a:solidFill>
                  <a:srgbClr val="000000"/>
                </a:solidFill>
                <a:latin typeface="Pretendard Bold"/>
                <a:ea typeface="Pretendard Bold"/>
                <a:cs typeface="Pretendard Bold"/>
              </a:rPr>
              <a:t>)</a:t>
            </a:r>
          </a:p>
        </p:txBody>
      </p:sp>
      <p:sp>
        <p:nvSpPr>
          <p:cNvPr id="19" name="TextBox 14">
            <a:extLst>
              <a:ext uri="{FF2B5EF4-FFF2-40B4-BE49-F238E27FC236}">
                <a16:creationId xmlns:a16="http://schemas.microsoft.com/office/drawing/2014/main" id="{1F798AA4-AC95-6E67-03D1-2BF17F5945EC}"/>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0" name="TextBox 14">
            <a:extLst>
              <a:ext uri="{FF2B5EF4-FFF2-40B4-BE49-F238E27FC236}">
                <a16:creationId xmlns:a16="http://schemas.microsoft.com/office/drawing/2014/main" id="{80083856-245A-FFD3-D347-6F92B2B29258}"/>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2" name="Picture 2">
            <a:extLst>
              <a:ext uri="{FF2B5EF4-FFF2-40B4-BE49-F238E27FC236}">
                <a16:creationId xmlns:a16="http://schemas.microsoft.com/office/drawing/2014/main" id="{516AAB06-D35D-9D07-6698-CEFBC8DB770A}"/>
              </a:ext>
            </a:extLst>
          </p:cNvPr>
          <p:cNvPicPr>
            <a:picLocks noChangeAspect="1"/>
          </p:cNvPicPr>
          <p:nvPr/>
        </p:nvPicPr>
        <p:blipFill>
          <a:blip r:embed="rId8">
            <a:alphaModFix amt="85000"/>
          </a:blip>
          <a:stretch>
            <a:fillRect/>
          </a:stretch>
        </p:blipFill>
        <p:spPr>
          <a:xfrm>
            <a:off x="11201400" y="558800"/>
            <a:ext cx="2705100" cy="444500"/>
          </a:xfrm>
          <a:prstGeom prst="rect">
            <a:avLst/>
          </a:prstGeom>
        </p:spPr>
      </p:pic>
      <p:sp>
        <p:nvSpPr>
          <p:cNvPr id="23" name="TextBox 16">
            <a:extLst>
              <a:ext uri="{FF2B5EF4-FFF2-40B4-BE49-F238E27FC236}">
                <a16:creationId xmlns:a16="http://schemas.microsoft.com/office/drawing/2014/main" id="{50C1037B-E6A6-E9E2-C7BB-CE7ABACB6E6A}"/>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4" name="TextBox 18">
            <a:extLst>
              <a:ext uri="{FF2B5EF4-FFF2-40B4-BE49-F238E27FC236}">
                <a16:creationId xmlns:a16="http://schemas.microsoft.com/office/drawing/2014/main" id="{CEC7DD0A-B5DA-9726-E236-C6635674C8F6}"/>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시나리오 모의해킹</a:t>
            </a:r>
          </a:p>
        </p:txBody>
      </p:sp>
      <p:sp>
        <p:nvSpPr>
          <p:cNvPr id="25" name="TextBox 19">
            <a:extLst>
              <a:ext uri="{FF2B5EF4-FFF2-40B4-BE49-F238E27FC236}">
                <a16:creationId xmlns:a16="http://schemas.microsoft.com/office/drawing/2014/main" id="{9EA8D75C-81CB-D058-A614-48901EDE5784}"/>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프로젝트</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총평</a:t>
            </a:r>
            <a:endParaRPr lang="en-US" sz="2666" b="0" i="0" u="none" strike="noStrike" spc="-100" dirty="0">
              <a:solidFill>
                <a:srgbClr val="C2C2C2"/>
              </a:solidFill>
              <a:latin typeface="Pretendard SemiBold"/>
              <a:ea typeface="Pretendard SemiBold"/>
              <a:cs typeface="Pretendard SemiBold"/>
            </a:endParaRPr>
          </a:p>
        </p:txBody>
      </p:sp>
      <p:sp>
        <p:nvSpPr>
          <p:cNvPr id="27" name="TextBox 20">
            <a:extLst>
              <a:ext uri="{FF2B5EF4-FFF2-40B4-BE49-F238E27FC236}">
                <a16:creationId xmlns:a16="http://schemas.microsoft.com/office/drawing/2014/main" id="{1236B282-5810-7C47-5194-BA57E25BB5D6}"/>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개발</a:t>
            </a:r>
            <a:r>
              <a:rPr lang="en-US" sz="2666" b="0" i="0" u="none" strike="noStrike" spc="-100" dirty="0">
                <a:solidFill>
                  <a:srgbClr val="C2C2C2"/>
                </a:solidFill>
                <a:latin typeface="Pretendard SemiBold"/>
                <a:ea typeface="Pretendard SemiBold"/>
                <a:cs typeface="Pretendard SemiBold"/>
              </a:rPr>
              <a:t> 및 </a:t>
            </a:r>
            <a:r>
              <a:rPr lang="en-US" sz="2666" b="0" i="0" u="none" strike="noStrike" spc="-100" dirty="0" err="1">
                <a:solidFill>
                  <a:srgbClr val="C2C2C2"/>
                </a:solidFill>
                <a:latin typeface="Pretendard SemiBold"/>
                <a:ea typeface="Pretendard SemiBold"/>
                <a:cs typeface="Pretendard SemiBold"/>
              </a:rPr>
              <a:t>진단</a:t>
            </a:r>
            <a:endParaRPr lang="en-US" sz="2666" b="0" i="0" u="none" strike="noStrike" spc="-100" dirty="0">
              <a:solidFill>
                <a:srgbClr val="C2C2C2"/>
              </a:solidFill>
              <a:latin typeface="Pretendard SemiBold"/>
              <a:ea typeface="Pretendard SemiBold"/>
              <a:cs typeface="Pretendard SemiBold"/>
            </a:endParaRPr>
          </a:p>
        </p:txBody>
      </p:sp>
      <p:sp>
        <p:nvSpPr>
          <p:cNvPr id="26" name="TextBox 23">
            <a:extLst>
              <a:ext uri="{FF2B5EF4-FFF2-40B4-BE49-F238E27FC236}">
                <a16:creationId xmlns:a16="http://schemas.microsoft.com/office/drawing/2014/main" id="{853F5DFB-5593-C25C-0176-B6EBFCF9956C}"/>
              </a:ext>
            </a:extLst>
          </p:cNvPr>
          <p:cNvSpPr txBox="1"/>
          <p:nvPr/>
        </p:nvSpPr>
        <p:spPr>
          <a:xfrm>
            <a:off x="14970125" y="4235450"/>
            <a:ext cx="5708650" cy="685800"/>
          </a:xfrm>
          <a:prstGeom prst="rect">
            <a:avLst/>
          </a:prstGeom>
        </p:spPr>
        <p:txBody>
          <a:bodyPr lIns="0" tIns="0" rIns="0" bIns="0" rtlCol="0" anchor="t"/>
          <a:lstStyle/>
          <a:p>
            <a:pPr lvl="0" algn="ctr">
              <a:lnSpc>
                <a:spcPct val="116199"/>
              </a:lnSpc>
            </a:pPr>
            <a:r>
              <a:rPr lang="en-US" altLang="ko-KR" sz="3857" b="1" dirty="0">
                <a:solidFill>
                  <a:srgbClr val="000000"/>
                </a:solidFill>
                <a:latin typeface="Pretendard Bold"/>
                <a:ea typeface="Pretendard Bold"/>
                <a:cs typeface="Pretendard Bold"/>
              </a:rPr>
              <a:t>SBOM</a:t>
            </a:r>
            <a:r>
              <a:rPr lang="ko-KR" altLang="en-US" sz="3857" b="1" dirty="0">
                <a:solidFill>
                  <a:srgbClr val="000000"/>
                </a:solidFill>
                <a:latin typeface="Pretendard Bold"/>
                <a:ea typeface="Pretendard Bold"/>
                <a:cs typeface="Pretendard Bold"/>
              </a:rPr>
              <a:t> 적용 방법</a:t>
            </a:r>
            <a:endParaRPr lang="en-US" altLang="ko-KR" sz="3857" b="1" dirty="0">
              <a:solidFill>
                <a:srgbClr val="000000"/>
              </a:solidFill>
              <a:latin typeface="Pretendard Bold"/>
              <a:ea typeface="Pretendard Bold"/>
              <a:cs typeface="Pretendard Bold"/>
            </a:endParaRPr>
          </a:p>
        </p:txBody>
      </p:sp>
      <p:sp>
        <p:nvSpPr>
          <p:cNvPr id="35" name="TextBox 23">
            <a:extLst>
              <a:ext uri="{FF2B5EF4-FFF2-40B4-BE49-F238E27FC236}">
                <a16:creationId xmlns:a16="http://schemas.microsoft.com/office/drawing/2014/main" id="{E5EE7C4B-C4D0-18D4-3BCA-DF35199387FA}"/>
              </a:ext>
            </a:extLst>
          </p:cNvPr>
          <p:cNvSpPr txBox="1"/>
          <p:nvPr/>
        </p:nvSpPr>
        <p:spPr>
          <a:xfrm>
            <a:off x="3511550" y="4340225"/>
            <a:ext cx="5708650" cy="685800"/>
          </a:xfrm>
          <a:prstGeom prst="rect">
            <a:avLst/>
          </a:prstGeom>
        </p:spPr>
        <p:txBody>
          <a:bodyPr lIns="0" tIns="0" rIns="0" bIns="0" rtlCol="0" anchor="t"/>
          <a:lstStyle/>
          <a:p>
            <a:pPr lvl="0" algn="ctr">
              <a:lnSpc>
                <a:spcPct val="116199"/>
              </a:lnSpc>
            </a:pPr>
            <a:r>
              <a:rPr lang="en-US" altLang="ko-KR" sz="3857" b="1" dirty="0">
                <a:solidFill>
                  <a:srgbClr val="000000"/>
                </a:solidFill>
                <a:latin typeface="Pretendard Bold"/>
                <a:ea typeface="Pretendard Bold"/>
                <a:cs typeface="Pretendard Bold"/>
              </a:rPr>
              <a:t>SBOM</a:t>
            </a:r>
            <a:r>
              <a:rPr lang="ko-KR" altLang="en-US" sz="3857" b="1" dirty="0">
                <a:solidFill>
                  <a:srgbClr val="000000"/>
                </a:solidFill>
                <a:latin typeface="Pretendard Bold"/>
                <a:ea typeface="Pretendard Bold"/>
                <a:cs typeface="Pretendard Bold"/>
              </a:rPr>
              <a:t>을 </a:t>
            </a:r>
            <a:r>
              <a:rPr lang="ko-KR" altLang="en-US" sz="3857" b="1" dirty="0" err="1">
                <a:solidFill>
                  <a:srgbClr val="000000"/>
                </a:solidFill>
                <a:latin typeface="Pretendard Bold"/>
                <a:ea typeface="Pretendard Bold"/>
                <a:cs typeface="Pretendard Bold"/>
              </a:rPr>
              <a:t>써야하는</a:t>
            </a:r>
            <a:r>
              <a:rPr lang="ko-KR" altLang="en-US" sz="3857" b="1" dirty="0">
                <a:solidFill>
                  <a:srgbClr val="000000"/>
                </a:solidFill>
                <a:latin typeface="Pretendard Bold"/>
                <a:ea typeface="Pretendard Bold"/>
                <a:cs typeface="Pretendard Bold"/>
              </a:rPr>
              <a:t> 이유</a:t>
            </a:r>
            <a:endParaRPr lang="en-US" altLang="ko-KR" sz="3857" b="1" dirty="0">
              <a:solidFill>
                <a:srgbClr val="000000"/>
              </a:solidFill>
              <a:latin typeface="Pretendard Bold"/>
              <a:ea typeface="Pretendard Bold"/>
              <a:cs typeface="Pretendard Bold"/>
            </a:endParaRPr>
          </a:p>
        </p:txBody>
      </p:sp>
      <p:sp>
        <p:nvSpPr>
          <p:cNvPr id="36" name="TextBox 41">
            <a:extLst>
              <a:ext uri="{FF2B5EF4-FFF2-40B4-BE49-F238E27FC236}">
                <a16:creationId xmlns:a16="http://schemas.microsoft.com/office/drawing/2014/main" id="{B2B68FD4-B196-3BC5-CA59-ACF5DB48952F}"/>
              </a:ext>
            </a:extLst>
          </p:cNvPr>
          <p:cNvSpPr txBox="1"/>
          <p:nvPr/>
        </p:nvSpPr>
        <p:spPr>
          <a:xfrm>
            <a:off x="1993900" y="5238750"/>
            <a:ext cx="9321800" cy="6007100"/>
          </a:xfrm>
          <a:prstGeom prst="rect">
            <a:avLst/>
          </a:prstGeom>
        </p:spPr>
        <p:txBody>
          <a:bodyPr lIns="0" tIns="0" rIns="0" bIns="0" rtlCol="0" anchor="t"/>
          <a:lstStyle/>
          <a:p>
            <a:pPr marL="457200" lvl="0" indent="-457200">
              <a:lnSpc>
                <a:spcPct val="116199"/>
              </a:lnSpc>
              <a:buFontTx/>
              <a:buChar char="-"/>
            </a:pPr>
            <a:r>
              <a:rPr lang="en-US" altLang="ko-KR"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Log4j </a:t>
            </a:r>
            <a:r>
              <a:rPr lang="ko-KR" altLang="en-US"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와 같은 세계적으로 사용되는 라이브러리에 취약점이</a:t>
            </a:r>
            <a:r>
              <a:rPr lang="en-US" altLang="ko-KR"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 </a:t>
            </a:r>
            <a:r>
              <a:rPr lang="ko-KR" altLang="en-US"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발견되었지만</a:t>
            </a:r>
            <a:r>
              <a:rPr lang="en-US" altLang="ko-KR"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 </a:t>
            </a:r>
            <a:r>
              <a:rPr lang="ko-KR" altLang="en-US"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다른 프레임워크나 솔루션에 내장되어 있어</a:t>
            </a:r>
            <a:r>
              <a:rPr lang="en-US" altLang="ko-KR"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 </a:t>
            </a:r>
            <a:r>
              <a:rPr lang="ko-KR" altLang="en-US"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소스코드 검색만으로는 시스템에 포함되어 있는지 탐지하기가 사실상 불가능했음</a:t>
            </a:r>
            <a:r>
              <a:rPr lang="en-US" altLang="ko-KR"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a:t>
            </a:r>
            <a:endParaRPr lang="en-US" altLang="ko-KR" sz="2800"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endParaRPr>
          </a:p>
          <a:p>
            <a:pPr marL="457200" lvl="0" indent="-457200">
              <a:lnSpc>
                <a:spcPct val="116199"/>
              </a:lnSpc>
              <a:buFontTx/>
              <a:buChar char="-"/>
            </a:pPr>
            <a:endParaRPr lang="en-US" altLang="ko-KR"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endParaRPr>
          </a:p>
          <a:p>
            <a:pPr marL="457200" lvl="0" indent="-457200">
              <a:lnSpc>
                <a:spcPct val="116199"/>
              </a:lnSpc>
              <a:buFontTx/>
              <a:buChar char="-"/>
            </a:pPr>
            <a:r>
              <a:rPr lang="en-US" altLang="ko-KR" sz="2800"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KISA</a:t>
            </a:r>
            <a:r>
              <a:rPr lang="ko-KR" altLang="en-US" sz="2800"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에 따르면 고위험 취약점을 한 개 이상 포함하고 있는 오픈소스 코드베이스가 </a:t>
            </a:r>
            <a:r>
              <a:rPr lang="en-US" altLang="ko-KR" sz="2800"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50%</a:t>
            </a:r>
            <a:r>
              <a:rPr lang="ko-KR" altLang="en-US" sz="2800"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에 달할 만큼 관리가 어려움</a:t>
            </a:r>
            <a:r>
              <a:rPr lang="en-US" altLang="ko-KR" sz="2800"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a:t>
            </a:r>
            <a:endParaRPr lang="en-US" altLang="ko-KR"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endParaRPr>
          </a:p>
          <a:p>
            <a:pPr marL="457200" lvl="0" indent="-457200">
              <a:lnSpc>
                <a:spcPct val="116199"/>
              </a:lnSpc>
              <a:buFontTx/>
              <a:buChar char="-"/>
            </a:pPr>
            <a:endParaRPr lang="en-US"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endParaRPr>
          </a:p>
          <a:p>
            <a:pPr marL="457200" lvl="0" indent="-457200">
              <a:lnSpc>
                <a:spcPct val="116199"/>
              </a:lnSpc>
              <a:buFontTx/>
              <a:buChar char="-"/>
            </a:pPr>
            <a:r>
              <a:rPr lang="ko-KR" altLang="en-US"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개발</a:t>
            </a:r>
            <a:r>
              <a:rPr lang="en-US" altLang="ko-KR"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 </a:t>
            </a:r>
            <a:r>
              <a:rPr lang="ko-KR" altLang="en-US"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유통</a:t>
            </a:r>
            <a:r>
              <a:rPr lang="en-US" altLang="ko-KR"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 </a:t>
            </a:r>
            <a:r>
              <a:rPr lang="ko-KR" altLang="en-US"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운영 전 단계에서 </a:t>
            </a:r>
            <a:r>
              <a:rPr lang="en-US" altLang="ko-KR"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SW</a:t>
            </a:r>
            <a:r>
              <a:rPr lang="ko-KR" altLang="en-US"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에 어떤 오픈소스나 타사 라이브러리가 포함되어 있는지 </a:t>
            </a:r>
            <a:r>
              <a:rPr lang="ko-KR" altLang="en-US" sz="2800" b="0" i="0" u="none" strike="noStrike" dirty="0" err="1">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목록화하여</a:t>
            </a:r>
            <a:r>
              <a:rPr lang="en-US" altLang="ko-KR"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 </a:t>
            </a:r>
            <a:r>
              <a:rPr lang="ko-KR" altLang="en-US"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새로운 취약점이 발표될 경우</a:t>
            </a:r>
            <a:r>
              <a:rPr lang="en-US" altLang="ko-KR"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 </a:t>
            </a:r>
            <a:r>
              <a:rPr lang="ko-KR" altLang="en-US"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해당 취약한 컴포넌트가 어느 시스템에 쓰이고 있는지 즉시 검색하여 패치를 적용함</a:t>
            </a:r>
            <a:r>
              <a:rPr lang="en-US" altLang="ko-KR" sz="2800"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a:t>
            </a:r>
            <a:endParaRPr lang="ko-KR" altLang="en-US"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endParaRPr>
          </a:p>
        </p:txBody>
      </p:sp>
      <p:sp>
        <p:nvSpPr>
          <p:cNvPr id="28" name="TextBox 41">
            <a:extLst>
              <a:ext uri="{FF2B5EF4-FFF2-40B4-BE49-F238E27FC236}">
                <a16:creationId xmlns:a16="http://schemas.microsoft.com/office/drawing/2014/main" id="{D5AA0959-729F-3FFE-ED25-B0294FF5D44C}"/>
              </a:ext>
            </a:extLst>
          </p:cNvPr>
          <p:cNvSpPr txBox="1"/>
          <p:nvPr/>
        </p:nvSpPr>
        <p:spPr>
          <a:xfrm>
            <a:off x="13208000" y="5302250"/>
            <a:ext cx="9321800" cy="5575300"/>
          </a:xfrm>
          <a:prstGeom prst="rect">
            <a:avLst/>
          </a:prstGeom>
        </p:spPr>
        <p:txBody>
          <a:bodyPr lIns="0" tIns="0" rIns="0" bIns="0" rtlCol="0" anchor="t"/>
          <a:lstStyle/>
          <a:p>
            <a:pPr marL="457200" indent="-457200">
              <a:lnSpc>
                <a:spcPct val="116199"/>
              </a:lnSpc>
              <a:buFontTx/>
              <a:buChar char="-"/>
            </a:pPr>
            <a:r>
              <a:rPr lang="ko-KR" altLang="en-US"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개발자가</a:t>
            </a:r>
            <a:r>
              <a:rPr lang="en-US" altLang="ko-KR"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 </a:t>
            </a:r>
            <a:r>
              <a:rPr lang="ko-KR" altLang="en-US"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코드를 빌드하는 시점에 명세서가 자동으로 생성되도록 </a:t>
            </a:r>
            <a:r>
              <a:rPr lang="en-US" altLang="ko-KR"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CI/CD </a:t>
            </a:r>
            <a:r>
              <a:rPr lang="ko-KR" altLang="en-US"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파이프라인에 </a:t>
            </a:r>
            <a:r>
              <a:rPr lang="en-US" altLang="ko-KR"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SBOM </a:t>
            </a:r>
            <a:r>
              <a:rPr lang="ko-KR" altLang="en-US"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추출 전용 플러그인을 연동함</a:t>
            </a:r>
            <a:r>
              <a:rPr lang="en-US" altLang="ko-KR"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a:t>
            </a:r>
          </a:p>
          <a:p>
            <a:pPr marL="457200" indent="-457200">
              <a:lnSpc>
                <a:spcPct val="116199"/>
              </a:lnSpc>
              <a:buFontTx/>
              <a:buChar char="-"/>
            </a:pPr>
            <a:endParaRPr lang="en-US" altLang="ko-KR"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endParaRPr>
          </a:p>
          <a:p>
            <a:pPr marL="457200" indent="-457200">
              <a:lnSpc>
                <a:spcPct val="116199"/>
              </a:lnSpc>
              <a:buFontTx/>
              <a:buChar char="-"/>
            </a:pPr>
            <a:r>
              <a:rPr lang="en-US" altLang="ko-KR"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SBOM </a:t>
            </a:r>
            <a:r>
              <a:rPr lang="ko-KR" altLang="en-US"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파일을 소프트웨어 구성 분석</a:t>
            </a:r>
            <a:r>
              <a:rPr lang="en-US" altLang="ko-KR"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 </a:t>
            </a:r>
            <a:r>
              <a:rPr lang="ko-KR" altLang="en-US"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도구</a:t>
            </a:r>
            <a:r>
              <a:rPr lang="ko-KR" altLang="en-US" sz="2800"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를 이용하여</a:t>
            </a:r>
            <a:r>
              <a:rPr lang="en-US" altLang="ko-KR"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 </a:t>
            </a:r>
            <a:r>
              <a:rPr lang="ko-KR" altLang="en-US"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전 세계 취약점 데이터베이스와 실시간으로 사용 중인 라이브러리 버전에 알려진 </a:t>
            </a:r>
            <a:r>
              <a:rPr lang="en-US" altLang="ko-KR"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CVE</a:t>
            </a:r>
            <a:r>
              <a:rPr lang="ko-KR" altLang="en-US"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가 존재하는지 스캔함</a:t>
            </a:r>
            <a:r>
              <a:rPr lang="en-US" altLang="ko-KR"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a:t>
            </a:r>
            <a:r>
              <a:rPr lang="ko-KR" altLang="en-US"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 </a:t>
            </a:r>
            <a:endParaRPr lang="en-US" sz="2800"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endParaRPr>
          </a:p>
        </p:txBody>
      </p:sp>
    </p:spTree>
    <p:extLst>
      <p:ext uri="{BB962C8B-B14F-4D97-AF65-F5344CB8AC3E}">
        <p14:creationId xmlns:p14="http://schemas.microsoft.com/office/powerpoint/2010/main" val="297562860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a:extLst>
            <a:ext uri="{FF2B5EF4-FFF2-40B4-BE49-F238E27FC236}">
              <a16:creationId xmlns:a16="http://schemas.microsoft.com/office/drawing/2014/main" id="{F463E4BD-3B44-772F-0768-679A4BD3DB57}"/>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7B4571AF-7314-FA72-6775-77E3CDFDA39A}"/>
              </a:ext>
            </a:extLst>
          </p:cNvPr>
          <p:cNvPicPr>
            <a:picLocks noChangeAspect="1"/>
          </p:cNvPicPr>
          <p:nvPr/>
        </p:nvPicPr>
        <p:blipFill>
          <a:blip r:embed="rId2">
            <a:alphaModFix amt="80000"/>
          </a:blip>
          <a:stretch>
            <a:fillRect/>
          </a:stretch>
        </p:blipFill>
        <p:spPr>
          <a:xfrm>
            <a:off x="15798800" y="-1803400"/>
            <a:ext cx="11442700" cy="11442700"/>
          </a:xfrm>
          <a:prstGeom prst="rect">
            <a:avLst/>
          </a:prstGeom>
        </p:spPr>
      </p:pic>
      <p:pic>
        <p:nvPicPr>
          <p:cNvPr id="3" name="Picture 3">
            <a:extLst>
              <a:ext uri="{FF2B5EF4-FFF2-40B4-BE49-F238E27FC236}">
                <a16:creationId xmlns:a16="http://schemas.microsoft.com/office/drawing/2014/main" id="{CDC39BB9-BE82-AE54-AFA2-E5D1731C2876}"/>
              </a:ext>
            </a:extLst>
          </p:cNvPr>
          <p:cNvPicPr>
            <a:picLocks noChangeAspect="1"/>
          </p:cNvPicPr>
          <p:nvPr/>
        </p:nvPicPr>
        <p:blipFill>
          <a:blip r:embed="rId2">
            <a:alphaModFix amt="40000"/>
          </a:blip>
          <a:stretch>
            <a:fillRect/>
          </a:stretch>
        </p:blipFill>
        <p:spPr>
          <a:xfrm>
            <a:off x="-2806700" y="4838354"/>
            <a:ext cx="11442700" cy="11442700"/>
          </a:xfrm>
          <a:prstGeom prst="rect">
            <a:avLst/>
          </a:prstGeom>
        </p:spPr>
      </p:pic>
      <p:sp>
        <p:nvSpPr>
          <p:cNvPr id="4" name="TextBox 4">
            <a:extLst>
              <a:ext uri="{FF2B5EF4-FFF2-40B4-BE49-F238E27FC236}">
                <a16:creationId xmlns:a16="http://schemas.microsoft.com/office/drawing/2014/main" id="{2C84FD75-76EA-4D8E-4B8B-844CB8917E1E}"/>
              </a:ext>
            </a:extLst>
          </p:cNvPr>
          <p:cNvSpPr txBox="1"/>
          <p:nvPr/>
        </p:nvSpPr>
        <p:spPr>
          <a:xfrm>
            <a:off x="6858000" y="4838354"/>
            <a:ext cx="9580972" cy="1778000"/>
          </a:xfrm>
          <a:prstGeom prst="rect">
            <a:avLst/>
          </a:prstGeom>
        </p:spPr>
        <p:txBody>
          <a:bodyPr lIns="0" tIns="0" rIns="0" bIns="0" rtlCol="0" anchor="t"/>
          <a:lstStyle/>
          <a:p>
            <a:pPr>
              <a:lnSpc>
                <a:spcPct val="143590"/>
              </a:lnSpc>
            </a:pPr>
            <a:r>
              <a:rPr lang="ko-KR" altLang="en-US" sz="9600" dirty="0">
                <a:latin typeface="Pretendard SemiBold" panose="02000703000000020004" pitchFamily="2" charset="-127"/>
                <a:ea typeface="Pretendard SemiBold" panose="02000703000000020004" pitchFamily="2" charset="-127"/>
                <a:cs typeface="Pretendard SemiBold" panose="02000703000000020004" pitchFamily="2" charset="-127"/>
              </a:rPr>
              <a:t>프로젝트 총평</a:t>
            </a:r>
            <a:endParaRPr lang="en-US" altLang="ko-KR" sz="9600" dirty="0">
              <a:latin typeface="Pretendard SemiBold" panose="02000703000000020004" pitchFamily="2" charset="-127"/>
              <a:ea typeface="Pretendard SemiBold" panose="02000703000000020004" pitchFamily="2" charset="-127"/>
              <a:cs typeface="Pretendard SemiBold" panose="02000703000000020004" pitchFamily="2" charset="-127"/>
            </a:endParaRPr>
          </a:p>
        </p:txBody>
      </p:sp>
      <p:sp>
        <p:nvSpPr>
          <p:cNvPr id="65" name="TextBox 64">
            <a:extLst>
              <a:ext uri="{FF2B5EF4-FFF2-40B4-BE49-F238E27FC236}">
                <a16:creationId xmlns:a16="http://schemas.microsoft.com/office/drawing/2014/main" id="{501E7D1C-B8B5-02FC-3FCC-A2BA7FABF435}"/>
              </a:ext>
            </a:extLst>
          </p:cNvPr>
          <p:cNvSpPr txBox="1"/>
          <p:nvPr/>
        </p:nvSpPr>
        <p:spPr>
          <a:xfrm>
            <a:off x="2114550" y="2057400"/>
            <a:ext cx="4972050" cy="5982087"/>
          </a:xfrm>
          <a:prstGeom prst="rect">
            <a:avLst/>
          </a:prstGeom>
          <a:noFill/>
        </p:spPr>
        <p:txBody>
          <a:bodyPr wrap="square">
            <a:spAutoFit/>
          </a:bodyPr>
          <a:lstStyle/>
          <a:p>
            <a:pPr>
              <a:lnSpc>
                <a:spcPct val="143590"/>
              </a:lnSpc>
            </a:pPr>
            <a:r>
              <a:rPr lang="en-US" altLang="ko-KR" sz="30000" dirty="0">
                <a:solidFill>
                  <a:srgbClr val="1A7AE1"/>
                </a:solidFill>
                <a:latin typeface="Pretendard Regular" panose="02000503000000020004" pitchFamily="2" charset="-127"/>
                <a:ea typeface="Pretendard Regular" panose="02000503000000020004" pitchFamily="2" charset="-127"/>
                <a:cs typeface="Pretendard Regular" panose="02000503000000020004" pitchFamily="2" charset="-127"/>
              </a:rPr>
              <a:t>04</a:t>
            </a:r>
          </a:p>
        </p:txBody>
      </p:sp>
      <p:cxnSp>
        <p:nvCxnSpPr>
          <p:cNvPr id="67" name="직선 연결선 66">
            <a:extLst>
              <a:ext uri="{FF2B5EF4-FFF2-40B4-BE49-F238E27FC236}">
                <a16:creationId xmlns:a16="http://schemas.microsoft.com/office/drawing/2014/main" id="{7592D180-B501-FB5B-E090-EA5A5B5D7D86}"/>
              </a:ext>
            </a:extLst>
          </p:cNvPr>
          <p:cNvCxnSpPr>
            <a:cxnSpLocks/>
          </p:cNvCxnSpPr>
          <p:nvPr/>
        </p:nvCxnSpPr>
        <p:spPr>
          <a:xfrm>
            <a:off x="6661150" y="6858000"/>
            <a:ext cx="13760450" cy="0"/>
          </a:xfrm>
          <a:prstGeom prst="line">
            <a:avLst/>
          </a:prstGeom>
          <a:ln w="57150">
            <a:solidFill>
              <a:srgbClr val="1A7AE1"/>
            </a:solidFill>
          </a:ln>
        </p:spPr>
        <p:style>
          <a:lnRef idx="1">
            <a:schemeClr val="accent1"/>
          </a:lnRef>
          <a:fillRef idx="0">
            <a:schemeClr val="accent1"/>
          </a:fillRef>
          <a:effectRef idx="0">
            <a:schemeClr val="accent1"/>
          </a:effectRef>
          <a:fontRef idx="minor">
            <a:schemeClr val="tx1"/>
          </a:fontRef>
        </p:style>
      </p:cxnSp>
      <p:cxnSp>
        <p:nvCxnSpPr>
          <p:cNvPr id="68" name="직선 연결선 67">
            <a:extLst>
              <a:ext uri="{FF2B5EF4-FFF2-40B4-BE49-F238E27FC236}">
                <a16:creationId xmlns:a16="http://schemas.microsoft.com/office/drawing/2014/main" id="{194C0EAC-695A-78A4-EED7-97322EB6E683}"/>
              </a:ext>
            </a:extLst>
          </p:cNvPr>
          <p:cNvCxnSpPr>
            <a:cxnSpLocks/>
          </p:cNvCxnSpPr>
          <p:nvPr/>
        </p:nvCxnSpPr>
        <p:spPr>
          <a:xfrm>
            <a:off x="4857114" y="3191568"/>
            <a:ext cx="781686" cy="0"/>
          </a:xfrm>
          <a:prstGeom prst="line">
            <a:avLst/>
          </a:prstGeom>
          <a:ln w="9525">
            <a:solidFill>
              <a:srgbClr val="1A7AE1"/>
            </a:solidFill>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15DDD56E-028D-0A6A-14D4-522C6728948A}"/>
              </a:ext>
            </a:extLst>
          </p:cNvPr>
          <p:cNvSpPr txBox="1"/>
          <p:nvPr/>
        </p:nvSpPr>
        <p:spPr>
          <a:xfrm>
            <a:off x="2514600" y="2872827"/>
            <a:ext cx="3048000" cy="637482"/>
          </a:xfrm>
          <a:prstGeom prst="rect">
            <a:avLst/>
          </a:prstGeom>
          <a:noFill/>
        </p:spPr>
        <p:txBody>
          <a:bodyPr wrap="square">
            <a:spAutoFit/>
          </a:bodyPr>
          <a:lstStyle/>
          <a:p>
            <a:pPr lvl="0" algn="l">
              <a:lnSpc>
                <a:spcPct val="107899"/>
              </a:lnSpc>
            </a:pPr>
            <a:r>
              <a:rPr lang="en-US" altLang="ko-KR" sz="3500" dirty="0">
                <a:solidFill>
                  <a:srgbClr val="1A7AE1"/>
                </a:solidFill>
                <a:latin typeface="Pretendard Medium"/>
                <a:ea typeface="Pretendard Medium"/>
                <a:cs typeface="Pretendard Medium"/>
              </a:rPr>
              <a:t>CHAPTER</a:t>
            </a:r>
            <a:endParaRPr lang="en-US" altLang="ko-KR" sz="3500" b="0" i="0" u="none" strike="noStrike" dirty="0">
              <a:solidFill>
                <a:srgbClr val="1A7AE1"/>
              </a:solidFill>
              <a:latin typeface="Pretendard Medium"/>
              <a:ea typeface="Pretendard Medium"/>
              <a:cs typeface="Pretendard Medium"/>
            </a:endParaRPr>
          </a:p>
        </p:txBody>
      </p:sp>
      <p:sp>
        <p:nvSpPr>
          <p:cNvPr id="76" name="타원 75">
            <a:extLst>
              <a:ext uri="{FF2B5EF4-FFF2-40B4-BE49-F238E27FC236}">
                <a16:creationId xmlns:a16="http://schemas.microsoft.com/office/drawing/2014/main" id="{299EBEBD-414E-AAFB-2D8A-964F146A5FD9}"/>
              </a:ext>
            </a:extLst>
          </p:cNvPr>
          <p:cNvSpPr/>
          <p:nvPr/>
        </p:nvSpPr>
        <p:spPr>
          <a:xfrm>
            <a:off x="20246913" y="6704980"/>
            <a:ext cx="303274" cy="304800"/>
          </a:xfrm>
          <a:prstGeom prst="ellipse">
            <a:avLst/>
          </a:prstGeom>
          <a:solidFill>
            <a:srgbClr val="1A7AE1"/>
          </a:solidFill>
          <a:ln>
            <a:solidFill>
              <a:srgbClr val="1A7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7" name="타원 76">
            <a:extLst>
              <a:ext uri="{FF2B5EF4-FFF2-40B4-BE49-F238E27FC236}">
                <a16:creationId xmlns:a16="http://schemas.microsoft.com/office/drawing/2014/main" id="{4CEB7E10-213B-3BC1-4828-70AFFFECD680}"/>
              </a:ext>
            </a:extLst>
          </p:cNvPr>
          <p:cNvSpPr/>
          <p:nvPr/>
        </p:nvSpPr>
        <p:spPr>
          <a:xfrm>
            <a:off x="6934200" y="7620000"/>
            <a:ext cx="152400" cy="137447"/>
          </a:xfrm>
          <a:prstGeom prst="ellipse">
            <a:avLst/>
          </a:prstGeom>
          <a:solidFill>
            <a:srgbClr val="1A7AE1"/>
          </a:solidFill>
          <a:ln>
            <a:solidFill>
              <a:srgbClr val="1A7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2" name="TextBox 81">
            <a:extLst>
              <a:ext uri="{FF2B5EF4-FFF2-40B4-BE49-F238E27FC236}">
                <a16:creationId xmlns:a16="http://schemas.microsoft.com/office/drawing/2014/main" id="{41F8F1F1-3F4B-AF92-0B35-E9527F4DFB9B}"/>
              </a:ext>
            </a:extLst>
          </p:cNvPr>
          <p:cNvSpPr txBox="1"/>
          <p:nvPr/>
        </p:nvSpPr>
        <p:spPr>
          <a:xfrm>
            <a:off x="7389018" y="7338139"/>
            <a:ext cx="8460582" cy="644857"/>
          </a:xfrm>
          <a:prstGeom prst="rect">
            <a:avLst/>
          </a:prstGeom>
          <a:noFill/>
        </p:spPr>
        <p:txBody>
          <a:bodyPr wrap="square">
            <a:spAutoFit/>
          </a:bodyPr>
          <a:lstStyle/>
          <a:p>
            <a:pPr lvl="0">
              <a:lnSpc>
                <a:spcPct val="143590"/>
              </a:lnSpc>
            </a:pPr>
            <a:r>
              <a:rPr lang="ko-KR" altLang="en-US" sz="2800" spc="-100" dirty="0">
                <a:solidFill>
                  <a:srgbClr val="000000">
                    <a:alpha val="70196"/>
                  </a:srgbClr>
                </a:solidFill>
                <a:latin typeface="Pretendard Medium"/>
                <a:ea typeface="Pretendard Medium"/>
                <a:cs typeface="Pretendard Medium"/>
              </a:rPr>
              <a:t>향후 계획</a:t>
            </a:r>
            <a:endParaRPr lang="en-US" altLang="ko-KR" sz="2800" spc="-100" dirty="0">
              <a:solidFill>
                <a:srgbClr val="000000">
                  <a:alpha val="70196"/>
                </a:srgbClr>
              </a:solidFill>
              <a:latin typeface="Pretendard Medium"/>
              <a:ea typeface="Pretendard Medium"/>
              <a:cs typeface="Pretendard Medium"/>
            </a:endParaRPr>
          </a:p>
        </p:txBody>
      </p:sp>
      <p:sp>
        <p:nvSpPr>
          <p:cNvPr id="86" name="타원 85">
            <a:extLst>
              <a:ext uri="{FF2B5EF4-FFF2-40B4-BE49-F238E27FC236}">
                <a16:creationId xmlns:a16="http://schemas.microsoft.com/office/drawing/2014/main" id="{8244EBD1-DC47-3347-931D-9B59803A1B7C}"/>
              </a:ext>
            </a:extLst>
          </p:cNvPr>
          <p:cNvSpPr/>
          <p:nvPr/>
        </p:nvSpPr>
        <p:spPr>
          <a:xfrm>
            <a:off x="17326031" y="3808760"/>
            <a:ext cx="6219769" cy="6249640"/>
          </a:xfrm>
          <a:prstGeom prst="ellipse">
            <a:avLst/>
          </a:prstGeom>
          <a:noFill/>
          <a:ln w="38100">
            <a:solidFill>
              <a:srgbClr val="1A7AE1">
                <a:alpha val="3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9" name="타원 88">
            <a:extLst>
              <a:ext uri="{FF2B5EF4-FFF2-40B4-BE49-F238E27FC236}">
                <a16:creationId xmlns:a16="http://schemas.microsoft.com/office/drawing/2014/main" id="{EF0079FD-27C6-1DDD-2C08-482FB02678A7}"/>
              </a:ext>
            </a:extLst>
          </p:cNvPr>
          <p:cNvSpPr/>
          <p:nvPr/>
        </p:nvSpPr>
        <p:spPr>
          <a:xfrm>
            <a:off x="18643481" y="5180421"/>
            <a:ext cx="3584867" cy="3546788"/>
          </a:xfrm>
          <a:prstGeom prst="ellipse">
            <a:avLst/>
          </a:prstGeom>
          <a:solidFill>
            <a:srgbClr val="1A7AE1">
              <a:alpha val="8000"/>
            </a:srgb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0" name="원형: 비어 있음 89">
            <a:extLst>
              <a:ext uri="{FF2B5EF4-FFF2-40B4-BE49-F238E27FC236}">
                <a16:creationId xmlns:a16="http://schemas.microsoft.com/office/drawing/2014/main" id="{BA92C2F2-B6DA-E284-C4E5-3CEF7FAA3E3A}"/>
              </a:ext>
            </a:extLst>
          </p:cNvPr>
          <p:cNvSpPr/>
          <p:nvPr/>
        </p:nvSpPr>
        <p:spPr>
          <a:xfrm>
            <a:off x="17781407" y="4228873"/>
            <a:ext cx="5334000" cy="5415371"/>
          </a:xfrm>
          <a:prstGeom prst="donut">
            <a:avLst>
              <a:gd name="adj" fmla="val 3577"/>
            </a:avLst>
          </a:prstGeom>
          <a:solidFill>
            <a:srgbClr val="1A7AE1">
              <a:alpha val="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5" name="타원 4">
            <a:extLst>
              <a:ext uri="{FF2B5EF4-FFF2-40B4-BE49-F238E27FC236}">
                <a16:creationId xmlns:a16="http://schemas.microsoft.com/office/drawing/2014/main" id="{B8CAF0A1-2A68-E3F2-698C-AB661843AC0E}"/>
              </a:ext>
            </a:extLst>
          </p:cNvPr>
          <p:cNvSpPr/>
          <p:nvPr/>
        </p:nvSpPr>
        <p:spPr>
          <a:xfrm>
            <a:off x="6934200" y="8282861"/>
            <a:ext cx="152400" cy="137447"/>
          </a:xfrm>
          <a:prstGeom prst="ellipse">
            <a:avLst/>
          </a:prstGeom>
          <a:solidFill>
            <a:srgbClr val="1A7AE1"/>
          </a:solidFill>
          <a:ln>
            <a:solidFill>
              <a:srgbClr val="1A7A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TextBox 5">
            <a:extLst>
              <a:ext uri="{FF2B5EF4-FFF2-40B4-BE49-F238E27FC236}">
                <a16:creationId xmlns:a16="http://schemas.microsoft.com/office/drawing/2014/main" id="{C98A4EFF-1EEA-3FA6-60EE-D0976A7F4331}"/>
              </a:ext>
            </a:extLst>
          </p:cNvPr>
          <p:cNvSpPr txBox="1"/>
          <p:nvPr/>
        </p:nvSpPr>
        <p:spPr>
          <a:xfrm>
            <a:off x="7389018" y="8001000"/>
            <a:ext cx="8460582" cy="644857"/>
          </a:xfrm>
          <a:prstGeom prst="rect">
            <a:avLst/>
          </a:prstGeom>
          <a:noFill/>
        </p:spPr>
        <p:txBody>
          <a:bodyPr wrap="square">
            <a:spAutoFit/>
          </a:bodyPr>
          <a:lstStyle/>
          <a:p>
            <a:pPr lvl="0">
              <a:lnSpc>
                <a:spcPct val="143590"/>
              </a:lnSpc>
            </a:pPr>
            <a:r>
              <a:rPr lang="ko-KR" altLang="en-US" sz="2800" spc="-100" dirty="0">
                <a:solidFill>
                  <a:srgbClr val="000000">
                    <a:alpha val="70196"/>
                  </a:srgbClr>
                </a:solidFill>
                <a:latin typeface="Pretendard Medium"/>
                <a:ea typeface="Pretendard Medium"/>
                <a:cs typeface="Pretendard Medium"/>
              </a:rPr>
              <a:t>프로젝트 소감</a:t>
            </a:r>
            <a:endParaRPr lang="en-US" altLang="ko-KR" sz="2800" spc="-100" dirty="0">
              <a:solidFill>
                <a:srgbClr val="000000">
                  <a:alpha val="70196"/>
                </a:srgbClr>
              </a:solidFill>
              <a:latin typeface="Pretendard Medium"/>
              <a:ea typeface="Pretendard Medium"/>
              <a:cs typeface="Pretendard Medium"/>
            </a:endParaRPr>
          </a:p>
        </p:txBody>
      </p:sp>
    </p:spTree>
    <p:extLst>
      <p:ext uri="{BB962C8B-B14F-4D97-AF65-F5344CB8AC3E}">
        <p14:creationId xmlns:p14="http://schemas.microsoft.com/office/powerpoint/2010/main" val="369273448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a:extLst>
            <a:ext uri="{FF2B5EF4-FFF2-40B4-BE49-F238E27FC236}">
              <a16:creationId xmlns:a16="http://schemas.microsoft.com/office/drawing/2014/main" id="{F2804DF9-6D24-4834-11D4-534266536501}"/>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78491B40-51E0-E75E-4EEB-C34C45CB7E50}"/>
              </a:ext>
            </a:extLst>
          </p:cNvPr>
          <p:cNvPicPr>
            <a:picLocks noChangeAspect="1"/>
          </p:cNvPicPr>
          <p:nvPr/>
        </p:nvPicPr>
        <p:blipFill>
          <a:blip r:embed="rId2">
            <a:alphaModFix amt="70000"/>
          </a:blip>
          <a:stretch>
            <a:fillRect/>
          </a:stretch>
        </p:blipFill>
        <p:spPr>
          <a:xfrm>
            <a:off x="16230600" y="-2590800"/>
            <a:ext cx="11442700" cy="11442700"/>
          </a:xfrm>
          <a:prstGeom prst="rect">
            <a:avLst/>
          </a:prstGeom>
        </p:spPr>
      </p:pic>
      <p:pic>
        <p:nvPicPr>
          <p:cNvPr id="3" name="Picture 3">
            <a:extLst>
              <a:ext uri="{FF2B5EF4-FFF2-40B4-BE49-F238E27FC236}">
                <a16:creationId xmlns:a16="http://schemas.microsoft.com/office/drawing/2014/main" id="{625459FE-B69A-D985-5038-801BAA0C8EED}"/>
              </a:ext>
            </a:extLst>
          </p:cNvPr>
          <p:cNvPicPr>
            <a:picLocks noChangeAspect="1"/>
          </p:cNvPicPr>
          <p:nvPr/>
        </p:nvPicPr>
        <p:blipFill>
          <a:blip r:embed="rId3"/>
          <a:stretch>
            <a:fillRect/>
          </a:stretch>
        </p:blipFill>
        <p:spPr>
          <a:xfrm>
            <a:off x="762000" y="1092200"/>
            <a:ext cx="22860000" cy="12700"/>
          </a:xfrm>
          <a:prstGeom prst="rect">
            <a:avLst/>
          </a:prstGeom>
        </p:spPr>
      </p:pic>
      <p:pic>
        <p:nvPicPr>
          <p:cNvPr id="4" name="Picture 4">
            <a:extLst>
              <a:ext uri="{FF2B5EF4-FFF2-40B4-BE49-F238E27FC236}">
                <a16:creationId xmlns:a16="http://schemas.microsoft.com/office/drawing/2014/main" id="{DC4D784B-0F1C-3905-78C4-360D765A2980}"/>
              </a:ext>
            </a:extLst>
          </p:cNvPr>
          <p:cNvPicPr>
            <a:picLocks noChangeAspect="1"/>
          </p:cNvPicPr>
          <p:nvPr/>
        </p:nvPicPr>
        <p:blipFill>
          <a:blip r:embed="rId4"/>
          <a:stretch>
            <a:fillRect/>
          </a:stretch>
        </p:blipFill>
        <p:spPr>
          <a:xfrm rot="5400000">
            <a:off x="3200400" y="787400"/>
            <a:ext cx="635000" cy="12700"/>
          </a:xfrm>
          <a:prstGeom prst="rect">
            <a:avLst/>
          </a:prstGeom>
        </p:spPr>
      </p:pic>
      <p:pic>
        <p:nvPicPr>
          <p:cNvPr id="5" name="Picture 5">
            <a:extLst>
              <a:ext uri="{FF2B5EF4-FFF2-40B4-BE49-F238E27FC236}">
                <a16:creationId xmlns:a16="http://schemas.microsoft.com/office/drawing/2014/main" id="{7A008D96-4DBC-5093-4167-0633A6DFE091}"/>
              </a:ext>
            </a:extLst>
          </p:cNvPr>
          <p:cNvPicPr>
            <a:picLocks noChangeAspect="1"/>
          </p:cNvPicPr>
          <p:nvPr/>
        </p:nvPicPr>
        <p:blipFill>
          <a:blip r:embed="rId4"/>
          <a:stretch>
            <a:fillRect/>
          </a:stretch>
        </p:blipFill>
        <p:spPr>
          <a:xfrm rot="5400000">
            <a:off x="22225000" y="787400"/>
            <a:ext cx="635000" cy="12700"/>
          </a:xfrm>
          <a:prstGeom prst="rect">
            <a:avLst/>
          </a:prstGeom>
        </p:spPr>
      </p:pic>
      <p:pic>
        <p:nvPicPr>
          <p:cNvPr id="6" name="Picture 6">
            <a:extLst>
              <a:ext uri="{FF2B5EF4-FFF2-40B4-BE49-F238E27FC236}">
                <a16:creationId xmlns:a16="http://schemas.microsoft.com/office/drawing/2014/main" id="{13CBCFE4-C039-4AC9-C7F8-354B455A178B}"/>
              </a:ext>
            </a:extLst>
          </p:cNvPr>
          <p:cNvPicPr>
            <a:picLocks noChangeAspect="1"/>
          </p:cNvPicPr>
          <p:nvPr/>
        </p:nvPicPr>
        <p:blipFill>
          <a:blip r:embed="rId4"/>
          <a:stretch>
            <a:fillRect/>
          </a:stretch>
        </p:blipFill>
        <p:spPr>
          <a:xfrm rot="5400000">
            <a:off x="6337300" y="787400"/>
            <a:ext cx="635000" cy="12700"/>
          </a:xfrm>
          <a:prstGeom prst="rect">
            <a:avLst/>
          </a:prstGeom>
        </p:spPr>
      </p:pic>
      <p:pic>
        <p:nvPicPr>
          <p:cNvPr id="7" name="Picture 7">
            <a:extLst>
              <a:ext uri="{FF2B5EF4-FFF2-40B4-BE49-F238E27FC236}">
                <a16:creationId xmlns:a16="http://schemas.microsoft.com/office/drawing/2014/main" id="{964F78F1-3481-DE29-E1A0-CA8BF9C09341}"/>
              </a:ext>
            </a:extLst>
          </p:cNvPr>
          <p:cNvPicPr>
            <a:picLocks noChangeAspect="1"/>
          </p:cNvPicPr>
          <p:nvPr/>
        </p:nvPicPr>
        <p:blipFill>
          <a:blip r:embed="rId3"/>
          <a:stretch>
            <a:fillRect/>
          </a:stretch>
        </p:blipFill>
        <p:spPr>
          <a:xfrm>
            <a:off x="723900" y="457200"/>
            <a:ext cx="22860000" cy="12700"/>
          </a:xfrm>
          <a:prstGeom prst="rect">
            <a:avLst/>
          </a:prstGeom>
        </p:spPr>
      </p:pic>
      <p:pic>
        <p:nvPicPr>
          <p:cNvPr id="10" name="Picture 10">
            <a:extLst>
              <a:ext uri="{FF2B5EF4-FFF2-40B4-BE49-F238E27FC236}">
                <a16:creationId xmlns:a16="http://schemas.microsoft.com/office/drawing/2014/main" id="{16007496-AC66-F820-014C-699A80D02918}"/>
              </a:ext>
            </a:extLst>
          </p:cNvPr>
          <p:cNvPicPr>
            <a:picLocks noChangeAspect="1"/>
          </p:cNvPicPr>
          <p:nvPr/>
        </p:nvPicPr>
        <p:blipFill>
          <a:blip r:embed="rId5"/>
          <a:stretch>
            <a:fillRect/>
          </a:stretch>
        </p:blipFill>
        <p:spPr>
          <a:xfrm>
            <a:off x="1485900" y="1612900"/>
            <a:ext cx="88900" cy="850900"/>
          </a:xfrm>
          <a:prstGeom prst="rect">
            <a:avLst/>
          </a:prstGeom>
        </p:spPr>
      </p:pic>
      <p:sp>
        <p:nvSpPr>
          <p:cNvPr id="11" name="TextBox 11">
            <a:extLst>
              <a:ext uri="{FF2B5EF4-FFF2-40B4-BE49-F238E27FC236}">
                <a16:creationId xmlns:a16="http://schemas.microsoft.com/office/drawing/2014/main" id="{03DD0E87-B2B0-19C2-3F59-25DCF03ED594}"/>
              </a:ext>
            </a:extLst>
          </p:cNvPr>
          <p:cNvSpPr txBox="1"/>
          <p:nvPr/>
        </p:nvSpPr>
        <p:spPr>
          <a:xfrm>
            <a:off x="1943100" y="1409700"/>
            <a:ext cx="10680700" cy="1257300"/>
          </a:xfrm>
          <a:prstGeom prst="rect">
            <a:avLst/>
          </a:prstGeom>
        </p:spPr>
        <p:txBody>
          <a:bodyPr lIns="0" tIns="44874" rIns="0" bIns="0" rtlCol="0" anchor="t"/>
          <a:lstStyle/>
          <a:p>
            <a:pPr lvl="0" algn="l">
              <a:lnSpc>
                <a:spcPct val="107899"/>
              </a:lnSpc>
            </a:pPr>
            <a:r>
              <a:rPr lang="en-US" sz="7066" b="0" i="0" u="none" strike="noStrike" dirty="0" err="1">
                <a:solidFill>
                  <a:srgbClr val="000000"/>
                </a:solidFill>
                <a:latin typeface="Pretendard SemiBold"/>
                <a:ea typeface="Pretendard SemiBold"/>
                <a:cs typeface="Pretendard SemiBold"/>
              </a:rPr>
              <a:t>향후</a:t>
            </a:r>
            <a:r>
              <a:rPr lang="en-US" sz="7066" b="0" i="0" u="none" strike="noStrike" dirty="0">
                <a:solidFill>
                  <a:srgbClr val="000000"/>
                </a:solidFill>
                <a:latin typeface="Pretendard SemiBold"/>
                <a:ea typeface="Pretendard SemiBold"/>
                <a:cs typeface="Pretendard SemiBold"/>
              </a:rPr>
              <a:t> </a:t>
            </a:r>
            <a:r>
              <a:rPr lang="en-US" sz="7066" b="0" i="0" u="none" strike="noStrike" dirty="0" err="1">
                <a:solidFill>
                  <a:srgbClr val="000000"/>
                </a:solidFill>
                <a:latin typeface="Pretendard SemiBold"/>
                <a:ea typeface="Pretendard SemiBold"/>
                <a:cs typeface="Pretendard SemiBold"/>
              </a:rPr>
              <a:t>계획</a:t>
            </a:r>
            <a:endParaRPr lang="en-US" sz="7066" b="0" i="0" u="none" strike="noStrike" dirty="0">
              <a:solidFill>
                <a:srgbClr val="000000"/>
              </a:solidFill>
              <a:latin typeface="Pretendard SemiBold"/>
              <a:ea typeface="Pretendard SemiBold"/>
              <a:cs typeface="Pretendard SemiBold"/>
            </a:endParaRPr>
          </a:p>
        </p:txBody>
      </p:sp>
      <p:sp>
        <p:nvSpPr>
          <p:cNvPr id="12" name="TextBox 12">
            <a:extLst>
              <a:ext uri="{FF2B5EF4-FFF2-40B4-BE49-F238E27FC236}">
                <a16:creationId xmlns:a16="http://schemas.microsoft.com/office/drawing/2014/main" id="{909550D2-2E78-54FC-F645-370C86AEAF7E}"/>
              </a:ext>
            </a:extLst>
          </p:cNvPr>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cap="all" dirty="0">
                <a:solidFill>
                  <a:srgbClr val="024EA0"/>
                </a:solidFill>
                <a:latin typeface="Geologica Roman Light"/>
                <a:ea typeface="Geologica Roman Light"/>
                <a:cs typeface="Geologica Roman Light"/>
              </a:rPr>
              <a:t>85</a:t>
            </a:r>
            <a:endParaRPr lang="en-US" sz="2133" b="0" i="0" u="none" strike="noStrike" cap="all" dirty="0">
              <a:solidFill>
                <a:srgbClr val="024EA0"/>
              </a:solidFill>
              <a:latin typeface="Geologica Roman Light"/>
              <a:ea typeface="Geologica Roman Light"/>
              <a:cs typeface="Geologica Roman Light"/>
            </a:endParaRPr>
          </a:p>
        </p:txBody>
      </p:sp>
      <p:sp>
        <p:nvSpPr>
          <p:cNvPr id="19" name="TextBox 14">
            <a:extLst>
              <a:ext uri="{FF2B5EF4-FFF2-40B4-BE49-F238E27FC236}">
                <a16:creationId xmlns:a16="http://schemas.microsoft.com/office/drawing/2014/main" id="{D1931121-D288-4407-7AE8-936B0F466811}"/>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20" name="TextBox 14">
            <a:extLst>
              <a:ext uri="{FF2B5EF4-FFF2-40B4-BE49-F238E27FC236}">
                <a16:creationId xmlns:a16="http://schemas.microsoft.com/office/drawing/2014/main" id="{7F1DE238-4A68-3077-70BB-DB7AB5BE3549}"/>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21" name="Picture 2">
            <a:extLst>
              <a:ext uri="{FF2B5EF4-FFF2-40B4-BE49-F238E27FC236}">
                <a16:creationId xmlns:a16="http://schemas.microsoft.com/office/drawing/2014/main" id="{A165F33C-B3CC-E37A-6F8A-34B1012A72DE}"/>
              </a:ext>
            </a:extLst>
          </p:cNvPr>
          <p:cNvPicPr>
            <a:picLocks noChangeAspect="1"/>
          </p:cNvPicPr>
          <p:nvPr/>
        </p:nvPicPr>
        <p:blipFill>
          <a:blip r:embed="rId6">
            <a:alphaModFix amt="85000"/>
          </a:blip>
          <a:stretch>
            <a:fillRect/>
          </a:stretch>
        </p:blipFill>
        <p:spPr>
          <a:xfrm>
            <a:off x="13944600" y="558800"/>
            <a:ext cx="2082801" cy="444500"/>
          </a:xfrm>
          <a:prstGeom prst="rect">
            <a:avLst/>
          </a:prstGeom>
        </p:spPr>
      </p:pic>
      <p:sp>
        <p:nvSpPr>
          <p:cNvPr id="22" name="TextBox 16">
            <a:extLst>
              <a:ext uri="{FF2B5EF4-FFF2-40B4-BE49-F238E27FC236}">
                <a16:creationId xmlns:a16="http://schemas.microsoft.com/office/drawing/2014/main" id="{92B8A7A3-006B-F799-E220-F310A5E17043}"/>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23" name="TextBox 18">
            <a:extLst>
              <a:ext uri="{FF2B5EF4-FFF2-40B4-BE49-F238E27FC236}">
                <a16:creationId xmlns:a16="http://schemas.microsoft.com/office/drawing/2014/main" id="{0B6A66A5-6A87-23A4-72E2-C7386A0D96DA}"/>
              </a:ext>
            </a:extLst>
          </p:cNvPr>
          <p:cNvSpPr txBox="1"/>
          <p:nvPr/>
        </p:nvSpPr>
        <p:spPr>
          <a:xfrm>
            <a:off x="11366500" y="469900"/>
            <a:ext cx="25273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시나리오</a:t>
            </a:r>
            <a:r>
              <a:rPr lang="en-US" sz="2666" b="0" i="0" u="none" strike="noStrike" spc="-100" dirty="0">
                <a:solidFill>
                  <a:srgbClr val="C2C2C2"/>
                </a:solidFill>
                <a:latin typeface="Pretendard SemiBold"/>
                <a:ea typeface="Pretendard SemiBold"/>
                <a:cs typeface="Pretendard SemiBold"/>
              </a:rPr>
              <a:t> </a:t>
            </a:r>
            <a:r>
              <a:rPr lang="en-US" sz="2666" b="0" i="0" u="none" strike="noStrike" spc="-100" dirty="0" err="1">
                <a:solidFill>
                  <a:srgbClr val="C2C2C2"/>
                </a:solidFill>
                <a:latin typeface="Pretendard SemiBold"/>
                <a:ea typeface="Pretendard SemiBold"/>
                <a:cs typeface="Pretendard SemiBold"/>
              </a:rPr>
              <a:t>모의해킹</a:t>
            </a:r>
            <a:endParaRPr lang="en-US" sz="2666" b="0" i="0" u="none" strike="noStrike" spc="-100" dirty="0">
              <a:solidFill>
                <a:srgbClr val="C2C2C2"/>
              </a:solidFill>
              <a:latin typeface="Pretendard SemiBold"/>
              <a:ea typeface="Pretendard SemiBold"/>
              <a:cs typeface="Pretendard SemiBold"/>
            </a:endParaRPr>
          </a:p>
        </p:txBody>
      </p:sp>
      <p:sp>
        <p:nvSpPr>
          <p:cNvPr id="24" name="TextBox 19">
            <a:extLst>
              <a:ext uri="{FF2B5EF4-FFF2-40B4-BE49-F238E27FC236}">
                <a16:creationId xmlns:a16="http://schemas.microsoft.com/office/drawing/2014/main" id="{3B630A25-D5E5-EB15-4A06-8A14D0CBEBD7}"/>
              </a:ext>
            </a:extLst>
          </p:cNvPr>
          <p:cNvSpPr txBox="1"/>
          <p:nvPr/>
        </p:nvSpPr>
        <p:spPr>
          <a:xfrm>
            <a:off x="14097000" y="457200"/>
            <a:ext cx="1981200" cy="469900"/>
          </a:xfrm>
          <a:prstGeom prst="rect">
            <a:avLst/>
          </a:prstGeom>
        </p:spPr>
        <p:txBody>
          <a:bodyPr lIns="0" tIns="0" rIns="0" bIns="0" rtlCol="0" anchor="t"/>
          <a:lstStyle/>
          <a:p>
            <a:pPr lvl="0" algn="l">
              <a:lnSpc>
                <a:spcPct val="143590"/>
              </a:lnSpc>
            </a:pPr>
            <a:r>
              <a:rPr lang="en-US" sz="2666" b="0" i="0" u="none" strike="noStrike" spc="-100" dirty="0" err="1">
                <a:latin typeface="Pretendard SemiBold"/>
                <a:ea typeface="Pretendard SemiBold"/>
                <a:cs typeface="Pretendard SemiBold"/>
              </a:rPr>
              <a:t>프로젝트</a:t>
            </a:r>
            <a:r>
              <a:rPr lang="en-US" sz="2666" b="0" i="0" u="none" strike="noStrike" spc="-100" dirty="0">
                <a:latin typeface="Pretendard SemiBold"/>
                <a:ea typeface="Pretendard SemiBold"/>
                <a:cs typeface="Pretendard SemiBold"/>
              </a:rPr>
              <a:t> </a:t>
            </a:r>
            <a:r>
              <a:rPr lang="en-US" sz="2666" b="0" i="0" u="none" strike="noStrike" spc="-100" dirty="0" err="1">
                <a:latin typeface="Pretendard SemiBold"/>
                <a:ea typeface="Pretendard SemiBold"/>
                <a:cs typeface="Pretendard SemiBold"/>
              </a:rPr>
              <a:t>총평</a:t>
            </a:r>
            <a:endParaRPr lang="en-US" sz="2666" b="0" i="0" u="none" strike="noStrike" spc="-100" dirty="0">
              <a:latin typeface="Pretendard SemiBold"/>
              <a:ea typeface="Pretendard SemiBold"/>
              <a:cs typeface="Pretendard SemiBold"/>
            </a:endParaRPr>
          </a:p>
        </p:txBody>
      </p:sp>
      <p:sp>
        <p:nvSpPr>
          <p:cNvPr id="25" name="TextBox 20">
            <a:extLst>
              <a:ext uri="{FF2B5EF4-FFF2-40B4-BE49-F238E27FC236}">
                <a16:creationId xmlns:a16="http://schemas.microsoft.com/office/drawing/2014/main" id="{EDB034C3-DF56-1610-A89A-88E106A56534}"/>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개발</a:t>
            </a:r>
            <a:r>
              <a:rPr lang="en-US" sz="2666" b="0" i="0" u="none" strike="noStrike" spc="-100" dirty="0">
                <a:solidFill>
                  <a:srgbClr val="C2C2C2"/>
                </a:solidFill>
                <a:latin typeface="Pretendard SemiBold"/>
                <a:ea typeface="Pretendard SemiBold"/>
                <a:cs typeface="Pretendard SemiBold"/>
              </a:rPr>
              <a:t> 및 </a:t>
            </a:r>
            <a:r>
              <a:rPr lang="en-US" sz="2666" b="0" i="0" u="none" strike="noStrike" spc="-100" dirty="0" err="1">
                <a:solidFill>
                  <a:srgbClr val="C2C2C2"/>
                </a:solidFill>
                <a:latin typeface="Pretendard SemiBold"/>
                <a:ea typeface="Pretendard SemiBold"/>
                <a:cs typeface="Pretendard SemiBold"/>
              </a:rPr>
              <a:t>진단</a:t>
            </a:r>
            <a:endParaRPr lang="en-US" sz="2666" b="0" i="0" u="none" strike="noStrike" spc="-100" dirty="0">
              <a:solidFill>
                <a:srgbClr val="C2C2C2"/>
              </a:solidFill>
              <a:latin typeface="Pretendard SemiBold"/>
              <a:ea typeface="Pretendard SemiBold"/>
              <a:cs typeface="Pretendard SemiBold"/>
            </a:endParaRPr>
          </a:p>
        </p:txBody>
      </p:sp>
      <p:grpSp>
        <p:nvGrpSpPr>
          <p:cNvPr id="15" name="그룹 14">
            <a:extLst>
              <a:ext uri="{FF2B5EF4-FFF2-40B4-BE49-F238E27FC236}">
                <a16:creationId xmlns:a16="http://schemas.microsoft.com/office/drawing/2014/main" id="{1D850458-5C40-0613-B6CC-1BEBBAE39430}"/>
              </a:ext>
            </a:extLst>
          </p:cNvPr>
          <p:cNvGrpSpPr/>
          <p:nvPr/>
        </p:nvGrpSpPr>
        <p:grpSpPr>
          <a:xfrm>
            <a:off x="1600200" y="4051300"/>
            <a:ext cx="21818601" cy="8115302"/>
            <a:chOff x="1600200" y="4051300"/>
            <a:chExt cx="21818601" cy="8115302"/>
          </a:xfrm>
        </p:grpSpPr>
        <p:pic>
          <p:nvPicPr>
            <p:cNvPr id="40" name="Picture 21">
              <a:extLst>
                <a:ext uri="{FF2B5EF4-FFF2-40B4-BE49-F238E27FC236}">
                  <a16:creationId xmlns:a16="http://schemas.microsoft.com/office/drawing/2014/main" id="{DAFA4A97-4F8F-0673-3E67-3DCE05E44E0D}"/>
                </a:ext>
              </a:extLst>
            </p:cNvPr>
            <p:cNvPicPr>
              <a:picLocks noChangeAspect="1"/>
            </p:cNvPicPr>
            <p:nvPr/>
          </p:nvPicPr>
          <p:blipFill>
            <a:blip r:embed="rId7"/>
            <a:stretch>
              <a:fillRect/>
            </a:stretch>
          </p:blipFill>
          <p:spPr>
            <a:xfrm>
              <a:off x="1600200" y="4051301"/>
              <a:ext cx="6883401" cy="8115301"/>
            </a:xfrm>
            <a:prstGeom prst="rect">
              <a:avLst/>
            </a:prstGeom>
            <a:effectLst>
              <a:outerShdw blurRad="139700" dist="38100" dir="2700000">
                <a:schemeClr val="tx1">
                  <a:alpha val="33000"/>
                </a:schemeClr>
              </a:outerShdw>
            </a:effectLst>
          </p:spPr>
        </p:pic>
        <p:pic>
          <p:nvPicPr>
            <p:cNvPr id="41" name="Picture 21">
              <a:extLst>
                <a:ext uri="{FF2B5EF4-FFF2-40B4-BE49-F238E27FC236}">
                  <a16:creationId xmlns:a16="http://schemas.microsoft.com/office/drawing/2014/main" id="{79170060-FC58-0E2F-47EF-D687BB5CEA5F}"/>
                </a:ext>
              </a:extLst>
            </p:cNvPr>
            <p:cNvPicPr>
              <a:picLocks noChangeAspect="1"/>
            </p:cNvPicPr>
            <p:nvPr/>
          </p:nvPicPr>
          <p:blipFill>
            <a:blip r:embed="rId7"/>
            <a:stretch>
              <a:fillRect/>
            </a:stretch>
          </p:blipFill>
          <p:spPr>
            <a:xfrm>
              <a:off x="9144000" y="4051301"/>
              <a:ext cx="6883401" cy="8115301"/>
            </a:xfrm>
            <a:prstGeom prst="rect">
              <a:avLst/>
            </a:prstGeom>
            <a:effectLst>
              <a:outerShdw blurRad="139700" dist="38100" dir="2700000">
                <a:schemeClr val="tx1">
                  <a:alpha val="33000"/>
                </a:schemeClr>
              </a:outerShdw>
            </a:effectLst>
          </p:spPr>
        </p:pic>
        <p:pic>
          <p:nvPicPr>
            <p:cNvPr id="42" name="Picture 21">
              <a:extLst>
                <a:ext uri="{FF2B5EF4-FFF2-40B4-BE49-F238E27FC236}">
                  <a16:creationId xmlns:a16="http://schemas.microsoft.com/office/drawing/2014/main" id="{5DEAF2DF-B416-AA0C-314F-46F129411C71}"/>
                </a:ext>
              </a:extLst>
            </p:cNvPr>
            <p:cNvPicPr>
              <a:picLocks noChangeAspect="1"/>
            </p:cNvPicPr>
            <p:nvPr/>
          </p:nvPicPr>
          <p:blipFill>
            <a:blip r:embed="rId7"/>
            <a:stretch>
              <a:fillRect/>
            </a:stretch>
          </p:blipFill>
          <p:spPr>
            <a:xfrm>
              <a:off x="16535400" y="4051300"/>
              <a:ext cx="6883401" cy="8115301"/>
            </a:xfrm>
            <a:prstGeom prst="rect">
              <a:avLst/>
            </a:prstGeom>
            <a:effectLst>
              <a:outerShdw blurRad="139700" dist="38100" dir="2700000">
                <a:schemeClr val="tx1">
                  <a:alpha val="33000"/>
                </a:schemeClr>
              </a:outerShdw>
            </a:effectLst>
          </p:spPr>
        </p:pic>
        <p:pic>
          <p:nvPicPr>
            <p:cNvPr id="43" name="Picture 4" descr="돋보기 - 무료 개 아이콘">
              <a:extLst>
                <a:ext uri="{FF2B5EF4-FFF2-40B4-BE49-F238E27FC236}">
                  <a16:creationId xmlns:a16="http://schemas.microsoft.com/office/drawing/2014/main" id="{323EC322-4DDD-0C91-4C26-31F9A923F223}"/>
                </a:ext>
              </a:extLst>
            </p:cNvPr>
            <p:cNvPicPr>
              <a:picLocks noChangeAspect="1" noChangeArrowheads="1"/>
            </p:cNvPicPr>
            <p:nvPr/>
          </p:nvPicPr>
          <p:blipFill>
            <a:blip r:embed="rId8" cstate="print">
              <a:duotone>
                <a:prstClr val="black"/>
                <a:srgbClr val="1A7AE1">
                  <a:tint val="45000"/>
                  <a:satMod val="400000"/>
                </a:srgbClr>
              </a:duotone>
              <a:extLst>
                <a:ext uri="{28A0092B-C50C-407E-A947-70E740481C1C}">
                  <a14:useLocalDpi xmlns:a14="http://schemas.microsoft.com/office/drawing/2010/main" val="0"/>
                </a:ext>
              </a:extLst>
            </a:blip>
            <a:srcRect/>
            <a:stretch>
              <a:fillRect/>
            </a:stretch>
          </p:blipFill>
          <p:spPr bwMode="auto">
            <a:xfrm>
              <a:off x="17136687" y="4602604"/>
              <a:ext cx="978321" cy="978321"/>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6" descr="새로 고침 버튼 - 무료 화살개 아이콘">
              <a:extLst>
                <a:ext uri="{FF2B5EF4-FFF2-40B4-BE49-F238E27FC236}">
                  <a16:creationId xmlns:a16="http://schemas.microsoft.com/office/drawing/2014/main" id="{ABF49029-9175-FDB8-A1D6-5C494152DA09}"/>
                </a:ext>
              </a:extLst>
            </p:cNvPr>
            <p:cNvPicPr>
              <a:picLocks noChangeAspect="1" noChangeArrowheads="1"/>
            </p:cNvPicPr>
            <p:nvPr/>
          </p:nvPicPr>
          <p:blipFill>
            <a:blip r:embed="rId9" cstate="print">
              <a:duotone>
                <a:prstClr val="black"/>
                <a:srgbClr val="1A7AE1">
                  <a:tint val="45000"/>
                  <a:satMod val="400000"/>
                </a:srgbClr>
              </a:duotone>
              <a:extLst>
                <a:ext uri="{28A0092B-C50C-407E-A947-70E740481C1C}">
                  <a14:useLocalDpi xmlns:a14="http://schemas.microsoft.com/office/drawing/2010/main" val="0"/>
                </a:ext>
              </a:extLst>
            </a:blip>
            <a:srcRect/>
            <a:stretch>
              <a:fillRect/>
            </a:stretch>
          </p:blipFill>
          <p:spPr bwMode="auto">
            <a:xfrm flipH="1">
              <a:off x="9757385" y="4604040"/>
              <a:ext cx="1032087" cy="1032087"/>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8" descr="방패 - 무료 보안개 아이콘">
              <a:extLst>
                <a:ext uri="{FF2B5EF4-FFF2-40B4-BE49-F238E27FC236}">
                  <a16:creationId xmlns:a16="http://schemas.microsoft.com/office/drawing/2014/main" id="{7267CF03-41DA-0F35-5539-DC60F2C9D38D}"/>
                </a:ext>
              </a:extLst>
            </p:cNvPr>
            <p:cNvPicPr>
              <a:picLocks noChangeAspect="1" noChangeArrowheads="1"/>
            </p:cNvPicPr>
            <p:nvPr/>
          </p:nvPicPr>
          <p:blipFill>
            <a:blip r:embed="rId10" cstate="print">
              <a:duotone>
                <a:prstClr val="black"/>
                <a:srgbClr val="1A7AE1">
                  <a:tint val="45000"/>
                  <a:satMod val="400000"/>
                </a:srgbClr>
              </a:duotone>
              <a:extLst>
                <a:ext uri="{28A0092B-C50C-407E-A947-70E740481C1C}">
                  <a14:useLocalDpi xmlns:a14="http://schemas.microsoft.com/office/drawing/2010/main" val="0"/>
                </a:ext>
              </a:extLst>
            </a:blip>
            <a:srcRect/>
            <a:stretch>
              <a:fillRect/>
            </a:stretch>
          </p:blipFill>
          <p:spPr bwMode="auto">
            <a:xfrm>
              <a:off x="2159436" y="4637044"/>
              <a:ext cx="1051946" cy="1051946"/>
            </a:xfrm>
            <a:prstGeom prst="rect">
              <a:avLst/>
            </a:prstGeom>
            <a:noFill/>
            <a:extLst>
              <a:ext uri="{909E8E84-426E-40DD-AFC4-6F175D3DCCD1}">
                <a14:hiddenFill xmlns:a14="http://schemas.microsoft.com/office/drawing/2010/main">
                  <a:solidFill>
                    <a:srgbClr val="FFFFFF"/>
                  </a:solidFill>
                </a14:hiddenFill>
              </a:ext>
            </a:extLst>
          </p:spPr>
        </p:pic>
        <p:sp>
          <p:nvSpPr>
            <p:cNvPr id="46" name="TextBox 41">
              <a:extLst>
                <a:ext uri="{FF2B5EF4-FFF2-40B4-BE49-F238E27FC236}">
                  <a16:creationId xmlns:a16="http://schemas.microsoft.com/office/drawing/2014/main" id="{FB0D3917-8B4A-48AD-02B7-ED4228437B33}"/>
                </a:ext>
              </a:extLst>
            </p:cNvPr>
            <p:cNvSpPr txBox="1"/>
            <p:nvPr/>
          </p:nvSpPr>
          <p:spPr>
            <a:xfrm>
              <a:off x="2301402" y="6578599"/>
              <a:ext cx="5480996" cy="3060702"/>
            </a:xfrm>
            <a:prstGeom prst="rect">
              <a:avLst/>
            </a:prstGeom>
          </p:spPr>
          <p:txBody>
            <a:bodyPr lIns="0" tIns="0" rIns="0" bIns="0" rtlCol="0" anchor="t"/>
            <a:lstStyle/>
            <a:p>
              <a:pPr lvl="0">
                <a:lnSpc>
                  <a:spcPct val="116199"/>
                </a:lnSpc>
              </a:pPr>
              <a:r>
                <a:rPr lang="ko-KR" altLang="en-US" sz="2666"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개발 단계부터 보안을 </a:t>
              </a:r>
              <a:r>
                <a:rPr lang="ko-KR" altLang="en-US" sz="2666" b="0" i="0" u="none" strike="noStrike" dirty="0" err="1">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내재화하여</a:t>
              </a:r>
              <a:r>
                <a:rPr lang="ko-KR" altLang="en-US" sz="2666"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 </a:t>
              </a:r>
              <a:r>
                <a:rPr lang="ko-KR" altLang="en-US" sz="2666"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취약점을 원천 차단</a:t>
              </a:r>
              <a:endParaRPr lang="en-US" altLang="ko-KR" sz="2666"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endParaRPr>
            </a:p>
            <a:p>
              <a:pPr lvl="0">
                <a:lnSpc>
                  <a:spcPct val="116199"/>
                </a:lnSpc>
              </a:pPr>
              <a:endParaRPr lang="en-US" altLang="ko-KR" sz="2666"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endParaRPr>
            </a:p>
            <a:p>
              <a:pPr lvl="0">
                <a:lnSpc>
                  <a:spcPct val="116199"/>
                </a:lnSpc>
              </a:pPr>
              <a:r>
                <a:rPr lang="ko-KR" altLang="en-US" sz="2666"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소스코드 정적 분석 도구 도입 및 전자금융서비스 </a:t>
              </a:r>
              <a:r>
                <a:rPr lang="ko-KR" altLang="en-US" sz="2666" b="0" i="0" u="none" strike="noStrike" dirty="0" err="1">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시큐어코딩</a:t>
              </a:r>
              <a:r>
                <a:rPr lang="ko-KR" altLang="en-US" sz="2666"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 가이드라인을 준수하여 시큐어 코딩을 진행</a:t>
              </a:r>
              <a:endParaRPr lang="en-US" sz="2666"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endParaRPr>
            </a:p>
          </p:txBody>
        </p:sp>
        <p:sp>
          <p:nvSpPr>
            <p:cNvPr id="47" name="TextBox 11">
              <a:extLst>
                <a:ext uri="{FF2B5EF4-FFF2-40B4-BE49-F238E27FC236}">
                  <a16:creationId xmlns:a16="http://schemas.microsoft.com/office/drawing/2014/main" id="{B648EBD6-3637-F5F2-4DEF-8138052A454D}"/>
                </a:ext>
              </a:extLst>
            </p:cNvPr>
            <p:cNvSpPr txBox="1"/>
            <p:nvPr/>
          </p:nvSpPr>
          <p:spPr>
            <a:xfrm>
              <a:off x="3507869" y="4731683"/>
              <a:ext cx="3771900" cy="774700"/>
            </a:xfrm>
            <a:prstGeom prst="rect">
              <a:avLst/>
            </a:prstGeom>
          </p:spPr>
          <p:txBody>
            <a:bodyPr lIns="0" tIns="44874" rIns="0" bIns="0" rtlCol="0" anchor="t"/>
            <a:lstStyle/>
            <a:p>
              <a:pPr lvl="0" algn="l">
                <a:lnSpc>
                  <a:spcPct val="107899"/>
                </a:lnSpc>
              </a:pPr>
              <a:r>
                <a:rPr lang="ko-KR" altLang="en-US" sz="4000" dirty="0">
                  <a:solidFill>
                    <a:srgbClr val="000000"/>
                  </a:solidFill>
                  <a:latin typeface="Pretendard SemiBold"/>
                  <a:ea typeface="Pretendard SemiBold"/>
                  <a:cs typeface="Pretendard SemiBold"/>
                </a:rPr>
                <a:t>시큐어 코딩</a:t>
              </a:r>
              <a:endParaRPr lang="en-US" sz="4000" b="0" i="0" u="none" strike="noStrike" dirty="0">
                <a:solidFill>
                  <a:srgbClr val="000000"/>
                </a:solidFill>
                <a:latin typeface="Pretendard SemiBold"/>
                <a:ea typeface="Pretendard SemiBold"/>
                <a:cs typeface="Pretendard SemiBold"/>
              </a:endParaRPr>
            </a:p>
          </p:txBody>
        </p:sp>
        <p:sp>
          <p:nvSpPr>
            <p:cNvPr id="48" name="TextBox 11">
              <a:extLst>
                <a:ext uri="{FF2B5EF4-FFF2-40B4-BE49-F238E27FC236}">
                  <a16:creationId xmlns:a16="http://schemas.microsoft.com/office/drawing/2014/main" id="{0ECF96B7-A1FF-A580-6560-19DD91CFD67E}"/>
                </a:ext>
              </a:extLst>
            </p:cNvPr>
            <p:cNvSpPr txBox="1"/>
            <p:nvPr/>
          </p:nvSpPr>
          <p:spPr>
            <a:xfrm>
              <a:off x="11112871" y="4725595"/>
              <a:ext cx="3771900" cy="774700"/>
            </a:xfrm>
            <a:prstGeom prst="rect">
              <a:avLst/>
            </a:prstGeom>
          </p:spPr>
          <p:txBody>
            <a:bodyPr lIns="0" tIns="44874" rIns="0" bIns="0" rtlCol="0" anchor="t"/>
            <a:lstStyle/>
            <a:p>
              <a:pPr lvl="0" algn="l">
                <a:lnSpc>
                  <a:spcPct val="107899"/>
                </a:lnSpc>
              </a:pPr>
              <a:r>
                <a:rPr lang="ko-KR" altLang="en-US" sz="4000" dirty="0">
                  <a:solidFill>
                    <a:srgbClr val="000000"/>
                  </a:solidFill>
                  <a:latin typeface="Pretendard SemiBold"/>
                  <a:ea typeface="Pretendard SemiBold"/>
                  <a:cs typeface="Pretendard SemiBold"/>
                </a:rPr>
                <a:t>침투 지점 </a:t>
              </a:r>
              <a:r>
                <a:rPr lang="ko-KR" altLang="en-US" sz="4000" dirty="0" err="1">
                  <a:solidFill>
                    <a:srgbClr val="000000"/>
                  </a:solidFill>
                  <a:latin typeface="Pretendard SemiBold"/>
                  <a:ea typeface="Pretendard SemiBold"/>
                  <a:cs typeface="Pretendard SemiBold"/>
                </a:rPr>
                <a:t>재검증</a:t>
              </a:r>
              <a:endParaRPr lang="en-US" sz="4000" b="0" i="0" u="none" strike="noStrike" dirty="0">
                <a:solidFill>
                  <a:srgbClr val="000000"/>
                </a:solidFill>
                <a:latin typeface="Pretendard SemiBold"/>
                <a:ea typeface="Pretendard SemiBold"/>
                <a:cs typeface="Pretendard SemiBold"/>
              </a:endParaRPr>
            </a:p>
          </p:txBody>
        </p:sp>
        <p:sp>
          <p:nvSpPr>
            <p:cNvPr id="49" name="TextBox 41">
              <a:extLst>
                <a:ext uri="{FF2B5EF4-FFF2-40B4-BE49-F238E27FC236}">
                  <a16:creationId xmlns:a16="http://schemas.microsoft.com/office/drawing/2014/main" id="{2089A237-BF12-F78D-7AEF-8D1103CC933B}"/>
                </a:ext>
              </a:extLst>
            </p:cNvPr>
            <p:cNvSpPr txBox="1"/>
            <p:nvPr/>
          </p:nvSpPr>
          <p:spPr>
            <a:xfrm>
              <a:off x="9943154" y="6581370"/>
              <a:ext cx="5480996" cy="3060702"/>
            </a:xfrm>
            <a:prstGeom prst="rect">
              <a:avLst/>
            </a:prstGeom>
          </p:spPr>
          <p:txBody>
            <a:bodyPr lIns="0" tIns="0" rIns="0" bIns="0" rtlCol="0" anchor="t"/>
            <a:lstStyle/>
            <a:p>
              <a:pPr lvl="0">
                <a:lnSpc>
                  <a:spcPct val="116199"/>
                </a:lnSpc>
              </a:pPr>
              <a:r>
                <a:rPr lang="ko-KR" altLang="en-US" sz="2666"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기존 시나리오에서 확인된 취약점에 대해보안 조치 적용 후 </a:t>
              </a:r>
              <a:r>
                <a:rPr lang="ko-KR" altLang="en-US" sz="2666" b="0" i="0" u="none" strike="noStrike" dirty="0" err="1">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재침투</a:t>
              </a:r>
              <a:r>
                <a:rPr lang="ko-KR" altLang="en-US" sz="2666"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 테스트 수행</a:t>
              </a:r>
              <a:endParaRPr lang="en-US" altLang="ko-KR" sz="2666"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endParaRPr>
            </a:p>
            <a:p>
              <a:pPr lvl="0">
                <a:lnSpc>
                  <a:spcPct val="116199"/>
                </a:lnSpc>
              </a:pPr>
              <a:endParaRPr lang="en-US" altLang="ko-KR" sz="2666"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endParaRPr>
            </a:p>
            <a:p>
              <a:pPr lvl="0">
                <a:lnSpc>
                  <a:spcPct val="116199"/>
                </a:lnSpc>
              </a:pPr>
              <a:r>
                <a:rPr lang="ko-KR" altLang="en-US" sz="2666"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발견한 취약점에 대해  보완 뿐만 아니라</a:t>
              </a:r>
              <a:r>
                <a:rPr lang="ko-KR" altLang="en-US" sz="2666"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 실질적 방어 기능을 검증</a:t>
              </a:r>
              <a:endParaRPr lang="en-US" sz="2666"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endParaRPr>
            </a:p>
          </p:txBody>
        </p:sp>
        <p:sp>
          <p:nvSpPr>
            <p:cNvPr id="50" name="TextBox 11">
              <a:extLst>
                <a:ext uri="{FF2B5EF4-FFF2-40B4-BE49-F238E27FC236}">
                  <a16:creationId xmlns:a16="http://schemas.microsoft.com/office/drawing/2014/main" id="{FACEF6A0-5676-9B92-1B04-E54D0A4C9B8D}"/>
                </a:ext>
              </a:extLst>
            </p:cNvPr>
            <p:cNvSpPr txBox="1"/>
            <p:nvPr/>
          </p:nvSpPr>
          <p:spPr>
            <a:xfrm>
              <a:off x="18426130" y="4724400"/>
              <a:ext cx="3443609" cy="774700"/>
            </a:xfrm>
            <a:prstGeom prst="rect">
              <a:avLst/>
            </a:prstGeom>
          </p:spPr>
          <p:txBody>
            <a:bodyPr lIns="0" tIns="44874" rIns="0" bIns="0" rtlCol="0" anchor="t"/>
            <a:lstStyle/>
            <a:p>
              <a:pPr lvl="0" algn="l">
                <a:lnSpc>
                  <a:spcPct val="107899"/>
                </a:lnSpc>
              </a:pPr>
              <a:r>
                <a:rPr lang="ko-KR" altLang="en-US" sz="4000" dirty="0">
                  <a:solidFill>
                    <a:srgbClr val="000000"/>
                  </a:solidFill>
                  <a:latin typeface="Pretendard SemiBold"/>
                  <a:ea typeface="Pretendard SemiBold"/>
                  <a:cs typeface="Pretendard SemiBold"/>
                </a:rPr>
                <a:t>취약점 추가 발굴</a:t>
              </a:r>
              <a:endParaRPr lang="en-US" sz="4000" b="0" i="0" u="none" strike="noStrike" dirty="0">
                <a:solidFill>
                  <a:srgbClr val="000000"/>
                </a:solidFill>
                <a:latin typeface="Pretendard SemiBold"/>
                <a:ea typeface="Pretendard SemiBold"/>
                <a:cs typeface="Pretendard SemiBold"/>
              </a:endParaRPr>
            </a:p>
          </p:txBody>
        </p:sp>
        <p:sp>
          <p:nvSpPr>
            <p:cNvPr id="51" name="TextBox 41">
              <a:extLst>
                <a:ext uri="{FF2B5EF4-FFF2-40B4-BE49-F238E27FC236}">
                  <a16:creationId xmlns:a16="http://schemas.microsoft.com/office/drawing/2014/main" id="{01F93527-D6B9-2C25-F10A-7D0E37AB7BF3}"/>
                </a:ext>
              </a:extLst>
            </p:cNvPr>
            <p:cNvSpPr txBox="1"/>
            <p:nvPr/>
          </p:nvSpPr>
          <p:spPr>
            <a:xfrm>
              <a:off x="17487900" y="6578599"/>
              <a:ext cx="5480996" cy="3060702"/>
            </a:xfrm>
            <a:prstGeom prst="rect">
              <a:avLst/>
            </a:prstGeom>
          </p:spPr>
          <p:txBody>
            <a:bodyPr lIns="0" tIns="0" rIns="0" bIns="0" rtlCol="0" anchor="t"/>
            <a:lstStyle/>
            <a:p>
              <a:pPr lvl="0">
                <a:lnSpc>
                  <a:spcPct val="116199"/>
                </a:lnSpc>
              </a:pPr>
              <a:r>
                <a:rPr lang="ko-KR" altLang="en-US" sz="2666"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기존 시나리오 외 영역으로 범위를 확장하여 </a:t>
              </a:r>
              <a:r>
                <a:rPr lang="ko-KR" altLang="en-US" sz="2666" b="0" i="0" u="none" strike="noStrike" dirty="0" err="1">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미탐지</a:t>
              </a:r>
              <a:r>
                <a:rPr lang="ko-KR" altLang="en-US" sz="2666"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 취약점을 이용한 공격 탐색</a:t>
              </a:r>
              <a:endParaRPr lang="en-US" altLang="ko-KR" sz="2666"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endParaRPr>
            </a:p>
            <a:p>
              <a:pPr lvl="0">
                <a:lnSpc>
                  <a:spcPct val="116199"/>
                </a:lnSpc>
              </a:pPr>
              <a:endParaRPr lang="en-US" altLang="ko-KR" sz="2666"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endParaRPr>
            </a:p>
            <a:p>
              <a:pPr lvl="0">
                <a:lnSpc>
                  <a:spcPct val="116199"/>
                </a:lnSpc>
              </a:pPr>
              <a:r>
                <a:rPr lang="ko-KR" altLang="en-US" sz="2666"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rPr>
                <a:t>동일 서비스 내 다양한 우회 경로 및 비정상 로직 시나리오 추가로 발굴</a:t>
              </a:r>
              <a:endParaRPr lang="en-US" sz="2666" b="0" i="0" u="none" strike="noStrike" dirty="0">
                <a:solidFill>
                  <a:srgbClr val="000000"/>
                </a:solidFill>
                <a:latin typeface="Pretendard Bold" panose="02000803000000020004" pitchFamily="2" charset="-127"/>
                <a:ea typeface="Pretendard Bold" panose="02000803000000020004" pitchFamily="2" charset="-127"/>
                <a:cs typeface="Pretendard Bold" panose="02000803000000020004" pitchFamily="2" charset="-127"/>
              </a:endParaRPr>
            </a:p>
          </p:txBody>
        </p:sp>
        <p:sp>
          <p:nvSpPr>
            <p:cNvPr id="9" name="타원 8">
              <a:extLst>
                <a:ext uri="{FF2B5EF4-FFF2-40B4-BE49-F238E27FC236}">
                  <a16:creationId xmlns:a16="http://schemas.microsoft.com/office/drawing/2014/main" id="{E4C9B411-E91B-FDDB-3987-41DAA2B4248E}"/>
                </a:ext>
              </a:extLst>
            </p:cNvPr>
            <p:cNvSpPr/>
            <p:nvPr/>
          </p:nvSpPr>
          <p:spPr>
            <a:xfrm>
              <a:off x="7510698" y="4396695"/>
              <a:ext cx="816923" cy="1645796"/>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타원 12">
              <a:extLst>
                <a:ext uri="{FF2B5EF4-FFF2-40B4-BE49-F238E27FC236}">
                  <a16:creationId xmlns:a16="http://schemas.microsoft.com/office/drawing/2014/main" id="{F3F027A0-5C2D-4268-F79F-7BDAD2A97323}"/>
                </a:ext>
              </a:extLst>
            </p:cNvPr>
            <p:cNvSpPr/>
            <p:nvPr/>
          </p:nvSpPr>
          <p:spPr>
            <a:xfrm>
              <a:off x="14921366" y="4462953"/>
              <a:ext cx="816923" cy="1645796"/>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타원 13">
              <a:extLst>
                <a:ext uri="{FF2B5EF4-FFF2-40B4-BE49-F238E27FC236}">
                  <a16:creationId xmlns:a16="http://schemas.microsoft.com/office/drawing/2014/main" id="{E59CE810-EEB6-682E-6417-BDB777AD4518}"/>
                </a:ext>
              </a:extLst>
            </p:cNvPr>
            <p:cNvSpPr/>
            <p:nvPr/>
          </p:nvSpPr>
          <p:spPr>
            <a:xfrm>
              <a:off x="22477119" y="4586809"/>
              <a:ext cx="816923" cy="1645796"/>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24006135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alphaModFix amt="70000"/>
          </a:blip>
          <a:stretch>
            <a:fillRect/>
          </a:stretch>
        </p:blipFill>
        <p:spPr>
          <a:xfrm>
            <a:off x="16230600" y="-2590800"/>
            <a:ext cx="11442700" cy="11442700"/>
          </a:xfrm>
          <a:prstGeom prst="rect">
            <a:avLst/>
          </a:prstGeom>
        </p:spPr>
      </p:pic>
      <p:pic>
        <p:nvPicPr>
          <p:cNvPr id="3" name="Picture 3"/>
          <p:cNvPicPr>
            <a:picLocks noChangeAspect="1"/>
          </p:cNvPicPr>
          <p:nvPr/>
        </p:nvPicPr>
        <p:blipFill>
          <a:blip r:embed="rId4"/>
          <a:stretch>
            <a:fillRect/>
          </a:stretch>
        </p:blipFill>
        <p:spPr>
          <a:xfrm>
            <a:off x="762000" y="1092200"/>
            <a:ext cx="22860000" cy="12700"/>
          </a:xfrm>
          <a:prstGeom prst="rect">
            <a:avLst/>
          </a:prstGeom>
        </p:spPr>
      </p:pic>
      <p:pic>
        <p:nvPicPr>
          <p:cNvPr id="4" name="Picture 4"/>
          <p:cNvPicPr>
            <a:picLocks noChangeAspect="1"/>
          </p:cNvPicPr>
          <p:nvPr/>
        </p:nvPicPr>
        <p:blipFill>
          <a:blip r:embed="rId5"/>
          <a:stretch>
            <a:fillRect/>
          </a:stretch>
        </p:blipFill>
        <p:spPr>
          <a:xfrm rot="5400000">
            <a:off x="3200400" y="787400"/>
            <a:ext cx="635000" cy="12700"/>
          </a:xfrm>
          <a:prstGeom prst="rect">
            <a:avLst/>
          </a:prstGeom>
        </p:spPr>
      </p:pic>
      <p:pic>
        <p:nvPicPr>
          <p:cNvPr id="5" name="Picture 5"/>
          <p:cNvPicPr>
            <a:picLocks noChangeAspect="1"/>
          </p:cNvPicPr>
          <p:nvPr/>
        </p:nvPicPr>
        <p:blipFill>
          <a:blip r:embed="rId5"/>
          <a:stretch>
            <a:fillRect/>
          </a:stretch>
        </p:blipFill>
        <p:spPr>
          <a:xfrm rot="5400000">
            <a:off x="22225000" y="787400"/>
            <a:ext cx="635000" cy="12700"/>
          </a:xfrm>
          <a:prstGeom prst="rect">
            <a:avLst/>
          </a:prstGeom>
        </p:spPr>
      </p:pic>
      <p:pic>
        <p:nvPicPr>
          <p:cNvPr id="6" name="Picture 6"/>
          <p:cNvPicPr>
            <a:picLocks noChangeAspect="1"/>
          </p:cNvPicPr>
          <p:nvPr/>
        </p:nvPicPr>
        <p:blipFill>
          <a:blip r:embed="rId5"/>
          <a:stretch>
            <a:fillRect/>
          </a:stretch>
        </p:blipFill>
        <p:spPr>
          <a:xfrm rot="5400000">
            <a:off x="6337300" y="787400"/>
            <a:ext cx="635000" cy="12700"/>
          </a:xfrm>
          <a:prstGeom prst="rect">
            <a:avLst/>
          </a:prstGeom>
        </p:spPr>
      </p:pic>
      <p:pic>
        <p:nvPicPr>
          <p:cNvPr id="7" name="Picture 7"/>
          <p:cNvPicPr>
            <a:picLocks noChangeAspect="1"/>
          </p:cNvPicPr>
          <p:nvPr/>
        </p:nvPicPr>
        <p:blipFill>
          <a:blip r:embed="rId4"/>
          <a:stretch>
            <a:fillRect/>
          </a:stretch>
        </p:blipFill>
        <p:spPr>
          <a:xfrm>
            <a:off x="723900" y="457200"/>
            <a:ext cx="22860000" cy="12700"/>
          </a:xfrm>
          <a:prstGeom prst="rect">
            <a:avLst/>
          </a:prstGeom>
        </p:spPr>
      </p:pic>
      <p:pic>
        <p:nvPicPr>
          <p:cNvPr id="10" name="Picture 10"/>
          <p:cNvPicPr>
            <a:picLocks noChangeAspect="1"/>
          </p:cNvPicPr>
          <p:nvPr/>
        </p:nvPicPr>
        <p:blipFill>
          <a:blip r:embed="rId6"/>
          <a:stretch>
            <a:fillRect/>
          </a:stretch>
        </p:blipFill>
        <p:spPr>
          <a:xfrm>
            <a:off x="1485900" y="1612900"/>
            <a:ext cx="88900" cy="850900"/>
          </a:xfrm>
          <a:prstGeom prst="rect">
            <a:avLst/>
          </a:prstGeom>
        </p:spPr>
      </p:pic>
      <p:sp>
        <p:nvSpPr>
          <p:cNvPr id="11" name="TextBox 11"/>
          <p:cNvSpPr txBox="1"/>
          <p:nvPr/>
        </p:nvSpPr>
        <p:spPr>
          <a:xfrm>
            <a:off x="1943100" y="1409700"/>
            <a:ext cx="10680700" cy="1257300"/>
          </a:xfrm>
          <a:prstGeom prst="rect">
            <a:avLst/>
          </a:prstGeom>
        </p:spPr>
        <p:txBody>
          <a:bodyPr lIns="0" tIns="44874" rIns="0" bIns="0" rtlCol="0" anchor="t"/>
          <a:lstStyle/>
          <a:p>
            <a:pPr lvl="0" algn="l">
              <a:lnSpc>
                <a:spcPct val="107899"/>
              </a:lnSpc>
            </a:pPr>
            <a:r>
              <a:rPr lang="en-US" sz="7066" b="0" i="0" u="none" strike="noStrike" spc="-300">
                <a:solidFill>
                  <a:srgbClr val="000000"/>
                </a:solidFill>
                <a:latin typeface="Pretendard SemiBold"/>
                <a:ea typeface="Pretendard SemiBold"/>
                <a:cs typeface="Pretendard SemiBold"/>
              </a:rPr>
              <a:t>프로젝트 소감</a:t>
            </a:r>
          </a:p>
        </p:txBody>
      </p:sp>
      <p:sp>
        <p:nvSpPr>
          <p:cNvPr id="12" name="TextBox 12"/>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b="0" i="0" u="none" strike="noStrike" cap="all" dirty="0">
                <a:solidFill>
                  <a:srgbClr val="024EA0"/>
                </a:solidFill>
                <a:latin typeface="Geologica Roman Light"/>
                <a:ea typeface="Geologica Roman Light"/>
                <a:cs typeface="Geologica Roman Light"/>
              </a:rPr>
              <a:t>86</a:t>
            </a:r>
          </a:p>
        </p:txBody>
      </p:sp>
      <p:pic>
        <p:nvPicPr>
          <p:cNvPr id="19" name="Picture 19"/>
          <p:cNvPicPr>
            <a:picLocks noChangeAspect="1"/>
          </p:cNvPicPr>
          <p:nvPr/>
        </p:nvPicPr>
        <p:blipFill>
          <a:blip r:embed="rId7"/>
          <a:stretch>
            <a:fillRect/>
          </a:stretch>
        </p:blipFill>
        <p:spPr>
          <a:xfrm>
            <a:off x="1485900" y="3771900"/>
            <a:ext cx="6858000" cy="3187700"/>
          </a:xfrm>
          <a:prstGeom prst="rect">
            <a:avLst/>
          </a:prstGeom>
          <a:effectLst>
            <a:outerShdw blurRad="79726" dist="73593" dir="2700000">
              <a:srgbClr val="1A7AE1">
                <a:alpha val="15000"/>
              </a:srgbClr>
            </a:outerShdw>
          </a:effectLst>
        </p:spPr>
      </p:pic>
      <p:sp>
        <p:nvSpPr>
          <p:cNvPr id="20" name="TextBox 20"/>
          <p:cNvSpPr txBox="1"/>
          <p:nvPr/>
        </p:nvSpPr>
        <p:spPr>
          <a:xfrm>
            <a:off x="2527300" y="4140200"/>
            <a:ext cx="2921000" cy="469900"/>
          </a:xfrm>
          <a:prstGeom prst="rect">
            <a:avLst/>
          </a:prstGeom>
        </p:spPr>
        <p:txBody>
          <a:bodyPr lIns="0" tIns="16933" rIns="0" bIns="0" rtlCol="0" anchor="t"/>
          <a:lstStyle/>
          <a:p>
            <a:pPr lvl="0" algn="l">
              <a:lnSpc>
                <a:spcPct val="107899"/>
              </a:lnSpc>
            </a:pPr>
            <a:r>
              <a:rPr lang="en-US" sz="2666" b="0" i="0" u="none" strike="noStrike">
                <a:solidFill>
                  <a:srgbClr val="1A7AE1"/>
                </a:solidFill>
                <a:latin typeface="Pretendard Medium"/>
                <a:ea typeface="Pretendard Medium"/>
                <a:cs typeface="Pretendard Medium"/>
              </a:rPr>
              <a:t>팀장</a:t>
            </a:r>
          </a:p>
        </p:txBody>
      </p:sp>
      <p:sp>
        <p:nvSpPr>
          <p:cNvPr id="21" name="TextBox 21"/>
          <p:cNvSpPr txBox="1"/>
          <p:nvPr/>
        </p:nvSpPr>
        <p:spPr>
          <a:xfrm>
            <a:off x="3175000" y="4140200"/>
            <a:ext cx="10160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Medium"/>
                <a:ea typeface="Pretendard Medium"/>
                <a:cs typeface="Pretendard Medium"/>
              </a:rPr>
              <a:t>백승빈</a:t>
            </a:r>
          </a:p>
        </p:txBody>
      </p:sp>
      <p:pic>
        <p:nvPicPr>
          <p:cNvPr id="22" name="Picture 22"/>
          <p:cNvPicPr>
            <a:picLocks noChangeAspect="1"/>
          </p:cNvPicPr>
          <p:nvPr/>
        </p:nvPicPr>
        <p:blipFill>
          <a:blip r:embed="rId7"/>
          <a:stretch>
            <a:fillRect/>
          </a:stretch>
        </p:blipFill>
        <p:spPr>
          <a:xfrm>
            <a:off x="8877300" y="3784600"/>
            <a:ext cx="6858000" cy="3187700"/>
          </a:xfrm>
          <a:prstGeom prst="rect">
            <a:avLst/>
          </a:prstGeom>
          <a:effectLst>
            <a:outerShdw blurRad="79726" dist="73593" dir="2700000">
              <a:srgbClr val="1A7AE1">
                <a:alpha val="15000"/>
              </a:srgbClr>
            </a:outerShdw>
          </a:effectLst>
        </p:spPr>
      </p:pic>
      <p:sp>
        <p:nvSpPr>
          <p:cNvPr id="23" name="TextBox 23"/>
          <p:cNvSpPr txBox="1"/>
          <p:nvPr/>
        </p:nvSpPr>
        <p:spPr>
          <a:xfrm>
            <a:off x="9893300" y="4140200"/>
            <a:ext cx="2921000" cy="469900"/>
          </a:xfrm>
          <a:prstGeom prst="rect">
            <a:avLst/>
          </a:prstGeom>
        </p:spPr>
        <p:txBody>
          <a:bodyPr lIns="0" tIns="16933" rIns="0" bIns="0" rtlCol="0" anchor="t"/>
          <a:lstStyle/>
          <a:p>
            <a:pPr lvl="0" algn="l">
              <a:lnSpc>
                <a:spcPct val="107899"/>
              </a:lnSpc>
            </a:pPr>
            <a:r>
              <a:rPr lang="en-US" sz="2666" b="0" i="0" u="none" strike="noStrike">
                <a:solidFill>
                  <a:srgbClr val="1A7AE1"/>
                </a:solidFill>
                <a:latin typeface="Pretendard Medium"/>
                <a:ea typeface="Pretendard Medium"/>
                <a:cs typeface="Pretendard Medium"/>
              </a:rPr>
              <a:t>팀원</a:t>
            </a:r>
          </a:p>
        </p:txBody>
      </p:sp>
      <p:pic>
        <p:nvPicPr>
          <p:cNvPr id="24" name="Picture 24"/>
          <p:cNvPicPr>
            <a:picLocks noChangeAspect="1"/>
          </p:cNvPicPr>
          <p:nvPr/>
        </p:nvPicPr>
        <p:blipFill>
          <a:blip r:embed="rId7"/>
          <a:stretch>
            <a:fillRect/>
          </a:stretch>
        </p:blipFill>
        <p:spPr>
          <a:xfrm>
            <a:off x="16256000" y="3771900"/>
            <a:ext cx="6858000" cy="3187700"/>
          </a:xfrm>
          <a:prstGeom prst="rect">
            <a:avLst/>
          </a:prstGeom>
          <a:effectLst>
            <a:outerShdw blurRad="79726" dist="73593" dir="2700000">
              <a:srgbClr val="1A7AE1">
                <a:alpha val="15000"/>
              </a:srgbClr>
            </a:outerShdw>
          </a:effectLst>
        </p:spPr>
      </p:pic>
      <p:sp>
        <p:nvSpPr>
          <p:cNvPr id="25" name="TextBox 25"/>
          <p:cNvSpPr txBox="1"/>
          <p:nvPr/>
        </p:nvSpPr>
        <p:spPr>
          <a:xfrm>
            <a:off x="17246600" y="4114800"/>
            <a:ext cx="2921000" cy="469900"/>
          </a:xfrm>
          <a:prstGeom prst="rect">
            <a:avLst/>
          </a:prstGeom>
        </p:spPr>
        <p:txBody>
          <a:bodyPr lIns="0" tIns="16933" rIns="0" bIns="0" rtlCol="0" anchor="t"/>
          <a:lstStyle/>
          <a:p>
            <a:pPr lvl="0" algn="l">
              <a:lnSpc>
                <a:spcPct val="107899"/>
              </a:lnSpc>
            </a:pPr>
            <a:r>
              <a:rPr lang="en-US" sz="2666" b="0" i="0" u="none" strike="noStrike">
                <a:solidFill>
                  <a:srgbClr val="1A7AE1"/>
                </a:solidFill>
                <a:latin typeface="Pretendard Medium"/>
                <a:ea typeface="Pretendard Medium"/>
                <a:cs typeface="Pretendard Medium"/>
              </a:rPr>
              <a:t>팀원</a:t>
            </a:r>
          </a:p>
        </p:txBody>
      </p:sp>
      <p:pic>
        <p:nvPicPr>
          <p:cNvPr id="26" name="Picture 26"/>
          <p:cNvPicPr>
            <a:picLocks noChangeAspect="1"/>
          </p:cNvPicPr>
          <p:nvPr/>
        </p:nvPicPr>
        <p:blipFill>
          <a:blip r:embed="rId7"/>
          <a:stretch>
            <a:fillRect/>
          </a:stretch>
        </p:blipFill>
        <p:spPr>
          <a:xfrm>
            <a:off x="1485900" y="8712200"/>
            <a:ext cx="6858000" cy="3187700"/>
          </a:xfrm>
          <a:prstGeom prst="rect">
            <a:avLst/>
          </a:prstGeom>
          <a:effectLst>
            <a:outerShdw blurRad="79726" dist="73593" dir="2700000">
              <a:srgbClr val="1A7AE1">
                <a:alpha val="15000"/>
              </a:srgbClr>
            </a:outerShdw>
          </a:effectLst>
        </p:spPr>
      </p:pic>
      <p:sp>
        <p:nvSpPr>
          <p:cNvPr id="27" name="TextBox 27"/>
          <p:cNvSpPr txBox="1"/>
          <p:nvPr/>
        </p:nvSpPr>
        <p:spPr>
          <a:xfrm>
            <a:off x="2527300" y="9080500"/>
            <a:ext cx="2921000" cy="469900"/>
          </a:xfrm>
          <a:prstGeom prst="rect">
            <a:avLst/>
          </a:prstGeom>
        </p:spPr>
        <p:txBody>
          <a:bodyPr lIns="0" tIns="16933" rIns="0" bIns="0" rtlCol="0" anchor="t"/>
          <a:lstStyle/>
          <a:p>
            <a:pPr lvl="0" algn="l">
              <a:lnSpc>
                <a:spcPct val="107899"/>
              </a:lnSpc>
            </a:pPr>
            <a:r>
              <a:rPr lang="en-US" sz="2666" b="0" i="0" u="none" strike="noStrike">
                <a:solidFill>
                  <a:srgbClr val="1A7AE1"/>
                </a:solidFill>
                <a:latin typeface="Pretendard Medium"/>
                <a:ea typeface="Pretendard Medium"/>
                <a:cs typeface="Pretendard Medium"/>
              </a:rPr>
              <a:t>팀원</a:t>
            </a:r>
          </a:p>
        </p:txBody>
      </p:sp>
      <p:pic>
        <p:nvPicPr>
          <p:cNvPr id="28" name="Picture 28"/>
          <p:cNvPicPr>
            <a:picLocks noChangeAspect="1"/>
          </p:cNvPicPr>
          <p:nvPr/>
        </p:nvPicPr>
        <p:blipFill>
          <a:blip r:embed="rId7"/>
          <a:stretch>
            <a:fillRect/>
          </a:stretch>
        </p:blipFill>
        <p:spPr>
          <a:xfrm>
            <a:off x="8877300" y="8724900"/>
            <a:ext cx="6858000" cy="3187700"/>
          </a:xfrm>
          <a:prstGeom prst="rect">
            <a:avLst/>
          </a:prstGeom>
          <a:effectLst>
            <a:outerShdw blurRad="79726" dist="73593" dir="2700000">
              <a:srgbClr val="1A7AE1">
                <a:alpha val="15000"/>
              </a:srgbClr>
            </a:outerShdw>
          </a:effectLst>
        </p:spPr>
      </p:pic>
      <p:sp>
        <p:nvSpPr>
          <p:cNvPr id="29" name="TextBox 29"/>
          <p:cNvSpPr txBox="1"/>
          <p:nvPr/>
        </p:nvSpPr>
        <p:spPr>
          <a:xfrm>
            <a:off x="9969500" y="9093200"/>
            <a:ext cx="2921000" cy="469900"/>
          </a:xfrm>
          <a:prstGeom prst="rect">
            <a:avLst/>
          </a:prstGeom>
        </p:spPr>
        <p:txBody>
          <a:bodyPr lIns="0" tIns="16933" rIns="0" bIns="0" rtlCol="0" anchor="t"/>
          <a:lstStyle/>
          <a:p>
            <a:pPr lvl="0" algn="l">
              <a:lnSpc>
                <a:spcPct val="107899"/>
              </a:lnSpc>
            </a:pPr>
            <a:r>
              <a:rPr lang="en-US" sz="2666" b="0" i="0" u="none" strike="noStrike">
                <a:solidFill>
                  <a:srgbClr val="1A7AE1"/>
                </a:solidFill>
                <a:latin typeface="Pretendard Medium"/>
                <a:ea typeface="Pretendard Medium"/>
                <a:cs typeface="Pretendard Medium"/>
              </a:rPr>
              <a:t>팀원</a:t>
            </a:r>
          </a:p>
        </p:txBody>
      </p:sp>
      <p:pic>
        <p:nvPicPr>
          <p:cNvPr id="30" name="Picture 30"/>
          <p:cNvPicPr>
            <a:picLocks noChangeAspect="1"/>
          </p:cNvPicPr>
          <p:nvPr/>
        </p:nvPicPr>
        <p:blipFill>
          <a:blip r:embed="rId7"/>
          <a:stretch>
            <a:fillRect/>
          </a:stretch>
        </p:blipFill>
        <p:spPr>
          <a:xfrm>
            <a:off x="16256000" y="8712200"/>
            <a:ext cx="6858000" cy="3187700"/>
          </a:xfrm>
          <a:prstGeom prst="rect">
            <a:avLst/>
          </a:prstGeom>
          <a:effectLst>
            <a:outerShdw blurRad="79726" dist="73593" dir="2700000">
              <a:srgbClr val="1A7AE1">
                <a:alpha val="15000"/>
              </a:srgbClr>
            </a:outerShdw>
          </a:effectLst>
        </p:spPr>
      </p:pic>
      <p:sp>
        <p:nvSpPr>
          <p:cNvPr id="31" name="TextBox 31"/>
          <p:cNvSpPr txBox="1"/>
          <p:nvPr/>
        </p:nvSpPr>
        <p:spPr>
          <a:xfrm>
            <a:off x="17348200" y="9067800"/>
            <a:ext cx="2921000" cy="469900"/>
          </a:xfrm>
          <a:prstGeom prst="rect">
            <a:avLst/>
          </a:prstGeom>
        </p:spPr>
        <p:txBody>
          <a:bodyPr lIns="0" tIns="16933" rIns="0" bIns="0" rtlCol="0" anchor="t"/>
          <a:lstStyle/>
          <a:p>
            <a:pPr lvl="0" algn="l">
              <a:lnSpc>
                <a:spcPct val="107899"/>
              </a:lnSpc>
            </a:pPr>
            <a:r>
              <a:rPr lang="en-US" sz="2666" b="0" i="0" u="none" strike="noStrike">
                <a:solidFill>
                  <a:srgbClr val="1A7AE1"/>
                </a:solidFill>
                <a:latin typeface="Pretendard Medium"/>
                <a:ea typeface="Pretendard Medium"/>
                <a:cs typeface="Pretendard Medium"/>
              </a:rPr>
              <a:t>팀원</a:t>
            </a:r>
          </a:p>
        </p:txBody>
      </p:sp>
      <p:sp>
        <p:nvSpPr>
          <p:cNvPr id="32" name="TextBox 32"/>
          <p:cNvSpPr txBox="1"/>
          <p:nvPr/>
        </p:nvSpPr>
        <p:spPr>
          <a:xfrm>
            <a:off x="10617200" y="9093200"/>
            <a:ext cx="11049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Medium"/>
                <a:ea typeface="Pretendard Medium"/>
                <a:cs typeface="Pretendard Medium"/>
              </a:rPr>
              <a:t>성준모</a:t>
            </a:r>
          </a:p>
        </p:txBody>
      </p:sp>
      <p:sp>
        <p:nvSpPr>
          <p:cNvPr id="33" name="TextBox 33"/>
          <p:cNvSpPr txBox="1"/>
          <p:nvPr/>
        </p:nvSpPr>
        <p:spPr>
          <a:xfrm>
            <a:off x="17945100" y="4140200"/>
            <a:ext cx="10160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Medium"/>
                <a:ea typeface="Pretendard Medium"/>
                <a:cs typeface="Pretendard Medium"/>
              </a:rPr>
              <a:t>서정우</a:t>
            </a:r>
          </a:p>
        </p:txBody>
      </p:sp>
      <p:sp>
        <p:nvSpPr>
          <p:cNvPr id="34" name="TextBox 34"/>
          <p:cNvSpPr txBox="1"/>
          <p:nvPr/>
        </p:nvSpPr>
        <p:spPr>
          <a:xfrm>
            <a:off x="3175000" y="9093200"/>
            <a:ext cx="10160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Medium"/>
                <a:ea typeface="Pretendard Medium"/>
                <a:cs typeface="Pretendard Medium"/>
              </a:rPr>
              <a:t>손지선</a:t>
            </a:r>
          </a:p>
        </p:txBody>
      </p:sp>
      <p:sp>
        <p:nvSpPr>
          <p:cNvPr id="35" name="TextBox 35"/>
          <p:cNvSpPr txBox="1"/>
          <p:nvPr/>
        </p:nvSpPr>
        <p:spPr>
          <a:xfrm>
            <a:off x="10541000" y="4140200"/>
            <a:ext cx="10414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Medium"/>
                <a:ea typeface="Pretendard Medium"/>
                <a:cs typeface="Pretendard Medium"/>
              </a:rPr>
              <a:t>최상훈</a:t>
            </a:r>
          </a:p>
        </p:txBody>
      </p:sp>
      <p:sp>
        <p:nvSpPr>
          <p:cNvPr id="36" name="TextBox 36"/>
          <p:cNvSpPr txBox="1"/>
          <p:nvPr/>
        </p:nvSpPr>
        <p:spPr>
          <a:xfrm>
            <a:off x="17995900" y="9067800"/>
            <a:ext cx="1016000" cy="4699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Medium"/>
                <a:ea typeface="Pretendard Medium"/>
                <a:cs typeface="Pretendard Medium"/>
              </a:rPr>
              <a:t>표민우</a:t>
            </a:r>
          </a:p>
        </p:txBody>
      </p:sp>
      <p:sp>
        <p:nvSpPr>
          <p:cNvPr id="37" name="TextBox 37"/>
          <p:cNvSpPr txBox="1"/>
          <p:nvPr/>
        </p:nvSpPr>
        <p:spPr>
          <a:xfrm>
            <a:off x="17246600" y="4800600"/>
            <a:ext cx="5397500" cy="1422400"/>
          </a:xfrm>
          <a:prstGeom prst="rect">
            <a:avLst/>
          </a:prstGeom>
        </p:spPr>
        <p:txBody>
          <a:bodyPr lIns="0" tIns="0" rIns="0" bIns="0" rtlCol="0" anchor="t"/>
          <a:lstStyle/>
          <a:p>
            <a:pPr lvl="0" algn="l">
              <a:lnSpc>
                <a:spcPct val="116199"/>
              </a:lnSpc>
            </a:pPr>
            <a:r>
              <a:rPr lang="en-US" sz="2666" b="0" i="0" u="none" strike="noStrike" dirty="0" err="1">
                <a:solidFill>
                  <a:srgbClr val="000000"/>
                </a:solidFill>
                <a:latin typeface="Pretendard Medium"/>
                <a:ea typeface="Pretendard Medium"/>
                <a:cs typeface="Pretendard Medium"/>
              </a:rPr>
              <a:t>인원</a:t>
            </a:r>
            <a:r>
              <a:rPr lang="en-US" sz="2666" b="0" i="0" u="none" strike="noStrike" dirty="0">
                <a:solidFill>
                  <a:srgbClr val="000000"/>
                </a:solidFill>
                <a:latin typeface="Pretendard Medium"/>
                <a:ea typeface="Pretendard Medium"/>
                <a:cs typeface="Pretendard Medium"/>
              </a:rPr>
              <a:t> </a:t>
            </a:r>
            <a:r>
              <a:rPr lang="en-US" sz="2666" b="0" i="0" u="none" strike="noStrike" dirty="0" err="1">
                <a:solidFill>
                  <a:srgbClr val="000000"/>
                </a:solidFill>
                <a:latin typeface="Pretendard Medium"/>
                <a:ea typeface="Pretendard Medium"/>
                <a:cs typeface="Pretendard Medium"/>
              </a:rPr>
              <a:t>변동으로</a:t>
            </a:r>
            <a:r>
              <a:rPr lang="en-US" sz="2666" b="0" i="0" u="none" strike="noStrike" dirty="0">
                <a:solidFill>
                  <a:srgbClr val="000000"/>
                </a:solidFill>
                <a:latin typeface="Pretendard Medium"/>
                <a:ea typeface="Pretendard Medium"/>
                <a:cs typeface="Pretendard Medium"/>
              </a:rPr>
              <a:t> </a:t>
            </a:r>
            <a:r>
              <a:rPr lang="en-US" sz="2666" b="0" i="0" u="none" strike="noStrike" dirty="0" err="1">
                <a:solidFill>
                  <a:srgbClr val="000000"/>
                </a:solidFill>
                <a:latin typeface="Pretendard Medium"/>
                <a:ea typeface="Pretendard Medium"/>
                <a:cs typeface="Pretendard Medium"/>
              </a:rPr>
              <a:t>목표는</a:t>
            </a:r>
            <a:r>
              <a:rPr lang="en-US" sz="2666" b="0" i="0" u="none" strike="noStrike" dirty="0">
                <a:solidFill>
                  <a:srgbClr val="000000"/>
                </a:solidFill>
                <a:latin typeface="Pretendard Medium"/>
                <a:ea typeface="Pretendard Medium"/>
                <a:cs typeface="Pretendard Medium"/>
              </a:rPr>
              <a:t> </a:t>
            </a:r>
            <a:r>
              <a:rPr lang="en-US" sz="2666" b="0" i="0" u="none" strike="noStrike" dirty="0" err="1">
                <a:solidFill>
                  <a:srgbClr val="000000"/>
                </a:solidFill>
                <a:latin typeface="Pretendard Medium"/>
                <a:ea typeface="Pretendard Medium"/>
                <a:cs typeface="Pretendard Medium"/>
              </a:rPr>
              <a:t>조정해야</a:t>
            </a:r>
            <a:r>
              <a:rPr lang="en-US" sz="2666" b="0" i="0" u="none" strike="noStrike" dirty="0">
                <a:solidFill>
                  <a:srgbClr val="000000"/>
                </a:solidFill>
                <a:latin typeface="Pretendard Medium"/>
                <a:ea typeface="Pretendard Medium"/>
                <a:cs typeface="Pretendard Medium"/>
              </a:rPr>
              <a:t> </a:t>
            </a:r>
            <a:r>
              <a:rPr lang="en-US" sz="2666" b="0" i="0" u="none" strike="noStrike" dirty="0" err="1">
                <a:solidFill>
                  <a:srgbClr val="000000"/>
                </a:solidFill>
                <a:latin typeface="Pretendard Medium"/>
                <a:ea typeface="Pretendard Medium"/>
                <a:cs typeface="Pretendard Medium"/>
              </a:rPr>
              <a:t>했지만</a:t>
            </a:r>
            <a:r>
              <a:rPr lang="en-US" sz="2666" b="0" i="0" u="none" strike="noStrike" dirty="0">
                <a:solidFill>
                  <a:srgbClr val="000000"/>
                </a:solidFill>
                <a:latin typeface="Pretendard Medium"/>
                <a:ea typeface="Pretendard Medium"/>
                <a:cs typeface="Pretendard Medium"/>
              </a:rPr>
              <a:t>, </a:t>
            </a:r>
            <a:r>
              <a:rPr lang="en-US" sz="2666" b="0" i="0" u="none" strike="noStrike" dirty="0" err="1">
                <a:solidFill>
                  <a:srgbClr val="000000"/>
                </a:solidFill>
                <a:latin typeface="Pretendard Medium"/>
                <a:ea typeface="Pretendard Medium"/>
                <a:cs typeface="Pretendard Medium"/>
              </a:rPr>
              <a:t>남은</a:t>
            </a:r>
            <a:r>
              <a:rPr lang="en-US" sz="2666" b="0" i="0" u="none" strike="noStrike" dirty="0">
                <a:solidFill>
                  <a:srgbClr val="000000"/>
                </a:solidFill>
                <a:latin typeface="Pretendard Medium"/>
                <a:ea typeface="Pretendard Medium"/>
                <a:cs typeface="Pretendard Medium"/>
              </a:rPr>
              <a:t> 6명이 </a:t>
            </a:r>
            <a:r>
              <a:rPr lang="en-US" sz="2666" b="0" i="0" u="none" strike="noStrike" dirty="0" err="1">
                <a:solidFill>
                  <a:srgbClr val="000000"/>
                </a:solidFill>
                <a:latin typeface="Pretendard Medium"/>
                <a:ea typeface="Pretendard Medium"/>
                <a:cs typeface="Pretendard Medium"/>
              </a:rPr>
              <a:t>끝까지</a:t>
            </a:r>
            <a:r>
              <a:rPr lang="en-US" sz="2666" b="0" i="0" u="none" strike="noStrike" dirty="0">
                <a:solidFill>
                  <a:srgbClr val="000000"/>
                </a:solidFill>
                <a:latin typeface="Pretendard Medium"/>
                <a:ea typeface="Pretendard Medium"/>
                <a:cs typeface="Pretendard Medium"/>
              </a:rPr>
              <a:t> </a:t>
            </a:r>
            <a:r>
              <a:rPr lang="en-US" sz="2666" b="0" i="0" u="none" strike="noStrike" dirty="0" err="1">
                <a:solidFill>
                  <a:srgbClr val="000000"/>
                </a:solidFill>
                <a:latin typeface="Pretendard Medium"/>
                <a:ea typeface="Pretendard Medium"/>
                <a:cs typeface="Pretendard Medium"/>
              </a:rPr>
              <a:t>최선을</a:t>
            </a:r>
            <a:r>
              <a:rPr lang="en-US" sz="2666" b="0" i="0" u="none" strike="noStrike" dirty="0">
                <a:solidFill>
                  <a:srgbClr val="000000"/>
                </a:solidFill>
                <a:latin typeface="Pretendard Medium"/>
                <a:ea typeface="Pretendard Medium"/>
                <a:cs typeface="Pretendard Medium"/>
              </a:rPr>
              <a:t> </a:t>
            </a:r>
            <a:r>
              <a:rPr lang="en-US" sz="2666" b="0" i="0" u="none" strike="noStrike" dirty="0" err="1">
                <a:solidFill>
                  <a:srgbClr val="000000"/>
                </a:solidFill>
                <a:latin typeface="Pretendard Medium"/>
                <a:ea typeface="Pretendard Medium"/>
                <a:cs typeface="Pretendard Medium"/>
              </a:rPr>
              <a:t>다해</a:t>
            </a:r>
            <a:r>
              <a:rPr lang="en-US" sz="2666" b="0" i="0" u="none" strike="noStrike" dirty="0">
                <a:solidFill>
                  <a:srgbClr val="000000"/>
                </a:solidFill>
                <a:latin typeface="Pretendard Medium"/>
                <a:ea typeface="Pretendard Medium"/>
                <a:cs typeface="Pretendard Medium"/>
              </a:rPr>
              <a:t> </a:t>
            </a:r>
            <a:r>
              <a:rPr lang="en-US" sz="2666" b="0" i="0" u="none" strike="noStrike" dirty="0" err="1">
                <a:solidFill>
                  <a:srgbClr val="000000"/>
                </a:solidFill>
                <a:latin typeface="Pretendard Medium"/>
                <a:ea typeface="Pretendard Medium"/>
                <a:cs typeface="Pretendard Medium"/>
              </a:rPr>
              <a:t>완주하여</a:t>
            </a:r>
            <a:r>
              <a:rPr lang="en-US" sz="2666" b="0" i="0" u="none" strike="noStrike" dirty="0">
                <a:solidFill>
                  <a:srgbClr val="000000"/>
                </a:solidFill>
                <a:latin typeface="Pretendard Medium"/>
                <a:ea typeface="Pretendard Medium"/>
                <a:cs typeface="Pretendard Medium"/>
              </a:rPr>
              <a:t> </a:t>
            </a:r>
            <a:r>
              <a:rPr lang="en-US" sz="2666" b="0" i="0" u="none" strike="noStrike" dirty="0" err="1">
                <a:solidFill>
                  <a:srgbClr val="000000"/>
                </a:solidFill>
                <a:latin typeface="Pretendard Medium"/>
                <a:ea typeface="Pretendard Medium"/>
                <a:cs typeface="Pretendard Medium"/>
              </a:rPr>
              <a:t>뿌듯합니다</a:t>
            </a:r>
            <a:r>
              <a:rPr lang="en-US" sz="2666" b="0" i="0" u="none" strike="noStrike" dirty="0">
                <a:solidFill>
                  <a:srgbClr val="000000"/>
                </a:solidFill>
                <a:latin typeface="Pretendard Medium"/>
                <a:ea typeface="Pretendard Medium"/>
                <a:cs typeface="Pretendard Medium"/>
              </a:rPr>
              <a:t>.</a:t>
            </a:r>
          </a:p>
        </p:txBody>
      </p:sp>
      <p:sp>
        <p:nvSpPr>
          <p:cNvPr id="38" name="TextBox 38"/>
          <p:cNvSpPr txBox="1"/>
          <p:nvPr/>
        </p:nvSpPr>
        <p:spPr>
          <a:xfrm>
            <a:off x="17297400" y="9829800"/>
            <a:ext cx="3048000" cy="469900"/>
          </a:xfrm>
          <a:prstGeom prst="rect">
            <a:avLst/>
          </a:prstGeom>
        </p:spPr>
        <p:txBody>
          <a:bodyPr lIns="0" tIns="0" rIns="0" bIns="0" rtlCol="0" anchor="t"/>
          <a:lstStyle/>
          <a:p>
            <a:pPr lvl="0" algn="ctr">
              <a:lnSpc>
                <a:spcPct val="116199"/>
              </a:lnSpc>
            </a:pPr>
            <a:r>
              <a:rPr lang="ko-KR" altLang="en-US" sz="2666" dirty="0">
                <a:solidFill>
                  <a:srgbClr val="000000"/>
                </a:solidFill>
                <a:latin typeface="Pretendard Medium"/>
                <a:ea typeface="Pretendard Medium"/>
                <a:cs typeface="Pretendard Medium"/>
              </a:rPr>
              <a:t>금융권은 건들지 말자</a:t>
            </a:r>
            <a:endParaRPr lang="en-US" sz="2666" b="0" i="0" u="none" strike="noStrike" dirty="0">
              <a:solidFill>
                <a:srgbClr val="000000"/>
              </a:solidFill>
              <a:latin typeface="Pretendard Medium"/>
              <a:ea typeface="Pretendard Medium"/>
              <a:cs typeface="Pretendard Medium"/>
            </a:endParaRPr>
          </a:p>
        </p:txBody>
      </p:sp>
      <p:sp>
        <p:nvSpPr>
          <p:cNvPr id="39" name="TextBox 39"/>
          <p:cNvSpPr txBox="1"/>
          <p:nvPr/>
        </p:nvSpPr>
        <p:spPr>
          <a:xfrm>
            <a:off x="9893300" y="9842500"/>
            <a:ext cx="4787900" cy="14224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Medium"/>
                <a:ea typeface="Pretendard Medium"/>
                <a:cs typeface="Pretendard Medium"/>
              </a:rPr>
              <a:t>다양하고 많은 취약점에 대해 공부하면서 신기했고, 앞으로 더 열심히 해야하겠다는 생각만...</a:t>
            </a:r>
          </a:p>
        </p:txBody>
      </p:sp>
      <p:sp>
        <p:nvSpPr>
          <p:cNvPr id="40" name="TextBox 40"/>
          <p:cNvSpPr txBox="1"/>
          <p:nvPr/>
        </p:nvSpPr>
        <p:spPr>
          <a:xfrm>
            <a:off x="2006600" y="9791700"/>
            <a:ext cx="5778500" cy="18923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Medium"/>
                <a:ea typeface="Pretendard Medium"/>
                <a:cs typeface="Pretendard Medium"/>
              </a:rPr>
              <a:t>예상치 못한 수많은 변수와 한계에 부딪히면서도 개발부터 시나리오 모의해킹까지의 전 과정을 직접 경험하며 많은 것을 배울 수 있었습니다........</a:t>
            </a:r>
          </a:p>
        </p:txBody>
      </p:sp>
      <p:sp>
        <p:nvSpPr>
          <p:cNvPr id="41" name="TextBox 41"/>
          <p:cNvSpPr txBox="1"/>
          <p:nvPr/>
        </p:nvSpPr>
        <p:spPr>
          <a:xfrm>
            <a:off x="2184400" y="4800600"/>
            <a:ext cx="5473700" cy="1892300"/>
          </a:xfrm>
          <a:prstGeom prst="rect">
            <a:avLst/>
          </a:prstGeom>
        </p:spPr>
        <p:txBody>
          <a:bodyPr lIns="0" tIns="0" rIns="0" bIns="0" rtlCol="0" anchor="t"/>
          <a:lstStyle/>
          <a:p>
            <a:pPr lvl="0" algn="ctr">
              <a:lnSpc>
                <a:spcPct val="116199"/>
              </a:lnSpc>
            </a:pPr>
            <a:r>
              <a:rPr lang="en-US" sz="2666" b="0" i="0" u="none" strike="noStrike">
                <a:solidFill>
                  <a:srgbClr val="000000"/>
                </a:solidFill>
                <a:latin typeface="Pretendard Medium"/>
                <a:ea typeface="Pretendard Medium"/>
                <a:cs typeface="Pretendard Medium"/>
              </a:rPr>
              <a:t>부족한 팀장이었지만, 훌륭한 팀원들을 만난 덕분에 여기까지 무사히 올 수 있었습니다. 많은 것을 배우고 경험할 수 있었던 소중한 두 달이었습니다. 감사합니다</a:t>
            </a:r>
          </a:p>
        </p:txBody>
      </p:sp>
      <p:sp>
        <p:nvSpPr>
          <p:cNvPr id="42" name="TextBox 42"/>
          <p:cNvSpPr txBox="1"/>
          <p:nvPr/>
        </p:nvSpPr>
        <p:spPr>
          <a:xfrm>
            <a:off x="9893300" y="4864100"/>
            <a:ext cx="5384800" cy="1892300"/>
          </a:xfrm>
          <a:prstGeom prst="rect">
            <a:avLst/>
          </a:prstGeom>
        </p:spPr>
        <p:txBody>
          <a:bodyPr lIns="0" tIns="0" rIns="0" bIns="0" rtlCol="0" anchor="t"/>
          <a:lstStyle/>
          <a:p>
            <a:pPr lvl="0" algn="l">
              <a:lnSpc>
                <a:spcPct val="116199"/>
              </a:lnSpc>
            </a:pPr>
            <a:r>
              <a:rPr lang="en-US" sz="2666" b="0" i="0" u="none" strike="noStrike">
                <a:solidFill>
                  <a:srgbClr val="000000"/>
                </a:solidFill>
                <a:latin typeface="Pretendard Medium"/>
                <a:ea typeface="Pretendard Medium"/>
                <a:cs typeface="Pretendard Medium"/>
              </a:rPr>
              <a:t>직접 구축한 웹·앱 환경을 시나리오에 다 담지 못해 아쉽지만, 6명이 개발부터 재현까지 함께하며 모의해킹의 전 과정을 깊이 있게 배운 값진 시간이었습니다</a:t>
            </a:r>
          </a:p>
        </p:txBody>
      </p:sp>
      <p:sp>
        <p:nvSpPr>
          <p:cNvPr id="43" name="TextBox 14">
            <a:extLst>
              <a:ext uri="{FF2B5EF4-FFF2-40B4-BE49-F238E27FC236}">
                <a16:creationId xmlns:a16="http://schemas.microsoft.com/office/drawing/2014/main" id="{4C75E6E3-5755-906B-5DA9-614CCEC5F152}"/>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44" name="TextBox 14">
            <a:extLst>
              <a:ext uri="{FF2B5EF4-FFF2-40B4-BE49-F238E27FC236}">
                <a16:creationId xmlns:a16="http://schemas.microsoft.com/office/drawing/2014/main" id="{DAEEF9E5-C933-D14A-DBF3-C6587BF4B0F0}"/>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pic>
        <p:nvPicPr>
          <p:cNvPr id="46" name="Picture 13">
            <a:extLst>
              <a:ext uri="{FF2B5EF4-FFF2-40B4-BE49-F238E27FC236}">
                <a16:creationId xmlns:a16="http://schemas.microsoft.com/office/drawing/2014/main" id="{99E6A1CE-D0F9-F173-671E-9C5925B75150}"/>
              </a:ext>
            </a:extLst>
          </p:cNvPr>
          <p:cNvPicPr>
            <a:picLocks noChangeAspect="1"/>
          </p:cNvPicPr>
          <p:nvPr/>
        </p:nvPicPr>
        <p:blipFill>
          <a:blip r:embed="rId8">
            <a:alphaModFix amt="85000"/>
          </a:blip>
          <a:stretch>
            <a:fillRect/>
          </a:stretch>
        </p:blipFill>
        <p:spPr>
          <a:xfrm>
            <a:off x="14020800" y="571500"/>
            <a:ext cx="1981200" cy="444500"/>
          </a:xfrm>
          <a:prstGeom prst="rect">
            <a:avLst/>
          </a:prstGeom>
        </p:spPr>
      </p:pic>
      <p:sp>
        <p:nvSpPr>
          <p:cNvPr id="47" name="TextBox 14">
            <a:extLst>
              <a:ext uri="{FF2B5EF4-FFF2-40B4-BE49-F238E27FC236}">
                <a16:creationId xmlns:a16="http://schemas.microsoft.com/office/drawing/2014/main" id="{EDB03857-7271-1167-6559-AAF4AC063A5E}"/>
              </a:ext>
            </a:extLst>
          </p:cNvPr>
          <p:cNvSpPr txBox="1"/>
          <p:nvPr/>
        </p:nvSpPr>
        <p:spPr>
          <a:xfrm>
            <a:off x="6946900" y="457200"/>
            <a:ext cx="20066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프로젝트 개요</a:t>
            </a:r>
          </a:p>
        </p:txBody>
      </p:sp>
      <p:sp>
        <p:nvSpPr>
          <p:cNvPr id="48" name="TextBox 16">
            <a:extLst>
              <a:ext uri="{FF2B5EF4-FFF2-40B4-BE49-F238E27FC236}">
                <a16:creationId xmlns:a16="http://schemas.microsoft.com/office/drawing/2014/main" id="{C1088103-85CD-3234-38BC-C3CC1ECC005B}"/>
              </a:ext>
            </a:extLst>
          </p:cNvPr>
          <p:cNvSpPr txBox="1"/>
          <p:nvPr/>
        </p:nvSpPr>
        <p:spPr>
          <a:xfrm>
            <a:off x="11353800" y="469900"/>
            <a:ext cx="2527300" cy="469900"/>
          </a:xfrm>
          <a:prstGeom prst="rect">
            <a:avLst/>
          </a:prstGeom>
        </p:spPr>
        <p:txBody>
          <a:bodyPr lIns="0" tIns="0" rIns="0" bIns="0" rtlCol="0" anchor="t"/>
          <a:lstStyle/>
          <a:p>
            <a:pPr lvl="0" algn="l">
              <a:lnSpc>
                <a:spcPct val="143590"/>
              </a:lnSpc>
            </a:pPr>
            <a:r>
              <a:rPr lang="en-US" sz="2666" b="0" i="0" u="none" strike="noStrike" spc="-100">
                <a:solidFill>
                  <a:srgbClr val="C2C2C2"/>
                </a:solidFill>
                <a:latin typeface="Pretendard SemiBold"/>
                <a:ea typeface="Pretendard SemiBold"/>
                <a:cs typeface="Pretendard SemiBold"/>
              </a:rPr>
              <a:t>시나리오 모의해킹</a:t>
            </a:r>
          </a:p>
        </p:txBody>
      </p:sp>
      <p:sp>
        <p:nvSpPr>
          <p:cNvPr id="49" name="TextBox 17">
            <a:extLst>
              <a:ext uri="{FF2B5EF4-FFF2-40B4-BE49-F238E27FC236}">
                <a16:creationId xmlns:a16="http://schemas.microsoft.com/office/drawing/2014/main" id="{9B7C6166-CCB9-5837-6A3A-68852A3B76AF}"/>
              </a:ext>
            </a:extLst>
          </p:cNvPr>
          <p:cNvSpPr txBox="1"/>
          <p:nvPr/>
        </p:nvSpPr>
        <p:spPr>
          <a:xfrm>
            <a:off x="14097000" y="495300"/>
            <a:ext cx="1981200" cy="469900"/>
          </a:xfrm>
          <a:prstGeom prst="rect">
            <a:avLst/>
          </a:prstGeom>
        </p:spPr>
        <p:txBody>
          <a:bodyPr lIns="0" tIns="0" rIns="0" bIns="0" rtlCol="0" anchor="t"/>
          <a:lstStyle/>
          <a:p>
            <a:pPr lvl="0" algn="l">
              <a:lnSpc>
                <a:spcPct val="143590"/>
              </a:lnSpc>
            </a:pPr>
            <a:r>
              <a:rPr lang="en-US" sz="2666" b="0" i="0" u="none" strike="noStrike" spc="-100">
                <a:solidFill>
                  <a:srgbClr val="000000"/>
                </a:solidFill>
                <a:latin typeface="Pretendard SemiBold"/>
                <a:ea typeface="Pretendard SemiBold"/>
                <a:cs typeface="Pretendard SemiBold"/>
              </a:rPr>
              <a:t>프로젝트 총평</a:t>
            </a:r>
          </a:p>
        </p:txBody>
      </p:sp>
      <p:sp>
        <p:nvSpPr>
          <p:cNvPr id="50" name="TextBox 20">
            <a:extLst>
              <a:ext uri="{FF2B5EF4-FFF2-40B4-BE49-F238E27FC236}">
                <a16:creationId xmlns:a16="http://schemas.microsoft.com/office/drawing/2014/main" id="{535B155F-8894-B38F-5999-5CD121F71EED}"/>
              </a:ext>
            </a:extLst>
          </p:cNvPr>
          <p:cNvSpPr txBox="1"/>
          <p:nvPr/>
        </p:nvSpPr>
        <p:spPr>
          <a:xfrm>
            <a:off x="9334500" y="469900"/>
            <a:ext cx="1752600" cy="469900"/>
          </a:xfrm>
          <a:prstGeom prst="rect">
            <a:avLst/>
          </a:prstGeom>
        </p:spPr>
        <p:txBody>
          <a:bodyPr lIns="0" tIns="0" rIns="0" bIns="0" rtlCol="0" anchor="t"/>
          <a:lstStyle/>
          <a:p>
            <a:pPr lvl="0" algn="l">
              <a:lnSpc>
                <a:spcPct val="143590"/>
              </a:lnSpc>
            </a:pPr>
            <a:r>
              <a:rPr lang="en-US" sz="2666" b="0" i="0" u="none" strike="noStrike" spc="-100" dirty="0" err="1">
                <a:solidFill>
                  <a:srgbClr val="C2C2C2"/>
                </a:solidFill>
                <a:latin typeface="Pretendard SemiBold"/>
                <a:ea typeface="Pretendard SemiBold"/>
                <a:cs typeface="Pretendard SemiBold"/>
              </a:rPr>
              <a:t>개발</a:t>
            </a:r>
            <a:r>
              <a:rPr lang="en-US" sz="2666" b="0" i="0" u="none" strike="noStrike" spc="-100" dirty="0">
                <a:solidFill>
                  <a:srgbClr val="C2C2C2"/>
                </a:solidFill>
                <a:latin typeface="Pretendard SemiBold"/>
                <a:ea typeface="Pretendard SemiBold"/>
                <a:cs typeface="Pretendard SemiBold"/>
              </a:rPr>
              <a:t> 및 </a:t>
            </a:r>
            <a:r>
              <a:rPr lang="en-US" sz="2666" b="0" i="0" u="none" strike="noStrike" spc="-100" dirty="0" err="1">
                <a:solidFill>
                  <a:srgbClr val="C2C2C2"/>
                </a:solidFill>
                <a:latin typeface="Pretendard SemiBold"/>
                <a:ea typeface="Pretendard SemiBold"/>
                <a:cs typeface="Pretendard SemiBold"/>
              </a:rPr>
              <a:t>진단</a:t>
            </a:r>
            <a:endParaRPr lang="en-US" sz="2666" b="0" i="0" u="none" strike="noStrike" spc="-100" dirty="0">
              <a:solidFill>
                <a:srgbClr val="C2C2C2"/>
              </a:solidFill>
              <a:latin typeface="Pretendard SemiBold"/>
              <a:ea typeface="Pretendard SemiBold"/>
              <a:cs typeface="Pretendard SemiBold"/>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pic>
        <p:nvPicPr>
          <p:cNvPr id="3" name="Picture 3"/>
          <p:cNvPicPr>
            <a:picLocks noChangeAspect="1"/>
          </p:cNvPicPr>
          <p:nvPr/>
        </p:nvPicPr>
        <p:blipFill>
          <a:blip r:embed="rId2"/>
          <a:stretch>
            <a:fillRect/>
          </a:stretch>
        </p:blipFill>
        <p:spPr>
          <a:xfrm>
            <a:off x="16484600" y="6870700"/>
            <a:ext cx="11442700" cy="11442700"/>
          </a:xfrm>
          <a:prstGeom prst="rect">
            <a:avLst/>
          </a:prstGeom>
        </p:spPr>
      </p:pic>
      <p:pic>
        <p:nvPicPr>
          <p:cNvPr id="4" name="Picture 4"/>
          <p:cNvPicPr>
            <a:picLocks noChangeAspect="1"/>
          </p:cNvPicPr>
          <p:nvPr/>
        </p:nvPicPr>
        <p:blipFill>
          <a:blip r:embed="rId3">
            <a:alphaModFix amt="80000"/>
          </a:blip>
          <a:stretch>
            <a:fillRect/>
          </a:stretch>
        </p:blipFill>
        <p:spPr>
          <a:xfrm>
            <a:off x="-3251200" y="5918200"/>
            <a:ext cx="10109200" cy="10109200"/>
          </a:xfrm>
          <a:prstGeom prst="rect">
            <a:avLst/>
          </a:prstGeom>
        </p:spPr>
      </p:pic>
      <p:pic>
        <p:nvPicPr>
          <p:cNvPr id="5" name="Picture 5"/>
          <p:cNvPicPr>
            <a:picLocks noChangeAspect="1"/>
          </p:cNvPicPr>
          <p:nvPr/>
        </p:nvPicPr>
        <p:blipFill>
          <a:blip r:embed="rId4"/>
          <a:stretch>
            <a:fillRect/>
          </a:stretch>
        </p:blipFill>
        <p:spPr>
          <a:xfrm>
            <a:off x="723900" y="1092200"/>
            <a:ext cx="22860000" cy="12700"/>
          </a:xfrm>
          <a:prstGeom prst="rect">
            <a:avLst/>
          </a:prstGeom>
        </p:spPr>
      </p:pic>
      <p:pic>
        <p:nvPicPr>
          <p:cNvPr id="6" name="Picture 6"/>
          <p:cNvPicPr>
            <a:picLocks noChangeAspect="1"/>
          </p:cNvPicPr>
          <p:nvPr/>
        </p:nvPicPr>
        <p:blipFill>
          <a:blip r:embed="rId5"/>
          <a:stretch>
            <a:fillRect/>
          </a:stretch>
        </p:blipFill>
        <p:spPr>
          <a:xfrm rot="5400000">
            <a:off x="3200400" y="787400"/>
            <a:ext cx="635000" cy="12700"/>
          </a:xfrm>
          <a:prstGeom prst="rect">
            <a:avLst/>
          </a:prstGeom>
        </p:spPr>
      </p:pic>
      <p:pic>
        <p:nvPicPr>
          <p:cNvPr id="7" name="Picture 7"/>
          <p:cNvPicPr>
            <a:picLocks noChangeAspect="1"/>
          </p:cNvPicPr>
          <p:nvPr/>
        </p:nvPicPr>
        <p:blipFill>
          <a:blip r:embed="rId5"/>
          <a:stretch>
            <a:fillRect/>
          </a:stretch>
        </p:blipFill>
        <p:spPr>
          <a:xfrm rot="5400000">
            <a:off x="22225000" y="787400"/>
            <a:ext cx="635000" cy="12700"/>
          </a:xfrm>
          <a:prstGeom prst="rect">
            <a:avLst/>
          </a:prstGeom>
        </p:spPr>
      </p:pic>
      <p:pic>
        <p:nvPicPr>
          <p:cNvPr id="8" name="Picture 8"/>
          <p:cNvPicPr>
            <a:picLocks noChangeAspect="1"/>
          </p:cNvPicPr>
          <p:nvPr/>
        </p:nvPicPr>
        <p:blipFill>
          <a:blip r:embed="rId5"/>
          <a:stretch>
            <a:fillRect/>
          </a:stretch>
        </p:blipFill>
        <p:spPr>
          <a:xfrm rot="5400000">
            <a:off x="6337300" y="787400"/>
            <a:ext cx="635000" cy="12700"/>
          </a:xfrm>
          <a:prstGeom prst="rect">
            <a:avLst/>
          </a:prstGeom>
        </p:spPr>
      </p:pic>
      <p:pic>
        <p:nvPicPr>
          <p:cNvPr id="9" name="Picture 9"/>
          <p:cNvPicPr>
            <a:picLocks noChangeAspect="1"/>
          </p:cNvPicPr>
          <p:nvPr/>
        </p:nvPicPr>
        <p:blipFill>
          <a:blip r:embed="rId4"/>
          <a:stretch>
            <a:fillRect/>
          </a:stretch>
        </p:blipFill>
        <p:spPr>
          <a:xfrm>
            <a:off x="723900" y="457200"/>
            <a:ext cx="22860000" cy="12700"/>
          </a:xfrm>
          <a:prstGeom prst="rect">
            <a:avLst/>
          </a:prstGeom>
        </p:spPr>
      </p:pic>
      <p:sp>
        <p:nvSpPr>
          <p:cNvPr id="11" name="TextBox 11"/>
          <p:cNvSpPr txBox="1"/>
          <p:nvPr/>
        </p:nvSpPr>
        <p:spPr>
          <a:xfrm>
            <a:off x="5664200" y="5143500"/>
            <a:ext cx="12979400" cy="2120900"/>
          </a:xfrm>
          <a:prstGeom prst="rect">
            <a:avLst/>
          </a:prstGeom>
        </p:spPr>
        <p:txBody>
          <a:bodyPr lIns="0" tIns="75887" rIns="0" bIns="0" rtlCol="0" anchor="t"/>
          <a:lstStyle/>
          <a:p>
            <a:pPr lvl="0" algn="ctr">
              <a:lnSpc>
                <a:spcPct val="107899"/>
              </a:lnSpc>
            </a:pPr>
            <a:r>
              <a:rPr lang="en-US" sz="11950" b="0" i="0" u="none" strike="noStrike" spc="-300">
                <a:solidFill>
                  <a:srgbClr val="1A7AE1"/>
                </a:solidFill>
                <a:latin typeface="Pretendard ExtraBold"/>
                <a:ea typeface="Pretendard ExtraBold"/>
                <a:cs typeface="Pretendard ExtraBold"/>
              </a:rPr>
              <a:t>감사합니다.</a:t>
            </a:r>
          </a:p>
        </p:txBody>
      </p:sp>
      <p:sp>
        <p:nvSpPr>
          <p:cNvPr id="12" name="TextBox 12"/>
          <p:cNvSpPr txBox="1"/>
          <p:nvPr/>
        </p:nvSpPr>
        <p:spPr>
          <a:xfrm>
            <a:off x="5702300" y="7264400"/>
            <a:ext cx="12979400" cy="2120900"/>
          </a:xfrm>
          <a:prstGeom prst="rect">
            <a:avLst/>
          </a:prstGeom>
        </p:spPr>
        <p:txBody>
          <a:bodyPr lIns="0" tIns="75887" rIns="0" bIns="0" rtlCol="0" anchor="t"/>
          <a:lstStyle/>
          <a:p>
            <a:pPr lvl="0" algn="ctr">
              <a:lnSpc>
                <a:spcPct val="107899"/>
              </a:lnSpc>
            </a:pPr>
            <a:r>
              <a:rPr lang="en-US" sz="11950" b="0" i="0" u="none" strike="noStrike" spc="-300">
                <a:solidFill>
                  <a:srgbClr val="000000"/>
                </a:solidFill>
                <a:latin typeface="Pretendard SemiBold"/>
                <a:ea typeface="Pretendard SemiBold"/>
                <a:cs typeface="Pretendard SemiBold"/>
              </a:rPr>
              <a:t>Q&amp;A</a:t>
            </a:r>
          </a:p>
        </p:txBody>
      </p:sp>
      <p:sp>
        <p:nvSpPr>
          <p:cNvPr id="14" name="TextBox 14"/>
          <p:cNvSpPr txBox="1"/>
          <p:nvPr/>
        </p:nvSpPr>
        <p:spPr>
          <a:xfrm>
            <a:off x="22707600" y="584200"/>
            <a:ext cx="736600" cy="381000"/>
          </a:xfrm>
          <a:prstGeom prst="rect">
            <a:avLst/>
          </a:prstGeom>
        </p:spPr>
        <p:txBody>
          <a:bodyPr lIns="0" tIns="32511" rIns="0" bIns="0" rtlCol="0" anchor="t"/>
          <a:lstStyle/>
          <a:p>
            <a:pPr lvl="0" algn="ctr">
              <a:lnSpc>
                <a:spcPct val="96279"/>
              </a:lnSpc>
            </a:pPr>
            <a:r>
              <a:rPr lang="en-US" sz="2133" cap="all" dirty="0">
                <a:solidFill>
                  <a:srgbClr val="024EA0"/>
                </a:solidFill>
                <a:latin typeface="Geologica Roman Light"/>
                <a:ea typeface="Geologica Roman Light"/>
                <a:cs typeface="Geologica Roman Light"/>
              </a:rPr>
              <a:t>87</a:t>
            </a:r>
            <a:endParaRPr lang="en-US" sz="2133" b="0" i="0" u="none" strike="noStrike" cap="all" dirty="0">
              <a:solidFill>
                <a:srgbClr val="024EA0"/>
              </a:solidFill>
              <a:latin typeface="Geologica Roman Light"/>
              <a:ea typeface="Geologica Roman Light"/>
              <a:cs typeface="Geologica Roman Light"/>
            </a:endParaRPr>
          </a:p>
        </p:txBody>
      </p:sp>
      <p:sp>
        <p:nvSpPr>
          <p:cNvPr id="15" name="TextBox 14">
            <a:extLst>
              <a:ext uri="{FF2B5EF4-FFF2-40B4-BE49-F238E27FC236}">
                <a16:creationId xmlns:a16="http://schemas.microsoft.com/office/drawing/2014/main" id="{6A71EA07-8173-FB19-5F6C-F393C1F1BF19}"/>
              </a:ext>
            </a:extLst>
          </p:cNvPr>
          <p:cNvSpPr txBox="1"/>
          <p:nvPr/>
        </p:nvSpPr>
        <p:spPr>
          <a:xfrm>
            <a:off x="1562100" y="635000"/>
            <a:ext cx="1104900" cy="304800"/>
          </a:xfrm>
          <a:prstGeom prst="rect">
            <a:avLst/>
          </a:prstGeom>
        </p:spPr>
        <p:txBody>
          <a:bodyPr lIns="0" tIns="26415" rIns="0" bIns="0" rtlCol="0" anchor="t"/>
          <a:lstStyle/>
          <a:p>
            <a:pPr lvl="0" algn="ctr">
              <a:lnSpc>
                <a:spcPct val="96279"/>
              </a:lnSpc>
            </a:pP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Sk</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r>
              <a:rPr lang="en-US" sz="1733" b="0" i="0" u="none" strike="noStrike" cap="all" dirty="0" err="1">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쉴더스</a:t>
            </a:r>
            <a:r>
              <a:rPr lang="en-US" sz="1733" b="0" i="0" u="none" strike="noStrike" cap="all"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 </a:t>
            </a:r>
          </a:p>
        </p:txBody>
      </p:sp>
      <p:sp>
        <p:nvSpPr>
          <p:cNvPr id="16" name="TextBox 14">
            <a:extLst>
              <a:ext uri="{FF2B5EF4-FFF2-40B4-BE49-F238E27FC236}">
                <a16:creationId xmlns:a16="http://schemas.microsoft.com/office/drawing/2014/main" id="{2B881D25-F366-77C0-BDE4-F6A213811BEA}"/>
              </a:ext>
            </a:extLst>
          </p:cNvPr>
          <p:cNvSpPr txBox="1"/>
          <p:nvPr/>
        </p:nvSpPr>
        <p:spPr>
          <a:xfrm>
            <a:off x="4356273" y="650240"/>
            <a:ext cx="1434927" cy="304800"/>
          </a:xfrm>
          <a:prstGeom prst="rect">
            <a:avLst/>
          </a:prstGeom>
        </p:spPr>
        <p:txBody>
          <a:bodyPr lIns="0" tIns="26415" rIns="0" bIns="0" rtlCol="0" anchor="t"/>
          <a:lstStyle/>
          <a:p>
            <a:pPr lvl="0" algn="ctr">
              <a:lnSpc>
                <a:spcPct val="96279"/>
              </a:lnSpc>
            </a:pPr>
            <a:r>
              <a:rPr 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Rookies 29</a:t>
            </a:r>
            <a:r>
              <a:rPr lang="ko-KR" altLang="en-US" sz="1733"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rPr>
              <a:t>기</a:t>
            </a:r>
            <a:endParaRPr lang="en-US" sz="1733" b="0" i="0" u="none" strike="noStrike" dirty="0">
              <a:solidFill>
                <a:srgbClr val="024EA0">
                  <a:alpha val="80000"/>
                </a:srgbClr>
              </a:solidFill>
              <a:latin typeface="Pretendard Medium" panose="02000603000000020004" pitchFamily="50" charset="-127"/>
              <a:ea typeface="Pretendard Medium" panose="02000603000000020004" pitchFamily="50" charset="-127"/>
              <a:cs typeface="Pretendard Medium" panose="02000603000000020004" pitchFamily="50" charset="-127"/>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2118</TotalTime>
  <Words>6795</Words>
  <Application>Microsoft Office PowerPoint</Application>
  <PresentationFormat>사용자 지정</PresentationFormat>
  <Paragraphs>1547</Paragraphs>
  <Slides>91</Slides>
  <Notes>16</Notes>
  <HiddenSlides>0</HiddenSlides>
  <MMClips>0</MMClips>
  <ScaleCrop>false</ScaleCrop>
  <HeadingPairs>
    <vt:vector size="6" baseType="variant">
      <vt:variant>
        <vt:lpstr>사용한 글꼴</vt:lpstr>
      </vt:variant>
      <vt:variant>
        <vt:i4>11</vt:i4>
      </vt:variant>
      <vt:variant>
        <vt:lpstr>테마</vt:lpstr>
      </vt:variant>
      <vt:variant>
        <vt:i4>1</vt:i4>
      </vt:variant>
      <vt:variant>
        <vt:lpstr>슬라이드 제목</vt:lpstr>
      </vt:variant>
      <vt:variant>
        <vt:i4>91</vt:i4>
      </vt:variant>
    </vt:vector>
  </HeadingPairs>
  <TitlesOfParts>
    <vt:vector size="103" baseType="lpstr">
      <vt:lpstr>Pretendard Bold</vt:lpstr>
      <vt:lpstr>Calibri</vt:lpstr>
      <vt:lpstr>Pretendard Light</vt:lpstr>
      <vt:lpstr>Arial</vt:lpstr>
      <vt:lpstr>Aptos</vt:lpstr>
      <vt:lpstr>Pretendard ExtraBold</vt:lpstr>
      <vt:lpstr>Pretendard SemiBold</vt:lpstr>
      <vt:lpstr>Pretendard Regular</vt:lpstr>
      <vt:lpstr>Hauora ExtraBold</vt:lpstr>
      <vt:lpstr>Pretendard Medium</vt:lpstr>
      <vt:lpstr>Geologica Roman Light</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서정우[ 학부재학 / 인공지능사이버보안학과 ]</cp:lastModifiedBy>
  <cp:revision>77</cp:revision>
  <dcterms:created xsi:type="dcterms:W3CDTF">2006-08-16T00:00:00Z</dcterms:created>
  <dcterms:modified xsi:type="dcterms:W3CDTF">2026-05-05T16:07:22Z</dcterms:modified>
</cp:coreProperties>
</file>