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3"/>
  </p:notesMasterIdLst>
  <p:sldIdLst>
    <p:sldId id="256" r:id="rId2"/>
    <p:sldId id="257" r:id="rId3"/>
    <p:sldId id="359" r:id="rId4"/>
    <p:sldId id="258" r:id="rId5"/>
    <p:sldId id="360" r:id="rId6"/>
    <p:sldId id="260" r:id="rId7"/>
    <p:sldId id="261" r:id="rId8"/>
    <p:sldId id="35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361" r:id="rId22"/>
    <p:sldId id="275" r:id="rId23"/>
    <p:sldId id="276" r:id="rId24"/>
    <p:sldId id="277" r:id="rId25"/>
    <p:sldId id="278" r:id="rId26"/>
    <p:sldId id="279" r:id="rId27"/>
    <p:sldId id="357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9" r:id="rId37"/>
    <p:sldId id="290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62" r:id="rId61"/>
    <p:sldId id="315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42" r:id="rId82"/>
    <p:sldId id="343" r:id="rId83"/>
    <p:sldId id="344" r:id="rId84"/>
    <p:sldId id="345" r:id="rId85"/>
    <p:sldId id="346" r:id="rId86"/>
    <p:sldId id="336" r:id="rId87"/>
    <p:sldId id="348" r:id="rId88"/>
    <p:sldId id="356" r:id="rId89"/>
    <p:sldId id="352" r:id="rId90"/>
    <p:sldId id="338" r:id="rId91"/>
    <p:sldId id="339" r:id="rId92"/>
  </p:sldIdLst>
  <p:sldSz cx="24384000" cy="13716000"/>
  <p:notesSz cx="6858000" cy="9144000"/>
  <p:embeddedFontLst>
    <p:embeddedFont>
      <p:font typeface="Pretendard Bold" panose="020B0600000101010101" charset="-127"/>
      <p:bold r:id="rId94"/>
    </p:embeddedFont>
    <p:embeddedFont>
      <p:font typeface="Pretendard ExtraBold" panose="020B0600000101010101" charset="-127"/>
      <p:bold r:id="rId95"/>
    </p:embeddedFont>
    <p:embeddedFont>
      <p:font typeface="Pretendard Light" panose="020B0600000101010101" charset="-127"/>
      <p:regular r:id="rId96"/>
    </p:embeddedFont>
    <p:embeddedFont>
      <p:font typeface="Pretendard Medium" panose="020B0600000101010101" charset="-127"/>
      <p:regular r:id="rId97"/>
      <p:bold r:id="rId98"/>
    </p:embeddedFont>
    <p:embeddedFont>
      <p:font typeface="Pretendard Regular" panose="020B0600000101010101" charset="-127"/>
      <p:regular r:id="rId99"/>
    </p:embeddedFont>
    <p:embeddedFont>
      <p:font typeface="Pretendard SemiBold" panose="020B0600000101010101" charset="-127"/>
      <p:regular r:id="rId100"/>
      <p:bold r:id="rId101"/>
    </p:embeddedFont>
    <p:embeddedFont>
      <p:font typeface="Geologica Roman Light" panose="020B0600000101010101" charset="0"/>
      <p:regular r:id="rId102"/>
    </p:embeddedFont>
    <p:embeddedFont>
      <p:font typeface="Hauora ExtraBold" panose="020B0600000101010101" charset="0"/>
      <p:bold r:id="rId10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94B"/>
    <a:srgbClr val="FFFFFF"/>
    <a:srgbClr val="F2F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17" autoAdjust="0"/>
    <p:restoredTop sz="89873" autoAdjust="0"/>
  </p:normalViewPr>
  <p:slideViewPr>
    <p:cSldViewPr>
      <p:cViewPr varScale="1">
        <p:scale>
          <a:sx n="37" d="100"/>
          <a:sy n="37" d="100"/>
        </p:scale>
        <p:origin x="936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9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font" Target="fonts/font2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1.fntdata"/><Relationship Id="rId99" Type="http://schemas.openxmlformats.org/officeDocument/2006/relationships/font" Target="fonts/font6.fntdata"/><Relationship Id="rId10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4.fntdata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7.fntdata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font" Target="fonts/font5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F1D0C-3122-4F49-8AF5-F094032BD3F4}" type="datetimeFigureOut">
              <a:rPr lang="en-KR" smtClean="0"/>
              <a:t>05/07/2026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B9637-8F04-9D42-A4CF-40DB31B22CD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6382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이미지 다시 찍기</a:t>
            </a:r>
            <a:r>
              <a:rPr lang="en-US" altLang="ko-KR" dirty="0"/>
              <a:t>(Response </a:t>
            </a:r>
            <a:r>
              <a:rPr lang="ko-KR" altLang="en-US" dirty="0"/>
              <a:t>수정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16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42770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18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3876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금융권 테마 </a:t>
            </a:r>
            <a:r>
              <a:rPr lang="en-US" altLang="ko-KR" dirty="0"/>
              <a:t>E2E + CSRF</a:t>
            </a:r>
          </a:p>
          <a:p>
            <a:r>
              <a:rPr lang="en-US" altLang="ko-KR" dirty="0"/>
              <a:t>1,2,4</a:t>
            </a:r>
            <a:r>
              <a:rPr lang="ko-KR" altLang="en-US" dirty="0"/>
              <a:t>번 바꾸기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25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7389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표기방식이 제각각</a:t>
            </a:r>
            <a:r>
              <a:rPr lang="en-US" altLang="ko-KR" dirty="0"/>
              <a:t>(cups, </a:t>
            </a:r>
            <a:r>
              <a:rPr lang="ko-KR" altLang="en-US" dirty="0"/>
              <a:t>메일서버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외주망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협력사망</a:t>
            </a:r>
            <a:endParaRPr lang="en-US" altLang="ko-KR" dirty="0"/>
          </a:p>
          <a:p>
            <a:r>
              <a:rPr lang="ko-KR" altLang="en-US" dirty="0" err="1"/>
              <a:t>본사망</a:t>
            </a:r>
            <a:r>
              <a:rPr lang="ko-KR" altLang="en-US" dirty="0"/>
              <a:t> </a:t>
            </a:r>
            <a:r>
              <a:rPr lang="en-US" altLang="ko-KR" dirty="0"/>
              <a:t>|</a:t>
            </a:r>
          </a:p>
          <a:p>
            <a:r>
              <a:rPr lang="en-US" altLang="ko-KR" dirty="0"/>
              <a:t>--------------</a:t>
            </a:r>
            <a:br>
              <a:rPr lang="en-US" altLang="ko-KR" dirty="0"/>
            </a:br>
            <a:r>
              <a:rPr lang="ko-KR" altLang="en-US" dirty="0"/>
              <a:t>공격자 </a:t>
            </a:r>
            <a:r>
              <a:rPr lang="en-US" altLang="ko-KR" dirty="0"/>
              <a:t>|</a:t>
            </a:r>
            <a:r>
              <a:rPr lang="ko-KR" altLang="en-US" dirty="0"/>
              <a:t> </a:t>
            </a:r>
            <a:r>
              <a:rPr lang="ko-KR" altLang="en-US" dirty="0" err="1"/>
              <a:t>내부망</a:t>
            </a:r>
            <a:endParaRPr lang="en-US" altLang="ko-KR" dirty="0"/>
          </a:p>
          <a:p>
            <a:r>
              <a:rPr lang="en-US" altLang="ko-KR" dirty="0"/>
              <a:t>--------------</a:t>
            </a:r>
            <a:br>
              <a:rPr lang="en-US" altLang="ko-KR" dirty="0"/>
            </a:br>
            <a:r>
              <a:rPr lang="ko-KR" altLang="en-US" dirty="0" err="1"/>
              <a:t>외주망</a:t>
            </a:r>
            <a:r>
              <a:rPr lang="ko-KR" altLang="en-US" dirty="0"/>
              <a:t> </a:t>
            </a:r>
            <a:r>
              <a:rPr lang="en-US" altLang="ko-KR" dirty="0"/>
              <a:t>|</a:t>
            </a:r>
          </a:p>
          <a:p>
            <a:endParaRPr lang="en-US" dirty="0"/>
          </a:p>
          <a:p>
            <a:r>
              <a:rPr lang="ko-KR" altLang="en-US" dirty="0"/>
              <a:t>어떤 피해를 입히는지</a:t>
            </a:r>
            <a:endParaRPr lang="en-US" altLang="ko-KR" dirty="0"/>
          </a:p>
          <a:p>
            <a:r>
              <a:rPr lang="ko-KR" altLang="en-US" dirty="0"/>
              <a:t>결말이 없다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29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85014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용어 통일</a:t>
            </a:r>
            <a:endParaRPr lang="en-US" altLang="ko-KR" dirty="0"/>
          </a:p>
          <a:p>
            <a:r>
              <a:rPr lang="ko-KR" altLang="en-US" dirty="0"/>
              <a:t>어디에 위치하는지</a:t>
            </a:r>
            <a:r>
              <a:rPr lang="en-US" altLang="ko-KR" dirty="0"/>
              <a:t>(</a:t>
            </a:r>
            <a:r>
              <a:rPr lang="ko-KR" altLang="en-US" dirty="0"/>
              <a:t>망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31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3170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화살표 </a:t>
            </a:r>
            <a:r>
              <a:rPr lang="ko-KR" altLang="en-US" dirty="0" err="1"/>
              <a:t>너무많다</a:t>
            </a:r>
            <a:endParaRPr lang="en-US" altLang="ko-KR" dirty="0"/>
          </a:p>
          <a:p>
            <a:r>
              <a:rPr lang="ko-KR" altLang="en-US" dirty="0"/>
              <a:t>최대한 줄이기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59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86568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6485A-531E-1CAA-12E8-7DB8B0FA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212A7-40E6-C0F3-DC11-64748A2CF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5F987-6CD6-0C0C-A5D3-6BE50F72A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템플릿 통일</a:t>
            </a:r>
            <a:endParaRPr lang="en-US" altLang="ko-KR" dirty="0"/>
          </a:p>
          <a:p>
            <a:r>
              <a:rPr lang="ko-KR" altLang="en-US" dirty="0"/>
              <a:t>로고 넣기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B40D4-39B0-285F-04D9-08E2A2A80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60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01114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템플릿 통일</a:t>
            </a:r>
            <a:endParaRPr lang="en-US" altLang="ko-KR" dirty="0"/>
          </a:p>
          <a:p>
            <a:r>
              <a:rPr lang="ko-KR" altLang="en-US" dirty="0"/>
              <a:t>로고 넣기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61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24338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5A059-F668-6C4E-B2D0-626F9D0E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B8CE3-5A09-9D5E-78E8-1FADBD2EA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FB0BC-3946-8F63-D669-4D654AAA8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보안 대책을 썼는지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도메인별 정리</a:t>
            </a:r>
            <a:r>
              <a:rPr lang="en-US" altLang="ko-KR" dirty="0"/>
              <a:t>,</a:t>
            </a:r>
            <a:r>
              <a:rPr lang="ko-KR" altLang="en-US" dirty="0"/>
              <a:t> 예시</a:t>
            </a:r>
            <a:r>
              <a:rPr lang="en-US" altLang="ko-KR" dirty="0"/>
              <a:t>,</a:t>
            </a:r>
            <a:r>
              <a:rPr lang="ko-KR" altLang="en-US" dirty="0"/>
              <a:t> 서비스</a:t>
            </a:r>
            <a:r>
              <a:rPr lang="en-US" altLang="ko-KR" dirty="0"/>
              <a:t>(</a:t>
            </a:r>
            <a:r>
              <a:rPr lang="ko-KR" altLang="en-US" dirty="0"/>
              <a:t>솔루션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7F96D-0D34-5664-EC7D-27D957868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81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1386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8D9F5-F73F-4193-5423-DEA9AD06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B8454-00C8-A719-2AC3-4E31CABF3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9142B-AE02-017A-4E37-7E9EAE9F7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3D5FE-2F4C-D740-9990-F17E6AF3C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82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88540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F736-54E3-0484-A3E5-F1F481D1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24506-4E06-4B5E-E0CE-70EFF3669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B0F00-8AB7-E78D-089A-DD84305C9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9FF90-08FA-857D-975E-E8ACED8E2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83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20786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65F14-2A7C-D303-23AC-0AED2851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5C150-434E-C33C-8126-657FA444A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53231-43DC-AB22-9827-F52498A77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보안 대책을 썼는지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도메인별 정리</a:t>
            </a:r>
            <a:r>
              <a:rPr lang="en-US" altLang="ko-KR" dirty="0"/>
              <a:t>,</a:t>
            </a:r>
            <a:r>
              <a:rPr lang="ko-KR" altLang="en-US" dirty="0"/>
              <a:t> 예시</a:t>
            </a:r>
            <a:r>
              <a:rPr lang="en-US" altLang="ko-KR" dirty="0"/>
              <a:t>,</a:t>
            </a:r>
            <a:r>
              <a:rPr lang="ko-KR" altLang="en-US" dirty="0"/>
              <a:t> 서비스</a:t>
            </a:r>
            <a:r>
              <a:rPr lang="en-US" altLang="ko-KR" dirty="0"/>
              <a:t>(</a:t>
            </a:r>
            <a:r>
              <a:rPr lang="ko-KR" altLang="en-US" dirty="0"/>
              <a:t>솔루션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2AB86-9B93-3E49-07E8-B0D1C7488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84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84308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2C5F8-DF15-CE76-CCCC-2AAB944C4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301E5-8A21-FF3D-84AE-22C0CE913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A0EC5-3FCF-AF6A-F514-B0CED7517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보안 대책을 썼는지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도메인별 정리</a:t>
            </a:r>
            <a:r>
              <a:rPr lang="en-US" altLang="ko-KR" dirty="0"/>
              <a:t>,</a:t>
            </a:r>
            <a:r>
              <a:rPr lang="ko-KR" altLang="en-US" dirty="0"/>
              <a:t> 예시</a:t>
            </a:r>
            <a:r>
              <a:rPr lang="en-US" altLang="ko-KR" dirty="0"/>
              <a:t>,</a:t>
            </a:r>
            <a:r>
              <a:rPr lang="ko-KR" altLang="en-US" dirty="0"/>
              <a:t> 서비스</a:t>
            </a:r>
            <a:r>
              <a:rPr lang="en-US" altLang="ko-KR" dirty="0"/>
              <a:t>(</a:t>
            </a:r>
            <a:r>
              <a:rPr lang="ko-KR" altLang="en-US" dirty="0"/>
              <a:t>솔루션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AA8B8-AE70-B846-8B0E-C38FCF81C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85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20189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보안 대책을 썼는지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도메인별 정리</a:t>
            </a:r>
            <a:r>
              <a:rPr lang="en-US" altLang="ko-KR" dirty="0"/>
              <a:t>,</a:t>
            </a:r>
            <a:r>
              <a:rPr lang="ko-KR" altLang="en-US" dirty="0"/>
              <a:t> 예시</a:t>
            </a:r>
            <a:r>
              <a:rPr lang="en-US" altLang="ko-KR" dirty="0"/>
              <a:t>,</a:t>
            </a:r>
            <a:r>
              <a:rPr lang="ko-KR" altLang="en-US" dirty="0"/>
              <a:t> 서비스</a:t>
            </a:r>
            <a:r>
              <a:rPr lang="en-US" altLang="ko-KR" dirty="0"/>
              <a:t>(</a:t>
            </a:r>
            <a:r>
              <a:rPr lang="ko-KR" altLang="en-US" dirty="0"/>
              <a:t>솔루션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86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48809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BF5CC-5D6C-C65C-A1D8-236A93575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6FA9F-7A6E-AC74-6792-7C96DE0B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15AE2-5824-F759-22C8-4A54D3766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보안 대책을 썼는지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도메인별 정리</a:t>
            </a:r>
            <a:r>
              <a:rPr lang="en-US" altLang="ko-KR" dirty="0"/>
              <a:t>,</a:t>
            </a:r>
            <a:r>
              <a:rPr lang="ko-KR" altLang="en-US" dirty="0"/>
              <a:t> 예시</a:t>
            </a:r>
            <a:r>
              <a:rPr lang="en-US" altLang="ko-KR" dirty="0"/>
              <a:t>,</a:t>
            </a:r>
            <a:r>
              <a:rPr lang="ko-KR" altLang="en-US" dirty="0"/>
              <a:t> 서비스</a:t>
            </a:r>
            <a:r>
              <a:rPr lang="en-US" altLang="ko-KR" dirty="0"/>
              <a:t>(</a:t>
            </a:r>
            <a:r>
              <a:rPr lang="ko-KR" altLang="en-US" dirty="0"/>
              <a:t>솔루션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ABA3A-125A-D194-21BE-E55F7DB28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87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9981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 프로젝트의 </a:t>
            </a:r>
            <a:r>
              <a:rPr lang="ko-KR" altLang="en-US" dirty="0" err="1"/>
              <a:t>색입히기</a:t>
            </a:r>
            <a:endParaRPr lang="en-US" altLang="ko-KR" dirty="0"/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B9637-8F04-9D42-A4CF-40DB31B22CD7}" type="slidenum">
              <a:rPr lang="en-KR" smtClean="0"/>
              <a:t>90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784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8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19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8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7.png"/><Relationship Id="rId7" Type="http://schemas.openxmlformats.org/officeDocument/2006/relationships/image" Target="../media/image4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34.png"/><Relationship Id="rId4" Type="http://schemas.openxmlformats.org/officeDocument/2006/relationships/image" Target="../media/image8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8.png"/><Relationship Id="rId9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image" Target="../media/image75.png"/><Relationship Id="rId26" Type="http://schemas.openxmlformats.org/officeDocument/2006/relationships/image" Target="../media/image83.png"/><Relationship Id="rId39" Type="http://schemas.openxmlformats.org/officeDocument/2006/relationships/image" Target="../media/image96.png"/><Relationship Id="rId21" Type="http://schemas.openxmlformats.org/officeDocument/2006/relationships/image" Target="../media/image78.png"/><Relationship Id="rId34" Type="http://schemas.openxmlformats.org/officeDocument/2006/relationships/image" Target="../media/image91.png"/><Relationship Id="rId42" Type="http://schemas.openxmlformats.org/officeDocument/2006/relationships/image" Target="../media/image99.png"/><Relationship Id="rId47" Type="http://schemas.openxmlformats.org/officeDocument/2006/relationships/image" Target="../media/image104.png"/><Relationship Id="rId50" Type="http://schemas.openxmlformats.org/officeDocument/2006/relationships/image" Target="../media/image107.png"/><Relationship Id="rId55" Type="http://schemas.openxmlformats.org/officeDocument/2006/relationships/image" Target="../media/image112.png"/><Relationship Id="rId7" Type="http://schemas.openxmlformats.org/officeDocument/2006/relationships/image" Target="../media/image65.png"/><Relationship Id="rId2" Type="http://schemas.openxmlformats.org/officeDocument/2006/relationships/image" Target="../media/image19.png"/><Relationship Id="rId16" Type="http://schemas.openxmlformats.org/officeDocument/2006/relationships/image" Target="../media/image73.png"/><Relationship Id="rId29" Type="http://schemas.openxmlformats.org/officeDocument/2006/relationships/image" Target="../media/image86.png"/><Relationship Id="rId11" Type="http://schemas.openxmlformats.org/officeDocument/2006/relationships/image" Target="../media/image69.png"/><Relationship Id="rId24" Type="http://schemas.openxmlformats.org/officeDocument/2006/relationships/image" Target="../media/image81.png"/><Relationship Id="rId32" Type="http://schemas.openxmlformats.org/officeDocument/2006/relationships/image" Target="../media/image89.png"/><Relationship Id="rId37" Type="http://schemas.openxmlformats.org/officeDocument/2006/relationships/image" Target="../media/image94.png"/><Relationship Id="rId40" Type="http://schemas.openxmlformats.org/officeDocument/2006/relationships/image" Target="../media/image97.png"/><Relationship Id="rId45" Type="http://schemas.openxmlformats.org/officeDocument/2006/relationships/image" Target="../media/image102.png"/><Relationship Id="rId53" Type="http://schemas.openxmlformats.org/officeDocument/2006/relationships/image" Target="../media/image110.png"/><Relationship Id="rId5" Type="http://schemas.openxmlformats.org/officeDocument/2006/relationships/image" Target="../media/image7.png"/><Relationship Id="rId19" Type="http://schemas.openxmlformats.org/officeDocument/2006/relationships/image" Target="../media/image76.png"/><Relationship Id="rId4" Type="http://schemas.openxmlformats.org/officeDocument/2006/relationships/image" Target="../media/image64.png"/><Relationship Id="rId9" Type="http://schemas.openxmlformats.org/officeDocument/2006/relationships/image" Target="../media/image67.png"/><Relationship Id="rId14" Type="http://schemas.openxmlformats.org/officeDocument/2006/relationships/image" Target="../media/image20.png"/><Relationship Id="rId22" Type="http://schemas.openxmlformats.org/officeDocument/2006/relationships/image" Target="../media/image79.png"/><Relationship Id="rId27" Type="http://schemas.openxmlformats.org/officeDocument/2006/relationships/image" Target="../media/image84.png"/><Relationship Id="rId30" Type="http://schemas.openxmlformats.org/officeDocument/2006/relationships/image" Target="../media/image87.png"/><Relationship Id="rId35" Type="http://schemas.openxmlformats.org/officeDocument/2006/relationships/image" Target="../media/image92.png"/><Relationship Id="rId43" Type="http://schemas.openxmlformats.org/officeDocument/2006/relationships/image" Target="../media/image100.png"/><Relationship Id="rId48" Type="http://schemas.openxmlformats.org/officeDocument/2006/relationships/image" Target="../media/image105.png"/><Relationship Id="rId56" Type="http://schemas.openxmlformats.org/officeDocument/2006/relationships/image" Target="../media/image113.png"/><Relationship Id="rId8" Type="http://schemas.openxmlformats.org/officeDocument/2006/relationships/image" Target="../media/image66.png"/><Relationship Id="rId51" Type="http://schemas.openxmlformats.org/officeDocument/2006/relationships/image" Target="../media/image108.png"/><Relationship Id="rId3" Type="http://schemas.openxmlformats.org/officeDocument/2006/relationships/image" Target="../media/image13.png"/><Relationship Id="rId12" Type="http://schemas.openxmlformats.org/officeDocument/2006/relationships/image" Target="../media/image70.png"/><Relationship Id="rId17" Type="http://schemas.openxmlformats.org/officeDocument/2006/relationships/image" Target="../media/image74.png"/><Relationship Id="rId25" Type="http://schemas.openxmlformats.org/officeDocument/2006/relationships/image" Target="../media/image82.png"/><Relationship Id="rId33" Type="http://schemas.openxmlformats.org/officeDocument/2006/relationships/image" Target="../media/image90.png"/><Relationship Id="rId38" Type="http://schemas.openxmlformats.org/officeDocument/2006/relationships/image" Target="../media/image95.png"/><Relationship Id="rId46" Type="http://schemas.openxmlformats.org/officeDocument/2006/relationships/image" Target="../media/image103.png"/><Relationship Id="rId20" Type="http://schemas.openxmlformats.org/officeDocument/2006/relationships/image" Target="../media/image77.png"/><Relationship Id="rId41" Type="http://schemas.openxmlformats.org/officeDocument/2006/relationships/image" Target="../media/image98.png"/><Relationship Id="rId54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5" Type="http://schemas.openxmlformats.org/officeDocument/2006/relationships/image" Target="../media/image72.png"/><Relationship Id="rId23" Type="http://schemas.openxmlformats.org/officeDocument/2006/relationships/image" Target="../media/image80.png"/><Relationship Id="rId28" Type="http://schemas.openxmlformats.org/officeDocument/2006/relationships/image" Target="../media/image85.png"/><Relationship Id="rId36" Type="http://schemas.openxmlformats.org/officeDocument/2006/relationships/image" Target="../media/image93.png"/><Relationship Id="rId49" Type="http://schemas.openxmlformats.org/officeDocument/2006/relationships/image" Target="../media/image106.png"/><Relationship Id="rId57" Type="http://schemas.openxmlformats.org/officeDocument/2006/relationships/image" Target="../media/image62.png"/><Relationship Id="rId10" Type="http://schemas.openxmlformats.org/officeDocument/2006/relationships/image" Target="../media/image68.png"/><Relationship Id="rId31" Type="http://schemas.openxmlformats.org/officeDocument/2006/relationships/image" Target="../media/image88.png"/><Relationship Id="rId44" Type="http://schemas.openxmlformats.org/officeDocument/2006/relationships/image" Target="../media/image101.png"/><Relationship Id="rId52" Type="http://schemas.openxmlformats.org/officeDocument/2006/relationships/image" Target="../media/image10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15.png"/><Relationship Id="rId7" Type="http://schemas.openxmlformats.org/officeDocument/2006/relationships/image" Target="../media/image48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image" Target="../media/image114.png"/><Relationship Id="rId16" Type="http://schemas.openxmlformats.org/officeDocument/2006/relationships/image" Target="../media/image124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9.png"/><Relationship Id="rId5" Type="http://schemas.openxmlformats.org/officeDocument/2006/relationships/image" Target="../media/image7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4" Type="http://schemas.openxmlformats.org/officeDocument/2006/relationships/image" Target="../media/image19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8.png"/><Relationship Id="rId7" Type="http://schemas.openxmlformats.org/officeDocument/2006/relationships/image" Target="../media/image1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8.png"/><Relationship Id="rId10" Type="http://schemas.openxmlformats.org/officeDocument/2006/relationships/image" Target="../media/image62.png"/><Relationship Id="rId4" Type="http://schemas.openxmlformats.org/officeDocument/2006/relationships/image" Target="../media/image7.png"/><Relationship Id="rId9" Type="http://schemas.openxmlformats.org/officeDocument/2006/relationships/image" Target="../media/image1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7.png"/><Relationship Id="rId7" Type="http://schemas.openxmlformats.org/officeDocument/2006/relationships/image" Target="../media/image135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62.png"/><Relationship Id="rId4" Type="http://schemas.openxmlformats.org/officeDocument/2006/relationships/image" Target="../media/image8.png"/><Relationship Id="rId9" Type="http://schemas.openxmlformats.org/officeDocument/2006/relationships/image" Target="../media/image1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45.png"/><Relationship Id="rId3" Type="http://schemas.openxmlformats.org/officeDocument/2006/relationships/image" Target="../media/image7.png"/><Relationship Id="rId7" Type="http://schemas.openxmlformats.org/officeDocument/2006/relationships/image" Target="../media/image140.png"/><Relationship Id="rId12" Type="http://schemas.openxmlformats.org/officeDocument/2006/relationships/image" Target="../media/image14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11" Type="http://schemas.openxmlformats.org/officeDocument/2006/relationships/image" Target="../media/image143.png"/><Relationship Id="rId5" Type="http://schemas.openxmlformats.org/officeDocument/2006/relationships/image" Target="../media/image138.png"/><Relationship Id="rId10" Type="http://schemas.openxmlformats.org/officeDocument/2006/relationships/image" Target="../media/image142.png"/><Relationship Id="rId4" Type="http://schemas.openxmlformats.org/officeDocument/2006/relationships/image" Target="../media/image8.png"/><Relationship Id="rId9" Type="http://schemas.openxmlformats.org/officeDocument/2006/relationships/image" Target="../media/image141.png"/><Relationship Id="rId1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39.png"/><Relationship Id="rId3" Type="http://schemas.openxmlformats.org/officeDocument/2006/relationships/image" Target="../media/image7.png"/><Relationship Id="rId7" Type="http://schemas.openxmlformats.org/officeDocument/2006/relationships/image" Target="../media/image141.png"/><Relationship Id="rId12" Type="http://schemas.openxmlformats.org/officeDocument/2006/relationships/image" Target="../media/image13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2.png"/><Relationship Id="rId5" Type="http://schemas.openxmlformats.org/officeDocument/2006/relationships/image" Target="../media/image8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4" Type="http://schemas.openxmlformats.org/officeDocument/2006/relationships/image" Target="../media/image146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5.png"/><Relationship Id="rId3" Type="http://schemas.openxmlformats.org/officeDocument/2006/relationships/image" Target="../media/image13.png"/><Relationship Id="rId7" Type="http://schemas.openxmlformats.org/officeDocument/2006/relationships/image" Target="../media/image150.png"/><Relationship Id="rId12" Type="http://schemas.openxmlformats.org/officeDocument/2006/relationships/image" Target="../media/image1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53.png"/><Relationship Id="rId5" Type="http://schemas.openxmlformats.org/officeDocument/2006/relationships/image" Target="../media/image8.png"/><Relationship Id="rId15" Type="http://schemas.openxmlformats.org/officeDocument/2006/relationships/image" Target="../media/image157.png"/><Relationship Id="rId10" Type="http://schemas.openxmlformats.org/officeDocument/2006/relationships/image" Target="../media/image152.png"/><Relationship Id="rId4" Type="http://schemas.openxmlformats.org/officeDocument/2006/relationships/image" Target="../media/image7.png"/><Relationship Id="rId9" Type="http://schemas.openxmlformats.org/officeDocument/2006/relationships/image" Target="../media/image62.png"/><Relationship Id="rId14" Type="http://schemas.openxmlformats.org/officeDocument/2006/relationships/image" Target="../media/image1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7.png"/><Relationship Id="rId7" Type="http://schemas.openxmlformats.org/officeDocument/2006/relationships/image" Target="../media/image159.png"/><Relationship Id="rId12" Type="http://schemas.openxmlformats.org/officeDocument/2006/relationships/image" Target="../media/image6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11" Type="http://schemas.openxmlformats.org/officeDocument/2006/relationships/image" Target="../media/image163.png"/><Relationship Id="rId5" Type="http://schemas.openxmlformats.org/officeDocument/2006/relationships/image" Target="../media/image158.png"/><Relationship Id="rId10" Type="http://schemas.openxmlformats.org/officeDocument/2006/relationships/image" Target="../media/image162.png"/><Relationship Id="rId4" Type="http://schemas.openxmlformats.org/officeDocument/2006/relationships/image" Target="../media/image8.png"/><Relationship Id="rId9" Type="http://schemas.openxmlformats.org/officeDocument/2006/relationships/image" Target="../media/image1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60.png"/><Relationship Id="rId3" Type="http://schemas.openxmlformats.org/officeDocument/2006/relationships/image" Target="../media/image19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5" Type="http://schemas.openxmlformats.org/officeDocument/2006/relationships/image" Target="../media/image8.png"/><Relationship Id="rId15" Type="http://schemas.openxmlformats.org/officeDocument/2006/relationships/image" Target="../media/image62.png"/><Relationship Id="rId10" Type="http://schemas.openxmlformats.org/officeDocument/2006/relationships/image" Target="../media/image168.png"/><Relationship Id="rId4" Type="http://schemas.openxmlformats.org/officeDocument/2006/relationships/image" Target="../media/image7.png"/><Relationship Id="rId9" Type="http://schemas.openxmlformats.org/officeDocument/2006/relationships/image" Target="../media/image167.png"/><Relationship Id="rId14" Type="http://schemas.openxmlformats.org/officeDocument/2006/relationships/image" Target="../media/image17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8.png"/><Relationship Id="rId3" Type="http://schemas.openxmlformats.org/officeDocument/2006/relationships/image" Target="../media/image7.png"/><Relationship Id="rId7" Type="http://schemas.openxmlformats.org/officeDocument/2006/relationships/image" Target="../media/image166.png"/><Relationship Id="rId12" Type="http://schemas.openxmlformats.org/officeDocument/2006/relationships/image" Target="../media/image1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11" Type="http://schemas.openxmlformats.org/officeDocument/2006/relationships/image" Target="../media/image177.png"/><Relationship Id="rId5" Type="http://schemas.openxmlformats.org/officeDocument/2006/relationships/image" Target="../media/image172.png"/><Relationship Id="rId15" Type="http://schemas.openxmlformats.org/officeDocument/2006/relationships/image" Target="../media/image62.png"/><Relationship Id="rId10" Type="http://schemas.openxmlformats.org/officeDocument/2006/relationships/image" Target="../media/image176.png"/><Relationship Id="rId4" Type="http://schemas.openxmlformats.org/officeDocument/2006/relationships/image" Target="../media/image8.png"/><Relationship Id="rId9" Type="http://schemas.openxmlformats.org/officeDocument/2006/relationships/image" Target="../media/image175.png"/><Relationship Id="rId14" Type="http://schemas.openxmlformats.org/officeDocument/2006/relationships/image" Target="../media/image1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62.png"/><Relationship Id="rId18" Type="http://schemas.openxmlformats.org/officeDocument/2006/relationships/image" Target="../media/image189.png"/><Relationship Id="rId3" Type="http://schemas.openxmlformats.org/officeDocument/2006/relationships/image" Target="../media/image7.png"/><Relationship Id="rId7" Type="http://schemas.openxmlformats.org/officeDocument/2006/relationships/image" Target="../media/image181.png"/><Relationship Id="rId12" Type="http://schemas.openxmlformats.org/officeDocument/2006/relationships/image" Target="../media/image185.png"/><Relationship Id="rId17" Type="http://schemas.openxmlformats.org/officeDocument/2006/relationships/image" Target="../media/image188.jpg"/><Relationship Id="rId2" Type="http://schemas.openxmlformats.org/officeDocument/2006/relationships/image" Target="../media/image13.png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11" Type="http://schemas.openxmlformats.org/officeDocument/2006/relationships/image" Target="../media/image151.png"/><Relationship Id="rId5" Type="http://schemas.openxmlformats.org/officeDocument/2006/relationships/image" Target="../media/image180.png"/><Relationship Id="rId15" Type="http://schemas.openxmlformats.org/officeDocument/2006/relationships/image" Target="../media/image186.png"/><Relationship Id="rId10" Type="http://schemas.openxmlformats.org/officeDocument/2006/relationships/image" Target="../media/image184.png"/><Relationship Id="rId4" Type="http://schemas.openxmlformats.org/officeDocument/2006/relationships/image" Target="../media/image8.png"/><Relationship Id="rId9" Type="http://schemas.openxmlformats.org/officeDocument/2006/relationships/image" Target="../media/image183.png"/><Relationship Id="rId14" Type="http://schemas.openxmlformats.org/officeDocument/2006/relationships/image" Target="../media/image1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6.png"/><Relationship Id="rId3" Type="http://schemas.openxmlformats.org/officeDocument/2006/relationships/image" Target="../media/image7.png"/><Relationship Id="rId7" Type="http://schemas.openxmlformats.org/officeDocument/2006/relationships/image" Target="../media/image190.png"/><Relationship Id="rId12" Type="http://schemas.openxmlformats.org/officeDocument/2006/relationships/image" Target="../media/image19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194.png"/><Relationship Id="rId5" Type="http://schemas.openxmlformats.org/officeDocument/2006/relationships/image" Target="../media/image62.png"/><Relationship Id="rId10" Type="http://schemas.openxmlformats.org/officeDocument/2006/relationships/image" Target="../media/image193.png"/><Relationship Id="rId4" Type="http://schemas.openxmlformats.org/officeDocument/2006/relationships/image" Target="../media/image8.png"/><Relationship Id="rId9" Type="http://schemas.openxmlformats.org/officeDocument/2006/relationships/image" Target="../media/image192.png"/><Relationship Id="rId1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98.png"/><Relationship Id="rId7" Type="http://schemas.openxmlformats.org/officeDocument/2006/relationships/image" Target="../media/image35.png"/><Relationship Id="rId2" Type="http://schemas.openxmlformats.org/officeDocument/2006/relationships/image" Target="../media/image19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60.png"/><Relationship Id="rId5" Type="http://schemas.openxmlformats.org/officeDocument/2006/relationships/image" Target="../media/image7.png"/><Relationship Id="rId10" Type="http://schemas.openxmlformats.org/officeDocument/2006/relationships/image" Target="../media/image199.png"/><Relationship Id="rId4" Type="http://schemas.openxmlformats.org/officeDocument/2006/relationships/image" Target="../media/image13.png"/><Relationship Id="rId9" Type="http://schemas.openxmlformats.org/officeDocument/2006/relationships/image" Target="../media/image16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203.png"/><Relationship Id="rId3" Type="http://schemas.openxmlformats.org/officeDocument/2006/relationships/image" Target="../media/image7.png"/><Relationship Id="rId7" Type="http://schemas.openxmlformats.org/officeDocument/2006/relationships/image" Target="../media/image62.png"/><Relationship Id="rId12" Type="http://schemas.openxmlformats.org/officeDocument/2006/relationships/image" Target="../media/image16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202.png"/><Relationship Id="rId5" Type="http://schemas.openxmlformats.org/officeDocument/2006/relationships/image" Target="../media/image200.png"/><Relationship Id="rId10" Type="http://schemas.openxmlformats.org/officeDocument/2006/relationships/image" Target="../media/image201.png"/><Relationship Id="rId4" Type="http://schemas.openxmlformats.org/officeDocument/2006/relationships/image" Target="../media/image8.png"/><Relationship Id="rId9" Type="http://schemas.openxmlformats.org/officeDocument/2006/relationships/image" Target="../media/image166.png"/><Relationship Id="rId14" Type="http://schemas.openxmlformats.org/officeDocument/2006/relationships/image" Target="../media/image20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13" Type="http://schemas.openxmlformats.org/officeDocument/2006/relationships/image" Target="../media/image208.png"/><Relationship Id="rId3" Type="http://schemas.openxmlformats.org/officeDocument/2006/relationships/image" Target="../media/image7.png"/><Relationship Id="rId7" Type="http://schemas.openxmlformats.org/officeDocument/2006/relationships/image" Target="../media/image206.png"/><Relationship Id="rId12" Type="http://schemas.openxmlformats.org/officeDocument/2006/relationships/image" Target="../media/image183.png"/><Relationship Id="rId2" Type="http://schemas.openxmlformats.org/officeDocument/2006/relationships/image" Target="../media/image13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11" Type="http://schemas.openxmlformats.org/officeDocument/2006/relationships/image" Target="../media/image166.png"/><Relationship Id="rId5" Type="http://schemas.openxmlformats.org/officeDocument/2006/relationships/image" Target="../media/image61.png"/><Relationship Id="rId15" Type="http://schemas.openxmlformats.org/officeDocument/2006/relationships/image" Target="../media/image210.png"/><Relationship Id="rId10" Type="http://schemas.openxmlformats.org/officeDocument/2006/relationships/image" Target="../media/image62.png"/><Relationship Id="rId4" Type="http://schemas.openxmlformats.org/officeDocument/2006/relationships/image" Target="../media/image8.png"/><Relationship Id="rId9" Type="http://schemas.openxmlformats.org/officeDocument/2006/relationships/image" Target="../media/image133.png"/><Relationship Id="rId14" Type="http://schemas.openxmlformats.org/officeDocument/2006/relationships/image" Target="../media/image20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3.png"/><Relationship Id="rId18" Type="http://schemas.openxmlformats.org/officeDocument/2006/relationships/image" Target="../media/image160.png"/><Relationship Id="rId3" Type="http://schemas.openxmlformats.org/officeDocument/2006/relationships/image" Target="../media/image13.png"/><Relationship Id="rId7" Type="http://schemas.openxmlformats.org/officeDocument/2006/relationships/image" Target="../media/image173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1.png"/><Relationship Id="rId11" Type="http://schemas.openxmlformats.org/officeDocument/2006/relationships/image" Target="../media/image62.png"/><Relationship Id="rId5" Type="http://schemas.openxmlformats.org/officeDocument/2006/relationships/image" Target="../media/image8.png"/><Relationship Id="rId15" Type="http://schemas.openxmlformats.org/officeDocument/2006/relationships/image" Target="../media/image215.png"/><Relationship Id="rId10" Type="http://schemas.openxmlformats.org/officeDocument/2006/relationships/image" Target="../media/image48.png"/><Relationship Id="rId4" Type="http://schemas.openxmlformats.org/officeDocument/2006/relationships/image" Target="../media/image7.png"/><Relationship Id="rId9" Type="http://schemas.openxmlformats.org/officeDocument/2006/relationships/image" Target="../media/image198.png"/><Relationship Id="rId14" Type="http://schemas.openxmlformats.org/officeDocument/2006/relationships/image" Target="../media/image2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62.png"/><Relationship Id="rId3" Type="http://schemas.openxmlformats.org/officeDocument/2006/relationships/image" Target="../media/image19.png"/><Relationship Id="rId7" Type="http://schemas.openxmlformats.org/officeDocument/2006/relationships/image" Target="../media/image191.png"/><Relationship Id="rId12" Type="http://schemas.openxmlformats.org/officeDocument/2006/relationships/image" Target="../media/image179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220.png"/><Relationship Id="rId5" Type="http://schemas.openxmlformats.org/officeDocument/2006/relationships/image" Target="../media/image8.png"/><Relationship Id="rId10" Type="http://schemas.openxmlformats.org/officeDocument/2006/relationships/image" Target="../media/image196.png"/><Relationship Id="rId4" Type="http://schemas.openxmlformats.org/officeDocument/2006/relationships/image" Target="../media/image7.png"/><Relationship Id="rId9" Type="http://schemas.openxmlformats.org/officeDocument/2006/relationships/image" Target="../media/image2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3" Type="http://schemas.openxmlformats.org/officeDocument/2006/relationships/image" Target="../media/image221.png"/><Relationship Id="rId7" Type="http://schemas.openxmlformats.org/officeDocument/2006/relationships/image" Target="../media/image61.png"/><Relationship Id="rId12" Type="http://schemas.openxmlformats.org/officeDocument/2006/relationships/image" Target="../media/image227.png"/><Relationship Id="rId17" Type="http://schemas.openxmlformats.org/officeDocument/2006/relationships/image" Target="../media/image232.png"/><Relationship Id="rId2" Type="http://schemas.openxmlformats.org/officeDocument/2006/relationships/image" Target="../media/image19.png"/><Relationship Id="rId16" Type="http://schemas.openxmlformats.org/officeDocument/2006/relationships/image" Target="../media/image231.png"/><Relationship Id="rId20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26.png"/><Relationship Id="rId5" Type="http://schemas.openxmlformats.org/officeDocument/2006/relationships/image" Target="../media/image7.png"/><Relationship Id="rId15" Type="http://schemas.openxmlformats.org/officeDocument/2006/relationships/image" Target="../media/image230.png"/><Relationship Id="rId10" Type="http://schemas.openxmlformats.org/officeDocument/2006/relationships/image" Target="../media/image225.png"/><Relationship Id="rId19" Type="http://schemas.openxmlformats.org/officeDocument/2006/relationships/image" Target="../media/image234.png"/><Relationship Id="rId4" Type="http://schemas.openxmlformats.org/officeDocument/2006/relationships/image" Target="../media/image222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1.png"/><Relationship Id="rId18" Type="http://schemas.openxmlformats.org/officeDocument/2006/relationships/image" Target="../media/image246.png"/><Relationship Id="rId26" Type="http://schemas.openxmlformats.org/officeDocument/2006/relationships/image" Target="../media/image254.png"/><Relationship Id="rId21" Type="http://schemas.openxmlformats.org/officeDocument/2006/relationships/image" Target="../media/image249.png"/><Relationship Id="rId34" Type="http://schemas.openxmlformats.org/officeDocument/2006/relationships/image" Target="../media/image262.png"/><Relationship Id="rId7" Type="http://schemas.openxmlformats.org/officeDocument/2006/relationships/image" Target="../media/image222.png"/><Relationship Id="rId12" Type="http://schemas.openxmlformats.org/officeDocument/2006/relationships/image" Target="../media/image240.png"/><Relationship Id="rId17" Type="http://schemas.openxmlformats.org/officeDocument/2006/relationships/image" Target="../media/image245.png"/><Relationship Id="rId25" Type="http://schemas.openxmlformats.org/officeDocument/2006/relationships/image" Target="../media/image253.png"/><Relationship Id="rId33" Type="http://schemas.openxmlformats.org/officeDocument/2006/relationships/image" Target="../media/image261.png"/><Relationship Id="rId38" Type="http://schemas.openxmlformats.org/officeDocument/2006/relationships/image" Target="../media/image26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4.png"/><Relationship Id="rId20" Type="http://schemas.openxmlformats.org/officeDocument/2006/relationships/image" Target="../media/image248.png"/><Relationship Id="rId29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239.png"/><Relationship Id="rId24" Type="http://schemas.openxmlformats.org/officeDocument/2006/relationships/image" Target="../media/image252.png"/><Relationship Id="rId32" Type="http://schemas.openxmlformats.org/officeDocument/2006/relationships/image" Target="../media/image260.png"/><Relationship Id="rId37" Type="http://schemas.openxmlformats.org/officeDocument/2006/relationships/image" Target="../media/image265.png"/><Relationship Id="rId5" Type="http://schemas.openxmlformats.org/officeDocument/2006/relationships/image" Target="../media/image8.png"/><Relationship Id="rId15" Type="http://schemas.openxmlformats.org/officeDocument/2006/relationships/image" Target="../media/image243.png"/><Relationship Id="rId23" Type="http://schemas.openxmlformats.org/officeDocument/2006/relationships/image" Target="../media/image251.png"/><Relationship Id="rId28" Type="http://schemas.openxmlformats.org/officeDocument/2006/relationships/image" Target="../media/image256.png"/><Relationship Id="rId36" Type="http://schemas.openxmlformats.org/officeDocument/2006/relationships/image" Target="../media/image264.png"/><Relationship Id="rId10" Type="http://schemas.openxmlformats.org/officeDocument/2006/relationships/image" Target="../media/image238.png"/><Relationship Id="rId19" Type="http://schemas.openxmlformats.org/officeDocument/2006/relationships/image" Target="../media/image247.png"/><Relationship Id="rId31" Type="http://schemas.openxmlformats.org/officeDocument/2006/relationships/image" Target="../media/image259.png"/><Relationship Id="rId4" Type="http://schemas.openxmlformats.org/officeDocument/2006/relationships/image" Target="../media/image7.png"/><Relationship Id="rId9" Type="http://schemas.openxmlformats.org/officeDocument/2006/relationships/image" Target="../media/image237.png"/><Relationship Id="rId14" Type="http://schemas.openxmlformats.org/officeDocument/2006/relationships/image" Target="../media/image242.png"/><Relationship Id="rId22" Type="http://schemas.openxmlformats.org/officeDocument/2006/relationships/image" Target="../media/image250.png"/><Relationship Id="rId27" Type="http://schemas.openxmlformats.org/officeDocument/2006/relationships/image" Target="../media/image255.png"/><Relationship Id="rId30" Type="http://schemas.openxmlformats.org/officeDocument/2006/relationships/image" Target="../media/image258.png"/><Relationship Id="rId35" Type="http://schemas.openxmlformats.org/officeDocument/2006/relationships/image" Target="../media/image263.png"/><Relationship Id="rId8" Type="http://schemas.openxmlformats.org/officeDocument/2006/relationships/image" Target="../media/image236.png"/><Relationship Id="rId3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7" Type="http://schemas.openxmlformats.org/officeDocument/2006/relationships/image" Target="../media/image2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72.png"/><Relationship Id="rId3" Type="http://schemas.openxmlformats.org/officeDocument/2006/relationships/image" Target="../media/image13.png"/><Relationship Id="rId7" Type="http://schemas.openxmlformats.org/officeDocument/2006/relationships/image" Target="../media/image48.png"/><Relationship Id="rId12" Type="http://schemas.openxmlformats.org/officeDocument/2006/relationships/image" Target="../media/image27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39.png"/><Relationship Id="rId5" Type="http://schemas.openxmlformats.org/officeDocument/2006/relationships/image" Target="../media/image7.png"/><Relationship Id="rId10" Type="http://schemas.openxmlformats.org/officeDocument/2006/relationships/image" Target="../media/image270.png"/><Relationship Id="rId4" Type="http://schemas.openxmlformats.org/officeDocument/2006/relationships/image" Target="../media/image268.png"/><Relationship Id="rId9" Type="http://schemas.openxmlformats.org/officeDocument/2006/relationships/image" Target="../media/image26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27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png"/><Relationship Id="rId5" Type="http://schemas.openxmlformats.org/officeDocument/2006/relationships/image" Target="../media/image133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268.png"/><Relationship Id="rId7" Type="http://schemas.openxmlformats.org/officeDocument/2006/relationships/image" Target="../media/image222.png"/><Relationship Id="rId12" Type="http://schemas.openxmlformats.org/officeDocument/2006/relationships/image" Target="../media/image27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Relationship Id="rId11" Type="http://schemas.openxmlformats.org/officeDocument/2006/relationships/image" Target="../media/image276.png"/><Relationship Id="rId5" Type="http://schemas.openxmlformats.org/officeDocument/2006/relationships/image" Target="../media/image8.png"/><Relationship Id="rId10" Type="http://schemas.openxmlformats.org/officeDocument/2006/relationships/image" Target="../media/image275.png"/><Relationship Id="rId4" Type="http://schemas.openxmlformats.org/officeDocument/2006/relationships/image" Target="../media/image7.png"/><Relationship Id="rId9" Type="http://schemas.openxmlformats.org/officeDocument/2006/relationships/image" Target="../media/image27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268.png"/><Relationship Id="rId7" Type="http://schemas.openxmlformats.org/officeDocument/2006/relationships/image" Target="../media/image222.png"/><Relationship Id="rId12" Type="http://schemas.openxmlformats.org/officeDocument/2006/relationships/image" Target="../media/image26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9.png"/><Relationship Id="rId11" Type="http://schemas.openxmlformats.org/officeDocument/2006/relationships/image" Target="../media/image270.png"/><Relationship Id="rId5" Type="http://schemas.openxmlformats.org/officeDocument/2006/relationships/image" Target="../media/image8.png"/><Relationship Id="rId10" Type="http://schemas.openxmlformats.org/officeDocument/2006/relationships/image" Target="../media/image279.png"/><Relationship Id="rId4" Type="http://schemas.openxmlformats.org/officeDocument/2006/relationships/image" Target="../media/image7.png"/><Relationship Id="rId9" Type="http://schemas.openxmlformats.org/officeDocument/2006/relationships/image" Target="../media/image27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13" Type="http://schemas.openxmlformats.org/officeDocument/2006/relationships/image" Target="../media/image257.png"/><Relationship Id="rId3" Type="http://schemas.openxmlformats.org/officeDocument/2006/relationships/image" Target="../media/image268.png"/><Relationship Id="rId7" Type="http://schemas.openxmlformats.org/officeDocument/2006/relationships/image" Target="../media/image222.png"/><Relationship Id="rId12" Type="http://schemas.openxmlformats.org/officeDocument/2006/relationships/image" Target="../media/image25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11" Type="http://schemas.openxmlformats.org/officeDocument/2006/relationships/image" Target="../media/image255.png"/><Relationship Id="rId5" Type="http://schemas.openxmlformats.org/officeDocument/2006/relationships/image" Target="../media/image8.png"/><Relationship Id="rId10" Type="http://schemas.openxmlformats.org/officeDocument/2006/relationships/image" Target="../media/image281.png"/><Relationship Id="rId4" Type="http://schemas.openxmlformats.org/officeDocument/2006/relationships/image" Target="../media/image7.png"/><Relationship Id="rId9" Type="http://schemas.openxmlformats.org/officeDocument/2006/relationships/image" Target="../media/image280.png"/><Relationship Id="rId14" Type="http://schemas.openxmlformats.org/officeDocument/2006/relationships/image" Target="../media/image26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13" Type="http://schemas.openxmlformats.org/officeDocument/2006/relationships/image" Target="../media/image280.png"/><Relationship Id="rId3" Type="http://schemas.openxmlformats.org/officeDocument/2006/relationships/image" Target="../media/image7.png"/><Relationship Id="rId7" Type="http://schemas.openxmlformats.org/officeDocument/2006/relationships/image" Target="../media/image268.png"/><Relationship Id="rId12" Type="http://schemas.openxmlformats.org/officeDocument/2006/relationships/image" Target="../media/image25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11" Type="http://schemas.openxmlformats.org/officeDocument/2006/relationships/image" Target="../media/image256.png"/><Relationship Id="rId5" Type="http://schemas.openxmlformats.org/officeDocument/2006/relationships/image" Target="../media/image61.png"/><Relationship Id="rId10" Type="http://schemas.openxmlformats.org/officeDocument/2006/relationships/image" Target="../media/image255.png"/><Relationship Id="rId4" Type="http://schemas.openxmlformats.org/officeDocument/2006/relationships/image" Target="../media/image8.png"/><Relationship Id="rId9" Type="http://schemas.openxmlformats.org/officeDocument/2006/relationships/image" Target="../media/image245.png"/><Relationship Id="rId14" Type="http://schemas.openxmlformats.org/officeDocument/2006/relationships/image" Target="../media/image26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13" Type="http://schemas.openxmlformats.org/officeDocument/2006/relationships/image" Target="../media/image280.png"/><Relationship Id="rId3" Type="http://schemas.openxmlformats.org/officeDocument/2006/relationships/image" Target="../media/image268.png"/><Relationship Id="rId7" Type="http://schemas.openxmlformats.org/officeDocument/2006/relationships/image" Target="../media/image222.png"/><Relationship Id="rId12" Type="http://schemas.openxmlformats.org/officeDocument/2006/relationships/image" Target="../media/image25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256.png"/><Relationship Id="rId5" Type="http://schemas.openxmlformats.org/officeDocument/2006/relationships/image" Target="../media/image8.png"/><Relationship Id="rId10" Type="http://schemas.openxmlformats.org/officeDocument/2006/relationships/image" Target="../media/image255.png"/><Relationship Id="rId4" Type="http://schemas.openxmlformats.org/officeDocument/2006/relationships/image" Target="../media/image7.png"/><Relationship Id="rId9" Type="http://schemas.openxmlformats.org/officeDocument/2006/relationships/image" Target="../media/image245.png"/><Relationship Id="rId14" Type="http://schemas.openxmlformats.org/officeDocument/2006/relationships/image" Target="../media/image2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2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3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28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3" Type="http://schemas.openxmlformats.org/officeDocument/2006/relationships/image" Target="../media/image7.png"/><Relationship Id="rId7" Type="http://schemas.openxmlformats.org/officeDocument/2006/relationships/image" Target="../media/image28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6.png"/><Relationship Id="rId5" Type="http://schemas.openxmlformats.org/officeDocument/2006/relationships/image" Target="../media/image35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28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7.png"/><Relationship Id="rId7" Type="http://schemas.openxmlformats.org/officeDocument/2006/relationships/image" Target="../media/image29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0.png"/><Relationship Id="rId5" Type="http://schemas.openxmlformats.org/officeDocument/2006/relationships/image" Target="../media/image133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29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3" Type="http://schemas.openxmlformats.org/officeDocument/2006/relationships/image" Target="../media/image7.png"/><Relationship Id="rId7" Type="http://schemas.openxmlformats.org/officeDocument/2006/relationships/image" Target="../media/image296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5.png"/><Relationship Id="rId5" Type="http://schemas.openxmlformats.org/officeDocument/2006/relationships/image" Target="../media/image294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29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300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9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3" Type="http://schemas.openxmlformats.org/officeDocument/2006/relationships/image" Target="../media/image7.png"/><Relationship Id="rId7" Type="http://schemas.openxmlformats.org/officeDocument/2006/relationships/image" Target="../media/image30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1.png"/><Relationship Id="rId5" Type="http://schemas.openxmlformats.org/officeDocument/2006/relationships/image" Target="../media/image133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30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png"/><Relationship Id="rId3" Type="http://schemas.openxmlformats.org/officeDocument/2006/relationships/image" Target="../media/image7.png"/><Relationship Id="rId7" Type="http://schemas.openxmlformats.org/officeDocument/2006/relationships/image" Target="../media/image30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5.png"/><Relationship Id="rId5" Type="http://schemas.openxmlformats.org/officeDocument/2006/relationships/image" Target="../media/image61.png"/><Relationship Id="rId4" Type="http://schemas.openxmlformats.org/officeDocument/2006/relationships/image" Target="../media/image8.png"/><Relationship Id="rId9" Type="http://schemas.openxmlformats.org/officeDocument/2006/relationships/image" Target="../media/image22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7.png"/><Relationship Id="rId7" Type="http://schemas.openxmlformats.org/officeDocument/2006/relationships/image" Target="../media/image3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9.png"/><Relationship Id="rId5" Type="http://schemas.openxmlformats.org/officeDocument/2006/relationships/image" Target="../media/image308.png"/><Relationship Id="rId4" Type="http://schemas.openxmlformats.org/officeDocument/2006/relationships/image" Target="../media/image8.png"/><Relationship Id="rId9" Type="http://schemas.openxmlformats.org/officeDocument/2006/relationships/image" Target="../media/image22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31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2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3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4.png"/><Relationship Id="rId5" Type="http://schemas.openxmlformats.org/officeDocument/2006/relationships/image" Target="../media/image133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6.png"/><Relationship Id="rId5" Type="http://schemas.openxmlformats.org/officeDocument/2006/relationships/image" Target="../media/image48.png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7.png"/><Relationship Id="rId7" Type="http://schemas.openxmlformats.org/officeDocument/2006/relationships/image" Target="../media/image3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8.png"/><Relationship Id="rId11" Type="http://schemas.openxmlformats.org/officeDocument/2006/relationships/image" Target="../media/image222.png"/><Relationship Id="rId5" Type="http://schemas.openxmlformats.org/officeDocument/2006/relationships/image" Target="../media/image317.png"/><Relationship Id="rId10" Type="http://schemas.openxmlformats.org/officeDocument/2006/relationships/image" Target="../media/image322.png"/><Relationship Id="rId4" Type="http://schemas.openxmlformats.org/officeDocument/2006/relationships/image" Target="../media/image8.png"/><Relationship Id="rId9" Type="http://schemas.openxmlformats.org/officeDocument/2006/relationships/image" Target="../media/image32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png"/><Relationship Id="rId3" Type="http://schemas.openxmlformats.org/officeDocument/2006/relationships/image" Target="../media/image7.png"/><Relationship Id="rId7" Type="http://schemas.openxmlformats.org/officeDocument/2006/relationships/image" Target="../media/image3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3.png"/><Relationship Id="rId5" Type="http://schemas.openxmlformats.org/officeDocument/2006/relationships/image" Target="../media/image133.png"/><Relationship Id="rId4" Type="http://schemas.openxmlformats.org/officeDocument/2006/relationships/image" Target="../media/image8.png"/><Relationship Id="rId9" Type="http://schemas.openxmlformats.org/officeDocument/2006/relationships/image" Target="../media/image22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32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6.png"/><Relationship Id="rId5" Type="http://schemas.openxmlformats.org/officeDocument/2006/relationships/image" Target="../media/image294.png"/><Relationship Id="rId4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7.png"/><Relationship Id="rId7" Type="http://schemas.openxmlformats.org/officeDocument/2006/relationships/image" Target="../media/image3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8.png"/><Relationship Id="rId5" Type="http://schemas.openxmlformats.org/officeDocument/2006/relationships/image" Target="../media/image133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33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2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3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3.png"/><Relationship Id="rId5" Type="http://schemas.openxmlformats.org/officeDocument/2006/relationships/image" Target="../media/image133.png"/><Relationship Id="rId4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5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png"/><Relationship Id="rId3" Type="http://schemas.openxmlformats.org/officeDocument/2006/relationships/image" Target="../media/image7.png"/><Relationship Id="rId7" Type="http://schemas.openxmlformats.org/officeDocument/2006/relationships/image" Target="../media/image33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6.png"/><Relationship Id="rId5" Type="http://schemas.openxmlformats.org/officeDocument/2006/relationships/image" Target="../media/image61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33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344.png"/><Relationship Id="rId18" Type="http://schemas.openxmlformats.org/officeDocument/2006/relationships/image" Target="../media/image348.png"/><Relationship Id="rId3" Type="http://schemas.openxmlformats.org/officeDocument/2006/relationships/image" Target="../media/image221.png"/><Relationship Id="rId7" Type="http://schemas.openxmlformats.org/officeDocument/2006/relationships/image" Target="../media/image224.png"/><Relationship Id="rId12" Type="http://schemas.openxmlformats.org/officeDocument/2006/relationships/image" Target="../media/image343.png"/><Relationship Id="rId17" Type="http://schemas.openxmlformats.org/officeDocument/2006/relationships/image" Target="../media/image347.png"/><Relationship Id="rId2" Type="http://schemas.openxmlformats.org/officeDocument/2006/relationships/image" Target="../media/image13.png"/><Relationship Id="rId16" Type="http://schemas.openxmlformats.org/officeDocument/2006/relationships/image" Target="../media/image346.png"/><Relationship Id="rId20" Type="http://schemas.openxmlformats.org/officeDocument/2006/relationships/image" Target="../media/image2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11" Type="http://schemas.openxmlformats.org/officeDocument/2006/relationships/image" Target="../media/image342.png"/><Relationship Id="rId5" Type="http://schemas.openxmlformats.org/officeDocument/2006/relationships/image" Target="../media/image8.png"/><Relationship Id="rId15" Type="http://schemas.openxmlformats.org/officeDocument/2006/relationships/image" Target="../media/image345.png"/><Relationship Id="rId10" Type="http://schemas.openxmlformats.org/officeDocument/2006/relationships/image" Target="../media/image341.png"/><Relationship Id="rId19" Type="http://schemas.openxmlformats.org/officeDocument/2006/relationships/image" Target="../media/image349.png"/><Relationship Id="rId4" Type="http://schemas.openxmlformats.org/officeDocument/2006/relationships/image" Target="../media/image7.png"/><Relationship Id="rId9" Type="http://schemas.openxmlformats.org/officeDocument/2006/relationships/image" Target="../media/image340.png"/><Relationship Id="rId14" Type="http://schemas.openxmlformats.org/officeDocument/2006/relationships/image" Target="../media/image23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353.png"/><Relationship Id="rId3" Type="http://schemas.openxmlformats.org/officeDocument/2006/relationships/image" Target="../media/image19.png"/><Relationship Id="rId7" Type="http://schemas.openxmlformats.org/officeDocument/2006/relationships/image" Target="../media/image222.png"/><Relationship Id="rId12" Type="http://schemas.openxmlformats.org/officeDocument/2006/relationships/image" Target="../media/image352.png"/><Relationship Id="rId17" Type="http://schemas.openxmlformats.org/officeDocument/2006/relationships/image" Target="../media/image35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1" Type="http://schemas.openxmlformats.org/officeDocument/2006/relationships/image" Target="../media/image239.png"/><Relationship Id="rId5" Type="http://schemas.openxmlformats.org/officeDocument/2006/relationships/image" Target="../media/image8.png"/><Relationship Id="rId15" Type="http://schemas.openxmlformats.org/officeDocument/2006/relationships/image" Target="../media/image355.png"/><Relationship Id="rId10" Type="http://schemas.openxmlformats.org/officeDocument/2006/relationships/image" Target="../media/image351.png"/><Relationship Id="rId4" Type="http://schemas.openxmlformats.org/officeDocument/2006/relationships/image" Target="../media/image7.png"/><Relationship Id="rId9" Type="http://schemas.openxmlformats.org/officeDocument/2006/relationships/image" Target="../media/image350.png"/><Relationship Id="rId14" Type="http://schemas.openxmlformats.org/officeDocument/2006/relationships/image" Target="../media/image35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3" Type="http://schemas.openxmlformats.org/officeDocument/2006/relationships/image" Target="../media/image1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11" Type="http://schemas.openxmlformats.org/officeDocument/2006/relationships/image" Target="../media/image360.png"/><Relationship Id="rId5" Type="http://schemas.openxmlformats.org/officeDocument/2006/relationships/image" Target="../media/image8.png"/><Relationship Id="rId10" Type="http://schemas.openxmlformats.org/officeDocument/2006/relationships/image" Target="../media/image359.png"/><Relationship Id="rId4" Type="http://schemas.openxmlformats.org/officeDocument/2006/relationships/image" Target="../media/image7.png"/><Relationship Id="rId9" Type="http://schemas.openxmlformats.org/officeDocument/2006/relationships/image" Target="../media/image35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png"/><Relationship Id="rId3" Type="http://schemas.openxmlformats.org/officeDocument/2006/relationships/image" Target="../media/image13.png"/><Relationship Id="rId7" Type="http://schemas.openxmlformats.org/officeDocument/2006/relationships/image" Target="../media/image3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2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png"/><Relationship Id="rId13" Type="http://schemas.openxmlformats.org/officeDocument/2006/relationships/image" Target="../media/image370.png"/><Relationship Id="rId3" Type="http://schemas.openxmlformats.org/officeDocument/2006/relationships/image" Target="../media/image7.png"/><Relationship Id="rId7" Type="http://schemas.openxmlformats.org/officeDocument/2006/relationships/image" Target="../media/image364.png"/><Relationship Id="rId12" Type="http://schemas.openxmlformats.org/officeDocument/2006/relationships/image" Target="../media/image36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3.png"/><Relationship Id="rId11" Type="http://schemas.openxmlformats.org/officeDocument/2006/relationships/image" Target="../media/image368.png"/><Relationship Id="rId5" Type="http://schemas.openxmlformats.org/officeDocument/2006/relationships/image" Target="../media/image48.png"/><Relationship Id="rId10" Type="http://schemas.openxmlformats.org/officeDocument/2006/relationships/image" Target="../media/image367.png"/><Relationship Id="rId4" Type="http://schemas.openxmlformats.org/officeDocument/2006/relationships/image" Target="../media/image8.png"/><Relationship Id="rId9" Type="http://schemas.openxmlformats.org/officeDocument/2006/relationships/image" Target="../media/image366.png"/><Relationship Id="rId14" Type="http://schemas.openxmlformats.org/officeDocument/2006/relationships/image" Target="../media/image22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png"/><Relationship Id="rId3" Type="http://schemas.openxmlformats.org/officeDocument/2006/relationships/image" Target="../media/image7.png"/><Relationship Id="rId7" Type="http://schemas.openxmlformats.org/officeDocument/2006/relationships/image" Target="../media/image37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1.png"/><Relationship Id="rId5" Type="http://schemas.openxmlformats.org/officeDocument/2006/relationships/image" Target="../media/image61.png"/><Relationship Id="rId4" Type="http://schemas.openxmlformats.org/officeDocument/2006/relationships/image" Target="../media/image8.png"/><Relationship Id="rId9" Type="http://schemas.openxmlformats.org/officeDocument/2006/relationships/image" Target="../media/image222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png"/><Relationship Id="rId3" Type="http://schemas.openxmlformats.org/officeDocument/2006/relationships/image" Target="../media/image7.png"/><Relationship Id="rId7" Type="http://schemas.openxmlformats.org/officeDocument/2006/relationships/image" Target="../media/image37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4.png"/><Relationship Id="rId5" Type="http://schemas.openxmlformats.org/officeDocument/2006/relationships/image" Target="../media/image163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37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7.png"/><Relationship Id="rId7" Type="http://schemas.openxmlformats.org/officeDocument/2006/relationships/image" Target="../media/image37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8.png"/><Relationship Id="rId5" Type="http://schemas.openxmlformats.org/officeDocument/2006/relationships/image" Target="../media/image61.png"/><Relationship Id="rId4" Type="http://schemas.openxmlformats.org/officeDocument/2006/relationships/image" Target="../media/image8.png"/><Relationship Id="rId9" Type="http://schemas.openxmlformats.org/officeDocument/2006/relationships/image" Target="../media/image222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38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1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3" Type="http://schemas.openxmlformats.org/officeDocument/2006/relationships/image" Target="../media/image7.png"/><Relationship Id="rId7" Type="http://schemas.openxmlformats.org/officeDocument/2006/relationships/image" Target="../media/image38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3.png"/><Relationship Id="rId5" Type="http://schemas.openxmlformats.org/officeDocument/2006/relationships/image" Target="../media/image61.png"/><Relationship Id="rId4" Type="http://schemas.openxmlformats.org/officeDocument/2006/relationships/image" Target="../media/image8.png"/><Relationship Id="rId9" Type="http://schemas.openxmlformats.org/officeDocument/2006/relationships/image" Target="../media/image222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38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6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38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8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9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png"/><Relationship Id="rId3" Type="http://schemas.openxmlformats.org/officeDocument/2006/relationships/image" Target="../media/image7.png"/><Relationship Id="rId7" Type="http://schemas.openxmlformats.org/officeDocument/2006/relationships/image" Target="../media/image39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1.png"/><Relationship Id="rId5" Type="http://schemas.openxmlformats.org/officeDocument/2006/relationships/image" Target="../media/image133.png"/><Relationship Id="rId4" Type="http://schemas.openxmlformats.org/officeDocument/2006/relationships/image" Target="../media/image8.png"/><Relationship Id="rId9" Type="http://schemas.openxmlformats.org/officeDocument/2006/relationships/image" Target="../media/image22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6.png"/><Relationship Id="rId3" Type="http://schemas.openxmlformats.org/officeDocument/2006/relationships/image" Target="../media/image7.png"/><Relationship Id="rId7" Type="http://schemas.openxmlformats.org/officeDocument/2006/relationships/image" Target="../media/image39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4.png"/><Relationship Id="rId5" Type="http://schemas.openxmlformats.org/officeDocument/2006/relationships/image" Target="../media/image133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397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05.png"/><Relationship Id="rId3" Type="http://schemas.openxmlformats.org/officeDocument/2006/relationships/image" Target="../media/image7.png"/><Relationship Id="rId7" Type="http://schemas.openxmlformats.org/officeDocument/2006/relationships/image" Target="../media/image399.png"/><Relationship Id="rId12" Type="http://schemas.openxmlformats.org/officeDocument/2006/relationships/image" Target="../media/image40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8.png"/><Relationship Id="rId11" Type="http://schemas.openxmlformats.org/officeDocument/2006/relationships/image" Target="../media/image403.png"/><Relationship Id="rId5" Type="http://schemas.openxmlformats.org/officeDocument/2006/relationships/image" Target="../media/image133.png"/><Relationship Id="rId15" Type="http://schemas.openxmlformats.org/officeDocument/2006/relationships/image" Target="../media/image222.png"/><Relationship Id="rId10" Type="http://schemas.openxmlformats.org/officeDocument/2006/relationships/image" Target="../media/image402.png"/><Relationship Id="rId4" Type="http://schemas.openxmlformats.org/officeDocument/2006/relationships/image" Target="../media/image8.png"/><Relationship Id="rId9" Type="http://schemas.openxmlformats.org/officeDocument/2006/relationships/image" Target="../media/image401.png"/><Relationship Id="rId14" Type="http://schemas.openxmlformats.org/officeDocument/2006/relationships/image" Target="../media/image406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409.png"/><Relationship Id="rId2" Type="http://schemas.openxmlformats.org/officeDocument/2006/relationships/image" Target="../media/image4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8.png"/><Relationship Id="rId5" Type="http://schemas.openxmlformats.org/officeDocument/2006/relationships/image" Target="../media/image133.png"/><Relationship Id="rId4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2.png"/><Relationship Id="rId3" Type="http://schemas.openxmlformats.org/officeDocument/2006/relationships/image" Target="../media/image7.png"/><Relationship Id="rId7" Type="http://schemas.openxmlformats.org/officeDocument/2006/relationships/image" Target="../media/image4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.png"/><Relationship Id="rId11" Type="http://schemas.openxmlformats.org/officeDocument/2006/relationships/image" Target="../media/image222.png"/><Relationship Id="rId5" Type="http://schemas.openxmlformats.org/officeDocument/2006/relationships/image" Target="../media/image61.png"/><Relationship Id="rId10" Type="http://schemas.openxmlformats.org/officeDocument/2006/relationships/image" Target="../media/image414.png"/><Relationship Id="rId4" Type="http://schemas.openxmlformats.org/officeDocument/2006/relationships/image" Target="../media/image8.png"/><Relationship Id="rId9" Type="http://schemas.openxmlformats.org/officeDocument/2006/relationships/image" Target="../media/image413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png"/><Relationship Id="rId13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416.png"/><Relationship Id="rId12" Type="http://schemas.openxmlformats.org/officeDocument/2006/relationships/image" Target="../media/image4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5.png"/><Relationship Id="rId11" Type="http://schemas.openxmlformats.org/officeDocument/2006/relationships/image" Target="../media/image420.png"/><Relationship Id="rId5" Type="http://schemas.openxmlformats.org/officeDocument/2006/relationships/image" Target="../media/image61.png"/><Relationship Id="rId10" Type="http://schemas.openxmlformats.org/officeDocument/2006/relationships/image" Target="../media/image419.png"/><Relationship Id="rId4" Type="http://schemas.openxmlformats.org/officeDocument/2006/relationships/image" Target="../media/image8.png"/><Relationship Id="rId9" Type="http://schemas.openxmlformats.org/officeDocument/2006/relationships/image" Target="../media/image418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4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2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6.png"/><Relationship Id="rId3" Type="http://schemas.openxmlformats.org/officeDocument/2006/relationships/image" Target="../media/image7.png"/><Relationship Id="rId7" Type="http://schemas.openxmlformats.org/officeDocument/2006/relationships/image" Target="../media/image4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4.png"/><Relationship Id="rId5" Type="http://schemas.openxmlformats.org/officeDocument/2006/relationships/image" Target="../media/image61.png"/><Relationship Id="rId10" Type="http://schemas.openxmlformats.org/officeDocument/2006/relationships/image" Target="../media/image222.png"/><Relationship Id="rId4" Type="http://schemas.openxmlformats.org/officeDocument/2006/relationships/image" Target="../media/image8.png"/><Relationship Id="rId9" Type="http://schemas.openxmlformats.org/officeDocument/2006/relationships/image" Target="../media/image42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3" Type="http://schemas.openxmlformats.org/officeDocument/2006/relationships/image" Target="../media/image7.png"/><Relationship Id="rId7" Type="http://schemas.openxmlformats.org/officeDocument/2006/relationships/image" Target="../media/image4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8.png"/><Relationship Id="rId11" Type="http://schemas.openxmlformats.org/officeDocument/2006/relationships/image" Target="../media/image222.png"/><Relationship Id="rId5" Type="http://schemas.openxmlformats.org/officeDocument/2006/relationships/image" Target="../media/image317.png"/><Relationship Id="rId10" Type="http://schemas.openxmlformats.org/officeDocument/2006/relationships/image" Target="../media/image432.png"/><Relationship Id="rId4" Type="http://schemas.openxmlformats.org/officeDocument/2006/relationships/image" Target="../media/image8.png"/><Relationship Id="rId9" Type="http://schemas.openxmlformats.org/officeDocument/2006/relationships/image" Target="../media/image431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7.png"/><Relationship Id="rId7" Type="http://schemas.openxmlformats.org/officeDocument/2006/relationships/image" Target="../media/image43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3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439.png"/><Relationship Id="rId18" Type="http://schemas.openxmlformats.org/officeDocument/2006/relationships/image" Target="../media/image222.png"/><Relationship Id="rId3" Type="http://schemas.openxmlformats.org/officeDocument/2006/relationships/image" Target="../media/image227.png"/><Relationship Id="rId7" Type="http://schemas.openxmlformats.org/officeDocument/2006/relationships/image" Target="../media/image61.png"/><Relationship Id="rId12" Type="http://schemas.openxmlformats.org/officeDocument/2006/relationships/image" Target="../media/image438.png"/><Relationship Id="rId17" Type="http://schemas.openxmlformats.org/officeDocument/2006/relationships/image" Target="../media/image44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437.png"/><Relationship Id="rId5" Type="http://schemas.openxmlformats.org/officeDocument/2006/relationships/image" Target="../media/image7.png"/><Relationship Id="rId15" Type="http://schemas.openxmlformats.org/officeDocument/2006/relationships/image" Target="../media/image441.png"/><Relationship Id="rId10" Type="http://schemas.openxmlformats.org/officeDocument/2006/relationships/image" Target="../media/image436.png"/><Relationship Id="rId4" Type="http://schemas.openxmlformats.org/officeDocument/2006/relationships/image" Target="../media/image13.png"/><Relationship Id="rId9" Type="http://schemas.openxmlformats.org/officeDocument/2006/relationships/image" Target="../media/image435.png"/><Relationship Id="rId14" Type="http://schemas.openxmlformats.org/officeDocument/2006/relationships/image" Target="../media/image44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png"/><Relationship Id="rId13" Type="http://schemas.openxmlformats.org/officeDocument/2006/relationships/image" Target="../media/image449.png"/><Relationship Id="rId3" Type="http://schemas.openxmlformats.org/officeDocument/2006/relationships/image" Target="../media/image123.png"/><Relationship Id="rId7" Type="http://schemas.openxmlformats.org/officeDocument/2006/relationships/image" Target="../media/image61.png"/><Relationship Id="rId12" Type="http://schemas.openxmlformats.org/officeDocument/2006/relationships/image" Target="../media/image4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447.png"/><Relationship Id="rId5" Type="http://schemas.openxmlformats.org/officeDocument/2006/relationships/image" Target="../media/image7.png"/><Relationship Id="rId10" Type="http://schemas.openxmlformats.org/officeDocument/2006/relationships/image" Target="../media/image446.png"/><Relationship Id="rId4" Type="http://schemas.openxmlformats.org/officeDocument/2006/relationships/image" Target="../media/image13.png"/><Relationship Id="rId9" Type="http://schemas.openxmlformats.org/officeDocument/2006/relationships/image" Target="../media/image445.png"/><Relationship Id="rId14" Type="http://schemas.openxmlformats.org/officeDocument/2006/relationships/image" Target="../media/image22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png"/><Relationship Id="rId13" Type="http://schemas.openxmlformats.org/officeDocument/2006/relationships/image" Target="../media/image123.png"/><Relationship Id="rId3" Type="http://schemas.openxmlformats.org/officeDocument/2006/relationships/image" Target="../media/image13.png"/><Relationship Id="rId7" Type="http://schemas.openxmlformats.org/officeDocument/2006/relationships/image" Target="../media/image450.png"/><Relationship Id="rId12" Type="http://schemas.openxmlformats.org/officeDocument/2006/relationships/image" Target="../media/image4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454.png"/><Relationship Id="rId5" Type="http://schemas.openxmlformats.org/officeDocument/2006/relationships/image" Target="../media/image8.png"/><Relationship Id="rId10" Type="http://schemas.openxmlformats.org/officeDocument/2006/relationships/image" Target="../media/image453.png"/><Relationship Id="rId4" Type="http://schemas.openxmlformats.org/officeDocument/2006/relationships/image" Target="../media/image7.png"/><Relationship Id="rId9" Type="http://schemas.openxmlformats.org/officeDocument/2006/relationships/image" Target="../media/image452.png"/><Relationship Id="rId14" Type="http://schemas.openxmlformats.org/officeDocument/2006/relationships/image" Target="../media/image22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1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23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1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23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1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55.png"/><Relationship Id="rId4" Type="http://schemas.openxmlformats.org/officeDocument/2006/relationships/image" Target="../media/image123.png"/><Relationship Id="rId9" Type="http://schemas.openxmlformats.org/officeDocument/2006/relationships/image" Target="../media/image196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1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2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png"/><Relationship Id="rId3" Type="http://schemas.openxmlformats.org/officeDocument/2006/relationships/image" Target="../media/image7.png"/><Relationship Id="rId7" Type="http://schemas.openxmlformats.org/officeDocument/2006/relationships/image" Target="../media/image4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5" Type="http://schemas.openxmlformats.org/officeDocument/2006/relationships/image" Target="../media/image48.png"/><Relationship Id="rId10" Type="http://schemas.openxmlformats.org/officeDocument/2006/relationships/image" Target="../media/image458.png"/><Relationship Id="rId4" Type="http://schemas.openxmlformats.org/officeDocument/2006/relationships/image" Target="../media/image8.png"/><Relationship Id="rId9" Type="http://schemas.openxmlformats.org/officeDocument/2006/relationships/image" Target="../media/image457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1500" y="6769100"/>
            <a:ext cx="5130800" cy="5486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4600" y="68707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-3251200" y="5918200"/>
            <a:ext cx="10109200" cy="10109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9131300"/>
            <a:ext cx="9271000" cy="1295400"/>
          </a:xfrm>
          <a:prstGeom prst="rect">
            <a:avLst/>
          </a:prstGeom>
          <a:effectLst>
            <a:outerShdw blurRad="97396" dist="29968" dir="2700000">
              <a:srgbClr val="1A7AE1">
                <a:alpha val="1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" y="9334500"/>
            <a:ext cx="901700" cy="901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857500" y="9436100"/>
            <a:ext cx="7607300" cy="685800"/>
          </a:xfrm>
          <a:prstGeom prst="rect">
            <a:avLst/>
          </a:prstGeom>
        </p:spPr>
        <p:txBody>
          <a:bodyPr lIns="0" tIns="24686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886" b="0" i="1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Team. 모의해킹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9600" y="9613900"/>
            <a:ext cx="419100" cy="330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092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8300" y="3365500"/>
            <a:ext cx="12763500" cy="1155700"/>
          </a:xfrm>
          <a:prstGeom prst="rect">
            <a:avLst/>
          </a:prstGeom>
        </p:spPr>
        <p:txBody>
          <a:bodyPr lIns="0" tIns="411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6484" b="0" i="0" u="none" strike="noStrike" spc="-200">
                <a:solidFill>
                  <a:srgbClr val="1A7AE1"/>
                </a:solidFill>
                <a:latin typeface="Pretendard SemiBold"/>
                <a:ea typeface="Pretendard SemiBold"/>
                <a:cs typeface="Pretendard SemiBold"/>
              </a:rPr>
              <a:t>SHELL we dance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38300" y="4711700"/>
            <a:ext cx="14287500" cy="2400300"/>
          </a:xfrm>
          <a:prstGeom prst="rect">
            <a:avLst/>
          </a:prstGeom>
        </p:spPr>
        <p:txBody>
          <a:bodyPr lIns="0" tIns="4456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17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클라우드 기반 핀테크 플랫폼
시나리오 모의해킹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5100" y="647700"/>
            <a:ext cx="21717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29기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09900" y="10426700"/>
            <a:ext cx="1473200" cy="1866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37000" y="11506200"/>
            <a:ext cx="1371600" cy="9779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217900" y="3886200"/>
            <a:ext cx="2298700" cy="2006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16900" y="4787900"/>
            <a:ext cx="19431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798800" y="-18034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2819400" y="4864100"/>
            <a:ext cx="11442700" cy="114427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78100" y="1778000"/>
            <a:ext cx="64389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100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Contents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092200"/>
            <a:ext cx="22860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89200" y="3556000"/>
            <a:ext cx="4953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40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8999200" y="4737100"/>
            <a:ext cx="1981200" cy="12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227300" y="4445000"/>
            <a:ext cx="4140200" cy="1016000"/>
          </a:xfrm>
          <a:prstGeom prst="rect">
            <a:avLst/>
          </a:prstGeom>
        </p:spPr>
        <p:txBody>
          <a:bodyPr lIns="0" tIns="84667" rIns="0" bIns="0" rtlCol="0" anchor="t"/>
          <a:lstStyle/>
          <a:p>
            <a:pPr lvl="0" algn="l">
              <a:lnSpc>
                <a:spcPct val="83000"/>
              </a:lnSpc>
            </a:pPr>
            <a:r>
              <a:rPr lang="en-US" sz="3200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협력사망</a:t>
            </a:r>
            <a:r>
              <a:rPr lang="en-US" sz="3200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경유를</a:t>
            </a:r>
            <a:r>
              <a:rPr lang="en-US" sz="3200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통한</a:t>
            </a:r>
            <a:r>
              <a:rPr lang="en-US" sz="3200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 </a:t>
            </a:r>
          </a:p>
          <a:p>
            <a:pPr lvl="0" algn="l">
              <a:lnSpc>
                <a:spcPct val="83000"/>
              </a:lnSpc>
            </a:pPr>
            <a:r>
              <a:rPr lang="en-US" sz="3200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공급망</a:t>
            </a:r>
            <a:r>
              <a:rPr lang="en-US" sz="3200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연쇄침투</a:t>
            </a:r>
            <a:endParaRPr lang="en-US" sz="3200" b="0" i="0" u="none" strike="noStrike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739100" y="44704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25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8100" y="3619500"/>
            <a:ext cx="2032000" cy="571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2865100" y="3670300"/>
            <a:ext cx="1765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Chapter 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8999200" y="5842000"/>
            <a:ext cx="1981200" cy="12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5240000" y="5562600"/>
            <a:ext cx="41402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0000"/>
              </a:lnSpc>
            </a:pPr>
            <a:r>
              <a:rPr lang="ko-KR" altLang="en-US" sz="32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연쇄 침투를 통한 지능형 보이스피싱 공격</a:t>
            </a:r>
            <a:endParaRPr lang="en-US" sz="3200" b="0" i="0" u="none" strike="noStrike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751800" y="55626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55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01900" y="7442200"/>
            <a:ext cx="4953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40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총평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8707100" y="8623300"/>
            <a:ext cx="1981200" cy="12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5240000" y="83312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향후 계획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51800" y="83566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85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50800" y="7505700"/>
            <a:ext cx="2032000" cy="5715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2877800" y="7556500"/>
            <a:ext cx="1765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Chapter 4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8707100" y="9232900"/>
            <a:ext cx="1981200" cy="127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5240000" y="89408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프로젝트 소감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51800" y="89662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86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05400" y="7442200"/>
            <a:ext cx="39624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40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4300" y="7505700"/>
            <a:ext cx="2032000" cy="5715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2781300" y="7556500"/>
            <a:ext cx="1765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Chapter 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05400" y="3721100"/>
            <a:ext cx="2959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40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4762500"/>
            <a:ext cx="1981200" cy="12700"/>
          </a:xfrm>
          <a:prstGeom prst="rect">
            <a:avLst/>
          </a:prstGeom>
        </p:spPr>
      </p:pic>
      <p:sp>
        <p:nvSpPr>
          <p:cNvPr id="48" name="TextBox 48"/>
          <p:cNvSpPr txBox="1"/>
          <p:nvPr/>
        </p:nvSpPr>
        <p:spPr>
          <a:xfrm>
            <a:off x="5143500" y="44450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팀원소개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655300" y="44831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5334000"/>
            <a:ext cx="1981200" cy="12700"/>
          </a:xfrm>
          <a:prstGeom prst="rect">
            <a:avLst/>
          </a:prstGeom>
        </p:spPr>
      </p:pic>
      <p:sp>
        <p:nvSpPr>
          <p:cNvPr id="51" name="TextBox 51"/>
          <p:cNvSpPr txBox="1"/>
          <p:nvPr/>
        </p:nvSpPr>
        <p:spPr>
          <a:xfrm>
            <a:off x="5143500" y="56007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프로젝트 선정 개요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655300" y="50927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4300" y="3759200"/>
            <a:ext cx="2032000" cy="571500"/>
          </a:xfrm>
          <a:prstGeom prst="rect">
            <a:avLst/>
          </a:prstGeom>
        </p:spPr>
      </p:pic>
      <p:sp>
        <p:nvSpPr>
          <p:cNvPr id="54" name="TextBox 54"/>
          <p:cNvSpPr txBox="1"/>
          <p:nvPr/>
        </p:nvSpPr>
        <p:spPr>
          <a:xfrm>
            <a:off x="2781300" y="3822700"/>
            <a:ext cx="1765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Chapter 1</a:t>
            </a:r>
          </a:p>
        </p:txBody>
      </p:sp>
      <p:pic>
        <p:nvPicPr>
          <p:cNvPr id="55" name="Picture 55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5905500"/>
            <a:ext cx="1981200" cy="12700"/>
          </a:xfrm>
          <a:prstGeom prst="rect">
            <a:avLst/>
          </a:prstGeom>
        </p:spPr>
      </p:pic>
      <p:sp>
        <p:nvSpPr>
          <p:cNvPr id="56" name="TextBox 56"/>
          <p:cNvSpPr txBox="1"/>
          <p:nvPr/>
        </p:nvSpPr>
        <p:spPr>
          <a:xfrm>
            <a:off x="10655300" y="56388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5</a:t>
            </a:r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6451600"/>
            <a:ext cx="1981200" cy="12700"/>
          </a:xfrm>
          <a:prstGeom prst="rect">
            <a:avLst/>
          </a:prstGeom>
        </p:spPr>
      </p:pic>
      <p:sp>
        <p:nvSpPr>
          <p:cNvPr id="58" name="TextBox 58"/>
          <p:cNvSpPr txBox="1"/>
          <p:nvPr/>
        </p:nvSpPr>
        <p:spPr>
          <a:xfrm>
            <a:off x="5143500" y="61595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타겟 기업 분석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655300" y="61849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143500" y="50546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WBS</a:t>
            </a:r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8999200" y="6667500"/>
            <a:ext cx="1981200" cy="12700"/>
          </a:xfrm>
          <a:prstGeom prst="rect">
            <a:avLst/>
          </a:prstGeom>
        </p:spPr>
      </p:pic>
      <p:sp>
        <p:nvSpPr>
          <p:cNvPr id="62" name="TextBox 62"/>
          <p:cNvSpPr txBox="1"/>
          <p:nvPr/>
        </p:nvSpPr>
        <p:spPr>
          <a:xfrm>
            <a:off x="15240000" y="63881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보안 대책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0751800" y="63881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78</a:t>
            </a:r>
          </a:p>
        </p:txBody>
      </p:sp>
      <p:sp>
        <p:nvSpPr>
          <p:cNvPr id="64" name="TextBox 14">
            <a:extLst>
              <a:ext uri="{FF2B5EF4-FFF2-40B4-BE49-F238E27FC236}">
                <a16:creationId xmlns:a16="http://schemas.microsoft.com/office/drawing/2014/main" id="{83A17155-1781-8535-268A-F94BC4B5C2C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93B9DAD9-CA62-DCBD-9159-9AC9231D84A6}"/>
              </a:ext>
            </a:extLst>
          </p:cNvPr>
          <p:cNvSpPr txBox="1"/>
          <p:nvPr/>
        </p:nvSpPr>
        <p:spPr>
          <a:xfrm>
            <a:off x="3975100" y="647700"/>
            <a:ext cx="21717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29기</a:t>
            </a:r>
          </a:p>
        </p:txBody>
      </p:sp>
      <p:pic>
        <p:nvPicPr>
          <p:cNvPr id="115" name="Picture 31">
            <a:extLst>
              <a:ext uri="{FF2B5EF4-FFF2-40B4-BE49-F238E27FC236}">
                <a16:creationId xmlns:a16="http://schemas.microsoft.com/office/drawing/2014/main" id="{56FBC60F-9955-253C-0C0A-EAB5A2BA838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10274300"/>
            <a:ext cx="1981200" cy="12700"/>
          </a:xfrm>
          <a:prstGeom prst="rect">
            <a:avLst/>
          </a:prstGeom>
        </p:spPr>
      </p:pic>
      <p:sp>
        <p:nvSpPr>
          <p:cNvPr id="116" name="TextBox 32">
            <a:extLst>
              <a:ext uri="{FF2B5EF4-FFF2-40B4-BE49-F238E27FC236}">
                <a16:creationId xmlns:a16="http://schemas.microsoft.com/office/drawing/2014/main" id="{FDD5DCEC-E4DB-4BAC-C70B-2D804B9E78D0}"/>
              </a:ext>
            </a:extLst>
          </p:cNvPr>
          <p:cNvSpPr txBox="1"/>
          <p:nvPr/>
        </p:nvSpPr>
        <p:spPr>
          <a:xfrm>
            <a:off x="5143500" y="991235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Web </a:t>
            </a:r>
            <a:r>
              <a:rPr lang="en-US" sz="3333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진단</a:t>
            </a:r>
            <a:r>
              <a:rPr lang="en-US" sz="3333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endParaRPr lang="en-US" sz="3333" b="0" i="0" u="none" strike="noStrike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7" name="TextBox 33">
            <a:extLst>
              <a:ext uri="{FF2B5EF4-FFF2-40B4-BE49-F238E27FC236}">
                <a16:creationId xmlns:a16="http://schemas.microsoft.com/office/drawing/2014/main" id="{1B56C3F6-43B0-7EA2-C157-95789D44B5B0}"/>
              </a:ext>
            </a:extLst>
          </p:cNvPr>
          <p:cNvSpPr txBox="1"/>
          <p:nvPr/>
        </p:nvSpPr>
        <p:spPr>
          <a:xfrm>
            <a:off x="10655300" y="9883775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12</a:t>
            </a:r>
          </a:p>
        </p:txBody>
      </p:sp>
      <p:pic>
        <p:nvPicPr>
          <p:cNvPr id="118" name="Picture 34">
            <a:extLst>
              <a:ext uri="{FF2B5EF4-FFF2-40B4-BE49-F238E27FC236}">
                <a16:creationId xmlns:a16="http://schemas.microsoft.com/office/drawing/2014/main" id="{CD5E2638-3080-F235-A016-890CA243B87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10982325"/>
            <a:ext cx="1981200" cy="12700"/>
          </a:xfrm>
          <a:prstGeom prst="rect">
            <a:avLst/>
          </a:prstGeom>
        </p:spPr>
      </p:pic>
      <p:sp>
        <p:nvSpPr>
          <p:cNvPr id="119" name="TextBox 35">
            <a:extLst>
              <a:ext uri="{FF2B5EF4-FFF2-40B4-BE49-F238E27FC236}">
                <a16:creationId xmlns:a16="http://schemas.microsoft.com/office/drawing/2014/main" id="{99F009C0-EC34-031D-1CAF-C6E19531C016}"/>
              </a:ext>
            </a:extLst>
          </p:cNvPr>
          <p:cNvSpPr txBox="1"/>
          <p:nvPr/>
        </p:nvSpPr>
        <p:spPr>
          <a:xfrm>
            <a:off x="5143500" y="1059815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App </a:t>
            </a:r>
            <a:r>
              <a:rPr lang="en-US" sz="3333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진단</a:t>
            </a:r>
            <a:r>
              <a:rPr lang="en-US" sz="3333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endParaRPr lang="en-US" sz="3333" b="0" i="0" u="none" strike="noStrike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0" name="TextBox 36">
            <a:extLst>
              <a:ext uri="{FF2B5EF4-FFF2-40B4-BE49-F238E27FC236}">
                <a16:creationId xmlns:a16="http://schemas.microsoft.com/office/drawing/2014/main" id="{6CE533D0-F684-F886-4B02-C271BAA7FF79}"/>
              </a:ext>
            </a:extLst>
          </p:cNvPr>
          <p:cNvSpPr txBox="1"/>
          <p:nvPr/>
        </p:nvSpPr>
        <p:spPr>
          <a:xfrm>
            <a:off x="10655300" y="105918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13</a:t>
            </a:r>
          </a:p>
        </p:txBody>
      </p:sp>
      <p:pic>
        <p:nvPicPr>
          <p:cNvPr id="121" name="Picture 38">
            <a:extLst>
              <a:ext uri="{FF2B5EF4-FFF2-40B4-BE49-F238E27FC236}">
                <a16:creationId xmlns:a16="http://schemas.microsoft.com/office/drawing/2014/main" id="{DFE04661-8D89-357A-9592-F374490FE46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8547100"/>
            <a:ext cx="1981200" cy="12700"/>
          </a:xfrm>
          <a:prstGeom prst="rect">
            <a:avLst/>
          </a:prstGeom>
        </p:spPr>
      </p:pic>
      <p:sp>
        <p:nvSpPr>
          <p:cNvPr id="122" name="TextBox 39">
            <a:extLst>
              <a:ext uri="{FF2B5EF4-FFF2-40B4-BE49-F238E27FC236}">
                <a16:creationId xmlns:a16="http://schemas.microsoft.com/office/drawing/2014/main" id="{2AEE5F63-1065-27EE-F593-54E3C71394E6}"/>
              </a:ext>
            </a:extLst>
          </p:cNvPr>
          <p:cNvSpPr txBox="1"/>
          <p:nvPr/>
        </p:nvSpPr>
        <p:spPr>
          <a:xfrm>
            <a:off x="5143500" y="82423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ko-KR" altLang="en-US" sz="3333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아키텍처</a:t>
            </a:r>
            <a:endParaRPr lang="en-US" sz="3333" b="0" i="0" u="none" strike="noStrike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3" name="TextBox 40">
            <a:extLst>
              <a:ext uri="{FF2B5EF4-FFF2-40B4-BE49-F238E27FC236}">
                <a16:creationId xmlns:a16="http://schemas.microsoft.com/office/drawing/2014/main" id="{767B9B68-3D88-EC9C-A66B-4CE4D7179129}"/>
              </a:ext>
            </a:extLst>
          </p:cNvPr>
          <p:cNvSpPr txBox="1"/>
          <p:nvPr/>
        </p:nvSpPr>
        <p:spPr>
          <a:xfrm>
            <a:off x="10655300" y="820420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7</a:t>
            </a:r>
          </a:p>
        </p:txBody>
      </p:sp>
      <p:pic>
        <p:nvPicPr>
          <p:cNvPr id="124" name="Picture 43">
            <a:extLst>
              <a:ext uri="{FF2B5EF4-FFF2-40B4-BE49-F238E27FC236}">
                <a16:creationId xmlns:a16="http://schemas.microsoft.com/office/drawing/2014/main" id="{2867039C-F93A-B459-841D-8DE027D04EE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9594850"/>
            <a:ext cx="1981200" cy="12700"/>
          </a:xfrm>
          <a:prstGeom prst="rect">
            <a:avLst/>
          </a:prstGeom>
        </p:spPr>
      </p:pic>
      <p:sp>
        <p:nvSpPr>
          <p:cNvPr id="125" name="TextBox 44">
            <a:extLst>
              <a:ext uri="{FF2B5EF4-FFF2-40B4-BE49-F238E27FC236}">
                <a16:creationId xmlns:a16="http://schemas.microsoft.com/office/drawing/2014/main" id="{1DD3D335-002A-71A2-19B9-A02712E4C34E}"/>
              </a:ext>
            </a:extLst>
          </p:cNvPr>
          <p:cNvSpPr txBox="1"/>
          <p:nvPr/>
        </p:nvSpPr>
        <p:spPr>
          <a:xfrm>
            <a:off x="5143500" y="930275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3333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r>
              <a:rPr lang="en-US" sz="3333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진단</a:t>
            </a:r>
            <a:endParaRPr lang="en-US" sz="3333" b="0" i="0" u="none" strike="noStrike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6" name="TextBox 45">
            <a:extLst>
              <a:ext uri="{FF2B5EF4-FFF2-40B4-BE49-F238E27FC236}">
                <a16:creationId xmlns:a16="http://schemas.microsoft.com/office/drawing/2014/main" id="{803BF506-7F85-7FF9-EF03-21EB0BA60DD5}"/>
              </a:ext>
            </a:extLst>
          </p:cNvPr>
          <p:cNvSpPr txBox="1"/>
          <p:nvPr/>
        </p:nvSpPr>
        <p:spPr>
          <a:xfrm>
            <a:off x="10655300" y="932815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9</a:t>
            </a:r>
          </a:p>
        </p:txBody>
      </p:sp>
      <p:pic>
        <p:nvPicPr>
          <p:cNvPr id="127" name="Picture 38">
            <a:extLst>
              <a:ext uri="{FF2B5EF4-FFF2-40B4-BE49-F238E27FC236}">
                <a16:creationId xmlns:a16="http://schemas.microsoft.com/office/drawing/2014/main" id="{828F77E3-CEA9-81D9-E776-24749F677D6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8801100" y="9144000"/>
            <a:ext cx="1981200" cy="12700"/>
          </a:xfrm>
          <a:prstGeom prst="rect">
            <a:avLst/>
          </a:prstGeom>
        </p:spPr>
      </p:pic>
      <p:sp>
        <p:nvSpPr>
          <p:cNvPr id="128" name="TextBox 39">
            <a:extLst>
              <a:ext uri="{FF2B5EF4-FFF2-40B4-BE49-F238E27FC236}">
                <a16:creationId xmlns:a16="http://schemas.microsoft.com/office/drawing/2014/main" id="{4039D4AE-6C01-3D9C-CDC8-62D56AC5EDCD}"/>
              </a:ext>
            </a:extLst>
          </p:cNvPr>
          <p:cNvSpPr txBox="1"/>
          <p:nvPr/>
        </p:nvSpPr>
        <p:spPr>
          <a:xfrm>
            <a:off x="5153025" y="8788400"/>
            <a:ext cx="4140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ko-KR" altLang="en-US" sz="3333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기능 구성</a:t>
            </a:r>
            <a:endParaRPr lang="en-US" sz="3333" b="0" i="0" u="none" strike="noStrike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9" name="TextBox 40">
            <a:extLst>
              <a:ext uri="{FF2B5EF4-FFF2-40B4-BE49-F238E27FC236}">
                <a16:creationId xmlns:a16="http://schemas.microsoft.com/office/drawing/2014/main" id="{F7E9FA95-950D-DEE8-7133-9C8A2BD6CD77}"/>
              </a:ext>
            </a:extLst>
          </p:cNvPr>
          <p:cNvSpPr txBox="1"/>
          <p:nvPr/>
        </p:nvSpPr>
        <p:spPr>
          <a:xfrm>
            <a:off x="10655300" y="8743950"/>
            <a:ext cx="96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43590"/>
              </a:lnSpc>
            </a:pPr>
            <a:r>
              <a:rPr lang="en-US" sz="3145" b="0" i="0" u="none" strike="noStrike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7461C-368F-DFBF-2F34-3A1AA160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9C1D555-8A2D-FBB3-B17C-F246F3669E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798800" y="-18034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E4EB8BD-0A75-20DA-E222-7859D5EE47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2806700" y="4838354"/>
            <a:ext cx="11442700" cy="114427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5AD8DCF-F476-4C1F-473F-EF89EA9EBF0C}"/>
              </a:ext>
            </a:extLst>
          </p:cNvPr>
          <p:cNvSpPr txBox="1"/>
          <p:nvPr/>
        </p:nvSpPr>
        <p:spPr>
          <a:xfrm>
            <a:off x="6858000" y="4838354"/>
            <a:ext cx="70993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43590"/>
              </a:lnSpc>
            </a:pPr>
            <a:r>
              <a:rPr lang="ko-KR" altLang="en-US" sz="9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 개요</a:t>
            </a:r>
            <a:endParaRPr lang="en-US" altLang="ko-KR" sz="96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B3F6F4-7200-D64D-A9DB-FBCA67C289E6}"/>
              </a:ext>
            </a:extLst>
          </p:cNvPr>
          <p:cNvSpPr txBox="1"/>
          <p:nvPr/>
        </p:nvSpPr>
        <p:spPr>
          <a:xfrm>
            <a:off x="2114550" y="2057400"/>
            <a:ext cx="4340283" cy="601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3590"/>
              </a:lnSpc>
            </a:pPr>
            <a:r>
              <a:rPr lang="en-US" altLang="ko-KR" sz="30000" dirty="0">
                <a:solidFill>
                  <a:srgbClr val="1A7AE1"/>
                </a:solidFill>
                <a:latin typeface="Pretendard Regular" panose="02000503000000020004" pitchFamily="2" charset="-127"/>
                <a:ea typeface="Pretendard Regular" panose="02000503000000020004" pitchFamily="2" charset="-127"/>
                <a:cs typeface="Pretendard Regular" panose="02000503000000020004" pitchFamily="2" charset="-127"/>
              </a:rPr>
              <a:t>01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ECE42E4-6CAD-EEE8-4EFC-D77F43A039DC}"/>
              </a:ext>
            </a:extLst>
          </p:cNvPr>
          <p:cNvCxnSpPr>
            <a:cxnSpLocks/>
          </p:cNvCxnSpPr>
          <p:nvPr/>
        </p:nvCxnSpPr>
        <p:spPr>
          <a:xfrm>
            <a:off x="6661150" y="6858000"/>
            <a:ext cx="13760450" cy="0"/>
          </a:xfrm>
          <a:prstGeom prst="line">
            <a:avLst/>
          </a:prstGeom>
          <a:ln w="57150">
            <a:solidFill>
              <a:srgbClr val="1A7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01E91654-F14B-98C9-6425-56224A590B85}"/>
              </a:ext>
            </a:extLst>
          </p:cNvPr>
          <p:cNvCxnSpPr>
            <a:cxnSpLocks/>
          </p:cNvCxnSpPr>
          <p:nvPr/>
        </p:nvCxnSpPr>
        <p:spPr>
          <a:xfrm>
            <a:off x="4857114" y="3191568"/>
            <a:ext cx="781686" cy="0"/>
          </a:xfrm>
          <a:prstGeom prst="line">
            <a:avLst/>
          </a:prstGeom>
          <a:ln w="9525">
            <a:solidFill>
              <a:srgbClr val="1A7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CED0BD0-ECB4-FFA6-046A-571E4DFE0EDD}"/>
              </a:ext>
            </a:extLst>
          </p:cNvPr>
          <p:cNvSpPr txBox="1"/>
          <p:nvPr/>
        </p:nvSpPr>
        <p:spPr>
          <a:xfrm>
            <a:off x="2514600" y="2872827"/>
            <a:ext cx="3048000" cy="63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500" dirty="0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  <a:endParaRPr lang="en-US" altLang="ko-KR" sz="3500" b="0" i="0" u="none" strike="noStrike" dirty="0">
              <a:solidFill>
                <a:srgbClr val="1A7AE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ADA9FB28-9A8E-F1B9-9285-7540B2322D2A}"/>
              </a:ext>
            </a:extLst>
          </p:cNvPr>
          <p:cNvSpPr/>
          <p:nvPr/>
        </p:nvSpPr>
        <p:spPr>
          <a:xfrm>
            <a:off x="20246913" y="6704980"/>
            <a:ext cx="303274" cy="304800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50DB1385-1C60-4241-819F-E59C5D0053F3}"/>
              </a:ext>
            </a:extLst>
          </p:cNvPr>
          <p:cNvSpPr/>
          <p:nvPr/>
        </p:nvSpPr>
        <p:spPr>
          <a:xfrm>
            <a:off x="6934200" y="7620000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DE9AC081-BD1B-FCDE-A8FB-0FF35DB3B731}"/>
              </a:ext>
            </a:extLst>
          </p:cNvPr>
          <p:cNvSpPr/>
          <p:nvPr/>
        </p:nvSpPr>
        <p:spPr>
          <a:xfrm>
            <a:off x="6934200" y="8554605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0DA381F5-1A07-1D27-93CD-2AC6F5F3AE68}"/>
              </a:ext>
            </a:extLst>
          </p:cNvPr>
          <p:cNvSpPr/>
          <p:nvPr/>
        </p:nvSpPr>
        <p:spPr>
          <a:xfrm>
            <a:off x="6934200" y="9465397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EBABA909-D14D-F5E2-6B51-3C443F8865D0}"/>
              </a:ext>
            </a:extLst>
          </p:cNvPr>
          <p:cNvSpPr/>
          <p:nvPr/>
        </p:nvSpPr>
        <p:spPr>
          <a:xfrm>
            <a:off x="6934200" y="10400955"/>
            <a:ext cx="152400" cy="137446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599135-E5FD-C0E9-7453-F93BCB15F57D}"/>
              </a:ext>
            </a:extLst>
          </p:cNvPr>
          <p:cNvSpPr txBox="1"/>
          <p:nvPr/>
        </p:nvSpPr>
        <p:spPr>
          <a:xfrm>
            <a:off x="7389018" y="7338139"/>
            <a:ext cx="2605087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en-US" altLang="ko-KR" sz="2800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팀원소개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640BDC-2B51-EF6B-8D46-546BA82864C9}"/>
              </a:ext>
            </a:extLst>
          </p:cNvPr>
          <p:cNvSpPr txBox="1"/>
          <p:nvPr/>
        </p:nvSpPr>
        <p:spPr>
          <a:xfrm>
            <a:off x="7377113" y="8271407"/>
            <a:ext cx="2605087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en-US" altLang="ko-KR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WBS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B3F9FD8-0BC8-0213-7FC2-0F6585AC6830}"/>
              </a:ext>
            </a:extLst>
          </p:cNvPr>
          <p:cNvSpPr txBox="1"/>
          <p:nvPr/>
        </p:nvSpPr>
        <p:spPr>
          <a:xfrm>
            <a:off x="7333456" y="9147867"/>
            <a:ext cx="3029744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en-US" altLang="ko-KR" sz="2800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  <a:r>
              <a:rPr lang="en-US" altLang="ko-KR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선정</a:t>
            </a:r>
            <a:r>
              <a:rPr lang="en-US" altLang="ko-KR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개요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4DE0C5-4E44-7666-FFBA-95A551150FFF}"/>
              </a:ext>
            </a:extLst>
          </p:cNvPr>
          <p:cNvSpPr txBox="1"/>
          <p:nvPr/>
        </p:nvSpPr>
        <p:spPr>
          <a:xfrm>
            <a:off x="7389019" y="10092121"/>
            <a:ext cx="2605087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en-US" altLang="ko-KR" sz="2800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타겟</a:t>
            </a:r>
            <a:r>
              <a:rPr lang="en-US" altLang="ko-KR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기업</a:t>
            </a:r>
            <a:r>
              <a:rPr lang="en-US" altLang="ko-KR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spc="-100" dirty="0" err="1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6BE1C03C-A759-4953-FCC8-28C380EBF159}"/>
              </a:ext>
            </a:extLst>
          </p:cNvPr>
          <p:cNvSpPr/>
          <p:nvPr/>
        </p:nvSpPr>
        <p:spPr>
          <a:xfrm>
            <a:off x="17326031" y="3808760"/>
            <a:ext cx="6219769" cy="6249640"/>
          </a:xfrm>
          <a:prstGeom prst="ellipse">
            <a:avLst/>
          </a:prstGeom>
          <a:noFill/>
          <a:ln w="38100">
            <a:solidFill>
              <a:srgbClr val="1A7AE1">
                <a:alpha val="3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D48B97F5-738C-88A8-76D6-E5DEBABFE7F1}"/>
              </a:ext>
            </a:extLst>
          </p:cNvPr>
          <p:cNvSpPr/>
          <p:nvPr/>
        </p:nvSpPr>
        <p:spPr>
          <a:xfrm>
            <a:off x="18643481" y="5180421"/>
            <a:ext cx="3584867" cy="3546788"/>
          </a:xfrm>
          <a:prstGeom prst="ellipse">
            <a:avLst/>
          </a:prstGeom>
          <a:solidFill>
            <a:srgbClr val="1A7AE1">
              <a:alpha val="8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원형: 비어 있음 89">
            <a:extLst>
              <a:ext uri="{FF2B5EF4-FFF2-40B4-BE49-F238E27FC236}">
                <a16:creationId xmlns:a16="http://schemas.microsoft.com/office/drawing/2014/main" id="{F64A2718-4081-F307-8B7C-DD526BB7FAD3}"/>
              </a:ext>
            </a:extLst>
          </p:cNvPr>
          <p:cNvSpPr/>
          <p:nvPr/>
        </p:nvSpPr>
        <p:spPr>
          <a:xfrm>
            <a:off x="17781407" y="4228873"/>
            <a:ext cx="5334000" cy="5415371"/>
          </a:xfrm>
          <a:prstGeom prst="donut">
            <a:avLst>
              <a:gd name="adj" fmla="val 3577"/>
            </a:avLst>
          </a:prstGeom>
          <a:solidFill>
            <a:srgbClr val="1A7AE1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76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>
            <a:extLst>
              <a:ext uri="{FF2B5EF4-FFF2-40B4-BE49-F238E27FC236}">
                <a16:creationId xmlns:a16="http://schemas.microsoft.com/office/drawing/2014/main" id="{B7CCCC51-BD77-FE0E-76AB-8AE8C6AA9F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팀원 소개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7719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2527300" y="41402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팀장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0" y="4191000"/>
            <a:ext cx="3848100" cy="2324100"/>
          </a:xfrm>
          <a:prstGeom prst="rect">
            <a:avLst/>
          </a:prstGeom>
          <a:effectLst>
            <a:outerShdw blurRad="57955" dist="53497" dir="2700000">
              <a:srgbClr val="1A7AE1">
                <a:alpha val="15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435100" y="4711700"/>
            <a:ext cx="2705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백승빈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7300" y="37846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14" name="TextBox 14"/>
          <p:cNvSpPr txBox="1"/>
          <p:nvPr/>
        </p:nvSpPr>
        <p:spPr>
          <a:xfrm>
            <a:off x="9893300" y="41402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79200" y="4203700"/>
            <a:ext cx="3848100" cy="2324100"/>
          </a:xfrm>
          <a:prstGeom prst="rect">
            <a:avLst/>
          </a:prstGeom>
          <a:effectLst>
            <a:outerShdw blurRad="57955" dist="53497" dir="2700000">
              <a:srgbClr val="1A7AE1">
                <a:alpha val="15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56000" y="37719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17246600" y="41148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72200" y="4191000"/>
            <a:ext cx="3733800" cy="2324100"/>
          </a:xfrm>
          <a:prstGeom prst="rect">
            <a:avLst/>
          </a:prstGeom>
          <a:effectLst>
            <a:outerShdw blurRad="57955" dist="53497" dir="2700000">
              <a:srgbClr val="1A7AE1">
                <a:alpha val="15000"/>
              </a:srgbClr>
            </a:outerShdw>
          </a:effectLst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87122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2527300" y="90805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500" y="9131300"/>
            <a:ext cx="3848100" cy="2324100"/>
          </a:xfrm>
          <a:prstGeom prst="rect">
            <a:avLst/>
          </a:prstGeom>
          <a:effectLst>
            <a:outerShdw blurRad="57955" dist="53497" dir="2700000">
              <a:srgbClr val="1A7AE1">
                <a:alpha val="15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7300" y="87249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23" name="TextBox 23"/>
          <p:cNvSpPr txBox="1"/>
          <p:nvPr/>
        </p:nvSpPr>
        <p:spPr>
          <a:xfrm>
            <a:off x="9969500" y="90932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79200" y="9144000"/>
            <a:ext cx="3848100" cy="2324100"/>
          </a:xfrm>
          <a:prstGeom prst="rect">
            <a:avLst/>
          </a:prstGeom>
          <a:effectLst>
            <a:outerShdw blurRad="57955" dist="53497" dir="2700000">
              <a:srgbClr val="1A7AE1">
                <a:alpha val="15000"/>
              </a:srgbClr>
            </a:outerShdw>
          </a:effectLst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56000" y="87122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26" name="TextBox 26"/>
          <p:cNvSpPr txBox="1"/>
          <p:nvPr/>
        </p:nvSpPr>
        <p:spPr>
          <a:xfrm>
            <a:off x="17348200" y="90678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70600" y="9131300"/>
            <a:ext cx="3848100" cy="2324100"/>
          </a:xfrm>
          <a:prstGeom prst="rect">
            <a:avLst/>
          </a:prstGeom>
          <a:effectLst>
            <a:outerShdw blurRad="57955" dist="53497" dir="2700000">
              <a:srgbClr val="1A7AE1">
                <a:alpha val="15000"/>
              </a:srgbClr>
            </a:outerShdw>
          </a:effectLst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3900" y="8280400"/>
            <a:ext cx="2781300" cy="31750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2032000" y="5283200"/>
            <a:ext cx="18034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보안 프로그램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138900" y="3175000"/>
            <a:ext cx="3225800" cy="3340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42700" y="8318500"/>
            <a:ext cx="3759200" cy="3149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13200" y="3086100"/>
            <a:ext cx="3746500" cy="34163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973800" y="8140700"/>
            <a:ext cx="3505200" cy="3302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31600" y="3060700"/>
            <a:ext cx="3581400" cy="34671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8851900" y="9664700"/>
            <a:ext cx="2705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성준모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34500" y="10198100"/>
            <a:ext cx="18288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Backend 개발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217900" y="4648200"/>
            <a:ext cx="2705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서정우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725900" y="5181600"/>
            <a:ext cx="1854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Frontend 개발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35100" y="9652000"/>
            <a:ext cx="2705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손지선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81200" y="10236200"/>
            <a:ext cx="1905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Frontend 개발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851900" y="4762500"/>
            <a:ext cx="2705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최상훈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69400" y="5295900"/>
            <a:ext cx="2159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APP 개발 / AWS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217900" y="9664700"/>
            <a:ext cx="2705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표민우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6675100" y="10198100"/>
            <a:ext cx="20701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시나리오 / AWS 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108200" y="5778500"/>
            <a:ext cx="14605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공급망 공격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50400" y="10668000"/>
            <a:ext cx="13843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보이스피싱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133600" y="10731500"/>
            <a:ext cx="1397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보이스피싱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903700" y="10668000"/>
            <a:ext cx="1358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보이스피싱</a:t>
            </a: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9">
            <a:alphaModFix amt="85000"/>
          </a:blip>
          <a:stretch>
            <a:fillRect/>
          </a:stretch>
        </p:blipFill>
        <p:spPr>
          <a:xfrm>
            <a:off x="6832600" y="558800"/>
            <a:ext cx="1993900" cy="444500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  <a:endParaRPr lang="en-US" sz="2666" b="0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9334500" y="469900"/>
            <a:ext cx="2667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512300" y="5778500"/>
            <a:ext cx="14605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공급망 공격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6891000" y="5778500"/>
            <a:ext cx="14605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공급망 공격</a:t>
            </a:r>
          </a:p>
        </p:txBody>
      </p:sp>
      <p:sp>
        <p:nvSpPr>
          <p:cNvPr id="60" name="TextBox 14">
            <a:extLst>
              <a:ext uri="{FF2B5EF4-FFF2-40B4-BE49-F238E27FC236}">
                <a16:creationId xmlns:a16="http://schemas.microsoft.com/office/drawing/2014/main" id="{C107941E-26FB-4BBB-9477-6F093632B85B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61" name="TextBox 17">
            <a:extLst>
              <a:ext uri="{FF2B5EF4-FFF2-40B4-BE49-F238E27FC236}">
                <a16:creationId xmlns:a16="http://schemas.microsoft.com/office/drawing/2014/main" id="{A25BCB1E-0CCA-4819-975C-62CECA6EEDC3}"/>
              </a:ext>
            </a:extLst>
          </p:cNvPr>
          <p:cNvSpPr txBox="1"/>
          <p:nvPr/>
        </p:nvSpPr>
        <p:spPr>
          <a:xfrm>
            <a:off x="3975100" y="647700"/>
            <a:ext cx="21717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2B21F-C023-5239-913F-0307BBC2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>
            <a:extLst>
              <a:ext uri="{FF2B5EF4-FFF2-40B4-BE49-F238E27FC236}">
                <a16:creationId xmlns:a16="http://schemas.microsoft.com/office/drawing/2014/main" id="{DF88D00D-822D-0769-849A-4A497FFA81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55FA36D-5049-70AE-A391-E105C0054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804D73F-E9A7-E722-2A34-4C6325911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EB48576-716D-C9AC-D6B9-702C40209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F4C670A-35A0-1F27-A950-79E546047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B9F4188-9023-0B64-D267-C312B5655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sp>
        <p:nvSpPr>
          <p:cNvPr id="32" name="TextBox 32">
            <a:extLst>
              <a:ext uri="{FF2B5EF4-FFF2-40B4-BE49-F238E27FC236}">
                <a16:creationId xmlns:a16="http://schemas.microsoft.com/office/drawing/2014/main" id="{3EF9F0DB-8D54-1FAF-3A2B-2F39CB58456F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</a:t>
            </a:r>
          </a:p>
        </p:txBody>
      </p:sp>
      <p:pic>
        <p:nvPicPr>
          <p:cNvPr id="52" name="Picture 52">
            <a:extLst>
              <a:ext uri="{FF2B5EF4-FFF2-40B4-BE49-F238E27FC236}">
                <a16:creationId xmlns:a16="http://schemas.microsoft.com/office/drawing/2014/main" id="{4ECFC5CE-E5A1-D80E-EAAE-B96E9268E53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6832600" y="558800"/>
            <a:ext cx="1993900" cy="444500"/>
          </a:xfrm>
          <a:prstGeom prst="rect">
            <a:avLst/>
          </a:prstGeom>
        </p:spPr>
      </p:pic>
      <p:sp>
        <p:nvSpPr>
          <p:cNvPr id="53" name="TextBox 53">
            <a:extLst>
              <a:ext uri="{FF2B5EF4-FFF2-40B4-BE49-F238E27FC236}">
                <a16:creationId xmlns:a16="http://schemas.microsoft.com/office/drawing/2014/main" id="{E5C2A618-67AC-B274-8C99-F19B10EA79D0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  <a:endParaRPr lang="en-US" sz="2666" b="0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07580A48-2E9E-1BA4-4597-F14A1CEF07D8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4F5BD699-8FA0-1AE8-518D-A359A4AF2A6E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F16F58A-D5E7-3564-2446-50F22C904536}"/>
              </a:ext>
            </a:extLst>
          </p:cNvPr>
          <p:cNvSpPr txBox="1"/>
          <p:nvPr/>
        </p:nvSpPr>
        <p:spPr>
          <a:xfrm>
            <a:off x="9334500" y="469900"/>
            <a:ext cx="2667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sp>
        <p:nvSpPr>
          <p:cNvPr id="60" name="TextBox 14">
            <a:extLst>
              <a:ext uri="{FF2B5EF4-FFF2-40B4-BE49-F238E27FC236}">
                <a16:creationId xmlns:a16="http://schemas.microsoft.com/office/drawing/2014/main" id="{A83FA0F4-12B7-8685-B6B4-387A1477773A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61" name="TextBox 17">
            <a:extLst>
              <a:ext uri="{FF2B5EF4-FFF2-40B4-BE49-F238E27FC236}">
                <a16:creationId xmlns:a16="http://schemas.microsoft.com/office/drawing/2014/main" id="{398E4F4D-B5C6-C127-0C99-A8BAD197693A}"/>
              </a:ext>
            </a:extLst>
          </p:cNvPr>
          <p:cNvSpPr txBox="1"/>
          <p:nvPr/>
        </p:nvSpPr>
        <p:spPr>
          <a:xfrm>
            <a:off x="3975100" y="647700"/>
            <a:ext cx="21717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29기</a:t>
            </a:r>
          </a:p>
        </p:txBody>
      </p:sp>
      <p:pic>
        <p:nvPicPr>
          <p:cNvPr id="29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30" name="TextBox 11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WBS</a:t>
            </a:r>
          </a:p>
        </p:txBody>
      </p:sp>
      <p:graphicFrame>
        <p:nvGraphicFramePr>
          <p:cNvPr id="54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353776"/>
              </p:ext>
            </p:extLst>
          </p:nvPr>
        </p:nvGraphicFramePr>
        <p:xfrm>
          <a:off x="1485900" y="3797300"/>
          <a:ext cx="21209224" cy="8654967"/>
        </p:xfrm>
        <a:graphic>
          <a:graphicData uri="http://schemas.openxmlformats.org/drawingml/2006/table">
            <a:tbl>
              <a:tblPr/>
              <a:tblGrid>
                <a:gridCol w="6165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0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0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0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804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804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66877"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133" b="0" i="0" u="none" strike="noStrike" cap="all">
                          <a:solidFill>
                            <a:srgbClr val="FFFFFF"/>
                          </a:solidFill>
                          <a:latin typeface="Hauora ExtraBold"/>
                          <a:ea typeface="Hauora ExtraBold"/>
                          <a:cs typeface="Hauora ExtraBold"/>
                        </a:rPr>
                        <a:t>W1</a:t>
                      </a: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133" b="0" i="0" u="none" strike="noStrike" cap="all">
                          <a:solidFill>
                            <a:srgbClr val="FFFFFF"/>
                          </a:solidFill>
                          <a:latin typeface="Hauora ExtraBold"/>
                          <a:ea typeface="Hauora ExtraBold"/>
                          <a:cs typeface="Hauora ExtraBold"/>
                        </a:rPr>
                        <a:t>W2</a:t>
                      </a: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133" b="0" i="0" u="none" strike="noStrike" cap="all">
                          <a:solidFill>
                            <a:srgbClr val="FFFFFF"/>
                          </a:solidFill>
                          <a:latin typeface="Hauora ExtraBold"/>
                          <a:ea typeface="Hauora ExtraBold"/>
                          <a:cs typeface="Hauora ExtraBold"/>
                        </a:rPr>
                        <a:t>W3</a:t>
                      </a: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133" b="0" i="0" u="none" strike="noStrike" cap="all">
                          <a:solidFill>
                            <a:srgbClr val="FFFFFF"/>
                          </a:solidFill>
                          <a:latin typeface="Hauora ExtraBold"/>
                          <a:ea typeface="Hauora ExtraBold"/>
                          <a:cs typeface="Hauora ExtraBold"/>
                        </a:rPr>
                        <a:t>W4</a:t>
                      </a: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133" b="0" i="0" u="none" strike="noStrike" cap="all">
                          <a:solidFill>
                            <a:srgbClr val="FFFFFF"/>
                          </a:solidFill>
                          <a:latin typeface="Hauora ExtraBold"/>
                          <a:ea typeface="Hauora ExtraBold"/>
                          <a:cs typeface="Hauora ExtraBold"/>
                        </a:rPr>
                        <a:t>W5</a:t>
                      </a: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133" b="0" i="0" u="none" strike="noStrike" cap="all">
                          <a:solidFill>
                            <a:srgbClr val="FFFFFF"/>
                          </a:solidFill>
                          <a:latin typeface="Hauora ExtraBold"/>
                          <a:ea typeface="Hauora ExtraBold"/>
                          <a:cs typeface="Hauora ExtraBold"/>
                        </a:rPr>
                        <a:t>W6</a:t>
                      </a: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133" b="0" i="0" u="none" strike="noStrike" cap="all">
                          <a:solidFill>
                            <a:srgbClr val="FFFFFF"/>
                          </a:solidFill>
                          <a:latin typeface="Hauora ExtraBold"/>
                          <a:ea typeface="Hauora ExtraBold"/>
                          <a:cs typeface="Hauora ExtraBold"/>
                        </a:rPr>
                        <a:t>W7</a:t>
                      </a: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133" b="0" i="0" u="none" strike="noStrike" cap="all">
                          <a:solidFill>
                            <a:srgbClr val="FFFFFF"/>
                          </a:solidFill>
                          <a:latin typeface="Hauora ExtraBold"/>
                          <a:ea typeface="Hauora ExtraBold"/>
                          <a:cs typeface="Hauora ExtraBold"/>
                        </a:rPr>
                        <a:t>W8</a:t>
                      </a: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120350"/>
                        </a:lnSpc>
                        <a:defRPr/>
                      </a:pPr>
                      <a:r>
                        <a:rPr lang="en-US" sz="2533" b="0" i="0" u="none" strike="noStrike" dirty="0" err="1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현황분석</a:t>
                      </a:r>
                      <a:endParaRPr lang="en-US" sz="1100" dirty="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17356" marB="17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50799" marB="50799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 dirty="0" err="1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프론트엔드</a:t>
                      </a:r>
                      <a:r>
                        <a:rPr lang="en-US" sz="2533" b="0" i="0" u="none" strike="noStrike" dirty="0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sz="2533" b="0" i="0" u="none" strike="noStrike" dirty="0" err="1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개발</a:t>
                      </a:r>
                      <a:r>
                        <a:rPr lang="en-US" sz="2533" b="0" i="0" u="none" strike="noStrike" dirty="0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(웹 / </a:t>
                      </a:r>
                      <a:r>
                        <a:rPr lang="en-US" sz="2533" b="0" i="0" u="none" strike="noStrike" dirty="0" err="1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모바일</a:t>
                      </a:r>
                      <a:r>
                        <a:rPr lang="en-US" sz="2533" b="0" i="0" u="none" strike="noStrike" dirty="0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  <a:endParaRPr lang="en-US" sz="1100" dirty="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백엔드 개발</a:t>
                      </a:r>
                      <a:endParaRPr lang="en-US" sz="110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클라우드 구축</a:t>
                      </a:r>
                      <a:endParaRPr lang="en-US" sz="110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취약점 진단</a:t>
                      </a:r>
                      <a:endParaRPr lang="en-US" sz="110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시나리오 기획</a:t>
                      </a:r>
                      <a:endParaRPr lang="en-US" sz="110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추가 개발</a:t>
                      </a:r>
                      <a:endParaRPr lang="en-US" sz="110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52493" marB="52493" anchor="ctr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시나리오 모의해킹</a:t>
                      </a:r>
                      <a:endParaRPr lang="en-US" sz="110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결과 보고서</a:t>
                      </a:r>
                      <a:endParaRPr lang="en-US" sz="110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lvl="0" algn="ctr">
                        <a:lnSpc>
                          <a:spcPct val="99600"/>
                        </a:lnSpc>
                        <a:defRPr/>
                      </a:pPr>
                      <a:r>
                        <a:rPr lang="en-US" sz="2533" b="0" i="0" u="none" strike="noStrike" dirty="0" err="1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최종</a:t>
                      </a:r>
                      <a:r>
                        <a:rPr lang="en-US" sz="2533" b="0" i="0" u="none" strike="noStrike" dirty="0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PPT </a:t>
                      </a:r>
                      <a:r>
                        <a:rPr lang="en-US" sz="2533" b="0" i="0" u="none" strike="noStrike" dirty="0" err="1">
                          <a:solidFill>
                            <a:schemeClr val="tx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작성</a:t>
                      </a:r>
                      <a:endParaRPr lang="en-US" sz="1100" dirty="0">
                        <a:solidFill>
                          <a:schemeClr val="tx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38100" marR="38100" marT="57573" marB="5757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2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0" y="4838700"/>
            <a:ext cx="1562100" cy="444500"/>
          </a:xfrm>
          <a:prstGeom prst="rect">
            <a:avLst/>
          </a:prstGeom>
        </p:spPr>
      </p:pic>
      <p:pic>
        <p:nvPicPr>
          <p:cNvPr id="63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85800" y="7924800"/>
            <a:ext cx="1727200" cy="444500"/>
          </a:xfrm>
          <a:prstGeom prst="rect">
            <a:avLst/>
          </a:prstGeom>
        </p:spPr>
      </p:pic>
      <p:pic>
        <p:nvPicPr>
          <p:cNvPr id="64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98500" y="8661400"/>
            <a:ext cx="2755900" cy="508000"/>
          </a:xfrm>
          <a:prstGeom prst="rect">
            <a:avLst/>
          </a:prstGeom>
        </p:spPr>
      </p:pic>
      <p:pic>
        <p:nvPicPr>
          <p:cNvPr id="65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21200" y="11023600"/>
            <a:ext cx="5384800" cy="508000"/>
          </a:xfrm>
          <a:prstGeom prst="rect">
            <a:avLst/>
          </a:prstGeom>
        </p:spPr>
      </p:pic>
      <p:pic>
        <p:nvPicPr>
          <p:cNvPr id="66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4700" y="5613400"/>
            <a:ext cx="4584700" cy="444500"/>
          </a:xfrm>
          <a:prstGeom prst="rect">
            <a:avLst/>
          </a:prstGeom>
        </p:spPr>
      </p:pic>
      <p:pic>
        <p:nvPicPr>
          <p:cNvPr id="67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64700" y="6388100"/>
            <a:ext cx="4584700" cy="444500"/>
          </a:xfrm>
          <a:prstGeom prst="rect">
            <a:avLst/>
          </a:prstGeom>
        </p:spPr>
      </p:pic>
      <p:pic>
        <p:nvPicPr>
          <p:cNvPr id="68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93500" y="7175500"/>
            <a:ext cx="3530600" cy="444500"/>
          </a:xfrm>
          <a:prstGeom prst="rect">
            <a:avLst/>
          </a:prstGeom>
        </p:spPr>
      </p:pic>
      <p:pic>
        <p:nvPicPr>
          <p:cNvPr id="69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98500" y="9474200"/>
            <a:ext cx="1714500" cy="508000"/>
          </a:xfrm>
          <a:prstGeom prst="rect">
            <a:avLst/>
          </a:prstGeom>
        </p:spPr>
      </p:pic>
      <p:pic>
        <p:nvPicPr>
          <p:cNvPr id="70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54300" y="10210800"/>
            <a:ext cx="3479800" cy="508000"/>
          </a:xfrm>
          <a:prstGeom prst="rect">
            <a:avLst/>
          </a:prstGeom>
        </p:spPr>
      </p:pic>
      <p:pic>
        <p:nvPicPr>
          <p:cNvPr id="71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221200" y="11772900"/>
            <a:ext cx="5384800" cy="508000"/>
          </a:xfrm>
          <a:prstGeom prst="rect">
            <a:avLst/>
          </a:prstGeom>
        </p:spPr>
      </p:pic>
      <p:pic>
        <p:nvPicPr>
          <p:cNvPr id="72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615400" y="3035300"/>
            <a:ext cx="13843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6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3136900"/>
            <a:ext cx="7150100" cy="9715500"/>
          </a:xfrm>
          <a:prstGeom prst="rect">
            <a:avLst/>
          </a:prstGeom>
          <a:effectLst>
            <a:outerShdw blurRad="178701" dist="164954" dir="2700000">
              <a:srgbClr val="1A7AE1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3136900"/>
            <a:ext cx="7150100" cy="9715500"/>
          </a:xfrm>
          <a:prstGeom prst="rect">
            <a:avLst/>
          </a:prstGeom>
          <a:effectLst>
            <a:outerShdw blurRad="178701" dist="164954" dir="2700000">
              <a:srgbClr val="1A7AE1">
                <a:alpha val="15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2641600" y="3403600"/>
            <a:ext cx="5003800" cy="6604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marL="342900" lvl="1" indent="-342900" algn="l">
              <a:lnSpc>
                <a:spcPct val="107899"/>
              </a:lnSpc>
              <a:buAutoNum type="arabicPeriod"/>
            </a:pPr>
            <a:r>
              <a:rPr lang="en-US" sz="3733" b="0" i="0" u="none" strike="noStrike">
                <a:solidFill>
                  <a:srgbClr val="1A7AE1"/>
                </a:solidFill>
                <a:latin typeface="Pretendard SemiBold"/>
                <a:ea typeface="Pretendard SemiBold"/>
                <a:cs typeface="Pretendard SemiBold"/>
              </a:rPr>
              <a:t>인프라 패러다임 전환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47900" y="5105400"/>
            <a:ext cx="58293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망분리 맹신 경계 및 우회 공격 현실화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06600" y="9080500"/>
            <a:ext cx="62357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000000">
                    <a:alpha val="70196"/>
                  </a:srgbClr>
                </a:solidFill>
                <a:latin typeface="Pretendard SemiBold"/>
                <a:ea typeface="Pretendard SemiBold"/>
                <a:cs typeface="Pretendard SemiBold"/>
              </a:rPr>
              <a:t>클라우드 연동 구간 및 서드파티 솔루션을 
징검다리로 삼아 내부 핵심망으로 
침투하는 </a:t>
            </a:r>
            <a:r>
              <a:rPr lang="en-US" sz="2933" b="0" i="0" u="none" strike="noStrike">
                <a:solidFill>
                  <a:srgbClr val="1A7AE1">
                    <a:alpha val="70196"/>
                  </a:srgbClr>
                </a:solidFill>
                <a:latin typeface="Pretendard SemiBold"/>
                <a:ea typeface="Pretendard SemiBold"/>
                <a:cs typeface="Pretendard SemiBold"/>
              </a:rPr>
              <a:t>우회 공격 급증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3300" y="3136900"/>
            <a:ext cx="7150100" cy="9715500"/>
          </a:xfrm>
          <a:prstGeom prst="rect">
            <a:avLst/>
          </a:prstGeom>
          <a:effectLst>
            <a:outerShdw blurRad="178701" dist="164954" dir="2700000">
              <a:srgbClr val="1A7AE1">
                <a:alpha val="15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17373600" y="3403600"/>
            <a:ext cx="4826000" cy="6604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1A7AE1"/>
                </a:solidFill>
                <a:latin typeface="Pretendard SemiBold"/>
                <a:ea typeface="Pretendard SemiBold"/>
                <a:cs typeface="Pretendard SemiBold"/>
              </a:rPr>
              <a:t>3. 공격 표면 확장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18000" y="5105400"/>
            <a:ext cx="55880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오픈 API 및 MSA 공급망 리스크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62400" y="9321800"/>
            <a:ext cx="62357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000000">
                    <a:alpha val="70196"/>
                  </a:srgbClr>
                </a:solidFill>
                <a:latin typeface="Pretendard SemiBold"/>
                <a:ea typeface="Pretendard SemiBold"/>
                <a:cs typeface="Pretendard SemiBold"/>
              </a:rPr>
              <a:t>보안이 취약한 제 3자 핀테크 플랫폼이 
대형 금융사 공격의 </a:t>
            </a:r>
            <a:r>
              <a:rPr lang="en-US" sz="2933" b="0" i="0" u="none" strike="noStrike">
                <a:solidFill>
                  <a:srgbClr val="1A7AE1">
                    <a:alpha val="70196"/>
                  </a:srgbClr>
                </a:solidFill>
                <a:latin typeface="Pretendard SemiBold"/>
                <a:ea typeface="Pretendard SemiBold"/>
                <a:cs typeface="Pretendard SemiBold"/>
              </a:rPr>
              <a:t>우회 경로로 악용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4600" y="3136900"/>
            <a:ext cx="7150100" cy="9715500"/>
          </a:xfrm>
          <a:prstGeom prst="rect">
            <a:avLst/>
          </a:prstGeom>
          <a:effectLst>
            <a:outerShdw blurRad="178701" dist="164954" dir="2700000">
              <a:srgbClr val="1A7AE1">
                <a:alpha val="23000"/>
              </a:srgbClr>
            </a:outerShdw>
          </a:effectLst>
        </p:spPr>
      </p:pic>
      <p:sp>
        <p:nvSpPr>
          <p:cNvPr id="18" name="TextBox 18"/>
          <p:cNvSpPr txBox="1"/>
          <p:nvPr/>
        </p:nvSpPr>
        <p:spPr>
          <a:xfrm>
            <a:off x="9918700" y="3403600"/>
            <a:ext cx="4838700" cy="6604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733" b="0" i="0" u="none" strike="noStrike">
                <a:solidFill>
                  <a:srgbClr val="1A7AE1"/>
                </a:solidFill>
                <a:latin typeface="Pretendard SemiBold"/>
                <a:ea typeface="Pretendard SemiBold"/>
                <a:cs typeface="Pretendard SemiBold"/>
              </a:rPr>
              <a:t>2. 금융 타깃 위협 심화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5200" y="5105400"/>
            <a:ext cx="52070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금융 데이터의 치명성과 표적화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34500" y="9334500"/>
            <a:ext cx="62357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000000">
                    <a:alpha val="70196"/>
                  </a:srgbClr>
                </a:solidFill>
                <a:latin typeface="Pretendard SemiBold"/>
                <a:ea typeface="Pretendard SemiBold"/>
                <a:cs typeface="Pretendard SemiBold"/>
              </a:rPr>
              <a:t>막대한 피해 규모 발생,</a:t>
            </a:r>
          </a:p>
          <a:p>
            <a:pPr lvl="0" algn="ctr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1A7AE1">
                    <a:alpha val="70196"/>
                  </a:srgbClr>
                </a:solidFill>
                <a:latin typeface="Pretendard SemiBold"/>
                <a:ea typeface="Pretendard SemiBold"/>
                <a:cs typeface="Pretendard SemiBold"/>
              </a:rPr>
              <a:t>킬체인 기반 실전 모의 해킹</a:t>
            </a:r>
            <a:r>
              <a:rPr lang="en-US" sz="2933" b="0" i="0" u="none" strike="noStrike">
                <a:solidFill>
                  <a:srgbClr val="000000">
                    <a:alpha val="70196"/>
                  </a:srgbClr>
                </a:solidFill>
                <a:latin typeface="Pretendard SemiBold"/>
                <a:ea typeface="Pretendard SemiBold"/>
                <a:cs typeface="Pretendard SemiBold"/>
              </a:rPr>
              <a:t> 필수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78000" y="12407900"/>
            <a:ext cx="6832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99" b="0" i="0" u="none" strike="noStrike">
                <a:solidFill>
                  <a:srgbClr val="A0A0A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출처 : https://www.dailysecu.com/news/articleView.html?idxno=205534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선정 개요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100" y="6438900"/>
            <a:ext cx="6248400" cy="1689100"/>
          </a:xfrm>
          <a:prstGeom prst="rect">
            <a:avLst/>
          </a:prstGeom>
          <a:effectLst>
            <a:outerShdw blurRad="67798" dist="156457" dir="2700000">
              <a:srgbClr val="000000">
                <a:alpha val="50000"/>
              </a:srgbClr>
            </a:outerShdw>
          </a:effectLst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22700" y="6438900"/>
            <a:ext cx="6578600" cy="1689100"/>
          </a:xfrm>
          <a:prstGeom prst="rect">
            <a:avLst/>
          </a:prstGeom>
          <a:effectLst>
            <a:outerShdw blurRad="67518" dist="155812" dir="2700000">
              <a:srgbClr val="000000">
                <a:alpha val="50000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8600" y="6438900"/>
            <a:ext cx="6565900" cy="1689100"/>
          </a:xfrm>
          <a:prstGeom prst="rect">
            <a:avLst/>
          </a:prstGeom>
          <a:effectLst>
            <a:outerShdw blurRad="67518" dist="155812" dir="2700000">
              <a:srgbClr val="000000">
                <a:alpha val="50000"/>
              </a:srgbClr>
            </a:outerShdw>
          </a:effectLst>
        </p:spPr>
      </p:pic>
      <p:sp>
        <p:nvSpPr>
          <p:cNvPr id="27" name="TextBox 27"/>
          <p:cNvSpPr txBox="1"/>
          <p:nvPr/>
        </p:nvSpPr>
        <p:spPr>
          <a:xfrm>
            <a:off x="2032000" y="6108700"/>
            <a:ext cx="1663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2026.03.04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56700" y="6121400"/>
            <a:ext cx="1485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2025.10.24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598900" y="6121400"/>
            <a:ext cx="1358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2025.11.10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67800" y="12407900"/>
            <a:ext cx="68961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99" b="0" i="0" u="none" strike="noStrike">
                <a:solidFill>
                  <a:srgbClr val="A0A0A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출처 : https://www.dailysecu.com/news/articleView.html?idxno=201714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522700" y="12395200"/>
            <a:ext cx="72898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99" b="0" i="0" u="none" strike="noStrike">
                <a:solidFill>
                  <a:srgbClr val="A0A0A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출처 : https://www.dailysecu.com/news/articleView.html?idxno=202199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</a:t>
            </a: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8C780E45-3240-3DC8-E2B6-530E904975E2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61BB6A62-DD5D-2E0C-2E7A-8240244E6A6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65E75BAB-A4B3-9A11-D938-8499F000C7E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6832600" y="558800"/>
            <a:ext cx="1993900" cy="4445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B49CCD7-3471-80BB-8F2E-E345A7DBF919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  <a:endParaRPr lang="en-US" sz="2666" b="0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08452CA-90C7-304E-597F-C655092A89CA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099CDA09-051D-4E5B-D0A5-081DF1A3592A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CB56AC8B-DB01-208F-C9D5-6748D57180CC}"/>
              </a:ext>
            </a:extLst>
          </p:cNvPr>
          <p:cNvSpPr txBox="1"/>
          <p:nvPr/>
        </p:nvSpPr>
        <p:spPr>
          <a:xfrm>
            <a:off x="9334500" y="469900"/>
            <a:ext cx="2667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1696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타겟 기업 및 비즈니스 환경 분석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9100" y="3810000"/>
            <a:ext cx="9131300" cy="7785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1900" y="9550400"/>
            <a:ext cx="1866900" cy="1866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91900" y="6819900"/>
            <a:ext cx="1866900" cy="186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91900" y="4076700"/>
            <a:ext cx="1866900" cy="1866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716000" y="10363200"/>
            <a:ext cx="89154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2616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들에게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편한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비대면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금융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경험을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제공하기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, 
Web 및 App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개발자들에게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업무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자율성과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배포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권한을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부여하고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16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있음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16000" y="9525000"/>
            <a:ext cx="7124700" cy="723900"/>
          </a:xfrm>
          <a:prstGeom prst="rect">
            <a:avLst/>
          </a:prstGeom>
        </p:spPr>
        <p:txBody>
          <a:bodyPr lIns="0" tIns="28555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4088" b="1" i="0" u="none" strike="noStrike" spc="-200">
                <a:solidFill>
                  <a:srgbClr val="2B7AFF"/>
                </a:solidFill>
                <a:latin typeface="Pretendard SemiBold"/>
                <a:ea typeface="Pretendard SemiBold"/>
                <a:cs typeface="Pretendard SemiBold"/>
              </a:rPr>
              <a:t>사용자 경험 중심의 개발 자율성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16000" y="7531100"/>
            <a:ext cx="89154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전체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고객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중 15%에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달하는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전자금융고지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미동의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고객을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, 
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실물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인쇄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우편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발송을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전담하는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외부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16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협력사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와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본사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DMZ망을 
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상시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연동하여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운영하고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16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있음</a:t>
            </a:r>
            <a:endParaRPr lang="en-US" sz="2616" b="0" i="0" u="none" strike="noStrike" spc="-100" dirty="0">
              <a:solidFill>
                <a:srgbClr val="2C2C2C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716000" y="6692900"/>
            <a:ext cx="5359400" cy="723900"/>
          </a:xfrm>
          <a:prstGeom prst="rect">
            <a:avLst/>
          </a:prstGeom>
        </p:spPr>
        <p:txBody>
          <a:bodyPr lIns="0" tIns="28555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4088" b="1" i="0" u="none" strike="noStrike" spc="-200">
                <a:solidFill>
                  <a:srgbClr val="2B7AFF"/>
                </a:solidFill>
                <a:latin typeface="Pretendard SemiBold"/>
                <a:ea typeface="Pretendard SemiBold"/>
                <a:cs typeface="Pretendard SemiBold"/>
              </a:rPr>
              <a:t>필수적인 외주 인프라 연동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716000" y="4699000"/>
            <a:ext cx="89154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500만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가입자의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대규모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트래픽을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유연하게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처리하기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, 
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기존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온프레미스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환경에서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벗어나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AWS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퍼블릭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클라우드로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
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전면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마이그레이션을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16" b="0" i="0" u="none" strike="noStrike" spc="-100" dirty="0" err="1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진행하고</a:t>
            </a:r>
            <a:r>
              <a:rPr 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 있</a:t>
            </a:r>
            <a:r>
              <a:rPr lang="ko-KR" altLang="en-US" sz="2616" b="0" i="0" u="none" strike="noStrike" spc="-100" dirty="0">
                <a:solidFill>
                  <a:srgbClr val="2C2C2C"/>
                </a:solidFill>
                <a:latin typeface="Pretendard Medium"/>
                <a:ea typeface="Pretendard Medium"/>
                <a:cs typeface="Pretendard Medium"/>
              </a:rPr>
              <a:t>음</a:t>
            </a:r>
            <a:endParaRPr lang="en-US" sz="2616" b="0" i="0" u="none" strike="noStrike" spc="-100" dirty="0">
              <a:solidFill>
                <a:srgbClr val="2C2C2C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716000" y="3860800"/>
            <a:ext cx="6007100" cy="723900"/>
          </a:xfrm>
          <a:prstGeom prst="rect">
            <a:avLst/>
          </a:prstGeom>
        </p:spPr>
        <p:txBody>
          <a:bodyPr lIns="0" tIns="28555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4088" b="1" i="0" u="none" strike="noStrike" spc="-200">
                <a:solidFill>
                  <a:srgbClr val="2B7AFF"/>
                </a:solidFill>
                <a:latin typeface="Pretendard SemiBold"/>
                <a:ea typeface="Pretendard SemiBold"/>
                <a:cs typeface="Pretendard SemiBold"/>
              </a:rPr>
              <a:t>인프라 전환기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0500" y="4330700"/>
            <a:ext cx="1397000" cy="1397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47500" y="9906000"/>
            <a:ext cx="1143000" cy="1143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47500" y="7175500"/>
            <a:ext cx="1143000" cy="1143000"/>
          </a:xfrm>
          <a:prstGeom prst="rect">
            <a:avLst/>
          </a:prstGeom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id="{DF5207A0-6374-3526-2944-B6CB07A682F1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6B4C276F-CF8A-D050-4841-249C2A06277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9" name="Picture 52">
            <a:extLst>
              <a:ext uri="{FF2B5EF4-FFF2-40B4-BE49-F238E27FC236}">
                <a16:creationId xmlns:a16="http://schemas.microsoft.com/office/drawing/2014/main" id="{8F5DE991-0A83-4AB4-BF21-8424A74B4B7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6832600" y="558800"/>
            <a:ext cx="1993900" cy="444500"/>
          </a:xfrm>
          <a:prstGeom prst="rect">
            <a:avLst/>
          </a:prstGeom>
        </p:spPr>
      </p:pic>
      <p:sp>
        <p:nvSpPr>
          <p:cNvPr id="40" name="TextBox 53">
            <a:extLst>
              <a:ext uri="{FF2B5EF4-FFF2-40B4-BE49-F238E27FC236}">
                <a16:creationId xmlns:a16="http://schemas.microsoft.com/office/drawing/2014/main" id="{D10511C7-F0DB-1D08-21AB-DC62445291C1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  <a:endParaRPr lang="en-US" sz="2666" b="0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1" name="TextBox 55">
            <a:extLst>
              <a:ext uri="{FF2B5EF4-FFF2-40B4-BE49-F238E27FC236}">
                <a16:creationId xmlns:a16="http://schemas.microsoft.com/office/drawing/2014/main" id="{2D7D8D04-C416-241E-2EB1-868E02EF81E7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2A7D2287-1180-3E3D-3DB0-EED9502A3CF7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3" name="TextBox 57">
            <a:extLst>
              <a:ext uri="{FF2B5EF4-FFF2-40B4-BE49-F238E27FC236}">
                <a16:creationId xmlns:a16="http://schemas.microsoft.com/office/drawing/2014/main" id="{C4893D81-73CD-3E50-DCA6-D3EDA9AFF579}"/>
              </a:ext>
            </a:extLst>
          </p:cNvPr>
          <p:cNvSpPr txBox="1"/>
          <p:nvPr/>
        </p:nvSpPr>
        <p:spPr>
          <a:xfrm>
            <a:off x="9334500" y="469900"/>
            <a:ext cx="2667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EC72F-1960-D578-6892-5A2B224D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564FC7B-CCA3-5B15-3F67-8B2314B20C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798800" y="-18034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6EDBB6A-7553-EF70-5D4C-AA5DA097F3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2806700" y="4838354"/>
            <a:ext cx="11442700" cy="114427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5560BB9-E6C1-9296-79B3-18F42CCBA6D7}"/>
              </a:ext>
            </a:extLst>
          </p:cNvPr>
          <p:cNvSpPr txBox="1"/>
          <p:nvPr/>
        </p:nvSpPr>
        <p:spPr>
          <a:xfrm>
            <a:off x="6858000" y="4838354"/>
            <a:ext cx="70993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43590"/>
              </a:lnSpc>
            </a:pPr>
            <a:r>
              <a:rPr lang="ko-KR" altLang="en-US" sz="9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개발 및 진단</a:t>
            </a:r>
            <a:endParaRPr lang="en-US" altLang="ko-KR" sz="96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07DD52-4BAD-DFAB-2461-D4D2697240EC}"/>
              </a:ext>
            </a:extLst>
          </p:cNvPr>
          <p:cNvSpPr txBox="1"/>
          <p:nvPr/>
        </p:nvSpPr>
        <p:spPr>
          <a:xfrm>
            <a:off x="2114550" y="2057400"/>
            <a:ext cx="4743450" cy="5982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3590"/>
              </a:lnSpc>
            </a:pPr>
            <a:r>
              <a:rPr lang="en-US" altLang="ko-KR" sz="30000" dirty="0">
                <a:solidFill>
                  <a:srgbClr val="1A7AE1"/>
                </a:solidFill>
                <a:latin typeface="Pretendard Regular" panose="02000503000000020004" pitchFamily="2" charset="-127"/>
                <a:ea typeface="Pretendard Regular" panose="02000503000000020004" pitchFamily="2" charset="-127"/>
                <a:cs typeface="Pretendard Regular" panose="02000503000000020004" pitchFamily="2" charset="-127"/>
              </a:rPr>
              <a:t>02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7BBAC3E0-1841-1EF9-F27D-1A69F3C14878}"/>
              </a:ext>
            </a:extLst>
          </p:cNvPr>
          <p:cNvCxnSpPr>
            <a:cxnSpLocks/>
          </p:cNvCxnSpPr>
          <p:nvPr/>
        </p:nvCxnSpPr>
        <p:spPr>
          <a:xfrm>
            <a:off x="6661150" y="6858000"/>
            <a:ext cx="13760450" cy="0"/>
          </a:xfrm>
          <a:prstGeom prst="line">
            <a:avLst/>
          </a:prstGeom>
          <a:ln w="57150">
            <a:solidFill>
              <a:srgbClr val="1A7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0F564DE1-E051-0633-EEDF-921807161325}"/>
              </a:ext>
            </a:extLst>
          </p:cNvPr>
          <p:cNvCxnSpPr>
            <a:cxnSpLocks/>
          </p:cNvCxnSpPr>
          <p:nvPr/>
        </p:nvCxnSpPr>
        <p:spPr>
          <a:xfrm>
            <a:off x="4857114" y="3191568"/>
            <a:ext cx="781686" cy="0"/>
          </a:xfrm>
          <a:prstGeom prst="line">
            <a:avLst/>
          </a:prstGeom>
          <a:ln w="9525">
            <a:solidFill>
              <a:srgbClr val="1A7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B1EDC66-E05A-EEF8-3457-9CD71ACFCCF3}"/>
              </a:ext>
            </a:extLst>
          </p:cNvPr>
          <p:cNvSpPr txBox="1"/>
          <p:nvPr/>
        </p:nvSpPr>
        <p:spPr>
          <a:xfrm>
            <a:off x="2514600" y="2872827"/>
            <a:ext cx="3048000" cy="63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500" dirty="0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  <a:endParaRPr lang="en-US" altLang="ko-KR" sz="3500" b="0" i="0" u="none" strike="noStrike" dirty="0">
              <a:solidFill>
                <a:srgbClr val="1A7AE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F533B4B4-6C92-2CDF-C56D-90BC3DC564CF}"/>
              </a:ext>
            </a:extLst>
          </p:cNvPr>
          <p:cNvSpPr/>
          <p:nvPr/>
        </p:nvSpPr>
        <p:spPr>
          <a:xfrm>
            <a:off x="20246913" y="6704980"/>
            <a:ext cx="303274" cy="304800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459E7070-3DE2-50FF-82E4-5E614B9E89B6}"/>
              </a:ext>
            </a:extLst>
          </p:cNvPr>
          <p:cNvSpPr/>
          <p:nvPr/>
        </p:nvSpPr>
        <p:spPr>
          <a:xfrm>
            <a:off x="6934200" y="7620000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941169D4-666A-FC7A-15ED-27DE3B233A59}"/>
              </a:ext>
            </a:extLst>
          </p:cNvPr>
          <p:cNvSpPr/>
          <p:nvPr/>
        </p:nvSpPr>
        <p:spPr>
          <a:xfrm>
            <a:off x="6934200" y="8554605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FA2B27B0-DF14-117A-6ACB-B224073D19D7}"/>
              </a:ext>
            </a:extLst>
          </p:cNvPr>
          <p:cNvSpPr/>
          <p:nvPr/>
        </p:nvSpPr>
        <p:spPr>
          <a:xfrm>
            <a:off x="6934200" y="9465397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A57376D0-C310-26C1-FD12-4556EAFAE2C3}"/>
              </a:ext>
            </a:extLst>
          </p:cNvPr>
          <p:cNvSpPr/>
          <p:nvPr/>
        </p:nvSpPr>
        <p:spPr>
          <a:xfrm>
            <a:off x="6934200" y="10291034"/>
            <a:ext cx="152400" cy="137446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79BC9D-4813-1345-7E07-960C9F60AA3C}"/>
              </a:ext>
            </a:extLst>
          </p:cNvPr>
          <p:cNvSpPr txBox="1"/>
          <p:nvPr/>
        </p:nvSpPr>
        <p:spPr>
          <a:xfrm>
            <a:off x="7389018" y="7338139"/>
            <a:ext cx="2605087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아키텍처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76FE61-5F1E-5D78-A0CF-16ECA01A97EE}"/>
              </a:ext>
            </a:extLst>
          </p:cNvPr>
          <p:cNvSpPr txBox="1"/>
          <p:nvPr/>
        </p:nvSpPr>
        <p:spPr>
          <a:xfrm>
            <a:off x="7377113" y="8271407"/>
            <a:ext cx="2605087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기능 구성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8FEF84-6F5D-3877-3462-98BBBC55A2D6}"/>
              </a:ext>
            </a:extLst>
          </p:cNvPr>
          <p:cNvSpPr txBox="1"/>
          <p:nvPr/>
        </p:nvSpPr>
        <p:spPr>
          <a:xfrm>
            <a:off x="7333456" y="9147867"/>
            <a:ext cx="3486944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취약점 진단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A713008-ED29-3D83-D01E-114EF00E890B}"/>
              </a:ext>
            </a:extLst>
          </p:cNvPr>
          <p:cNvSpPr txBox="1"/>
          <p:nvPr/>
        </p:nvSpPr>
        <p:spPr>
          <a:xfrm>
            <a:off x="7389019" y="9982200"/>
            <a:ext cx="2605087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en-US" altLang="ko-KR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Web </a:t>
            </a: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진단 결과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42DA01A6-D3ED-F25B-33A5-40B01E98AE98}"/>
              </a:ext>
            </a:extLst>
          </p:cNvPr>
          <p:cNvSpPr/>
          <p:nvPr/>
        </p:nvSpPr>
        <p:spPr>
          <a:xfrm>
            <a:off x="17326031" y="3808760"/>
            <a:ext cx="6219769" cy="6249640"/>
          </a:xfrm>
          <a:prstGeom prst="ellipse">
            <a:avLst/>
          </a:prstGeom>
          <a:noFill/>
          <a:ln w="38100">
            <a:solidFill>
              <a:srgbClr val="1A7AE1">
                <a:alpha val="3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7A0EB39A-74C4-F49C-BF68-376B9B7290F1}"/>
              </a:ext>
            </a:extLst>
          </p:cNvPr>
          <p:cNvSpPr/>
          <p:nvPr/>
        </p:nvSpPr>
        <p:spPr>
          <a:xfrm>
            <a:off x="18643481" y="5180421"/>
            <a:ext cx="3584867" cy="3546788"/>
          </a:xfrm>
          <a:prstGeom prst="ellipse">
            <a:avLst/>
          </a:prstGeom>
          <a:solidFill>
            <a:srgbClr val="1A7AE1">
              <a:alpha val="8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원형: 비어 있음 89">
            <a:extLst>
              <a:ext uri="{FF2B5EF4-FFF2-40B4-BE49-F238E27FC236}">
                <a16:creationId xmlns:a16="http://schemas.microsoft.com/office/drawing/2014/main" id="{8402C208-E6B1-F479-2C9B-9C3A27A10E65}"/>
              </a:ext>
            </a:extLst>
          </p:cNvPr>
          <p:cNvSpPr/>
          <p:nvPr/>
        </p:nvSpPr>
        <p:spPr>
          <a:xfrm>
            <a:off x="17781407" y="4228873"/>
            <a:ext cx="5334000" cy="5415371"/>
          </a:xfrm>
          <a:prstGeom prst="donut">
            <a:avLst>
              <a:gd name="adj" fmla="val 3577"/>
            </a:avLst>
          </a:prstGeom>
          <a:solidFill>
            <a:srgbClr val="1A7AE1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0347468-905B-8E7E-30F8-1C15476B3D7B}"/>
              </a:ext>
            </a:extLst>
          </p:cNvPr>
          <p:cNvSpPr/>
          <p:nvPr/>
        </p:nvSpPr>
        <p:spPr>
          <a:xfrm>
            <a:off x="6934200" y="11129234"/>
            <a:ext cx="152400" cy="137446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698C7-4A94-D854-3EB7-C9B0E8E22D53}"/>
              </a:ext>
            </a:extLst>
          </p:cNvPr>
          <p:cNvSpPr txBox="1"/>
          <p:nvPr/>
        </p:nvSpPr>
        <p:spPr>
          <a:xfrm>
            <a:off x="7389019" y="10820400"/>
            <a:ext cx="2605087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en-US" altLang="ko-KR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App </a:t>
            </a: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진단 결과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26329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7693BA8A-6D96-351D-ABF3-24FFEE36F7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3124200"/>
            <a:ext cx="17145000" cy="10007600"/>
          </a:xfrm>
          <a:prstGeom prst="rect">
            <a:avLst/>
          </a:prstGeom>
          <a:effectLst>
            <a:outerShdw blurRad="250284" dist="231031" dir="2700000">
              <a:srgbClr val="1A7AE1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아키텍처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6100" y="3213100"/>
            <a:ext cx="15671800" cy="9842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47D989C-DB6A-ABB9-CABA-401813FA45AB}"/>
              </a:ext>
            </a:extLst>
          </p:cNvPr>
          <p:cNvSpPr txBox="1"/>
          <p:nvPr/>
        </p:nvSpPr>
        <p:spPr>
          <a:xfrm>
            <a:off x="1761893" y="80288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45302E74-CAD1-B03C-68EF-3E0D898F9F97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1410E0B8-0C4A-652F-AE17-981EDAFE31EA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457200" y="4826000"/>
            <a:ext cx="11442700" cy="1144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 rot="-5400000">
            <a:off x="4140200" y="10528300"/>
            <a:ext cx="2933700" cy="1473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rot="-5400000">
            <a:off x="3606800" y="5486400"/>
            <a:ext cx="3695700" cy="1473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16200000">
            <a:off x="11226800" y="-2578100"/>
            <a:ext cx="6197600" cy="17627600"/>
          </a:xfrm>
          <a:prstGeom prst="rect">
            <a:avLst/>
          </a:prstGeom>
          <a:effectLst>
            <a:outerShdw blurRad="154983" dist="143061" dir="2700000">
              <a:srgbClr val="1A7AE1">
                <a:alpha val="15000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 rot="16200000">
            <a:off x="11226800" y="-2578100"/>
            <a:ext cx="6197600" cy="17627600"/>
          </a:xfrm>
          <a:prstGeom prst="rect">
            <a:avLst/>
          </a:prstGeom>
          <a:effectLst>
            <a:outerShdw blurRad="154983" dist="143061" dir="2700000">
              <a:srgbClr val="1A7AE1">
                <a:alpha val="15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1000" y="3594100"/>
            <a:ext cx="2514600" cy="2514600"/>
          </a:xfrm>
          <a:prstGeom prst="rect">
            <a:avLst/>
          </a:prstGeom>
          <a:effectLst>
            <a:outerShdw blurRad="125992" dist="58150" dir="2700000">
              <a:srgbClr val="1A7AE1">
                <a:alpha val="15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6959600" y="53340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계좌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5500" y="3898900"/>
            <a:ext cx="1562100" cy="1333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81000" y="65151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18" name="TextBox 18"/>
          <p:cNvSpPr txBox="1"/>
          <p:nvPr/>
        </p:nvSpPr>
        <p:spPr>
          <a:xfrm>
            <a:off x="13347700" y="8153400"/>
            <a:ext cx="1993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환율 조회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12800" y="6565900"/>
            <a:ext cx="1562100" cy="1562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기능 구성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63800" y="5003800"/>
            <a:ext cx="2616200" cy="2616200"/>
          </a:xfrm>
          <a:prstGeom prst="rect">
            <a:avLst/>
          </a:prstGeom>
          <a:effectLst>
            <a:outerShdw blurRad="65495" dist="60457" dir="2700000">
              <a:srgbClr val="1A7AE1">
                <a:alpha val="15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25800" y="6997700"/>
            <a:ext cx="1104900" cy="279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3441700" y="7035800"/>
            <a:ext cx="6477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261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Admin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20900" y="4508500"/>
            <a:ext cx="1409700" cy="1409700"/>
          </a:xfrm>
          <a:prstGeom prst="rect">
            <a:avLst/>
          </a:prstGeom>
          <a:effectLst>
            <a:outerShdw blurRad="70211" dist="32405" dir="2700000">
              <a:srgbClr val="1A7AE1">
                <a:alpha val="15000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9800" y="4508500"/>
            <a:ext cx="1155700" cy="1422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38500" y="6972300"/>
            <a:ext cx="1104900" cy="279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3467100" y="6985000"/>
            <a:ext cx="6604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84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User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86100" y="5511800"/>
            <a:ext cx="1320800" cy="13208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443700" y="64516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32" name="TextBox 32"/>
          <p:cNvSpPr txBox="1"/>
          <p:nvPr/>
        </p:nvSpPr>
        <p:spPr>
          <a:xfrm>
            <a:off x="19710400" y="8128000"/>
            <a:ext cx="1993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마이페이지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977100" y="6502400"/>
            <a:ext cx="1562100" cy="15621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055600" y="3594100"/>
            <a:ext cx="2514600" cy="2514600"/>
          </a:xfrm>
          <a:prstGeom prst="rect">
            <a:avLst/>
          </a:prstGeom>
          <a:effectLst>
            <a:outerShdw blurRad="125992" dist="58150" dir="2700000">
              <a:srgbClr val="1A7AE1">
                <a:alpha val="15000"/>
              </a:srgbClr>
            </a:outerShdw>
          </a:effectLst>
        </p:spPr>
      </p:pic>
      <p:sp>
        <p:nvSpPr>
          <p:cNvPr id="35" name="TextBox 35"/>
          <p:cNvSpPr txBox="1"/>
          <p:nvPr/>
        </p:nvSpPr>
        <p:spPr>
          <a:xfrm>
            <a:off x="13296900" y="53340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카드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563600" y="3937000"/>
            <a:ext cx="1498600" cy="13843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93300" y="65024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38" name="TextBox 38"/>
          <p:cNvSpPr txBox="1"/>
          <p:nvPr/>
        </p:nvSpPr>
        <p:spPr>
          <a:xfrm>
            <a:off x="10172700" y="8153400"/>
            <a:ext cx="1993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보안뉴스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91800" y="6921500"/>
            <a:ext cx="1104900" cy="11049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93300" y="3568700"/>
            <a:ext cx="2514600" cy="2514600"/>
          </a:xfrm>
          <a:prstGeom prst="rect">
            <a:avLst/>
          </a:prstGeom>
          <a:effectLst>
            <a:outerShdw blurRad="125992" dist="58150" dir="2700000">
              <a:srgbClr val="1A7AE1">
                <a:alpha val="15000"/>
              </a:srgbClr>
            </a:outerShdw>
          </a:effectLst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98100" y="3949700"/>
            <a:ext cx="1879600" cy="11811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0121900" y="53086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이체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256000" y="65024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44" name="TextBox 44"/>
          <p:cNvSpPr txBox="1"/>
          <p:nvPr/>
        </p:nvSpPr>
        <p:spPr>
          <a:xfrm>
            <a:off x="16535400" y="8153400"/>
            <a:ext cx="1993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1:1 문의</a:t>
            </a: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814800" y="6667500"/>
            <a:ext cx="1409700" cy="14097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6217900" y="3568700"/>
            <a:ext cx="2514600" cy="2514600"/>
          </a:xfrm>
          <a:prstGeom prst="rect">
            <a:avLst/>
          </a:prstGeom>
          <a:effectLst>
            <a:outerShdw blurRad="125996" dist="58152" dir="2700000">
              <a:srgbClr val="1A7AE1">
                <a:alpha val="15000"/>
              </a:srgbClr>
            </a:outerShdw>
          </a:effectLst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713200" y="3657600"/>
            <a:ext cx="1714500" cy="1625600"/>
          </a:xfrm>
          <a:prstGeom prst="rect">
            <a:avLst/>
          </a:prstGeom>
        </p:spPr>
      </p:pic>
      <p:sp>
        <p:nvSpPr>
          <p:cNvPr id="48" name="TextBox 48"/>
          <p:cNvSpPr txBox="1"/>
          <p:nvPr/>
        </p:nvSpPr>
        <p:spPr>
          <a:xfrm>
            <a:off x="16459200" y="53086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대출</a:t>
            </a: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718300" y="63754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972300" y="6667500"/>
            <a:ext cx="1892300" cy="1320800"/>
          </a:xfrm>
          <a:prstGeom prst="rect">
            <a:avLst/>
          </a:prstGeom>
        </p:spPr>
      </p:pic>
      <p:sp>
        <p:nvSpPr>
          <p:cNvPr id="51" name="TextBox 51"/>
          <p:cNvSpPr txBox="1"/>
          <p:nvPr/>
        </p:nvSpPr>
        <p:spPr>
          <a:xfrm>
            <a:off x="6832600" y="8153400"/>
            <a:ext cx="2184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공지사항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</a:t>
            </a:r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9367500" y="3594100"/>
            <a:ext cx="2514600" cy="2514600"/>
          </a:xfrm>
          <a:prstGeom prst="rect">
            <a:avLst/>
          </a:prstGeom>
          <a:effectLst>
            <a:outerShdw blurRad="125844" dist="58082" dir="2700000">
              <a:srgbClr val="1A7AE1">
                <a:alpha val="15000"/>
              </a:srgbClr>
            </a:outerShdw>
          </a:effectLst>
        </p:spPr>
      </p:pic>
      <p:sp>
        <p:nvSpPr>
          <p:cNvPr id="54" name="TextBox 54"/>
          <p:cNvSpPr txBox="1"/>
          <p:nvPr/>
        </p:nvSpPr>
        <p:spPr>
          <a:xfrm>
            <a:off x="19659600" y="53340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고객센터</a:t>
            </a:r>
          </a:p>
        </p:txBody>
      </p:sp>
      <p:pic>
        <p:nvPicPr>
          <p:cNvPr id="55" name="Picture 5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048000" y="12052300"/>
            <a:ext cx="1206500" cy="304800"/>
          </a:xfrm>
          <a:prstGeom prst="rect">
            <a:avLst/>
          </a:prstGeom>
        </p:spPr>
      </p:pic>
      <p:sp>
        <p:nvSpPr>
          <p:cNvPr id="56" name="TextBox 56"/>
          <p:cNvSpPr txBox="1"/>
          <p:nvPr/>
        </p:nvSpPr>
        <p:spPr>
          <a:xfrm>
            <a:off x="3289300" y="12052300"/>
            <a:ext cx="7239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618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Admin</a:t>
            </a:r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489200" y="9944100"/>
            <a:ext cx="2781300" cy="2781300"/>
          </a:xfrm>
          <a:prstGeom prst="rect">
            <a:avLst/>
          </a:prstGeom>
          <a:effectLst>
            <a:outerShdw blurRad="69640" dist="64283" dir="2700000">
              <a:srgbClr val="1A7AE1">
                <a:alpha val="15000"/>
              </a:srgbClr>
            </a:outerShdw>
          </a:effectLst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120900" y="9423400"/>
            <a:ext cx="1498600" cy="1498600"/>
          </a:xfrm>
          <a:prstGeom prst="rect">
            <a:avLst/>
          </a:prstGeom>
          <a:effectLst>
            <a:outerShdw blurRad="74654" dist="34456" dir="2700000">
              <a:srgbClr val="1A7AE1">
                <a:alpha val="15000"/>
              </a:srgbClr>
            </a:outerShdw>
          </a:effectLst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222500" y="9423400"/>
            <a:ext cx="1231900" cy="15113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25800" y="10490200"/>
            <a:ext cx="1295400" cy="14986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489200" y="9944100"/>
            <a:ext cx="2781300" cy="2781300"/>
          </a:xfrm>
          <a:prstGeom prst="rect">
            <a:avLst/>
          </a:prstGeom>
          <a:effectLst>
            <a:outerShdw blurRad="69640" dist="64283" dir="2700000">
              <a:srgbClr val="1A7AE1">
                <a:alpha val="15000"/>
              </a:srgbClr>
            </a:outerShdw>
          </a:effectLst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120900" y="9423400"/>
            <a:ext cx="1498600" cy="1498600"/>
          </a:xfrm>
          <a:prstGeom prst="rect">
            <a:avLst/>
          </a:prstGeom>
          <a:effectLst>
            <a:outerShdw blurRad="74654" dist="34456" dir="2700000">
              <a:srgbClr val="1A7AE1">
                <a:alpha val="15000"/>
              </a:srgbClr>
            </a:outerShdw>
          </a:effectLst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222500" y="9423400"/>
            <a:ext cx="1231900" cy="15113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25800" y="10490200"/>
            <a:ext cx="1295400" cy="14986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41">
            <a:alphaModFix amt="70000"/>
          </a:blip>
          <a:stretch>
            <a:fillRect/>
          </a:stretch>
        </p:blipFill>
        <p:spPr>
          <a:xfrm rot="16200000">
            <a:off x="12700000" y="2489200"/>
            <a:ext cx="3276600" cy="17627600"/>
          </a:xfrm>
          <a:prstGeom prst="rect">
            <a:avLst/>
          </a:prstGeom>
          <a:effectLst>
            <a:outerShdw blurRad="81843" dist="75547" dir="2700000">
              <a:srgbClr val="1A7AE1">
                <a:alpha val="15000"/>
              </a:srgbClr>
            </a:outerShdw>
          </a:effectLst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743700" y="99822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67" name="TextBox 67"/>
          <p:cNvSpPr txBox="1"/>
          <p:nvPr/>
        </p:nvSpPr>
        <p:spPr>
          <a:xfrm>
            <a:off x="6769100" y="11722100"/>
            <a:ext cx="2463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대시보드</a:t>
            </a: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340600" y="10363200"/>
            <a:ext cx="1320800" cy="1117600"/>
          </a:xfrm>
          <a:prstGeom prst="rect">
            <a:avLst/>
          </a:prstGeom>
        </p:spPr>
      </p:pic>
      <p:pic>
        <p:nvPicPr>
          <p:cNvPr id="69" name="Picture 69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855200" y="100076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70" name="TextBox 70"/>
          <p:cNvSpPr txBox="1"/>
          <p:nvPr/>
        </p:nvSpPr>
        <p:spPr>
          <a:xfrm>
            <a:off x="9918700" y="11722100"/>
            <a:ext cx="2463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신청 심사</a:t>
            </a:r>
          </a:p>
        </p:txBody>
      </p:sp>
      <p:pic>
        <p:nvPicPr>
          <p:cNvPr id="71" name="Picture 71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566400" y="10274300"/>
            <a:ext cx="1219200" cy="11049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3042900" y="100330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73" name="TextBox 73"/>
          <p:cNvSpPr txBox="1"/>
          <p:nvPr/>
        </p:nvSpPr>
        <p:spPr>
          <a:xfrm>
            <a:off x="13068300" y="11734800"/>
            <a:ext cx="2463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배너 관리</a:t>
            </a: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6230600" y="100457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6230600" y="100457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76" name="TextBox 76"/>
          <p:cNvSpPr txBox="1"/>
          <p:nvPr/>
        </p:nvSpPr>
        <p:spPr>
          <a:xfrm>
            <a:off x="16281400" y="11722100"/>
            <a:ext cx="2463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1:1 문의 관리</a:t>
            </a:r>
          </a:p>
        </p:txBody>
      </p:sp>
      <p:pic>
        <p:nvPicPr>
          <p:cNvPr id="77" name="Picture 77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7462500" y="10769600"/>
            <a:ext cx="1028700" cy="102870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6586200" y="10160000"/>
            <a:ext cx="1397000" cy="13970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9329400" y="10058400"/>
            <a:ext cx="2514600" cy="2514600"/>
          </a:xfrm>
          <a:prstGeom prst="rect">
            <a:avLst/>
          </a:prstGeom>
          <a:effectLst>
            <a:outerShdw blurRad="125730" dist="58029" dir="2700000">
              <a:srgbClr val="1A7AE1">
                <a:alpha val="15000"/>
              </a:srgbClr>
            </a:outerShdw>
          </a:effectLst>
        </p:spPr>
      </p:pic>
      <p:sp>
        <p:nvSpPr>
          <p:cNvPr id="80" name="TextBox 80"/>
          <p:cNvSpPr txBox="1"/>
          <p:nvPr/>
        </p:nvSpPr>
        <p:spPr>
          <a:xfrm>
            <a:off x="19316700" y="11722100"/>
            <a:ext cx="2463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보안뉴스 관리</a:t>
            </a:r>
          </a:p>
        </p:txBody>
      </p:sp>
      <p:pic>
        <p:nvPicPr>
          <p:cNvPr id="81" name="Picture 81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0434300" y="10655300"/>
            <a:ext cx="1079500" cy="10795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9964400" y="10325100"/>
            <a:ext cx="1155700" cy="11557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3627100" y="10337800"/>
            <a:ext cx="1308100" cy="12827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0091400" y="3733800"/>
            <a:ext cx="1104900" cy="1473200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019300" y="4483100"/>
            <a:ext cx="1498600" cy="1498600"/>
          </a:xfrm>
          <a:prstGeom prst="rect">
            <a:avLst/>
          </a:prstGeom>
          <a:effectLst>
            <a:outerShdw blurRad="74654" dist="34456" dir="2700000">
              <a:srgbClr val="1A7AE1">
                <a:alpha val="15000"/>
              </a:srgbClr>
            </a:outerShdw>
          </a:effectLst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20900" y="4470400"/>
            <a:ext cx="1231900" cy="151130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02000" y="12153900"/>
            <a:ext cx="1104900" cy="279400"/>
          </a:xfrm>
          <a:prstGeom prst="rect">
            <a:avLst/>
          </a:prstGeom>
        </p:spPr>
      </p:pic>
      <p:sp>
        <p:nvSpPr>
          <p:cNvPr id="93" name="TextBox 93"/>
          <p:cNvSpPr txBox="1"/>
          <p:nvPr/>
        </p:nvSpPr>
        <p:spPr>
          <a:xfrm>
            <a:off x="3517900" y="12166600"/>
            <a:ext cx="6604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84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Admin</a:t>
            </a:r>
          </a:p>
        </p:txBody>
      </p:sp>
      <p:sp>
        <p:nvSpPr>
          <p:cNvPr id="95" name="TextBox 14">
            <a:extLst>
              <a:ext uri="{FF2B5EF4-FFF2-40B4-BE49-F238E27FC236}">
                <a16:creationId xmlns:a16="http://schemas.microsoft.com/office/drawing/2014/main" id="{19DFD100-7C4E-8E7F-F398-37A30427115D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D4BD72C0-34E3-34A3-DD88-177F88CAC4A0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" name="Picture 12">
            <a:extLst>
              <a:ext uri="{FF2B5EF4-FFF2-40B4-BE49-F238E27FC236}">
                <a16:creationId xmlns:a16="http://schemas.microsoft.com/office/drawing/2014/main" id="{D3E3621A-10B0-EEFA-47C9-07CF8861C2BE}"/>
              </a:ext>
            </a:extLst>
          </p:cNvPr>
          <p:cNvPicPr>
            <a:picLocks noChangeAspect="1"/>
          </p:cNvPicPr>
          <p:nvPr/>
        </p:nvPicPr>
        <p:blipFill>
          <a:blip r:embed="rId57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103" name="TextBox 13">
            <a:extLst>
              <a:ext uri="{FF2B5EF4-FFF2-40B4-BE49-F238E27FC236}">
                <a16:creationId xmlns:a16="http://schemas.microsoft.com/office/drawing/2014/main" id="{1A95B4B1-FE9F-73DF-4DEE-02FB6133CE92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104" name="TextBox 15">
            <a:extLst>
              <a:ext uri="{FF2B5EF4-FFF2-40B4-BE49-F238E27FC236}">
                <a16:creationId xmlns:a16="http://schemas.microsoft.com/office/drawing/2014/main" id="{C44C5C8B-725F-91BE-37D1-F1CBBFBA7C8A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5" name="TextBox 16">
            <a:extLst>
              <a:ext uri="{FF2B5EF4-FFF2-40B4-BE49-F238E27FC236}">
                <a16:creationId xmlns:a16="http://schemas.microsoft.com/office/drawing/2014/main" id="{E88D79A3-8D6F-D23F-4A6D-A78BC473FF60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6" name="TextBox 17">
            <a:extLst>
              <a:ext uri="{FF2B5EF4-FFF2-40B4-BE49-F238E27FC236}">
                <a16:creationId xmlns:a16="http://schemas.microsoft.com/office/drawing/2014/main" id="{5AF3C860-EFCB-E0CB-56AA-F211DD5F4C8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600" y="10071100"/>
            <a:ext cx="1574800" cy="115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0" y="4127500"/>
            <a:ext cx="3937000" cy="3937000"/>
          </a:xfrm>
          <a:prstGeom prst="rect">
            <a:avLst/>
          </a:prstGeom>
          <a:effectLst>
            <a:outerShdw blurRad="98315" dist="151254" dir="2700000">
              <a:srgbClr val="1A7AE1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취약점 진단 기준 선정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3721100"/>
            <a:ext cx="4775200" cy="6692900"/>
          </a:xfrm>
          <a:prstGeom prst="rect">
            <a:avLst/>
          </a:prstGeom>
          <a:effectLst>
            <a:outerShdw blurRad="262531" dist="110153" dir="2700000">
              <a:srgbClr val="000000">
                <a:alpha val="23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9100" y="9639300"/>
            <a:ext cx="431800" cy="381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9100" y="9969500"/>
            <a:ext cx="6210300" cy="1625600"/>
          </a:xfrm>
          <a:prstGeom prst="rect">
            <a:avLst/>
          </a:prstGeom>
          <a:effectLst>
            <a:outerShdw blurRad="89447" dist="37530" dir="2700000">
              <a:srgbClr val="000000">
                <a:alpha val="23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2374900" y="10109200"/>
            <a:ext cx="21336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금융보안원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74900" y="10756900"/>
            <a:ext cx="6286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「핀테크 서비스 취약점 점검 안내서」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15557500" y="6083300"/>
            <a:ext cx="5588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103100" y="5207000"/>
            <a:ext cx="2959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99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CVSS v3.1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14700" y="4114800"/>
            <a:ext cx="3937000" cy="3937000"/>
          </a:xfrm>
          <a:prstGeom prst="rect">
            <a:avLst/>
          </a:prstGeom>
          <a:effectLst>
            <a:outerShdw blurRad="98315" dist="151254" dir="2700000">
              <a:srgbClr val="1A7AE1">
                <a:alpha val="15000"/>
              </a:srgbClr>
            </a:outerShdw>
          </a:effectLst>
        </p:spPr>
      </p:pic>
      <p:sp>
        <p:nvSpPr>
          <p:cNvPr id="21" name="TextBox 21"/>
          <p:cNvSpPr txBox="1"/>
          <p:nvPr/>
        </p:nvSpPr>
        <p:spPr>
          <a:xfrm>
            <a:off x="16497300" y="5207000"/>
            <a:ext cx="2959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99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금융권 특화 모델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205200" y="6159500"/>
            <a:ext cx="35560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금융보안원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위협 시나리오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 rot="-5400000">
            <a:off x="14668500" y="4927600"/>
            <a:ext cx="22860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alphaModFix amt="90000"/>
          </a:blip>
          <a:stretch>
            <a:fillRect/>
          </a:stretch>
        </p:blipFill>
        <p:spPr>
          <a:xfrm>
            <a:off x="13601700" y="3060700"/>
            <a:ext cx="4660900" cy="7493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804900" y="3149600"/>
            <a:ext cx="439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정량/정성 상호 참조 평가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78900" y="9702800"/>
            <a:ext cx="3695700" cy="1917700"/>
          </a:xfrm>
          <a:prstGeom prst="rect">
            <a:avLst/>
          </a:prstGeom>
          <a:effectLst>
            <a:outerShdw blurRad="47946" dist="44258" dir="2700000">
              <a:srgbClr val="1A7AE1">
                <a:alpha val="15000"/>
              </a:srgbClr>
            </a:outerShdw>
          </a:effectLst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09100" y="10007600"/>
            <a:ext cx="2273300" cy="508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9309100" y="10718800"/>
            <a:ext cx="3378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기술 난이도 / 필요 권한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6100" y="10020300"/>
            <a:ext cx="2082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 panose="020B0600000101010101" charset="-127"/>
                <a:ea typeface="Pretendard Medium" panose="020B0600000101010101" charset="-127"/>
                <a:cs typeface="Geologica Roman Light"/>
              </a:rPr>
              <a:t>공격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 panose="020B0600000101010101" charset="-127"/>
                <a:ea typeface="Pretendard Medium" panose="020B0600000101010101" charset="-127"/>
                <a:cs typeface="Geologica Roman Light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 panose="020B0600000101010101" charset="-127"/>
                <a:ea typeface="Pretendard Medium" panose="020B0600000101010101" charset="-127"/>
                <a:cs typeface="Geologica Roman Light"/>
              </a:rPr>
              <a:t>용이성</a:t>
            </a:r>
            <a:endParaRPr lang="en-US" sz="2666" b="0" i="0" u="none" strike="noStrike" dirty="0">
              <a:solidFill>
                <a:srgbClr val="FFFFFF"/>
              </a:solidFill>
              <a:latin typeface="Pretendard Medium" panose="020B0600000101010101" charset="-127"/>
              <a:ea typeface="Pretendard Medium" panose="020B0600000101010101" charset="-127"/>
              <a:cs typeface="Geologica Roman Light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411200" y="9702800"/>
            <a:ext cx="4737100" cy="1917700"/>
          </a:xfrm>
          <a:prstGeom prst="rect">
            <a:avLst/>
          </a:prstGeom>
          <a:effectLst>
            <a:outerShdw blurRad="47946" dist="44258" dir="2700000">
              <a:srgbClr val="1A7AE1">
                <a:alpha val="15000"/>
              </a:srgbClr>
            </a:outerShdw>
          </a:effectLst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728700" y="10007600"/>
            <a:ext cx="2527300" cy="5080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3792200" y="10718800"/>
            <a:ext cx="4216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금전적 손실 / 대외 신뢰도 저하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868400" y="10020300"/>
            <a:ext cx="2286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 panose="020B0600000101010101" charset="-127"/>
                <a:ea typeface="Pretendard Medium" panose="020B0600000101010101" charset="-127"/>
                <a:cs typeface="Geologica Roman Light"/>
              </a:rPr>
              <a:t>비지니스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 panose="020B0600000101010101" charset="-127"/>
                <a:ea typeface="Pretendard Medium" panose="020B0600000101010101" charset="-127"/>
                <a:cs typeface="Geologica Roman Light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 panose="020B0600000101010101" charset="-127"/>
                <a:ea typeface="Pretendard Medium" panose="020B0600000101010101" charset="-127"/>
                <a:cs typeface="Geologica Roman Light"/>
              </a:rPr>
              <a:t>파급력</a:t>
            </a:r>
            <a:endParaRPr lang="en-US" sz="2666" b="0" i="0" u="none" strike="noStrike" dirty="0">
              <a:solidFill>
                <a:srgbClr val="FFFFFF"/>
              </a:solidFill>
              <a:latin typeface="Pretendard Medium" panose="020B0600000101010101" charset="-127"/>
              <a:ea typeface="Pretendard Medium" panose="020B0600000101010101" charset="-127"/>
              <a:cs typeface="Geologica Roman Ligh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823700" y="6159500"/>
            <a:ext cx="35560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국제 공통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취약점 등급 시스템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148300" y="10134600"/>
            <a:ext cx="1016000" cy="11557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9469100" y="10299700"/>
            <a:ext cx="4102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7527"/>
              </a:lnSpc>
            </a:pPr>
            <a:r>
              <a:rPr lang="en-US" sz="3995" b="0" i="0" u="none" strike="noStrike" spc="-300">
                <a:solidFill>
                  <a:srgbClr val="1A7AE1"/>
                </a:solidFill>
                <a:latin typeface="Pretendard Bold"/>
                <a:ea typeface="Pretendard Bold"/>
                <a:cs typeface="Pretendard Bold"/>
              </a:rPr>
              <a:t>" 최종 위험도 결정 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9</a:t>
            </a:r>
          </a:p>
        </p:txBody>
      </p:sp>
      <p:sp>
        <p:nvSpPr>
          <p:cNvPr id="45" name="TextBox 14">
            <a:extLst>
              <a:ext uri="{FF2B5EF4-FFF2-40B4-BE49-F238E27FC236}">
                <a16:creationId xmlns:a16="http://schemas.microsoft.com/office/drawing/2014/main" id="{CDF63C36-FBC9-F556-21C1-FD64B8A9BB0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6" name="TextBox 14">
            <a:extLst>
              <a:ext uri="{FF2B5EF4-FFF2-40B4-BE49-F238E27FC236}">
                <a16:creationId xmlns:a16="http://schemas.microsoft.com/office/drawing/2014/main" id="{B386E2AD-6074-7CE2-0F05-1F5B8270353A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2" name="Picture 12">
            <a:extLst>
              <a:ext uri="{FF2B5EF4-FFF2-40B4-BE49-F238E27FC236}">
                <a16:creationId xmlns:a16="http://schemas.microsoft.com/office/drawing/2014/main" id="{86C0D746-AC17-40A1-C1E2-A87C82285935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53" name="TextBox 13">
            <a:extLst>
              <a:ext uri="{FF2B5EF4-FFF2-40B4-BE49-F238E27FC236}">
                <a16:creationId xmlns:a16="http://schemas.microsoft.com/office/drawing/2014/main" id="{60521769-246C-845E-0B79-8832E0054C59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54" name="TextBox 15">
            <a:extLst>
              <a:ext uri="{FF2B5EF4-FFF2-40B4-BE49-F238E27FC236}">
                <a16:creationId xmlns:a16="http://schemas.microsoft.com/office/drawing/2014/main" id="{98294D54-1C3F-A505-F148-397149027C6B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5" name="TextBox 16">
            <a:extLst>
              <a:ext uri="{FF2B5EF4-FFF2-40B4-BE49-F238E27FC236}">
                <a16:creationId xmlns:a16="http://schemas.microsoft.com/office/drawing/2014/main" id="{24746E38-A505-DF97-331C-69C40828F31D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B0E5B732-E9C7-61C8-6D6C-5D5B474B9782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0" y="3009900"/>
            <a:ext cx="7112000" cy="10045700"/>
          </a:xfrm>
          <a:prstGeom prst="rect">
            <a:avLst/>
          </a:prstGeom>
          <a:effectLst>
            <a:outerShdw blurRad="390959" dist="164039" dir="2700000">
              <a:srgbClr val="000000">
                <a:alpha val="23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Web 취약점 진단 보고서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10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0" y="2984500"/>
            <a:ext cx="7124700" cy="10083800"/>
          </a:xfrm>
          <a:prstGeom prst="rect">
            <a:avLst/>
          </a:prstGeom>
          <a:effectLst>
            <a:outerShdw blurRad="391583" dist="164301" dir="2700000">
              <a:srgbClr val="000000">
                <a:alpha val="23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2997200"/>
            <a:ext cx="7124700" cy="10071100"/>
          </a:xfrm>
          <a:prstGeom prst="rect">
            <a:avLst/>
          </a:prstGeom>
          <a:effectLst>
            <a:outerShdw blurRad="392198" dist="164559" dir="2700000">
              <a:srgbClr val="000000">
                <a:alpha val="23000"/>
              </a:srgbClr>
            </a:outerShdw>
          </a:effectLst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2997200"/>
            <a:ext cx="7124700" cy="10045700"/>
          </a:xfrm>
          <a:prstGeom prst="rect">
            <a:avLst/>
          </a:prstGeom>
          <a:effectLst>
            <a:outerShdw blurRad="391583" dist="164301" dir="2700000">
              <a:srgbClr val="000000">
                <a:alpha val="23000"/>
              </a:srgbClr>
            </a:outerShdw>
          </a:effectLst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AB5CA089-1940-98EE-3868-1C09CC4032AC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4CE8A5C5-81C4-7C13-B513-54F220E92065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5" name="Picture 12">
            <a:extLst>
              <a:ext uri="{FF2B5EF4-FFF2-40B4-BE49-F238E27FC236}">
                <a16:creationId xmlns:a16="http://schemas.microsoft.com/office/drawing/2014/main" id="{DAEE1649-03B4-1DB4-0F66-9DABA6882CA5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36" name="TextBox 13">
            <a:extLst>
              <a:ext uri="{FF2B5EF4-FFF2-40B4-BE49-F238E27FC236}">
                <a16:creationId xmlns:a16="http://schemas.microsoft.com/office/drawing/2014/main" id="{7D8D6644-916D-0CA8-424C-8B2A17F8CA19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4DB5EBD5-1251-8944-8ECC-62610A3F9E2D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1FC964C9-1F27-EAB9-76AE-52641BA4492A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5F87CD4C-3BA1-B105-8456-5B3CC03A231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취약점 진단 보고서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11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06700" y="2997200"/>
            <a:ext cx="7035800" cy="9982200"/>
          </a:xfrm>
          <a:prstGeom prst="rect">
            <a:avLst/>
          </a:prstGeom>
          <a:effectLst>
            <a:outerShdw blurRad="387045" dist="162397" dir="2700000">
              <a:srgbClr val="000000">
                <a:alpha val="23000"/>
              </a:srgbClr>
            </a:outerShdw>
          </a:effectLst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1700" y="2997200"/>
            <a:ext cx="7099300" cy="9994900"/>
          </a:xfrm>
          <a:prstGeom prst="rect">
            <a:avLst/>
          </a:prstGeom>
          <a:effectLst>
            <a:outerShdw blurRad="390535" dist="163861" dir="2700000">
              <a:srgbClr val="000000">
                <a:alpha val="23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7300" y="2997200"/>
            <a:ext cx="7086600" cy="9994900"/>
          </a:xfrm>
          <a:prstGeom prst="rect">
            <a:avLst/>
          </a:prstGeom>
          <a:effectLst>
            <a:outerShdw blurRad="389842" dist="163570" dir="2700000">
              <a:srgbClr val="000000">
                <a:alpha val="23000"/>
              </a:srgbClr>
            </a:outerShdw>
          </a:effectLst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2997200"/>
            <a:ext cx="7073900" cy="9994900"/>
          </a:xfrm>
          <a:prstGeom prst="rect">
            <a:avLst/>
          </a:prstGeom>
          <a:effectLst>
            <a:outerShdw blurRad="389308" dist="163346" dir="2700000">
              <a:srgbClr val="000000">
                <a:alpha val="23000"/>
              </a:srgbClr>
            </a:outerShdw>
          </a:effectLst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9D5E4A72-10C1-E746-349E-5D9742F1E95A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368BA1B1-7108-F704-F43D-047FDCDC360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6" name="Picture 12">
            <a:extLst>
              <a:ext uri="{FF2B5EF4-FFF2-40B4-BE49-F238E27FC236}">
                <a16:creationId xmlns:a16="http://schemas.microsoft.com/office/drawing/2014/main" id="{D7CC5F9F-C697-EAEF-A2F7-52ACE57EB36F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37" name="TextBox 13">
            <a:extLst>
              <a:ext uri="{FF2B5EF4-FFF2-40B4-BE49-F238E27FC236}">
                <a16:creationId xmlns:a16="http://schemas.microsoft.com/office/drawing/2014/main" id="{51CB8527-EEBE-3849-A994-DEEE9832EFC9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73F59013-4A67-2230-59C5-13C1CACCDF46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9" name="TextBox 16">
            <a:extLst>
              <a:ext uri="{FF2B5EF4-FFF2-40B4-BE49-F238E27FC236}">
                <a16:creationId xmlns:a16="http://schemas.microsoft.com/office/drawing/2014/main" id="{EE7863E6-311F-5920-3E72-E38FA673FA40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C068CD04-1CD2-4CF1-0A99-63CF26E23A58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12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600" y="11696700"/>
            <a:ext cx="3263900" cy="1143000"/>
          </a:xfrm>
          <a:prstGeom prst="rect">
            <a:avLst/>
          </a:prstGeom>
          <a:effectLst>
            <a:outerShdw blurRad="28428" dist="26242" dir="2700000">
              <a:srgbClr val="1A7AE1">
                <a:alpha val="15000"/>
              </a:srgbClr>
            </a:outerShdw>
          </a:effec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500" y="11696700"/>
            <a:ext cx="3263900" cy="1143000"/>
          </a:xfrm>
          <a:prstGeom prst="rect">
            <a:avLst/>
          </a:prstGeom>
          <a:effectLst>
            <a:outerShdw blurRad="28428" dist="26242" dir="2700000">
              <a:srgbClr val="1A7AE1">
                <a:alpha val="15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11696700"/>
            <a:ext cx="3263900" cy="1143000"/>
          </a:xfrm>
          <a:prstGeom prst="rect">
            <a:avLst/>
          </a:prstGeom>
          <a:effectLst>
            <a:outerShdw blurRad="28428" dist="26242" dir="2700000">
              <a:srgbClr val="1A7AE1">
                <a:alpha val="15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2413000" y="12065000"/>
            <a:ext cx="2095500" cy="457200"/>
          </a:xfrm>
          <a:prstGeom prst="rect">
            <a:avLst/>
          </a:prstGeom>
        </p:spPr>
        <p:txBody>
          <a:bodyPr lIns="0" tIns="2737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578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진단 항목 35개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5600" y="11696700"/>
            <a:ext cx="3263900" cy="1143000"/>
          </a:xfrm>
          <a:prstGeom prst="rect">
            <a:avLst/>
          </a:prstGeom>
          <a:effectLst>
            <a:outerShdw blurRad="28428" dist="26242" dir="2700000">
              <a:srgbClr val="1A7AE1">
                <a:alpha val="15000"/>
              </a:srgbClr>
            </a:outerShdw>
          </a:effectLst>
        </p:spPr>
      </p:pic>
      <p:sp>
        <p:nvSpPr>
          <p:cNvPr id="21" name="TextBox 21"/>
          <p:cNvSpPr txBox="1"/>
          <p:nvPr/>
        </p:nvSpPr>
        <p:spPr>
          <a:xfrm>
            <a:off x="9283700" y="12065000"/>
            <a:ext cx="2781300" cy="419100"/>
          </a:xfrm>
          <a:prstGeom prst="rect">
            <a:avLst/>
          </a:prstGeom>
        </p:spPr>
        <p:txBody>
          <a:bodyPr lIns="0" tIns="251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371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취약 - 15개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75300" y="12077700"/>
            <a:ext cx="2781300" cy="419100"/>
          </a:xfrm>
          <a:prstGeom prst="rect">
            <a:avLst/>
          </a:prstGeom>
        </p:spPr>
        <p:txBody>
          <a:bodyPr lIns="0" tIns="251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371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양호 - 20개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1300" y="1612900"/>
            <a:ext cx="88900" cy="8509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9558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Web 진단 결과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alphaModFix amt="27000"/>
          </a:blip>
          <a:stretch>
            <a:fillRect/>
          </a:stretch>
        </p:blipFill>
        <p:spPr>
          <a:xfrm>
            <a:off x="12407900" y="12217400"/>
            <a:ext cx="685800" cy="50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alphaModFix amt="27000"/>
          </a:blip>
          <a:stretch>
            <a:fillRect/>
          </a:stretch>
        </p:blipFill>
        <p:spPr>
          <a:xfrm rot="5400000">
            <a:off x="10528300" y="9664700"/>
            <a:ext cx="5219700" cy="50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alphaModFix amt="27000"/>
          </a:blip>
          <a:stretch>
            <a:fillRect/>
          </a:stretch>
        </p:blipFill>
        <p:spPr>
          <a:xfrm>
            <a:off x="13106400" y="6946900"/>
            <a:ext cx="660400" cy="50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alphaModFix amt="27000"/>
          </a:blip>
          <a:stretch>
            <a:fillRect/>
          </a:stretch>
        </p:blipFill>
        <p:spPr>
          <a:xfrm>
            <a:off x="13817600" y="6896100"/>
            <a:ext cx="114300" cy="139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8300" y="3454400"/>
            <a:ext cx="10998200" cy="8255000"/>
          </a:xfrm>
          <a:prstGeom prst="rect">
            <a:avLst/>
          </a:prstGeom>
        </p:spPr>
      </p:pic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14401800" y="3136900"/>
          <a:ext cx="9179196" cy="9127488"/>
        </p:xfrm>
        <a:graphic>
          <a:graphicData uri="http://schemas.openxmlformats.org/drawingml/2006/table">
            <a:tbl>
              <a:tblPr/>
              <a:tblGrid>
                <a:gridCol w="800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진단 항목</a:t>
                      </a:r>
                      <a:endParaRPr lang="en-US" sz="1100"/>
                    </a:p>
                  </a:txBody>
                  <a:tcPr marL="25400" marR="25400" marT="0" marB="0" anchor="ctr">
                    <a:lnL w="253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3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5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위험도</a:t>
                      </a:r>
                      <a:endParaRPr lang="en-US" sz="1100"/>
                    </a:p>
                  </a:txBody>
                  <a:tcPr marL="25400" marR="25400" marT="0" marB="0" anchor="ctr">
                    <a:lnL w="253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메모리 내 노출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웹 영역 내 노출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파일 내 노출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화면 내 노출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금액정보 변조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거래정보 재사용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크로스사이트 스크립팅 (XSS)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크로스사이트 요청 변조 (CSRF)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서버사이드 요청 변조 (SSRF)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파일 업로드 취약점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리다이렉트 기능을 이용한 피싱 가능성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서버 운영정보 노출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비밀번호 복잡도 검증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쿠기정보 변조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70468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비밀번호 오류 횟수 제한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2" name="TextBox 14">
            <a:extLst>
              <a:ext uri="{FF2B5EF4-FFF2-40B4-BE49-F238E27FC236}">
                <a16:creationId xmlns:a16="http://schemas.microsoft.com/office/drawing/2014/main" id="{18E23082-BFD0-45AF-31FD-08181488C9C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567BAEE1-F7CE-DA14-B0FD-C89C5447718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0" name="Picture 12">
            <a:extLst>
              <a:ext uri="{FF2B5EF4-FFF2-40B4-BE49-F238E27FC236}">
                <a16:creationId xmlns:a16="http://schemas.microsoft.com/office/drawing/2014/main" id="{A6280805-CE9D-54D3-FA9F-38AD1E01D56E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41" name="TextBox 13">
            <a:extLst>
              <a:ext uri="{FF2B5EF4-FFF2-40B4-BE49-F238E27FC236}">
                <a16:creationId xmlns:a16="http://schemas.microsoft.com/office/drawing/2014/main" id="{E5D2E574-FB43-49A1-8ED6-662E8CAE8561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F68B6FE4-CA96-223D-6346-9B07CB476157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DB301D7F-167A-1654-E530-090CE45FA97B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C00A61BE-5B29-B1DA-81C9-A749B3E8AB77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진단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13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alphaModFix amt="27000"/>
          </a:blip>
          <a:stretch>
            <a:fillRect/>
          </a:stretch>
        </p:blipFill>
        <p:spPr>
          <a:xfrm>
            <a:off x="12407900" y="12217400"/>
            <a:ext cx="685800" cy="50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alphaModFix amt="27000"/>
          </a:blip>
          <a:stretch>
            <a:fillRect/>
          </a:stretch>
        </p:blipFill>
        <p:spPr>
          <a:xfrm rot="5400000">
            <a:off x="10528300" y="9664700"/>
            <a:ext cx="5219700" cy="50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alphaModFix amt="27000"/>
          </a:blip>
          <a:stretch>
            <a:fillRect/>
          </a:stretch>
        </p:blipFill>
        <p:spPr>
          <a:xfrm>
            <a:off x="13106400" y="6946900"/>
            <a:ext cx="660400" cy="50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alphaModFix amt="27000"/>
          </a:blip>
          <a:stretch>
            <a:fillRect/>
          </a:stretch>
        </p:blipFill>
        <p:spPr>
          <a:xfrm>
            <a:off x="13817600" y="6896100"/>
            <a:ext cx="114300" cy="139700"/>
          </a:xfrm>
          <a:prstGeom prst="rect">
            <a:avLst/>
          </a:prstGeom>
        </p:spPr>
      </p:pic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14401800" y="3136900"/>
          <a:ext cx="9179196" cy="9136464"/>
        </p:xfrm>
        <a:graphic>
          <a:graphicData uri="http://schemas.openxmlformats.org/drawingml/2006/table">
            <a:tbl>
              <a:tblPr/>
              <a:tblGrid>
                <a:gridCol w="800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진단 항목</a:t>
                      </a:r>
                      <a:endParaRPr lang="en-US" sz="1100"/>
                    </a:p>
                  </a:txBody>
                  <a:tcPr marL="25400" marR="25400" marT="0" marB="0" anchor="ctr">
                    <a:lnL w="253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3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5F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위험도</a:t>
                      </a:r>
                      <a:endParaRPr lang="en-US" sz="1100"/>
                    </a:p>
                  </a:txBody>
                  <a:tcPr marL="25400" marR="25400" marT="0" marB="0" anchor="ctr">
                    <a:lnL w="253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디버그 로그 내 노출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 금액 정보 변조 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크로스사이트 스크립팅(XSS)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크로스사이트 요청 변조(CSRF) 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서버사이드 요청 변조(SSRF)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비밀번호 복잡도 검증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비밀번호 오류 횟수 제한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인증파일 변조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앱 위/변조 탐지 적용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해킹 OS 탐지 적용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안티디버깅 적용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코드 난독화 적용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안티바이러스 적용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이벤트 기반 생체 인증 API 서버 검증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71029"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네트워크 트래픽 내 인증서 핀닝 적용 여부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3630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78787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</a:t>
                      </a:r>
                      <a:endParaRPr lang="en-US" sz="1100"/>
                    </a:p>
                  </a:txBody>
                  <a:tcPr marL="25400" marR="25400" marT="0" marB="0" anchor="ctr">
                    <a:lnL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85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2" name="TextBox 14">
            <a:extLst>
              <a:ext uri="{FF2B5EF4-FFF2-40B4-BE49-F238E27FC236}">
                <a16:creationId xmlns:a16="http://schemas.microsoft.com/office/drawing/2014/main" id="{C23E9380-4E69-CD4D-4CD3-24B283192784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7047E127-E856-B447-B0A6-7891E9F66099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0" name="Picture 12">
            <a:extLst>
              <a:ext uri="{FF2B5EF4-FFF2-40B4-BE49-F238E27FC236}">
                <a16:creationId xmlns:a16="http://schemas.microsoft.com/office/drawing/2014/main" id="{7135249B-7922-AA99-B3E3-00434CAD694B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41" name="TextBox 13">
            <a:extLst>
              <a:ext uri="{FF2B5EF4-FFF2-40B4-BE49-F238E27FC236}">
                <a16:creationId xmlns:a16="http://schemas.microsoft.com/office/drawing/2014/main" id="{33A2BE1D-CDC1-0A6E-B857-27AE54FA1000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1BFD2300-B86D-739A-8B3B-8BE455DE3228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BA6BFE33-7CB2-75E1-37C9-D1A784C21679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86BC3D97-9D4C-205B-CAA0-8E4F0B91FFA0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1B10EA85-332B-F84A-3A11-0F0D54E978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5600" y="11696700"/>
            <a:ext cx="3263900" cy="1143000"/>
          </a:xfrm>
          <a:prstGeom prst="rect">
            <a:avLst/>
          </a:prstGeom>
          <a:effectLst>
            <a:outerShdw blurRad="28428" dist="26242" dir="2700000">
              <a:srgbClr val="1A7AE1">
                <a:alpha val="15000"/>
              </a:srgbClr>
            </a:outerShdw>
          </a:effectLst>
        </p:spPr>
      </p:pic>
      <p:pic>
        <p:nvPicPr>
          <p:cNvPr id="17" name="Picture 18">
            <a:extLst>
              <a:ext uri="{FF2B5EF4-FFF2-40B4-BE49-F238E27FC236}">
                <a16:creationId xmlns:a16="http://schemas.microsoft.com/office/drawing/2014/main" id="{329D9A33-5303-7E8E-150B-CB1C4CB5BB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11696700"/>
            <a:ext cx="3263900" cy="1143000"/>
          </a:xfrm>
          <a:prstGeom prst="rect">
            <a:avLst/>
          </a:prstGeom>
          <a:effectLst>
            <a:outerShdw blurRad="28428" dist="26242" dir="2700000">
              <a:srgbClr val="1A7AE1">
                <a:alpha val="15000"/>
              </a:srgbClr>
            </a:outerShdw>
          </a:effectLst>
        </p:spPr>
      </p:pic>
      <p:pic>
        <p:nvPicPr>
          <p:cNvPr id="18" name="Picture 19">
            <a:extLst>
              <a:ext uri="{FF2B5EF4-FFF2-40B4-BE49-F238E27FC236}">
                <a16:creationId xmlns:a16="http://schemas.microsoft.com/office/drawing/2014/main" id="{60AD781D-09B9-FB39-E42B-3B86267AF9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11696700"/>
            <a:ext cx="3263900" cy="1143000"/>
          </a:xfrm>
          <a:prstGeom prst="rect">
            <a:avLst/>
          </a:prstGeom>
          <a:effectLst>
            <a:outerShdw blurRad="28428" dist="26242" dir="2700000">
              <a:srgbClr val="1A7AE1">
                <a:alpha val="15000"/>
              </a:srgbClr>
            </a:outerShdw>
          </a:effectLst>
        </p:spPr>
      </p:pic>
      <p:sp>
        <p:nvSpPr>
          <p:cNvPr id="31" name="TextBox 20">
            <a:extLst>
              <a:ext uri="{FF2B5EF4-FFF2-40B4-BE49-F238E27FC236}">
                <a16:creationId xmlns:a16="http://schemas.microsoft.com/office/drawing/2014/main" id="{231A2E3A-7C63-2A1D-F237-AC526FF0F22A}"/>
              </a:ext>
            </a:extLst>
          </p:cNvPr>
          <p:cNvSpPr txBox="1"/>
          <p:nvPr/>
        </p:nvSpPr>
        <p:spPr>
          <a:xfrm>
            <a:off x="2425700" y="12065000"/>
            <a:ext cx="2095500" cy="457200"/>
          </a:xfrm>
          <a:prstGeom prst="rect">
            <a:avLst/>
          </a:prstGeom>
        </p:spPr>
        <p:txBody>
          <a:bodyPr lIns="0" tIns="2737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578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진단 항목 44개</a:t>
            </a:r>
          </a:p>
        </p:txBody>
      </p:sp>
      <p:pic>
        <p:nvPicPr>
          <p:cNvPr id="34" name="Picture 21">
            <a:extLst>
              <a:ext uri="{FF2B5EF4-FFF2-40B4-BE49-F238E27FC236}">
                <a16:creationId xmlns:a16="http://schemas.microsoft.com/office/drawing/2014/main" id="{89ED6051-DB5C-0384-1705-DA574FB799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5600" y="11696700"/>
            <a:ext cx="3263900" cy="1143000"/>
          </a:xfrm>
          <a:prstGeom prst="rect">
            <a:avLst/>
          </a:prstGeom>
          <a:effectLst>
            <a:outerShdw blurRad="28428" dist="26242" dir="2700000">
              <a:srgbClr val="1A7AE1">
                <a:alpha val="15000"/>
              </a:srgbClr>
            </a:outerShdw>
          </a:effectLst>
        </p:spPr>
      </p:pic>
      <p:sp>
        <p:nvSpPr>
          <p:cNvPr id="35" name="TextBox 22">
            <a:extLst>
              <a:ext uri="{FF2B5EF4-FFF2-40B4-BE49-F238E27FC236}">
                <a16:creationId xmlns:a16="http://schemas.microsoft.com/office/drawing/2014/main" id="{27A6462F-9876-7F15-6514-05D5007ED972}"/>
              </a:ext>
            </a:extLst>
          </p:cNvPr>
          <p:cNvSpPr txBox="1"/>
          <p:nvPr/>
        </p:nvSpPr>
        <p:spPr>
          <a:xfrm>
            <a:off x="9283700" y="12065000"/>
            <a:ext cx="2781300" cy="419100"/>
          </a:xfrm>
          <a:prstGeom prst="rect">
            <a:avLst/>
          </a:prstGeom>
        </p:spPr>
        <p:txBody>
          <a:bodyPr lIns="0" tIns="251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371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취약 - 15개</a:t>
            </a: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056BCC88-B3F1-BF41-C708-221862C04E4F}"/>
              </a:ext>
            </a:extLst>
          </p:cNvPr>
          <p:cNvSpPr txBox="1"/>
          <p:nvPr/>
        </p:nvSpPr>
        <p:spPr>
          <a:xfrm>
            <a:off x="5588000" y="12077700"/>
            <a:ext cx="2781300" cy="419100"/>
          </a:xfrm>
          <a:prstGeom prst="rect">
            <a:avLst/>
          </a:prstGeom>
        </p:spPr>
        <p:txBody>
          <a:bodyPr lIns="0" tIns="251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371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양호 - 29개</a:t>
            </a:r>
          </a:p>
        </p:txBody>
      </p:sp>
      <p:pic>
        <p:nvPicPr>
          <p:cNvPr id="37" name="Picture 28">
            <a:extLst>
              <a:ext uri="{FF2B5EF4-FFF2-40B4-BE49-F238E27FC236}">
                <a16:creationId xmlns:a16="http://schemas.microsoft.com/office/drawing/2014/main" id="{6E5B3E2C-8820-829F-3353-809C6CCA67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8300" y="3454400"/>
            <a:ext cx="10998200" cy="825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Web 진단 방법 - CSRF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0" y="3429000"/>
            <a:ext cx="1308100" cy="508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478000" y="3429000"/>
            <a:ext cx="4775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대출 신청 및 타겟 식별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89100" y="3975100"/>
            <a:ext cx="6972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일반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계정으로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대출을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신청</a:t>
            </a:r>
            <a:endParaRPr lang="en-US" sz="26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131800" y="35052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14</a:t>
            </a: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24F6AA63-04FF-B028-54FE-ECA13C1E547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A611AFF5-8F32-A55F-BDD6-52BDCCBEDCAC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8" name="Picture 12">
            <a:extLst>
              <a:ext uri="{FF2B5EF4-FFF2-40B4-BE49-F238E27FC236}">
                <a16:creationId xmlns:a16="http://schemas.microsoft.com/office/drawing/2014/main" id="{045BC4F3-5E2B-8E5C-1D3D-6B753FB040D9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39" name="TextBox 13">
            <a:extLst>
              <a:ext uri="{FF2B5EF4-FFF2-40B4-BE49-F238E27FC236}">
                <a16:creationId xmlns:a16="http://schemas.microsoft.com/office/drawing/2014/main" id="{66DF5A73-02C9-D017-BBB0-2E1CBBE04CEB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6878EEC6-FD21-8C8F-E1AF-7F04D9C12203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27A1E0FC-9889-80CB-856D-23D0C69EF27D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AD59682C-5582-7D38-F08F-402F8FBE552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F8AA25E-C3A0-8FFF-1640-5EF674F76659}"/>
              </a:ext>
            </a:extLst>
          </p:cNvPr>
          <p:cNvGrpSpPr/>
          <p:nvPr/>
        </p:nvGrpSpPr>
        <p:grpSpPr>
          <a:xfrm>
            <a:off x="1981200" y="3124200"/>
            <a:ext cx="9347200" cy="9906000"/>
            <a:chOff x="1981200" y="3124200"/>
            <a:chExt cx="9347200" cy="9906000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10600" y="9156700"/>
              <a:ext cx="304800" cy="342900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981200" y="3124200"/>
              <a:ext cx="9347200" cy="9906000"/>
            </a:xfrm>
            <a:prstGeom prst="rect">
              <a:avLst/>
            </a:prstGeom>
            <a:effectLst>
              <a:outerShdw blurRad="514018" dist="215672" dir="2700000">
                <a:srgbClr val="000000">
                  <a:alpha val="23000"/>
                </a:srgbClr>
              </a:outerShdw>
            </a:effectLst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255000" y="9855200"/>
              <a:ext cx="673100" cy="304800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937500" y="10274300"/>
              <a:ext cx="914400" cy="304800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051800" y="10312400"/>
              <a:ext cx="825500" cy="228600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78D49FE0-F20A-4102-793D-DA5AC9225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651"/>
            <a:stretch>
              <a:fillRect/>
            </a:stretch>
          </p:blipFill>
          <p:spPr>
            <a:xfrm>
              <a:off x="3172661" y="9855200"/>
              <a:ext cx="6976978" cy="21278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9156700"/>
            <a:ext cx="304800" cy="342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0" y="3429000"/>
            <a:ext cx="1308100" cy="508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131800" y="35052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" y="3136900"/>
            <a:ext cx="9347200" cy="10020300"/>
          </a:xfrm>
          <a:prstGeom prst="rect">
            <a:avLst/>
          </a:prstGeom>
          <a:effectLst>
            <a:outerShdw blurRad="514096" dist="215705" dir="2700000">
              <a:srgbClr val="000000">
                <a:alpha val="23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78000" y="3429000"/>
            <a:ext cx="4318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대출 신청 및 타겟 식별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89100" y="3975100"/>
            <a:ext cx="69723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대출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신청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후 Devtool에서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네트워크를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확인하여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 
 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대출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인덱스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번호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획득</a:t>
            </a:r>
            <a:endParaRPr lang="en-US" sz="26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4600" y="7099300"/>
            <a:ext cx="1435100" cy="317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Web 진단 방법 - CSRF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FECAA1ED-4A90-8A95-AF2F-3A005B5EE407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80785D29-71CA-E3DB-7A4B-30AAB932EEB4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5" name="Picture 12">
            <a:extLst>
              <a:ext uri="{FF2B5EF4-FFF2-40B4-BE49-F238E27FC236}">
                <a16:creationId xmlns:a16="http://schemas.microsoft.com/office/drawing/2014/main" id="{2B7B8A49-0B36-B36C-AA18-B62FDF8D7DE6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36" name="TextBox 13">
            <a:extLst>
              <a:ext uri="{FF2B5EF4-FFF2-40B4-BE49-F238E27FC236}">
                <a16:creationId xmlns:a16="http://schemas.microsoft.com/office/drawing/2014/main" id="{56DDBFA7-4987-8A7B-C0D6-8399C783D27E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A49C5155-4C26-6F63-C747-877D21946CF1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1CAE572B-80D9-6EB3-566B-14DBA3704A14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D3A6D072-E85A-189A-D440-A468E1CDC80D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9156700"/>
            <a:ext cx="304800" cy="342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0" y="3429000"/>
            <a:ext cx="1308100" cy="508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0" y="3429000"/>
            <a:ext cx="4318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대출 신청 및 타겟 식별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89100" y="3975100"/>
            <a:ext cx="69723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대출 신청 후 Devtool에서 네트워크를 확인하여 
 대출 인덱스 번호 획득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31800" y="35052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16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9300" y="3136900"/>
            <a:ext cx="9321800" cy="9906000"/>
          </a:xfrm>
          <a:prstGeom prst="rect">
            <a:avLst/>
          </a:prstGeom>
          <a:effectLst>
            <a:outerShdw blurRad="512687" dist="215113" dir="2700000">
              <a:srgbClr val="000000">
                <a:alpha val="23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0300" y="7937500"/>
            <a:ext cx="8166100" cy="31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60300" y="54864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42900" y="5867400"/>
            <a:ext cx="1308100" cy="508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478000" y="5867400"/>
            <a:ext cx="3594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악성 페이로드 삽입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20700" y="59309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89100" y="6413500"/>
            <a:ext cx="7124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 1 대 1 문의글에 대출 승인을 요청하는 페이로드 삽입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Web 진단 방법 - CSRF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A144EBE8-9BC1-F407-E52C-BC3658B2C94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014F461C-8535-E35D-ECBE-4205C2BE8D36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1" name="Picture 12">
            <a:extLst>
              <a:ext uri="{FF2B5EF4-FFF2-40B4-BE49-F238E27FC236}">
                <a16:creationId xmlns:a16="http://schemas.microsoft.com/office/drawing/2014/main" id="{2A10841D-CDC1-EC06-D38F-7A4CD6283093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42" name="TextBox 13">
            <a:extLst>
              <a:ext uri="{FF2B5EF4-FFF2-40B4-BE49-F238E27FC236}">
                <a16:creationId xmlns:a16="http://schemas.microsoft.com/office/drawing/2014/main" id="{7E6EA2EC-77CF-7933-1D18-DCDE796560FD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5D06C572-E6D0-890C-68C8-98394E513727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3CA24CF4-D946-24B4-8BAB-1DF3A79315D2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87FAF706-7E96-3F32-5D37-CCB944FA8655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9156700"/>
            <a:ext cx="304800" cy="342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0" y="3429000"/>
            <a:ext cx="1308100" cy="508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0" y="3429000"/>
            <a:ext cx="4699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대출 신청 및 타겟 식별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89100" y="3975100"/>
            <a:ext cx="69723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대출 신청 후 Devtool에서 네트워크를 확인하여 
 대출 인덱스 번호 획득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31800" y="35052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17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0300" y="54864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42900" y="5867400"/>
            <a:ext cx="1308100" cy="508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4478000" y="5867400"/>
            <a:ext cx="3175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악성 페이로드 삽입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20700" y="59309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2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1200" y="3124200"/>
            <a:ext cx="9347200" cy="9906000"/>
          </a:xfrm>
          <a:prstGeom prst="rect">
            <a:avLst/>
          </a:prstGeom>
          <a:effectLst>
            <a:outerShdw blurRad="513758" dist="215563" dir="2700000">
              <a:srgbClr val="000000">
                <a:alpha val="23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60300" y="78613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42900" y="8229600"/>
            <a:ext cx="1308100" cy="508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4478000" y="8229600"/>
            <a:ext cx="6896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관리자 게시글 열람 및 강제 대출 승인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20700" y="83058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78000" y="8788400"/>
            <a:ext cx="74676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관리자가 문의글 확인 위해 열람 시,
관리자의 브라우저에서 스크립트 실행되며 대출이 승인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4100" y="8153400"/>
            <a:ext cx="520700" cy="4953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4389100" y="6413500"/>
            <a:ext cx="7124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1 대 1 문의글에 대출 승인을 요청하는 페이로드 삽입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Web 진단 방법 - CSRF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239084E2-235A-0991-E653-02A5076BE7F0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3FCD72A5-7B8E-6CC5-9402-ED705514AEB7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6" name="Picture 12">
            <a:extLst>
              <a:ext uri="{FF2B5EF4-FFF2-40B4-BE49-F238E27FC236}">
                <a16:creationId xmlns:a16="http://schemas.microsoft.com/office/drawing/2014/main" id="{81A24C7E-E868-67DC-0A86-E68F77F466DE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47" name="TextBox 13">
            <a:extLst>
              <a:ext uri="{FF2B5EF4-FFF2-40B4-BE49-F238E27FC236}">
                <a16:creationId xmlns:a16="http://schemas.microsoft.com/office/drawing/2014/main" id="{E3E61E81-44F7-432B-8B23-7BF14913D6D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3CF51D9B-E89F-D10C-8A53-01A08834D766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9" name="TextBox 16">
            <a:extLst>
              <a:ext uri="{FF2B5EF4-FFF2-40B4-BE49-F238E27FC236}">
                <a16:creationId xmlns:a16="http://schemas.microsoft.com/office/drawing/2014/main" id="{27DA4375-D0F3-9833-1E0F-789384AC3854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0" name="TextBox 17">
            <a:extLst>
              <a:ext uri="{FF2B5EF4-FFF2-40B4-BE49-F238E27FC236}">
                <a16:creationId xmlns:a16="http://schemas.microsoft.com/office/drawing/2014/main" id="{221575D3-0B4A-5F36-CEC0-2778A72462F7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0" y="3429000"/>
            <a:ext cx="1308100" cy="508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478000" y="3429000"/>
            <a:ext cx="3810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대출 신청 및 타겟 식별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89100" y="3975100"/>
            <a:ext cx="69723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대출 신청 후 Devtool에서 네트워크를 확인하여 
 대출 인덱스 번호 획득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31800" y="35052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18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60300" y="54864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42900" y="5867400"/>
            <a:ext cx="1308100" cy="508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4478000" y="5867400"/>
            <a:ext cx="3175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악성 페이로드 삽입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20700" y="59309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89100" y="6413500"/>
            <a:ext cx="7124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1 대 1 문의글에 대출 승인을 요청하는 페이로드 삽입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60300" y="78613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42900" y="8229600"/>
            <a:ext cx="1308100" cy="508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4478000" y="8229600"/>
            <a:ext cx="6896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관리자 게시글 열람 및 강제 대출 승인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20700" y="83058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478000" y="8788400"/>
            <a:ext cx="74676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관리자가 문의글 확인 위해 열람 시,
관리자의 브라우저에서 스크립트 실행되며 대출이 승인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Web 진단 방법 - CSRF</a:t>
            </a: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9F183696-0BE9-854C-CF33-2C6078F88033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BF11C9AC-E17B-B39D-4066-91DA97C2D29B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3" name="Picture 12">
            <a:extLst>
              <a:ext uri="{FF2B5EF4-FFF2-40B4-BE49-F238E27FC236}">
                <a16:creationId xmlns:a16="http://schemas.microsoft.com/office/drawing/2014/main" id="{B73DB380-8CB7-4E56-8EB2-39F8B9C3FC4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54" name="TextBox 13">
            <a:extLst>
              <a:ext uri="{FF2B5EF4-FFF2-40B4-BE49-F238E27FC236}">
                <a16:creationId xmlns:a16="http://schemas.microsoft.com/office/drawing/2014/main" id="{F07ED86B-B967-6B3D-79F7-F0D9F21FCF37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E8BA4624-172C-9CED-D04A-26D87F8E56E0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A7C522F5-AB62-F5BF-4ECF-2031E37708C8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7" name="TextBox 17">
            <a:extLst>
              <a:ext uri="{FF2B5EF4-FFF2-40B4-BE49-F238E27FC236}">
                <a16:creationId xmlns:a16="http://schemas.microsoft.com/office/drawing/2014/main" id="{4796FF8F-16CE-77C7-8CD9-A460A2A9374A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0FF59F5-B8AD-1043-C9DE-A99FB614D870}"/>
              </a:ext>
            </a:extLst>
          </p:cNvPr>
          <p:cNvGrpSpPr/>
          <p:nvPr/>
        </p:nvGrpSpPr>
        <p:grpSpPr>
          <a:xfrm>
            <a:off x="1981200" y="3060700"/>
            <a:ext cx="9347200" cy="9906000"/>
            <a:chOff x="1981200" y="3060700"/>
            <a:chExt cx="9347200" cy="990600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610600" y="9156700"/>
              <a:ext cx="304800" cy="342900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438400" y="11023600"/>
              <a:ext cx="8293100" cy="1612900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981200" y="3060700"/>
              <a:ext cx="9347200" cy="9906000"/>
            </a:xfrm>
            <a:prstGeom prst="rect">
              <a:avLst/>
            </a:prstGeom>
            <a:effectLst>
              <a:outerShdw blurRad="514096" dist="215705" dir="2700000">
                <a:srgbClr val="000000">
                  <a:alpha val="23000"/>
                </a:srgbClr>
              </a:outerShdw>
            </a:effectLst>
          </p:spPr>
        </p:pic>
        <p:sp>
          <p:nvSpPr>
            <p:cNvPr id="29" name="TextBox 29"/>
            <p:cNvSpPr txBox="1"/>
            <p:nvPr/>
          </p:nvSpPr>
          <p:spPr>
            <a:xfrm>
              <a:off x="2590800" y="11150600"/>
              <a:ext cx="1473200" cy="266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sz="1500" b="0" i="0" u="none" strike="noStrike">
                  <a:solidFill>
                    <a:srgbClr val="000000"/>
                  </a:solidFill>
                  <a:latin typeface="Pretendard Light"/>
                  <a:ea typeface="Pretendard Light"/>
                  <a:cs typeface="Pretendard Light"/>
                </a:rPr>
                <a:t>긴급생활비대출</a:t>
              </a: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54C75A6E-B931-DC69-1379-4432293AB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02" t="79012" r="3597" b="5309"/>
            <a:stretch>
              <a:fillRect/>
            </a:stretch>
          </p:blipFill>
          <p:spPr>
            <a:xfrm>
              <a:off x="2514600" y="11010900"/>
              <a:ext cx="8305800" cy="1612900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438400" y="10909300"/>
              <a:ext cx="8293100" cy="1866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17E8E-95F1-CA99-08E0-39B7CF23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EE62A77-CA42-3592-8BBE-C811A433BB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8732F81-5D7E-82BB-2F00-879CBC8E9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FE35FB8-7091-1CCA-619F-A402542AE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E4DDE7D-AE0D-4348-91B4-1DF399E9B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365E452-4412-0FE8-B5D5-410079D8A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4C0D7E2-32A7-159A-E983-A9E4D3D84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05FF0A8A-2800-DBDA-F235-D5BDD639035B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19</a:t>
            </a: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5B8CA52C-97CF-93A9-7D87-F6240CBCDD46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B555D213-D01F-C695-805F-84AF61F92C11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3" name="Picture 12">
            <a:extLst>
              <a:ext uri="{FF2B5EF4-FFF2-40B4-BE49-F238E27FC236}">
                <a16:creationId xmlns:a16="http://schemas.microsoft.com/office/drawing/2014/main" id="{0D0B6A42-9F42-2961-CAB7-8D4B58094C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54" name="TextBox 13">
            <a:extLst>
              <a:ext uri="{FF2B5EF4-FFF2-40B4-BE49-F238E27FC236}">
                <a16:creationId xmlns:a16="http://schemas.microsoft.com/office/drawing/2014/main" id="{650DD082-721A-6129-E3D9-268BA823182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29CCEAD9-B66B-9339-4568-A060A1610A48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F17C0E99-63B3-135D-C621-ADCF9C76F3E1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7" name="TextBox 17">
            <a:extLst>
              <a:ext uri="{FF2B5EF4-FFF2-40B4-BE49-F238E27FC236}">
                <a16:creationId xmlns:a16="http://schemas.microsoft.com/office/drawing/2014/main" id="{20EA198B-B0FD-E218-D696-4D358D88A6F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60" name="Picture 9">
            <a:extLst>
              <a:ext uri="{FF2B5EF4-FFF2-40B4-BE49-F238E27FC236}">
                <a16:creationId xmlns:a16="http://schemas.microsoft.com/office/drawing/2014/main" id="{F7013FE6-7208-8F7C-925B-52A830C5C4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pic>
        <p:nvPicPr>
          <p:cNvPr id="62" name="Picture 11">
            <a:extLst>
              <a:ext uri="{FF2B5EF4-FFF2-40B4-BE49-F238E27FC236}">
                <a16:creationId xmlns:a16="http://schemas.microsoft.com/office/drawing/2014/main" id="{3305A12C-492C-5B4C-533D-1CDB44CA72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44500" y="8509000"/>
            <a:ext cx="9334500" cy="3746500"/>
          </a:xfrm>
          <a:prstGeom prst="rect">
            <a:avLst/>
          </a:prstGeom>
          <a:effectLst>
            <a:outerShdw blurRad="93663" dist="86458" dir="2700000">
              <a:srgbClr val="1A7AE1">
                <a:alpha val="15000"/>
              </a:srgbClr>
            </a:outerShdw>
          </a:effectLst>
        </p:spPr>
      </p:pic>
      <p:pic>
        <p:nvPicPr>
          <p:cNvPr id="64" name="Picture 12">
            <a:extLst>
              <a:ext uri="{FF2B5EF4-FFF2-40B4-BE49-F238E27FC236}">
                <a16:creationId xmlns:a16="http://schemas.microsoft.com/office/drawing/2014/main" id="{86EA68FA-8A56-CD26-E573-BACFC4F6A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4089400"/>
            <a:ext cx="9334500" cy="3746500"/>
          </a:xfrm>
          <a:prstGeom prst="rect">
            <a:avLst/>
          </a:prstGeom>
          <a:effectLst>
            <a:outerShdw blurRad="93663" dist="86458" dir="2700000">
              <a:srgbClr val="1A7AE1">
                <a:alpha val="15000"/>
              </a:srgbClr>
            </a:outerShdw>
          </a:effectLst>
        </p:spPr>
      </p:pic>
      <p:sp>
        <p:nvSpPr>
          <p:cNvPr id="65" name="TextBox 13">
            <a:extLst>
              <a:ext uri="{FF2B5EF4-FFF2-40B4-BE49-F238E27FC236}">
                <a16:creationId xmlns:a16="http://schemas.microsoft.com/office/drawing/2014/main" id="{09DECF46-52AF-8B61-FE57-A5F1826F78D7}"/>
              </a:ext>
            </a:extLst>
          </p:cNvPr>
          <p:cNvSpPr txBox="1"/>
          <p:nvPr/>
        </p:nvSpPr>
        <p:spPr>
          <a:xfrm>
            <a:off x="3810000" y="4762500"/>
            <a:ext cx="5511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99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입력값</a:t>
            </a:r>
            <a:r>
              <a:rPr lang="en-US" sz="3199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검증 및 </a:t>
            </a:r>
            <a:r>
              <a:rPr lang="en-US" sz="3199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필터링</a:t>
            </a:r>
            <a:endParaRPr lang="en-US" sz="3199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6" name="TextBox 14">
            <a:extLst>
              <a:ext uri="{FF2B5EF4-FFF2-40B4-BE49-F238E27FC236}">
                <a16:creationId xmlns:a16="http://schemas.microsoft.com/office/drawing/2014/main" id="{71927967-FECF-C80B-49E3-D091A5D7B1C8}"/>
              </a:ext>
            </a:extLst>
          </p:cNvPr>
          <p:cNvSpPr txBox="1"/>
          <p:nvPr/>
        </p:nvSpPr>
        <p:spPr>
          <a:xfrm>
            <a:off x="2946400" y="5918200"/>
            <a:ext cx="71501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공격에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사용되는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특수문자에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대하여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서버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사이드에서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입력값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검증 및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필터링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 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처리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로직을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구현해야</a:t>
            </a:r>
            <a:r>
              <a:rPr lang="en-US" sz="2666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ko-KR" altLang="en-US" sz="2666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함</a:t>
            </a:r>
            <a:endParaRPr lang="en-US" sz="2666" b="0" i="0" u="none" strike="noStrike" dirty="0">
              <a:solidFill>
                <a:srgbClr val="000000">
                  <a:alpha val="70196"/>
                </a:srgbClr>
              </a:solidFill>
              <a:latin typeface="Pretendard SemiBold" panose="020B0600000101010101" charset="-127"/>
              <a:ea typeface="Pretendard SemiBold" panose="020B0600000101010101" charset="-127"/>
              <a:cs typeface="Pretendard Medium"/>
            </a:endParaRPr>
          </a:p>
        </p:txBody>
      </p:sp>
      <p:pic>
        <p:nvPicPr>
          <p:cNvPr id="67" name="Picture 15">
            <a:extLst>
              <a:ext uri="{FF2B5EF4-FFF2-40B4-BE49-F238E27FC236}">
                <a16:creationId xmlns:a16="http://schemas.microsoft.com/office/drawing/2014/main" id="{DB23F9DD-CCE4-0BF2-019C-1CA848C298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44500" y="4089400"/>
            <a:ext cx="9334500" cy="3746500"/>
          </a:xfrm>
          <a:prstGeom prst="rect">
            <a:avLst/>
          </a:prstGeom>
          <a:effectLst>
            <a:outerShdw blurRad="93663" dist="86458" dir="2700000">
              <a:srgbClr val="1A7AE1">
                <a:alpha val="15000"/>
              </a:srgbClr>
            </a:outerShdw>
          </a:effectLst>
        </p:spPr>
      </p:pic>
      <p:sp>
        <p:nvSpPr>
          <p:cNvPr id="68" name="TextBox 16">
            <a:extLst>
              <a:ext uri="{FF2B5EF4-FFF2-40B4-BE49-F238E27FC236}">
                <a16:creationId xmlns:a16="http://schemas.microsoft.com/office/drawing/2014/main" id="{39BCAF62-7FDF-32BB-66A5-F5DE5E14CDED}"/>
              </a:ext>
            </a:extLst>
          </p:cNvPr>
          <p:cNvSpPr txBox="1"/>
          <p:nvPr/>
        </p:nvSpPr>
        <p:spPr>
          <a:xfrm>
            <a:off x="15062200" y="4762500"/>
            <a:ext cx="5511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199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추가 본인 확인</a:t>
            </a:r>
            <a:endParaRPr lang="en-US" altLang="ko-KR" sz="3199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69" name="Picture 18">
            <a:extLst>
              <a:ext uri="{FF2B5EF4-FFF2-40B4-BE49-F238E27FC236}">
                <a16:creationId xmlns:a16="http://schemas.microsoft.com/office/drawing/2014/main" id="{FE8B41ED-16B0-5272-6C5B-5482414733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8509000"/>
            <a:ext cx="9334500" cy="3746500"/>
          </a:xfrm>
          <a:prstGeom prst="rect">
            <a:avLst/>
          </a:prstGeom>
          <a:effectLst>
            <a:outerShdw blurRad="93663" dist="86458" dir="2700000">
              <a:srgbClr val="1A7AE1">
                <a:alpha val="15000"/>
              </a:srgbClr>
            </a:outerShdw>
          </a:effectLst>
        </p:spPr>
      </p:pic>
      <p:sp>
        <p:nvSpPr>
          <p:cNvPr id="70" name="TextBox 19">
            <a:extLst>
              <a:ext uri="{FF2B5EF4-FFF2-40B4-BE49-F238E27FC236}">
                <a16:creationId xmlns:a16="http://schemas.microsoft.com/office/drawing/2014/main" id="{47ED6F2B-95F6-B087-81EA-0A89E8E35F0B}"/>
              </a:ext>
            </a:extLst>
          </p:cNvPr>
          <p:cNvSpPr txBox="1"/>
          <p:nvPr/>
        </p:nvSpPr>
        <p:spPr>
          <a:xfrm>
            <a:off x="3810000" y="9194800"/>
            <a:ext cx="5511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사람 식별 검증</a:t>
            </a:r>
            <a:endParaRPr lang="en-US" sz="3200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1" name="TextBox 20">
            <a:extLst>
              <a:ext uri="{FF2B5EF4-FFF2-40B4-BE49-F238E27FC236}">
                <a16:creationId xmlns:a16="http://schemas.microsoft.com/office/drawing/2014/main" id="{6130BF82-204A-CCAA-986A-A74577864A6A}"/>
              </a:ext>
            </a:extLst>
          </p:cNvPr>
          <p:cNvSpPr txBox="1"/>
          <p:nvPr/>
        </p:nvSpPr>
        <p:spPr>
          <a:xfrm>
            <a:off x="2438400" y="10388600"/>
            <a:ext cx="82550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ko-KR" alt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사용자 상호작용 검</a:t>
            </a:r>
            <a:r>
              <a:rPr lang="ko-KR" altLang="en-US" sz="2666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증</a:t>
            </a:r>
            <a:r>
              <a:rPr lang="en-US" altLang="ko-KR" sz="2666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(CAPTCHA)</a:t>
            </a:r>
            <a:r>
              <a:rPr lang="ko-KR" alt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을 통해 요청의 주체가 봇</a:t>
            </a:r>
            <a:r>
              <a:rPr lang="ko-KR" altLang="en-US" sz="2666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이 </a:t>
            </a:r>
            <a:r>
              <a:rPr lang="ko-KR" alt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아닌 실제 사람임을 증명함</a:t>
            </a:r>
            <a:endParaRPr lang="en-US" sz="2666" b="0" i="0" u="none" strike="noStrike" dirty="0">
              <a:solidFill>
                <a:srgbClr val="000000">
                  <a:alpha val="70196"/>
                </a:srgbClr>
              </a:solidFill>
              <a:latin typeface="Pretendard SemiBold" panose="020B0600000101010101" charset="-127"/>
              <a:ea typeface="Pretendard SemiBold" panose="020B0600000101010101" charset="-127"/>
              <a:cs typeface="Pretendard Medium"/>
            </a:endParaRPr>
          </a:p>
        </p:txBody>
      </p:sp>
      <p:pic>
        <p:nvPicPr>
          <p:cNvPr id="72" name="Picture 21">
            <a:extLst>
              <a:ext uri="{FF2B5EF4-FFF2-40B4-BE49-F238E27FC236}">
                <a16:creationId xmlns:a16="http://schemas.microsoft.com/office/drawing/2014/main" id="{AB2B0D5F-A79C-AFC1-1EE5-2145F1AEC2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5700" y="5943600"/>
            <a:ext cx="4381500" cy="4381500"/>
          </a:xfrm>
          <a:prstGeom prst="rect">
            <a:avLst/>
          </a:prstGeom>
          <a:effectLst>
            <a:outerShdw blurRad="109630" dist="168662" dir="2700000">
              <a:srgbClr val="C2C2C2">
                <a:alpha val="25000"/>
              </a:srgbClr>
            </a:outerShdw>
          </a:effectLst>
        </p:spPr>
      </p:pic>
      <p:pic>
        <p:nvPicPr>
          <p:cNvPr id="73" name="Picture 22">
            <a:extLst>
              <a:ext uri="{FF2B5EF4-FFF2-40B4-BE49-F238E27FC236}">
                <a16:creationId xmlns:a16="http://schemas.microsoft.com/office/drawing/2014/main" id="{51578EB0-F0A5-3927-286B-4B37FDB303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90000" y="4470400"/>
            <a:ext cx="495300" cy="495300"/>
          </a:xfrm>
          <a:prstGeom prst="rect">
            <a:avLst/>
          </a:prstGeom>
          <a:effectLst>
            <a:outerShdw blurRad="24617" dist="18936" dir="2700000">
              <a:srgbClr val="C2C2C2">
                <a:alpha val="25000"/>
              </a:srgbClr>
            </a:outerShdw>
          </a:effectLst>
        </p:spPr>
      </p:pic>
      <p:pic>
        <p:nvPicPr>
          <p:cNvPr id="74" name="Picture 23">
            <a:extLst>
              <a:ext uri="{FF2B5EF4-FFF2-40B4-BE49-F238E27FC236}">
                <a16:creationId xmlns:a16="http://schemas.microsoft.com/office/drawing/2014/main" id="{48C37530-CF8D-93A5-FB88-8547EC8210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17000" y="4622800"/>
            <a:ext cx="266700" cy="203200"/>
          </a:xfrm>
          <a:prstGeom prst="rect">
            <a:avLst/>
          </a:prstGeom>
        </p:spPr>
      </p:pic>
      <p:pic>
        <p:nvPicPr>
          <p:cNvPr id="75" name="Picture 24">
            <a:extLst>
              <a:ext uri="{FF2B5EF4-FFF2-40B4-BE49-F238E27FC236}">
                <a16:creationId xmlns:a16="http://schemas.microsoft.com/office/drawing/2014/main" id="{8D8C0D83-CC18-134B-94CC-44F1885A24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590000" y="8902700"/>
            <a:ext cx="495300" cy="495300"/>
          </a:xfrm>
          <a:prstGeom prst="rect">
            <a:avLst/>
          </a:prstGeom>
          <a:effectLst>
            <a:outerShdw blurRad="24617" dist="18936" dir="2700000">
              <a:srgbClr val="C2C2C2">
                <a:alpha val="25000"/>
              </a:srgbClr>
            </a:outerShdw>
          </a:effectLst>
        </p:spPr>
      </p:pic>
      <p:pic>
        <p:nvPicPr>
          <p:cNvPr id="76" name="Picture 25">
            <a:extLst>
              <a:ext uri="{FF2B5EF4-FFF2-40B4-BE49-F238E27FC236}">
                <a16:creationId xmlns:a16="http://schemas.microsoft.com/office/drawing/2014/main" id="{4EB6721A-7183-3ACC-516C-3AAFAC8FF7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17000" y="9067800"/>
            <a:ext cx="266700" cy="203200"/>
          </a:xfrm>
          <a:prstGeom prst="rect">
            <a:avLst/>
          </a:prstGeom>
        </p:spPr>
      </p:pic>
      <p:sp>
        <p:nvSpPr>
          <p:cNvPr id="77" name="TextBox 26">
            <a:extLst>
              <a:ext uri="{FF2B5EF4-FFF2-40B4-BE49-F238E27FC236}">
                <a16:creationId xmlns:a16="http://schemas.microsoft.com/office/drawing/2014/main" id="{9690D9D1-AC9C-6CC6-91D7-D941AE0191EF}"/>
              </a:ext>
            </a:extLst>
          </p:cNvPr>
          <p:cNvSpPr txBox="1"/>
          <p:nvPr/>
        </p:nvSpPr>
        <p:spPr>
          <a:xfrm>
            <a:off x="15062200" y="9194800"/>
            <a:ext cx="5511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99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CSRF </a:t>
            </a:r>
            <a:r>
              <a:rPr lang="en-US" sz="3199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토큰</a:t>
            </a:r>
            <a:r>
              <a:rPr lang="en-US" sz="3199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적용 및 검증</a:t>
            </a:r>
          </a:p>
        </p:txBody>
      </p:sp>
      <p:sp>
        <p:nvSpPr>
          <p:cNvPr id="78" name="TextBox 27">
            <a:extLst>
              <a:ext uri="{FF2B5EF4-FFF2-40B4-BE49-F238E27FC236}">
                <a16:creationId xmlns:a16="http://schemas.microsoft.com/office/drawing/2014/main" id="{AAAC83DC-D2F8-120F-8257-52DF5B5A68CE}"/>
              </a:ext>
            </a:extLst>
          </p:cNvPr>
          <p:cNvSpPr txBox="1"/>
          <p:nvPr/>
        </p:nvSpPr>
        <p:spPr>
          <a:xfrm>
            <a:off x="13792200" y="10337800"/>
            <a:ext cx="83566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CSRF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토큰을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발급하고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,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서버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측에서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토큰이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누락되거나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위조되었는지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유효성을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검증하여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비정상적인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요청을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차단해야</a:t>
            </a:r>
            <a:r>
              <a:rPr 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 </a:t>
            </a:r>
            <a:r>
              <a:rPr lang="ko-KR" alt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함</a:t>
            </a:r>
            <a:endParaRPr lang="en-US" sz="2666" b="0" i="0" u="none" strike="noStrike" dirty="0">
              <a:solidFill>
                <a:srgbClr val="000000">
                  <a:alpha val="70196"/>
                </a:srgbClr>
              </a:solidFill>
              <a:latin typeface="Pretendard SemiBold" panose="020B0600000101010101" charset="-127"/>
              <a:ea typeface="Pretendard SemiBold" panose="020B0600000101010101" charset="-127"/>
              <a:cs typeface="Pretendard Medium"/>
            </a:endParaRPr>
          </a:p>
        </p:txBody>
      </p:sp>
      <p:sp>
        <p:nvSpPr>
          <p:cNvPr id="79" name="TextBox 28">
            <a:extLst>
              <a:ext uri="{FF2B5EF4-FFF2-40B4-BE49-F238E27FC236}">
                <a16:creationId xmlns:a16="http://schemas.microsoft.com/office/drawing/2014/main" id="{3B2861D5-AB86-627E-2B4B-518E32DBA693}"/>
              </a:ext>
            </a:extLst>
          </p:cNvPr>
          <p:cNvSpPr txBox="1"/>
          <p:nvPr/>
        </p:nvSpPr>
        <p:spPr>
          <a:xfrm>
            <a:off x="10858500" y="7467600"/>
            <a:ext cx="27432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CSRF</a:t>
            </a:r>
          </a:p>
          <a:p>
            <a:pPr lvl="0" algn="ctr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(Web)</a:t>
            </a:r>
          </a:p>
        </p:txBody>
      </p:sp>
      <p:pic>
        <p:nvPicPr>
          <p:cNvPr id="80" name="Picture 35">
            <a:extLst>
              <a:ext uri="{FF2B5EF4-FFF2-40B4-BE49-F238E27FC236}">
                <a16:creationId xmlns:a16="http://schemas.microsoft.com/office/drawing/2014/main" id="{BA027EC2-33EA-1C0D-C6E8-53FF0930B6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81" name="TextBox 36">
            <a:extLst>
              <a:ext uri="{FF2B5EF4-FFF2-40B4-BE49-F238E27FC236}">
                <a16:creationId xmlns:a16="http://schemas.microsoft.com/office/drawing/2014/main" id="{9E782FFC-5E4A-E12B-E6D3-A08CAF1D4667}"/>
              </a:ext>
            </a:extLst>
          </p:cNvPr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Web 보안 대책 - CSRF</a:t>
            </a:r>
          </a:p>
        </p:txBody>
      </p:sp>
      <p:sp>
        <p:nvSpPr>
          <p:cNvPr id="82" name="TextBox 27">
            <a:extLst>
              <a:ext uri="{FF2B5EF4-FFF2-40B4-BE49-F238E27FC236}">
                <a16:creationId xmlns:a16="http://schemas.microsoft.com/office/drawing/2014/main" id="{E1B68559-AA6D-D630-EAE3-A3C36CEC4862}"/>
              </a:ext>
            </a:extLst>
          </p:cNvPr>
          <p:cNvSpPr txBox="1"/>
          <p:nvPr/>
        </p:nvSpPr>
        <p:spPr>
          <a:xfrm>
            <a:off x="14435036" y="5783094"/>
            <a:ext cx="71247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ko-KR" alt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중요 작업 시 </a:t>
            </a:r>
            <a:r>
              <a:rPr lang="en-US" altLang="ko-KR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OTP</a:t>
            </a:r>
            <a:r>
              <a:rPr lang="ko-KR" alt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나 </a:t>
            </a:r>
            <a:r>
              <a:rPr lang="en-US" altLang="ko-KR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SMS </a:t>
            </a:r>
            <a:r>
              <a:rPr lang="ko-KR" alt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인증 등 사용자의 추가 인증을 거쳐</a:t>
            </a:r>
            <a:r>
              <a:rPr lang="en-US" altLang="ko-KR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, </a:t>
            </a:r>
            <a:r>
              <a:rPr lang="ko-KR" altLang="en-US" sz="2666" b="0" i="0" u="none" strike="noStrike" dirty="0">
                <a:solidFill>
                  <a:srgbClr val="000000">
                    <a:alpha val="70196"/>
                  </a:srgbClr>
                </a:solidFill>
                <a:latin typeface="Pretendard SemiBold" panose="020B0600000101010101" charset="-127"/>
                <a:ea typeface="Pretendard SemiBold" panose="020B0600000101010101" charset="-127"/>
                <a:cs typeface="Pretendard Medium"/>
              </a:rPr>
              <a:t>공격을 원천적으로 무력화 시킴</a:t>
            </a:r>
            <a:endParaRPr lang="en-US" sz="2666" b="0" i="0" u="none" strike="noStrike" dirty="0">
              <a:solidFill>
                <a:srgbClr val="000000">
                  <a:alpha val="70196"/>
                </a:srgbClr>
              </a:solidFill>
              <a:latin typeface="Pretendard SemiBold" panose="020B0600000101010101" charset="-127"/>
              <a:ea typeface="Pretendard SemiBold" panose="020B0600000101010101" charset="-127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17555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016C3B74-23E1-CB12-D5EE-6296E55D1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514" y="3594100"/>
            <a:ext cx="5072146" cy="8997244"/>
          </a:xfrm>
          <a:prstGeom prst="rect">
            <a:avLst/>
          </a:prstGeom>
        </p:spPr>
      </p:pic>
      <p:pic>
        <p:nvPicPr>
          <p:cNvPr id="28" name="Picture 29">
            <a:extLst>
              <a:ext uri="{FF2B5EF4-FFF2-40B4-BE49-F238E27FC236}">
                <a16:creationId xmlns:a16="http://schemas.microsoft.com/office/drawing/2014/main" id="{57661D1F-3828-3A15-B5FB-3838CDD9C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0" y="3124200"/>
            <a:ext cx="5232400" cy="9842500"/>
          </a:xfrm>
          <a:prstGeom prst="rect">
            <a:avLst/>
          </a:prstGeom>
          <a:effectLst>
            <a:outerShdw blurRad="287982" dist="120832" dir="2700000">
              <a:srgbClr val="000000">
                <a:alpha val="23000"/>
              </a:srgbClr>
            </a:outerShdw>
          </a:effectLst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진단 방법 - 위변조 탐지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20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992B7A7F-26A3-2236-8E9E-1EEF53D473A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58580381-6D26-1FC0-BF33-9C89CF1A5BD0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4" name="Picture 12">
            <a:extLst>
              <a:ext uri="{FF2B5EF4-FFF2-40B4-BE49-F238E27FC236}">
                <a16:creationId xmlns:a16="http://schemas.microsoft.com/office/drawing/2014/main" id="{3E77AD95-2E1F-D829-F56C-6ACF1601C82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35" name="TextBox 13">
            <a:extLst>
              <a:ext uri="{FF2B5EF4-FFF2-40B4-BE49-F238E27FC236}">
                <a16:creationId xmlns:a16="http://schemas.microsoft.com/office/drawing/2014/main" id="{11AB0BD1-4772-A116-CF18-5DE16671C5BA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BFB114AD-5F50-350B-EAD9-75E4A6DF1E57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0408F754-2742-5741-D3E8-C21E62F1FC2B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59666568-69A5-37C9-09AD-84A49787BE32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8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600" y="9156700"/>
            <a:ext cx="304800" cy="342900"/>
          </a:xfrm>
          <a:prstGeom prst="rect">
            <a:avLst/>
          </a:prstGeom>
        </p:spPr>
      </p:pic>
      <p:pic>
        <p:nvPicPr>
          <p:cNvPr id="19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20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54000" y="3594100"/>
            <a:ext cx="1308100" cy="508000"/>
          </a:xfrm>
          <a:prstGeom prst="rect">
            <a:avLst/>
          </a:prstGeom>
        </p:spPr>
      </p:pic>
      <p:sp>
        <p:nvSpPr>
          <p:cNvPr id="21" name="TextBox 14"/>
          <p:cNvSpPr txBox="1"/>
          <p:nvPr/>
        </p:nvSpPr>
        <p:spPr>
          <a:xfrm>
            <a:off x="14478000" y="3594100"/>
            <a:ext cx="3327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기기 </a:t>
            </a:r>
            <a:r>
              <a:rPr lang="ko-KR" alt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루팅</a:t>
            </a:r>
            <a:endParaRPr lang="en-US" sz="2933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2" name="TextBox 15"/>
          <p:cNvSpPr txBox="1"/>
          <p:nvPr/>
        </p:nvSpPr>
        <p:spPr>
          <a:xfrm>
            <a:off x="14389100" y="4140200"/>
            <a:ext cx="7658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26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16"/>
          <p:cNvSpPr txBox="1"/>
          <p:nvPr/>
        </p:nvSpPr>
        <p:spPr>
          <a:xfrm>
            <a:off x="13131800" y="36703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A5D2E086-02DA-9087-A4C8-975DF2C2D460}"/>
              </a:ext>
            </a:extLst>
          </p:cNvPr>
          <p:cNvSpPr txBox="1"/>
          <p:nvPr/>
        </p:nvSpPr>
        <p:spPr>
          <a:xfrm>
            <a:off x="14389100" y="4140200"/>
            <a:ext cx="7340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2666" dirty="0" err="1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KernelSU</a:t>
            </a:r>
            <a:r>
              <a:rPr lang="ko-KR" altLang="en-US" sz="2666" dirty="0" err="1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를</a:t>
            </a:r>
            <a:r>
              <a:rPr lang="ko-KR" altLang="en-US" sz="2666" dirty="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 이용하여 기기 루트 권한 획득</a:t>
            </a:r>
            <a:endParaRPr lang="en-US" sz="2666" b="0" i="0" u="none" strike="noStrike" dirty="0">
              <a:solidFill>
                <a:schemeClr val="bg1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21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진단 방법 - 위변조 탐지</a:t>
            </a: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B7D1FB06-004E-A66A-DC3A-1A51317FD5AC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6CC4967A-8D48-B5EA-C633-4A95A0761B93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2" name="Picture 12">
            <a:extLst>
              <a:ext uri="{FF2B5EF4-FFF2-40B4-BE49-F238E27FC236}">
                <a16:creationId xmlns:a16="http://schemas.microsoft.com/office/drawing/2014/main" id="{04AB0F86-9671-60FF-D45F-1E5AAB06ABF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43" name="TextBox 13">
            <a:extLst>
              <a:ext uri="{FF2B5EF4-FFF2-40B4-BE49-F238E27FC236}">
                <a16:creationId xmlns:a16="http://schemas.microsoft.com/office/drawing/2014/main" id="{37ECD566-9695-DA65-D437-B0E44EDC1F07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B6293C09-7C8E-6BD4-4A9C-9DF53D973B2B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D151D996-06E2-1071-21B0-B4DD70B72AB8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0B5083DC-5C5C-BBF5-253D-C818EB477A88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8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0600" y="9156700"/>
            <a:ext cx="292766" cy="329362"/>
          </a:xfrm>
          <a:prstGeom prst="rect">
            <a:avLst/>
          </a:prstGeom>
        </p:spPr>
      </p:pic>
      <p:pic>
        <p:nvPicPr>
          <p:cNvPr id="23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24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0" y="3594100"/>
            <a:ext cx="1308100" cy="508000"/>
          </a:xfrm>
          <a:prstGeom prst="rect">
            <a:avLst/>
          </a:prstGeom>
        </p:spPr>
      </p:pic>
      <p:sp>
        <p:nvSpPr>
          <p:cNvPr id="25" name="TextBox 13"/>
          <p:cNvSpPr txBox="1"/>
          <p:nvPr/>
        </p:nvSpPr>
        <p:spPr>
          <a:xfrm>
            <a:off x="14478000" y="3594100"/>
            <a:ext cx="3327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933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기기 </a:t>
            </a:r>
            <a:r>
              <a:rPr lang="ko-KR" altLang="en-US" sz="2933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루팅</a:t>
            </a:r>
            <a:endParaRPr lang="en-US" sz="2933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TextBox 14"/>
          <p:cNvSpPr txBox="1"/>
          <p:nvPr/>
        </p:nvSpPr>
        <p:spPr>
          <a:xfrm>
            <a:off x="14389100" y="4140200"/>
            <a:ext cx="7340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666" dirty="0" err="1">
                <a:latin typeface="Pretendard Medium"/>
                <a:ea typeface="Pretendard Medium"/>
                <a:cs typeface="Pretendard Medium"/>
              </a:rPr>
              <a:t>KernelSU</a:t>
            </a:r>
            <a:r>
              <a:rPr lang="ko-KR" altLang="en-US" sz="2666" dirty="0" err="1">
                <a:latin typeface="Pretendard Medium"/>
                <a:ea typeface="Pretendard Medium"/>
                <a:cs typeface="Pretendard Medium"/>
              </a:rPr>
              <a:t>를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 이용하여 기기 루트 권한 획득</a:t>
            </a:r>
            <a:endParaRPr lang="en-US" sz="2666" dirty="0"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TextBox 15"/>
          <p:cNvSpPr txBox="1"/>
          <p:nvPr/>
        </p:nvSpPr>
        <p:spPr>
          <a:xfrm>
            <a:off x="13131800" y="36703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pic>
        <p:nvPicPr>
          <p:cNvPr id="2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60300" y="54864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31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42900" y="5969000"/>
            <a:ext cx="1308100" cy="508000"/>
          </a:xfrm>
          <a:prstGeom prst="rect">
            <a:avLst/>
          </a:prstGeom>
        </p:spPr>
      </p:pic>
      <p:sp>
        <p:nvSpPr>
          <p:cNvPr id="32" name="TextBox 19"/>
          <p:cNvSpPr txBox="1"/>
          <p:nvPr/>
        </p:nvSpPr>
        <p:spPr>
          <a:xfrm>
            <a:off x="14478000" y="5969000"/>
            <a:ext cx="574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APK </a:t>
            </a:r>
            <a:r>
              <a:rPr lang="ko-KR" altLang="en-US" sz="2933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  <a:endParaRPr lang="en-US" sz="2933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3" name="TextBox 20"/>
          <p:cNvSpPr txBox="1"/>
          <p:nvPr/>
        </p:nvSpPr>
        <p:spPr>
          <a:xfrm>
            <a:off x="13220700" y="60325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2</a:t>
            </a:r>
          </a:p>
        </p:txBody>
      </p:sp>
      <p:sp>
        <p:nvSpPr>
          <p:cNvPr id="36" name="TextBox 21"/>
          <p:cNvSpPr txBox="1"/>
          <p:nvPr/>
        </p:nvSpPr>
        <p:spPr>
          <a:xfrm>
            <a:off x="14490700" y="6515100"/>
            <a:ext cx="78740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JADX, </a:t>
            </a:r>
            <a:r>
              <a:rPr lang="en-US" sz="2666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Ghidra</a:t>
            </a:r>
            <a:r>
              <a:rPr lang="en-US" sz="2666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등을 이용하여 소스코드 정적</a:t>
            </a:r>
            <a:r>
              <a:rPr lang="en-US" altLang="ko-KR" sz="2666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r>
              <a:rPr lang="en-US" altLang="ko-KR" sz="2666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및 변조</a:t>
            </a:r>
            <a:endParaRPr lang="en-US" sz="26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37" name="Picture 22">
            <a:extLst>
              <a:ext uri="{FF2B5EF4-FFF2-40B4-BE49-F238E27FC236}">
                <a16:creationId xmlns:a16="http://schemas.microsoft.com/office/drawing/2014/main" id="{F0E3E0D8-6018-3F16-1024-31143423C25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350" y="3130550"/>
            <a:ext cx="9886952" cy="6203917"/>
          </a:xfrm>
          <a:prstGeom prst="rect">
            <a:avLst/>
          </a:prstGeom>
        </p:spPr>
      </p:pic>
      <p:pic>
        <p:nvPicPr>
          <p:cNvPr id="38" name="Picture 24">
            <a:extLst>
              <a:ext uri="{FF2B5EF4-FFF2-40B4-BE49-F238E27FC236}">
                <a16:creationId xmlns:a16="http://schemas.microsoft.com/office/drawing/2014/main" id="{F97D8890-13BB-839F-E055-0B3AE49A10E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" t="5389" r="2180" b="23400"/>
          <a:stretch>
            <a:fillRect/>
          </a:stretch>
        </p:blipFill>
        <p:spPr>
          <a:xfrm>
            <a:off x="2158998" y="6089650"/>
            <a:ext cx="9886952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22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3175000"/>
            <a:ext cx="10502900" cy="4622800"/>
          </a:xfrm>
          <a:prstGeom prst="rect">
            <a:avLst/>
          </a:prstGeom>
          <a:effectLst>
            <a:outerShdw blurRad="254236" dist="106673" dir="2700000">
              <a:srgbClr val="000000">
                <a:alpha val="23000"/>
              </a:srgbClr>
            </a:outerShdw>
          </a:effectLst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7823200"/>
            <a:ext cx="10502900" cy="3454400"/>
          </a:xfrm>
          <a:prstGeom prst="rect">
            <a:avLst/>
          </a:prstGeom>
          <a:effectLst>
            <a:outerShdw blurRad="190339" dist="79863" dir="2700000">
              <a:srgbClr val="000000">
                <a:alpha val="23000"/>
              </a:srgbClr>
            </a:outerShdw>
          </a:effectLst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700" y="10934700"/>
            <a:ext cx="8712200" cy="3429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진단 방법 - 위변조 탐지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EC472725-7528-6AD7-B70D-82B28795F34C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4FF1B655-C37A-4FE4-F590-D31F0536E7F3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2" name="Picture 12">
            <a:extLst>
              <a:ext uri="{FF2B5EF4-FFF2-40B4-BE49-F238E27FC236}">
                <a16:creationId xmlns:a16="http://schemas.microsoft.com/office/drawing/2014/main" id="{D17D920E-890B-E865-011E-83FDFC7D112F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53" name="TextBox 13">
            <a:extLst>
              <a:ext uri="{FF2B5EF4-FFF2-40B4-BE49-F238E27FC236}">
                <a16:creationId xmlns:a16="http://schemas.microsoft.com/office/drawing/2014/main" id="{D0F1240F-A7AB-A598-0FA4-9B041C738E81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54" name="TextBox 15">
            <a:extLst>
              <a:ext uri="{FF2B5EF4-FFF2-40B4-BE49-F238E27FC236}">
                <a16:creationId xmlns:a16="http://schemas.microsoft.com/office/drawing/2014/main" id="{1958B39F-7757-17E8-C9FD-C2ED2E23399C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5" name="TextBox 16">
            <a:extLst>
              <a:ext uri="{FF2B5EF4-FFF2-40B4-BE49-F238E27FC236}">
                <a16:creationId xmlns:a16="http://schemas.microsoft.com/office/drawing/2014/main" id="{7D1C40CD-1F3D-A4BE-133D-7FE1BCE4947F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12437A62-63A0-0D61-5A99-326428C39E74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22451D66-46D0-166F-431F-7CA05CCD9A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29" name="Picture 11">
            <a:extLst>
              <a:ext uri="{FF2B5EF4-FFF2-40B4-BE49-F238E27FC236}">
                <a16:creationId xmlns:a16="http://schemas.microsoft.com/office/drawing/2014/main" id="{5C13A9B9-E125-9B20-0B02-C4E5E9CA46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54000" y="3594100"/>
            <a:ext cx="1308100" cy="508000"/>
          </a:xfrm>
          <a:prstGeom prst="rect">
            <a:avLst/>
          </a:prstGeom>
        </p:spPr>
      </p:pic>
      <p:sp>
        <p:nvSpPr>
          <p:cNvPr id="30" name="TextBox 12">
            <a:extLst>
              <a:ext uri="{FF2B5EF4-FFF2-40B4-BE49-F238E27FC236}">
                <a16:creationId xmlns:a16="http://schemas.microsoft.com/office/drawing/2014/main" id="{C2AFA43C-55EA-16DE-4D62-C07B3895C642}"/>
              </a:ext>
            </a:extLst>
          </p:cNvPr>
          <p:cNvSpPr txBox="1"/>
          <p:nvPr/>
        </p:nvSpPr>
        <p:spPr>
          <a:xfrm>
            <a:off x="14478000" y="3594100"/>
            <a:ext cx="3327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933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기기 </a:t>
            </a:r>
            <a:r>
              <a:rPr lang="ko-KR" altLang="en-US" sz="2933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루팅</a:t>
            </a:r>
            <a:endParaRPr lang="en-US" sz="2933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4C42718D-E0CB-3875-004E-70E557BD5CE4}"/>
              </a:ext>
            </a:extLst>
          </p:cNvPr>
          <p:cNvSpPr txBox="1"/>
          <p:nvPr/>
        </p:nvSpPr>
        <p:spPr>
          <a:xfrm>
            <a:off x="14389100" y="4140200"/>
            <a:ext cx="7429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666" dirty="0" err="1">
                <a:latin typeface="Pretendard Medium"/>
                <a:ea typeface="Pretendard Medium"/>
                <a:cs typeface="Pretendard Medium"/>
              </a:rPr>
              <a:t>KernelSU</a:t>
            </a:r>
            <a:r>
              <a:rPr lang="ko-KR" altLang="en-US" sz="2666" dirty="0" err="1">
                <a:latin typeface="Pretendard Medium"/>
                <a:ea typeface="Pretendard Medium"/>
                <a:cs typeface="Pretendard Medium"/>
              </a:rPr>
              <a:t>를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 이용하여 기기 루트 권한 획득</a:t>
            </a:r>
            <a:endParaRPr lang="en-US" sz="2666" dirty="0"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382F8823-B4D0-E728-71F3-8F72A43BC109}"/>
              </a:ext>
            </a:extLst>
          </p:cNvPr>
          <p:cNvSpPr txBox="1"/>
          <p:nvPr/>
        </p:nvSpPr>
        <p:spPr>
          <a:xfrm>
            <a:off x="13131800" y="36703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pic>
        <p:nvPicPr>
          <p:cNvPr id="33" name="Picture 16">
            <a:extLst>
              <a:ext uri="{FF2B5EF4-FFF2-40B4-BE49-F238E27FC236}">
                <a16:creationId xmlns:a16="http://schemas.microsoft.com/office/drawing/2014/main" id="{402B63E3-3A8D-DD1B-77BE-388D296CA05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96800" y="54610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4DF4A78C-E532-850A-BFDA-568FB6D3A6C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42900" y="5969000"/>
            <a:ext cx="1308100" cy="508000"/>
          </a:xfrm>
          <a:prstGeom prst="rect">
            <a:avLst/>
          </a:prstGeom>
        </p:spPr>
      </p:pic>
      <p:sp>
        <p:nvSpPr>
          <p:cNvPr id="37" name="TextBox 18">
            <a:extLst>
              <a:ext uri="{FF2B5EF4-FFF2-40B4-BE49-F238E27FC236}">
                <a16:creationId xmlns:a16="http://schemas.microsoft.com/office/drawing/2014/main" id="{351DBC7F-864D-15FF-1798-D53369624328}"/>
              </a:ext>
            </a:extLst>
          </p:cNvPr>
          <p:cNvSpPr txBox="1"/>
          <p:nvPr/>
        </p:nvSpPr>
        <p:spPr>
          <a:xfrm>
            <a:off x="13220700" y="60325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2</a:t>
            </a:r>
          </a:p>
        </p:txBody>
      </p:sp>
      <p:pic>
        <p:nvPicPr>
          <p:cNvPr id="40" name="Picture 19">
            <a:extLst>
              <a:ext uri="{FF2B5EF4-FFF2-40B4-BE49-F238E27FC236}">
                <a16:creationId xmlns:a16="http://schemas.microsoft.com/office/drawing/2014/main" id="{61792763-3141-8B13-3598-79E50A8D2C6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60300" y="78613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41" name="Picture 20">
            <a:extLst>
              <a:ext uri="{FF2B5EF4-FFF2-40B4-BE49-F238E27FC236}">
                <a16:creationId xmlns:a16="http://schemas.microsoft.com/office/drawing/2014/main" id="{40A0C9B8-61C4-CD1B-B994-6E4C510AD10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42900" y="8331200"/>
            <a:ext cx="1308100" cy="508000"/>
          </a:xfrm>
          <a:prstGeom prst="rect">
            <a:avLst/>
          </a:prstGeom>
        </p:spPr>
      </p:pic>
      <p:sp>
        <p:nvSpPr>
          <p:cNvPr id="42" name="TextBox 21">
            <a:extLst>
              <a:ext uri="{FF2B5EF4-FFF2-40B4-BE49-F238E27FC236}">
                <a16:creationId xmlns:a16="http://schemas.microsoft.com/office/drawing/2014/main" id="{D57B0E20-E1BB-E777-556E-A88CD1BAD7E0}"/>
              </a:ext>
            </a:extLst>
          </p:cNvPr>
          <p:cNvSpPr txBox="1"/>
          <p:nvPr/>
        </p:nvSpPr>
        <p:spPr>
          <a:xfrm>
            <a:off x="14478000" y="8331200"/>
            <a:ext cx="5994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동적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디버깅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및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우회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공격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실행</a:t>
            </a:r>
            <a:endParaRPr lang="en-US" sz="2933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B09FC88B-DB40-CBAB-A17E-0AD0492F7C8B}"/>
              </a:ext>
            </a:extLst>
          </p:cNvPr>
          <p:cNvSpPr txBox="1"/>
          <p:nvPr/>
        </p:nvSpPr>
        <p:spPr>
          <a:xfrm>
            <a:off x="13220700" y="84074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3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2932BF0F-9AA2-E899-A12A-306FFD50D910}"/>
              </a:ext>
            </a:extLst>
          </p:cNvPr>
          <p:cNvSpPr txBox="1"/>
          <p:nvPr/>
        </p:nvSpPr>
        <p:spPr>
          <a:xfrm>
            <a:off x="14490700" y="8877300"/>
            <a:ext cx="77343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앱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실행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중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발생하는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탐지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로직을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Frida를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이용하여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실시간으로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우회</a:t>
            </a:r>
            <a:endParaRPr lang="en-US" sz="26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4D13E392-8E0F-03BB-3A9D-9222D9DC436D}"/>
              </a:ext>
            </a:extLst>
          </p:cNvPr>
          <p:cNvSpPr txBox="1"/>
          <p:nvPr/>
        </p:nvSpPr>
        <p:spPr>
          <a:xfrm>
            <a:off x="14478000" y="5969000"/>
            <a:ext cx="574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933" dirty="0">
                <a:latin typeface="Pretendard SemiBold"/>
                <a:ea typeface="Pretendard SemiBold"/>
                <a:cs typeface="Pretendard SemiBold"/>
              </a:rPr>
              <a:t>APK </a:t>
            </a:r>
            <a:r>
              <a:rPr lang="ko-KR" altLang="en-US" sz="2933" dirty="0">
                <a:latin typeface="Pretendard SemiBold"/>
                <a:ea typeface="Pretendard SemiBold"/>
                <a:cs typeface="Pretendard SemiBold"/>
              </a:rPr>
              <a:t>분석</a:t>
            </a:r>
            <a:endParaRPr lang="en-US" sz="2933" dirty="0"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6" name="TextBox 25">
            <a:extLst>
              <a:ext uri="{FF2B5EF4-FFF2-40B4-BE49-F238E27FC236}">
                <a16:creationId xmlns:a16="http://schemas.microsoft.com/office/drawing/2014/main" id="{7953C74E-FD52-AE45-D931-D9960568F9E8}"/>
              </a:ext>
            </a:extLst>
          </p:cNvPr>
          <p:cNvSpPr txBox="1"/>
          <p:nvPr/>
        </p:nvSpPr>
        <p:spPr>
          <a:xfrm>
            <a:off x="14490700" y="6515100"/>
            <a:ext cx="78740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666" dirty="0">
                <a:latin typeface="Pretendard Medium"/>
                <a:ea typeface="Pretendard Medium"/>
                <a:cs typeface="Pretendard Medium"/>
              </a:rPr>
              <a:t>JADX, </a:t>
            </a:r>
            <a:r>
              <a:rPr lang="en-US" sz="2666" dirty="0" err="1">
                <a:latin typeface="Pretendard Medium"/>
                <a:ea typeface="Pretendard Medium"/>
                <a:cs typeface="Pretendard Medium"/>
              </a:rPr>
              <a:t>Ghidra</a:t>
            </a:r>
            <a:r>
              <a:rPr lang="en-US" sz="2666" dirty="0"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등을 이용하여 소스코드 정적</a:t>
            </a:r>
            <a:r>
              <a:rPr lang="en-US" altLang="ko-KR" sz="2666" dirty="0"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분석</a:t>
            </a:r>
            <a:r>
              <a:rPr lang="en-US" altLang="ko-KR" sz="2666" dirty="0"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및 변조</a:t>
            </a:r>
            <a:endParaRPr lang="en-US" sz="2666" dirty="0"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9156700"/>
            <a:ext cx="304800" cy="342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23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0" y="3606800"/>
            <a:ext cx="5067300" cy="9004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2100" y="3124200"/>
            <a:ext cx="5232400" cy="9842500"/>
          </a:xfrm>
          <a:prstGeom prst="rect">
            <a:avLst/>
          </a:prstGeom>
          <a:effectLst>
            <a:outerShdw blurRad="287982" dist="120832" dir="2700000">
              <a:srgbClr val="000000">
                <a:alpha val="23000"/>
              </a:srgbClr>
            </a:outerShdw>
          </a:effectLst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진단 방법 - 위변조 탐지</a:t>
            </a: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6C3D67A8-A3D0-4489-A3B1-D308746E8254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4" name="TextBox 14">
            <a:extLst>
              <a:ext uri="{FF2B5EF4-FFF2-40B4-BE49-F238E27FC236}">
                <a16:creationId xmlns:a16="http://schemas.microsoft.com/office/drawing/2014/main" id="{6D39514F-A839-83AB-1236-64BD6055C84E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1" name="Picture 12">
            <a:extLst>
              <a:ext uri="{FF2B5EF4-FFF2-40B4-BE49-F238E27FC236}">
                <a16:creationId xmlns:a16="http://schemas.microsoft.com/office/drawing/2014/main" id="{5E688CCD-EB17-2962-6BC3-09B7B61E928A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52" name="TextBox 13">
            <a:extLst>
              <a:ext uri="{FF2B5EF4-FFF2-40B4-BE49-F238E27FC236}">
                <a16:creationId xmlns:a16="http://schemas.microsoft.com/office/drawing/2014/main" id="{6E5B6C42-8ABC-BE27-DAD5-A3D54D07D499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00BEB622-6A5D-2AA8-581D-366B3E34F137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4" name="TextBox 16">
            <a:extLst>
              <a:ext uri="{FF2B5EF4-FFF2-40B4-BE49-F238E27FC236}">
                <a16:creationId xmlns:a16="http://schemas.microsoft.com/office/drawing/2014/main" id="{C9BA78C7-234D-76A3-A978-311C31C7DAD3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5" name="TextBox 17">
            <a:extLst>
              <a:ext uri="{FF2B5EF4-FFF2-40B4-BE49-F238E27FC236}">
                <a16:creationId xmlns:a16="http://schemas.microsoft.com/office/drawing/2014/main" id="{A807C3DC-FB5F-9ADB-9F64-70C4B97C7A9E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8B5C13C3-3E3E-A059-59B3-8B6C75675C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60300" y="31242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34" name="Picture 12">
            <a:extLst>
              <a:ext uri="{FF2B5EF4-FFF2-40B4-BE49-F238E27FC236}">
                <a16:creationId xmlns:a16="http://schemas.microsoft.com/office/drawing/2014/main" id="{3FC2CC7D-1FD5-70E5-728E-3160885B3F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54000" y="3594100"/>
            <a:ext cx="1308100" cy="508000"/>
          </a:xfrm>
          <a:prstGeom prst="rect">
            <a:avLst/>
          </a:prstGeom>
        </p:spPr>
      </p:pic>
      <p:sp>
        <p:nvSpPr>
          <p:cNvPr id="35" name="TextBox 13">
            <a:extLst>
              <a:ext uri="{FF2B5EF4-FFF2-40B4-BE49-F238E27FC236}">
                <a16:creationId xmlns:a16="http://schemas.microsoft.com/office/drawing/2014/main" id="{821B2B29-7B73-800D-95D8-58C49FDC39B1}"/>
              </a:ext>
            </a:extLst>
          </p:cNvPr>
          <p:cNvSpPr txBox="1"/>
          <p:nvPr/>
        </p:nvSpPr>
        <p:spPr>
          <a:xfrm>
            <a:off x="14478000" y="3594100"/>
            <a:ext cx="3327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933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기기 </a:t>
            </a:r>
            <a:r>
              <a:rPr lang="ko-KR" altLang="en-US" sz="2933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루팅</a:t>
            </a:r>
            <a:endParaRPr lang="en-US" sz="2933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49572555-1363-34F6-3C0F-211815ED3D5A}"/>
              </a:ext>
            </a:extLst>
          </p:cNvPr>
          <p:cNvSpPr txBox="1"/>
          <p:nvPr/>
        </p:nvSpPr>
        <p:spPr>
          <a:xfrm>
            <a:off x="14389100" y="4140200"/>
            <a:ext cx="7543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666" dirty="0" err="1">
                <a:latin typeface="Pretendard Medium"/>
                <a:ea typeface="Pretendard Medium"/>
                <a:cs typeface="Pretendard Medium"/>
              </a:rPr>
              <a:t>KernelSU</a:t>
            </a:r>
            <a:r>
              <a:rPr lang="ko-KR" altLang="en-US" sz="2666" dirty="0" err="1">
                <a:latin typeface="Pretendard Medium"/>
                <a:ea typeface="Pretendard Medium"/>
                <a:cs typeface="Pretendard Medium"/>
              </a:rPr>
              <a:t>를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 이용하여 기기 루트 권한 획득</a:t>
            </a:r>
            <a:endParaRPr lang="en-US" sz="2666" dirty="0"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FF584671-25DB-648B-91AA-16F31F6C2D37}"/>
              </a:ext>
            </a:extLst>
          </p:cNvPr>
          <p:cNvSpPr txBox="1"/>
          <p:nvPr/>
        </p:nvSpPr>
        <p:spPr>
          <a:xfrm>
            <a:off x="13131800" y="36703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1</a:t>
            </a:r>
          </a:p>
        </p:txBody>
      </p:sp>
      <p:pic>
        <p:nvPicPr>
          <p:cNvPr id="38" name="Picture 17">
            <a:extLst>
              <a:ext uri="{FF2B5EF4-FFF2-40B4-BE49-F238E27FC236}">
                <a16:creationId xmlns:a16="http://schemas.microsoft.com/office/drawing/2014/main" id="{0A3B8BF8-71FA-C532-6ECB-68D26900F7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60300" y="54864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39" name="Picture 18">
            <a:extLst>
              <a:ext uri="{FF2B5EF4-FFF2-40B4-BE49-F238E27FC236}">
                <a16:creationId xmlns:a16="http://schemas.microsoft.com/office/drawing/2014/main" id="{7BC4E47D-1FED-1037-716D-0A842247D0F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42900" y="5969000"/>
            <a:ext cx="1308100" cy="508000"/>
          </a:xfrm>
          <a:prstGeom prst="rect">
            <a:avLst/>
          </a:prstGeom>
        </p:spPr>
      </p:pic>
      <p:sp>
        <p:nvSpPr>
          <p:cNvPr id="42" name="TextBox 19">
            <a:extLst>
              <a:ext uri="{FF2B5EF4-FFF2-40B4-BE49-F238E27FC236}">
                <a16:creationId xmlns:a16="http://schemas.microsoft.com/office/drawing/2014/main" id="{B43C0CF2-91A2-FB4A-0519-67AE98258268}"/>
              </a:ext>
            </a:extLst>
          </p:cNvPr>
          <p:cNvSpPr txBox="1"/>
          <p:nvPr/>
        </p:nvSpPr>
        <p:spPr>
          <a:xfrm>
            <a:off x="13220700" y="60325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2</a:t>
            </a:r>
          </a:p>
        </p:txBody>
      </p:sp>
      <p:pic>
        <p:nvPicPr>
          <p:cNvPr id="45" name="Picture 20">
            <a:extLst>
              <a:ext uri="{FF2B5EF4-FFF2-40B4-BE49-F238E27FC236}">
                <a16:creationId xmlns:a16="http://schemas.microsoft.com/office/drawing/2014/main" id="{EE6C482A-6A8E-0770-C0D5-05C7C735FB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60300" y="78613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46" name="Picture 21">
            <a:extLst>
              <a:ext uri="{FF2B5EF4-FFF2-40B4-BE49-F238E27FC236}">
                <a16:creationId xmlns:a16="http://schemas.microsoft.com/office/drawing/2014/main" id="{41896714-805C-B453-9ABB-6011108F853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42900" y="8331200"/>
            <a:ext cx="1308100" cy="508000"/>
          </a:xfrm>
          <a:prstGeom prst="rect">
            <a:avLst/>
          </a:prstGeom>
        </p:spPr>
      </p:pic>
      <p:sp>
        <p:nvSpPr>
          <p:cNvPr id="47" name="TextBox 22">
            <a:extLst>
              <a:ext uri="{FF2B5EF4-FFF2-40B4-BE49-F238E27FC236}">
                <a16:creationId xmlns:a16="http://schemas.microsoft.com/office/drawing/2014/main" id="{DA53F19F-B003-048C-BB63-4E403E585F39}"/>
              </a:ext>
            </a:extLst>
          </p:cNvPr>
          <p:cNvSpPr txBox="1"/>
          <p:nvPr/>
        </p:nvSpPr>
        <p:spPr>
          <a:xfrm>
            <a:off x="13220700" y="84074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Geologica Roman Light"/>
                <a:ea typeface="Geologica Roman Light"/>
                <a:cs typeface="Geologica Roman Light"/>
              </a:rPr>
              <a:t>Step 3</a:t>
            </a:r>
          </a:p>
        </p:txBody>
      </p:sp>
      <p:pic>
        <p:nvPicPr>
          <p:cNvPr id="48" name="Picture 23">
            <a:extLst>
              <a:ext uri="{FF2B5EF4-FFF2-40B4-BE49-F238E27FC236}">
                <a16:creationId xmlns:a16="http://schemas.microsoft.com/office/drawing/2014/main" id="{A3082EEE-626A-A480-D01C-0A5C394BB18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60300" y="10223500"/>
            <a:ext cx="9982200" cy="2032000"/>
          </a:xfrm>
          <a:prstGeom prst="rect">
            <a:avLst/>
          </a:prstGeom>
          <a:effectLst>
            <a:outerShdw blurRad="50918" dist="47002" dir="2700000">
              <a:srgbClr val="1A7AE1">
                <a:alpha val="15000"/>
              </a:srgbClr>
            </a:outerShdw>
          </a:effectLst>
        </p:spPr>
      </p:pic>
      <p:pic>
        <p:nvPicPr>
          <p:cNvPr id="49" name="Picture 24">
            <a:extLst>
              <a:ext uri="{FF2B5EF4-FFF2-40B4-BE49-F238E27FC236}">
                <a16:creationId xmlns:a16="http://schemas.microsoft.com/office/drawing/2014/main" id="{B3ACE94F-9B98-9B8A-C819-63285C53C79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42900" y="10693400"/>
            <a:ext cx="1308100" cy="508000"/>
          </a:xfrm>
          <a:prstGeom prst="rect">
            <a:avLst/>
          </a:prstGeom>
        </p:spPr>
      </p:pic>
      <p:sp>
        <p:nvSpPr>
          <p:cNvPr id="50" name="TextBox 25">
            <a:extLst>
              <a:ext uri="{FF2B5EF4-FFF2-40B4-BE49-F238E27FC236}">
                <a16:creationId xmlns:a16="http://schemas.microsoft.com/office/drawing/2014/main" id="{C85E9D74-1AE0-9208-9C89-558B790390B4}"/>
              </a:ext>
            </a:extLst>
          </p:cNvPr>
          <p:cNvSpPr txBox="1"/>
          <p:nvPr/>
        </p:nvSpPr>
        <p:spPr>
          <a:xfrm>
            <a:off x="14478000" y="10706100"/>
            <a:ext cx="6007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보호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기</a:t>
            </a:r>
            <a:r>
              <a:rPr lang="ko-KR" alt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법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우회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서비스</a:t>
            </a:r>
            <a:r>
              <a:rPr 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933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접근</a:t>
            </a:r>
            <a:endParaRPr lang="en-US" sz="2933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6" name="TextBox 26">
            <a:extLst>
              <a:ext uri="{FF2B5EF4-FFF2-40B4-BE49-F238E27FC236}">
                <a16:creationId xmlns:a16="http://schemas.microsoft.com/office/drawing/2014/main" id="{342AAE15-998B-37C0-2F88-4613C6485F45}"/>
              </a:ext>
            </a:extLst>
          </p:cNvPr>
          <p:cNvSpPr txBox="1"/>
          <p:nvPr/>
        </p:nvSpPr>
        <p:spPr>
          <a:xfrm>
            <a:off x="13220700" y="10769600"/>
            <a:ext cx="939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1A7AE1"/>
                </a:solidFill>
                <a:latin typeface="Geologica Roman Light"/>
                <a:ea typeface="Geologica Roman Light"/>
                <a:cs typeface="Geologica Roman Light"/>
              </a:rPr>
              <a:t>Step 4</a:t>
            </a:r>
          </a:p>
        </p:txBody>
      </p:sp>
      <p:sp>
        <p:nvSpPr>
          <p:cNvPr id="57" name="TextBox 27">
            <a:extLst>
              <a:ext uri="{FF2B5EF4-FFF2-40B4-BE49-F238E27FC236}">
                <a16:creationId xmlns:a16="http://schemas.microsoft.com/office/drawing/2014/main" id="{40A4A410-BA21-33BC-69A8-86102E65C9AC}"/>
              </a:ext>
            </a:extLst>
          </p:cNvPr>
          <p:cNvSpPr txBox="1"/>
          <p:nvPr/>
        </p:nvSpPr>
        <p:spPr>
          <a:xfrm>
            <a:off x="14490700" y="11239500"/>
            <a:ext cx="7734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무결성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오류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화면이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우회되고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정상적인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화면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진입에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성공</a:t>
            </a:r>
            <a:endParaRPr lang="en-US" sz="26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8" name="TextBox 30">
            <a:extLst>
              <a:ext uri="{FF2B5EF4-FFF2-40B4-BE49-F238E27FC236}">
                <a16:creationId xmlns:a16="http://schemas.microsoft.com/office/drawing/2014/main" id="{F41378AC-7C74-6587-AB2B-92CD2C320218}"/>
              </a:ext>
            </a:extLst>
          </p:cNvPr>
          <p:cNvSpPr txBox="1"/>
          <p:nvPr/>
        </p:nvSpPr>
        <p:spPr>
          <a:xfrm>
            <a:off x="14478000" y="8331200"/>
            <a:ext cx="5994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동적 디버깅 및 우회 공격 실행</a:t>
            </a:r>
          </a:p>
        </p:txBody>
      </p:sp>
      <p:sp>
        <p:nvSpPr>
          <p:cNvPr id="59" name="TextBox 31">
            <a:extLst>
              <a:ext uri="{FF2B5EF4-FFF2-40B4-BE49-F238E27FC236}">
                <a16:creationId xmlns:a16="http://schemas.microsoft.com/office/drawing/2014/main" id="{46DA86C6-0005-39F1-C6AA-B6C409601DF6}"/>
              </a:ext>
            </a:extLst>
          </p:cNvPr>
          <p:cNvSpPr txBox="1"/>
          <p:nvPr/>
        </p:nvSpPr>
        <p:spPr>
          <a:xfrm>
            <a:off x="14490700" y="8877300"/>
            <a:ext cx="77343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앱 실행 중 발생하는 탐지 로직을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Frida를 이용하여 실시간으로 우회</a:t>
            </a:r>
          </a:p>
        </p:txBody>
      </p:sp>
      <p:sp>
        <p:nvSpPr>
          <p:cNvPr id="60" name="TextBox 32">
            <a:extLst>
              <a:ext uri="{FF2B5EF4-FFF2-40B4-BE49-F238E27FC236}">
                <a16:creationId xmlns:a16="http://schemas.microsoft.com/office/drawing/2014/main" id="{A0B4F458-131D-689C-A27C-25D761EFA80C}"/>
              </a:ext>
            </a:extLst>
          </p:cNvPr>
          <p:cNvSpPr txBox="1"/>
          <p:nvPr/>
        </p:nvSpPr>
        <p:spPr>
          <a:xfrm>
            <a:off x="14478000" y="5969000"/>
            <a:ext cx="574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933" dirty="0">
                <a:latin typeface="Pretendard SemiBold"/>
                <a:ea typeface="Pretendard SemiBold"/>
                <a:cs typeface="Pretendard SemiBold"/>
              </a:rPr>
              <a:t>APK </a:t>
            </a:r>
            <a:r>
              <a:rPr lang="ko-KR" altLang="en-US" sz="2933" dirty="0">
                <a:latin typeface="Pretendard SemiBold"/>
                <a:ea typeface="Pretendard SemiBold"/>
                <a:cs typeface="Pretendard SemiBold"/>
              </a:rPr>
              <a:t>분석</a:t>
            </a:r>
            <a:endParaRPr lang="en-US" sz="2933" dirty="0"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1" name="TextBox 33">
            <a:extLst>
              <a:ext uri="{FF2B5EF4-FFF2-40B4-BE49-F238E27FC236}">
                <a16:creationId xmlns:a16="http://schemas.microsoft.com/office/drawing/2014/main" id="{212C7D2E-BC1C-7C00-A415-D05F42285C32}"/>
              </a:ext>
            </a:extLst>
          </p:cNvPr>
          <p:cNvSpPr txBox="1"/>
          <p:nvPr/>
        </p:nvSpPr>
        <p:spPr>
          <a:xfrm>
            <a:off x="14490700" y="6515100"/>
            <a:ext cx="78740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666" dirty="0">
                <a:latin typeface="Pretendard Medium"/>
                <a:ea typeface="Pretendard Medium"/>
                <a:cs typeface="Pretendard Medium"/>
              </a:rPr>
              <a:t>JADX, </a:t>
            </a:r>
            <a:r>
              <a:rPr lang="en-US" sz="2666" dirty="0" err="1">
                <a:latin typeface="Pretendard Medium"/>
                <a:ea typeface="Pretendard Medium"/>
                <a:cs typeface="Pretendard Medium"/>
              </a:rPr>
              <a:t>Ghidra</a:t>
            </a:r>
            <a:r>
              <a:rPr lang="en-US" sz="2666" dirty="0"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등을 이용하여 소스코드 정적</a:t>
            </a:r>
            <a:r>
              <a:rPr lang="en-US" altLang="ko-KR" sz="2666" dirty="0"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분석</a:t>
            </a:r>
            <a:r>
              <a:rPr lang="en-US" altLang="ko-KR" sz="2666" dirty="0"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dirty="0">
                <a:latin typeface="Pretendard Medium"/>
                <a:ea typeface="Pretendard Medium"/>
                <a:cs typeface="Pretendard Medium"/>
              </a:rPr>
              <a:t>및 변조</a:t>
            </a:r>
            <a:endParaRPr lang="en-US" sz="2666" dirty="0"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0" y="8509000"/>
            <a:ext cx="9334500" cy="3746500"/>
          </a:xfrm>
          <a:prstGeom prst="rect">
            <a:avLst/>
          </a:prstGeom>
          <a:effectLst>
            <a:outerShdw blurRad="93663" dist="86458" dir="2700000">
              <a:srgbClr val="1A7AE1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24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4089400"/>
            <a:ext cx="9334500" cy="3746500"/>
          </a:xfrm>
          <a:prstGeom prst="rect">
            <a:avLst/>
          </a:prstGeom>
          <a:effectLst>
            <a:outerShdw blurRad="93663" dist="86458" dir="2700000">
              <a:srgbClr val="1A7AE1">
                <a:alpha val="15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3429000" y="4851400"/>
            <a:ext cx="6286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99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Google Play Integrity API 적용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36800" y="5880100"/>
            <a:ext cx="81788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666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설치 파일의 무결성을 Google의 신뢰된 플랫폼을 통해 </a:t>
            </a:r>
          </a:p>
          <a:p>
            <a:pPr lvl="0" algn="ctr">
              <a:lnSpc>
                <a:spcPct val="149400"/>
              </a:lnSpc>
            </a:pPr>
            <a:r>
              <a:rPr lang="en-US" sz="2666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직접 검증하여 위·변조된 앱에서의 실행을 차단해야 합니다.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0" y="4089400"/>
            <a:ext cx="9334500" cy="3746500"/>
          </a:xfrm>
          <a:prstGeom prst="rect">
            <a:avLst/>
          </a:prstGeom>
          <a:effectLst>
            <a:outerShdw blurRad="93663" dist="86458" dir="2700000">
              <a:srgbClr val="1A7AE1">
                <a:alpha val="15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14490700" y="4851400"/>
            <a:ext cx="6807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99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JNI 계층 기반 플래그 은닉 및 동적 검증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82700" y="5880100"/>
            <a:ext cx="82677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666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인증 및 무결성 상태 플래그를 JNI 계층에 은닉해  API 요청시 검증하여 메모리 조작 및 기능의 강제 실행을 차단해야 합니다.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8509000"/>
            <a:ext cx="9334500" cy="3746500"/>
          </a:xfrm>
          <a:prstGeom prst="rect">
            <a:avLst/>
          </a:prstGeom>
          <a:effectLst>
            <a:outerShdw blurRad="93663" dist="86458" dir="2700000">
              <a:srgbClr val="1A7AE1">
                <a:alpha val="15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3810000" y="9283700"/>
            <a:ext cx="5511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99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서버 연계 무결성 토큰 교차 검증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28900" y="10350500"/>
            <a:ext cx="78867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666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앱이 API를 요청할 때 무결성 상태를 증명하는 토큰을 함께 전송하여 서버에서 토큰의 유효성을 검증해야 합니다.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5700" y="5943600"/>
            <a:ext cx="4381500" cy="4381500"/>
          </a:xfrm>
          <a:prstGeom prst="rect">
            <a:avLst/>
          </a:prstGeom>
          <a:effectLst>
            <a:outerShdw blurRad="109630" dist="168662" dir="2700000">
              <a:srgbClr val="C2C2C2">
                <a:alpha val="25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90000" y="4470400"/>
            <a:ext cx="495300" cy="495300"/>
          </a:xfrm>
          <a:prstGeom prst="rect">
            <a:avLst/>
          </a:prstGeom>
          <a:effectLst>
            <a:outerShdw blurRad="24617" dist="18936" dir="2700000">
              <a:srgbClr val="C2C2C2">
                <a:alpha val="25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7000" y="4622800"/>
            <a:ext cx="266700" cy="2032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858500" y="7467600"/>
            <a:ext cx="2743200" cy="1320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위변조 탐지</a:t>
            </a:r>
          </a:p>
          <a:p>
            <a:pPr lvl="0" algn="ctr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(App)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062200" y="9182100"/>
            <a:ext cx="5511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안티디버깅 기술 적용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300200" y="10325100"/>
            <a:ext cx="71374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9400"/>
              </a:lnSpc>
            </a:pPr>
            <a:r>
              <a:rPr lang="en-US" sz="2666" b="0" i="0" u="none" strike="noStrike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공격자가 코드를 디버거 도구를 이용해 역분석하거나 로직을 조작하는 것을 실시간으로 탐지해야 합니다.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90000" y="8902700"/>
            <a:ext cx="495300" cy="495300"/>
          </a:xfrm>
          <a:prstGeom prst="rect">
            <a:avLst/>
          </a:prstGeom>
          <a:effectLst>
            <a:outerShdw blurRad="24617" dist="18936" dir="2700000">
              <a:srgbClr val="C2C2C2">
                <a:alpha val="25000"/>
              </a:srgbClr>
            </a:outerShdw>
          </a:effectLst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7000" y="9067800"/>
            <a:ext cx="266700" cy="203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App 보안 대책 - 위변조 탐지</a:t>
            </a: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DBE1780F-D86F-600E-EA80-0D61FA36E1CF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5177A691-2805-FBF1-B7CD-86B079EAF7D2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0" name="Picture 12">
            <a:extLst>
              <a:ext uri="{FF2B5EF4-FFF2-40B4-BE49-F238E27FC236}">
                <a16:creationId xmlns:a16="http://schemas.microsoft.com/office/drawing/2014/main" id="{FB6A3B88-E4FB-8E08-0233-3A75D19319AC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9118600" y="571500"/>
            <a:ext cx="1993900" cy="444500"/>
          </a:xfrm>
          <a:prstGeom prst="rect">
            <a:avLst/>
          </a:prstGeom>
        </p:spPr>
      </p:pic>
      <p:sp>
        <p:nvSpPr>
          <p:cNvPr id="41" name="TextBox 13">
            <a:extLst>
              <a:ext uri="{FF2B5EF4-FFF2-40B4-BE49-F238E27FC236}">
                <a16:creationId xmlns:a16="http://schemas.microsoft.com/office/drawing/2014/main" id="{A825A965-2ABD-8E67-FC5E-7F6F500621E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B57A9132-F73C-DC77-60D1-B009A61A6A42}"/>
              </a:ext>
            </a:extLst>
          </p:cNvPr>
          <p:cNvSpPr txBox="1"/>
          <p:nvPr/>
        </p:nvSpPr>
        <p:spPr>
          <a:xfrm>
            <a:off x="11353800" y="4572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DC2E8A06-4930-6914-60C6-F44FE4E2D8B0}"/>
              </a:ext>
            </a:extLst>
          </p:cNvPr>
          <p:cNvSpPr txBox="1"/>
          <p:nvPr/>
        </p:nvSpPr>
        <p:spPr>
          <a:xfrm>
            <a:off x="14097000" y="4699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48DBFCF9-3B63-5774-C39B-BFBE79718ED4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5C631-32EA-69DE-35F8-19F010DD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66D9B07-932A-914C-2F47-09B267DC9D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798800" y="-18034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374CC7B-273C-FB39-F3C2-4D4058657A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2806700" y="4838354"/>
            <a:ext cx="11442700" cy="114427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1CBB3B70-3A26-A295-817B-AB33354AB771}"/>
              </a:ext>
            </a:extLst>
          </p:cNvPr>
          <p:cNvSpPr txBox="1"/>
          <p:nvPr/>
        </p:nvSpPr>
        <p:spPr>
          <a:xfrm>
            <a:off x="6858000" y="4838354"/>
            <a:ext cx="9580972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43590"/>
              </a:lnSpc>
            </a:pPr>
            <a:r>
              <a:rPr lang="ko-KR" altLang="en-US" sz="96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시나리오 </a:t>
            </a:r>
            <a:r>
              <a:rPr lang="ko-KR" altLang="en-US" sz="96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모의해킹</a:t>
            </a:r>
            <a:endParaRPr lang="en-US" altLang="ko-KR" sz="96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2EC23B-25F6-0760-E4D6-38B6191EDC73}"/>
              </a:ext>
            </a:extLst>
          </p:cNvPr>
          <p:cNvSpPr txBox="1"/>
          <p:nvPr/>
        </p:nvSpPr>
        <p:spPr>
          <a:xfrm>
            <a:off x="2114550" y="2057400"/>
            <a:ext cx="4972050" cy="5982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3590"/>
              </a:lnSpc>
            </a:pPr>
            <a:r>
              <a:rPr lang="en-US" altLang="ko-KR" sz="30000" dirty="0">
                <a:solidFill>
                  <a:srgbClr val="1A7AE1"/>
                </a:solidFill>
                <a:latin typeface="Pretendard Regular" panose="02000503000000020004" pitchFamily="2" charset="-127"/>
                <a:ea typeface="Pretendard Regular" panose="02000503000000020004" pitchFamily="2" charset="-127"/>
                <a:cs typeface="Pretendard Regular" panose="02000503000000020004" pitchFamily="2" charset="-127"/>
              </a:rPr>
              <a:t>03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07902BA-0792-0AEA-7F30-7CC3D992A4CE}"/>
              </a:ext>
            </a:extLst>
          </p:cNvPr>
          <p:cNvCxnSpPr>
            <a:cxnSpLocks/>
          </p:cNvCxnSpPr>
          <p:nvPr/>
        </p:nvCxnSpPr>
        <p:spPr>
          <a:xfrm>
            <a:off x="6661150" y="6858000"/>
            <a:ext cx="13760450" cy="0"/>
          </a:xfrm>
          <a:prstGeom prst="line">
            <a:avLst/>
          </a:prstGeom>
          <a:ln w="57150">
            <a:solidFill>
              <a:srgbClr val="1A7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BBE4769B-07AE-0C8A-37E8-A1CB85FFCD3D}"/>
              </a:ext>
            </a:extLst>
          </p:cNvPr>
          <p:cNvCxnSpPr>
            <a:cxnSpLocks/>
          </p:cNvCxnSpPr>
          <p:nvPr/>
        </p:nvCxnSpPr>
        <p:spPr>
          <a:xfrm>
            <a:off x="4857114" y="3191568"/>
            <a:ext cx="781686" cy="0"/>
          </a:xfrm>
          <a:prstGeom prst="line">
            <a:avLst/>
          </a:prstGeom>
          <a:ln w="9525">
            <a:solidFill>
              <a:srgbClr val="1A7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3789577-995E-8457-51B3-97C93A19E186}"/>
              </a:ext>
            </a:extLst>
          </p:cNvPr>
          <p:cNvSpPr txBox="1"/>
          <p:nvPr/>
        </p:nvSpPr>
        <p:spPr>
          <a:xfrm>
            <a:off x="2514600" y="2872827"/>
            <a:ext cx="3048000" cy="63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500" dirty="0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  <a:endParaRPr lang="en-US" altLang="ko-KR" sz="3500" b="0" i="0" u="none" strike="noStrike" dirty="0">
              <a:solidFill>
                <a:srgbClr val="1A7AE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2245AD24-4CE9-5A36-5448-BE6EBE124868}"/>
              </a:ext>
            </a:extLst>
          </p:cNvPr>
          <p:cNvSpPr/>
          <p:nvPr/>
        </p:nvSpPr>
        <p:spPr>
          <a:xfrm>
            <a:off x="20246913" y="6704980"/>
            <a:ext cx="303274" cy="304800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2D3A09E5-8DEC-B9D5-1600-8EF13B58A1D9}"/>
              </a:ext>
            </a:extLst>
          </p:cNvPr>
          <p:cNvSpPr/>
          <p:nvPr/>
        </p:nvSpPr>
        <p:spPr>
          <a:xfrm>
            <a:off x="6934200" y="7620000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AFB7EA9C-5B07-2663-B0A2-D44746C6DA08}"/>
              </a:ext>
            </a:extLst>
          </p:cNvPr>
          <p:cNvSpPr/>
          <p:nvPr/>
        </p:nvSpPr>
        <p:spPr>
          <a:xfrm>
            <a:off x="6934200" y="8554605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CF8D49E4-8ACB-5547-A499-DED08B939753}"/>
              </a:ext>
            </a:extLst>
          </p:cNvPr>
          <p:cNvSpPr/>
          <p:nvPr/>
        </p:nvSpPr>
        <p:spPr>
          <a:xfrm>
            <a:off x="6934200" y="9465397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9B4FDA-F307-3B66-2558-CEB972E33D2F}"/>
              </a:ext>
            </a:extLst>
          </p:cNvPr>
          <p:cNvSpPr txBox="1"/>
          <p:nvPr/>
        </p:nvSpPr>
        <p:spPr>
          <a:xfrm>
            <a:off x="7389018" y="7338139"/>
            <a:ext cx="8460582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협력사망 경유를 통한 공급망 연쇄 침투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D4BE477-EA04-4BD7-754A-F9A38C79F527}"/>
              </a:ext>
            </a:extLst>
          </p:cNvPr>
          <p:cNvSpPr txBox="1"/>
          <p:nvPr/>
        </p:nvSpPr>
        <p:spPr>
          <a:xfrm>
            <a:off x="7377113" y="8386857"/>
            <a:ext cx="6186489" cy="52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899"/>
              </a:lnSpc>
            </a:pPr>
            <a:r>
              <a:rPr lang="en-US" altLang="ko-KR" sz="2800" spc="-300" dirty="0" err="1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연쇄</a:t>
            </a:r>
            <a:r>
              <a:rPr lang="en-US" altLang="ko-KR" sz="2800" spc="-300" dirty="0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 </a:t>
            </a:r>
            <a:r>
              <a:rPr lang="en-US" altLang="ko-KR" sz="2800" spc="-300" dirty="0" err="1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침투를</a:t>
            </a:r>
            <a:r>
              <a:rPr lang="en-US" altLang="ko-KR" sz="2800" spc="-300" dirty="0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 </a:t>
            </a:r>
            <a:r>
              <a:rPr lang="en-US" altLang="ko-KR" sz="2800" spc="-300" dirty="0" err="1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통한</a:t>
            </a:r>
            <a:r>
              <a:rPr lang="en-US" altLang="ko-KR" sz="2800" spc="-300" dirty="0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 </a:t>
            </a:r>
            <a:r>
              <a:rPr lang="en-US" altLang="ko-KR" sz="2800" spc="-300" dirty="0" err="1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지능형</a:t>
            </a:r>
            <a:r>
              <a:rPr lang="en-US" altLang="ko-KR" sz="2800" spc="-300" dirty="0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 </a:t>
            </a:r>
            <a:r>
              <a:rPr lang="en-US" altLang="ko-KR" sz="2800" spc="-300" dirty="0" err="1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보이스피싱</a:t>
            </a:r>
            <a:r>
              <a:rPr lang="en-US" altLang="ko-KR" sz="2800" spc="-300" dirty="0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 </a:t>
            </a:r>
            <a:r>
              <a:rPr lang="en-US" altLang="ko-KR" sz="2800" spc="-300" dirty="0" err="1">
                <a:solidFill>
                  <a:srgbClr val="48494B"/>
                </a:solidFill>
                <a:latin typeface="Pretendard Medium" panose="020B0600000101010101" charset="-127"/>
                <a:ea typeface="Pretendard Medium" panose="020B0600000101010101" charset="-127"/>
                <a:cs typeface="Pretendard SemiBold"/>
              </a:rPr>
              <a:t>공격</a:t>
            </a:r>
            <a:endParaRPr lang="en-US" altLang="ko-KR" sz="2800" spc="-300" dirty="0">
              <a:solidFill>
                <a:srgbClr val="48494B"/>
              </a:solidFill>
              <a:latin typeface="Pretendard Medium" panose="020B0600000101010101" charset="-127"/>
              <a:ea typeface="Pretendard Medium" panose="020B0600000101010101" charset="-127"/>
              <a:cs typeface="Pretendard SemiBold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C347C5-D95E-35A1-3852-5BC82BD3E3AC}"/>
              </a:ext>
            </a:extLst>
          </p:cNvPr>
          <p:cNvSpPr txBox="1"/>
          <p:nvPr/>
        </p:nvSpPr>
        <p:spPr>
          <a:xfrm>
            <a:off x="7333456" y="9147867"/>
            <a:ext cx="3486944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보안 대책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EFE6D1B-9B91-A052-AE01-7891AABA185B}"/>
              </a:ext>
            </a:extLst>
          </p:cNvPr>
          <p:cNvSpPr/>
          <p:nvPr/>
        </p:nvSpPr>
        <p:spPr>
          <a:xfrm>
            <a:off x="17326031" y="3808760"/>
            <a:ext cx="6219769" cy="6249640"/>
          </a:xfrm>
          <a:prstGeom prst="ellipse">
            <a:avLst/>
          </a:prstGeom>
          <a:noFill/>
          <a:ln w="38100">
            <a:solidFill>
              <a:srgbClr val="1A7AE1">
                <a:alpha val="3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E429B993-9D2F-7522-3670-B975179983EC}"/>
              </a:ext>
            </a:extLst>
          </p:cNvPr>
          <p:cNvSpPr/>
          <p:nvPr/>
        </p:nvSpPr>
        <p:spPr>
          <a:xfrm>
            <a:off x="18643481" y="5180421"/>
            <a:ext cx="3584867" cy="3546788"/>
          </a:xfrm>
          <a:prstGeom prst="ellipse">
            <a:avLst/>
          </a:prstGeom>
          <a:solidFill>
            <a:srgbClr val="1A7AE1">
              <a:alpha val="8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원형: 비어 있음 89">
            <a:extLst>
              <a:ext uri="{FF2B5EF4-FFF2-40B4-BE49-F238E27FC236}">
                <a16:creationId xmlns:a16="http://schemas.microsoft.com/office/drawing/2014/main" id="{CCADFAB1-5904-6780-F11A-A64FF9322806}"/>
              </a:ext>
            </a:extLst>
          </p:cNvPr>
          <p:cNvSpPr/>
          <p:nvPr/>
        </p:nvSpPr>
        <p:spPr>
          <a:xfrm>
            <a:off x="17781407" y="4228873"/>
            <a:ext cx="5334000" cy="5415371"/>
          </a:xfrm>
          <a:prstGeom prst="donut">
            <a:avLst>
              <a:gd name="adj" fmla="val 3577"/>
            </a:avLst>
          </a:prstGeom>
          <a:solidFill>
            <a:srgbClr val="1A7AE1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152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45" name="Picture 12">
            <a:extLst>
              <a:ext uri="{FF2B5EF4-FFF2-40B4-BE49-F238E27FC236}">
                <a16:creationId xmlns:a16="http://schemas.microsoft.com/office/drawing/2014/main" id="{8278858F-CA38-5268-06D0-2EAA02F17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3340100"/>
            <a:ext cx="15963900" cy="3517900"/>
          </a:xfrm>
          <a:prstGeom prst="rect">
            <a:avLst/>
          </a:prstGeom>
          <a:effectLst>
            <a:outerShdw blurRad="193432" dist="81160" dir="2700000">
              <a:srgbClr val="000000">
                <a:alpha val="23000"/>
              </a:srgbClr>
            </a:outerShdw>
          </a:effectLst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54600" y="3733800"/>
            <a:ext cx="30988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시나리오 요약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54600" y="4775200"/>
            <a:ext cx="145034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협력사망을 최초 침투 거점 삼아, 망 분리 환경의 필수 파일 교환 접점인 DMZ를 거쳐 </a:t>
            </a: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 내부망과 CI/CD 파이프라인까지 연쇄적으로 장악하는 End-to-End 공격 시나리오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2400000">
            <a:off x="6477000" y="10172700"/>
            <a:ext cx="990600" cy="12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 rot="2400000">
            <a:off x="12827000" y="10172700"/>
            <a:ext cx="990600" cy="12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 rot="-2400000">
            <a:off x="16014700" y="10172700"/>
            <a:ext cx="9906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 rot="-2400000">
            <a:off x="9652000" y="10172700"/>
            <a:ext cx="990600" cy="12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9200" y="71755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7721600"/>
            <a:ext cx="444500" cy="4445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245100" y="77851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27500" y="8420100"/>
            <a:ext cx="2806700" cy="109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초기 정찰 및 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외주망 침투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3400" y="98679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0" y="10414000"/>
            <a:ext cx="444500" cy="4445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8382000" y="104775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53300" y="11468100"/>
            <a:ext cx="25146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파일 서버 장악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07600" y="71755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18900" y="7721600"/>
            <a:ext cx="444500" cy="4445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11506200" y="77851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490200" y="8420100"/>
            <a:ext cx="25146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 횡적 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이동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144500" y="98679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43100" y="10426700"/>
            <a:ext cx="444500" cy="4445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4630400" y="104902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385800" y="11201400"/>
            <a:ext cx="29591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메일 서버 악용 및
브라우저 탈출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68700" y="71755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767300" y="7721600"/>
            <a:ext cx="444500" cy="4445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7767300" y="77851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611600" y="8420100"/>
            <a:ext cx="27686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GitLab 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액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세스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6" name="TextBox 14">
            <a:extLst>
              <a:ext uri="{FF2B5EF4-FFF2-40B4-BE49-F238E27FC236}">
                <a16:creationId xmlns:a16="http://schemas.microsoft.com/office/drawing/2014/main" id="{1BD18F95-2892-6704-1E4C-F90F91976C90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7" name="TextBox 14">
            <a:extLst>
              <a:ext uri="{FF2B5EF4-FFF2-40B4-BE49-F238E27FC236}">
                <a16:creationId xmlns:a16="http://schemas.microsoft.com/office/drawing/2014/main" id="{247F121B-B347-65DE-A9C6-E0EB345E470D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26</a:t>
            </a:r>
          </a:p>
        </p:txBody>
      </p:sp>
      <p:sp>
        <p:nvSpPr>
          <p:cNvPr id="68" name="TextBox 14">
            <a:extLst>
              <a:ext uri="{FF2B5EF4-FFF2-40B4-BE49-F238E27FC236}">
                <a16:creationId xmlns:a16="http://schemas.microsoft.com/office/drawing/2014/main" id="{B62C0957-3A01-1620-3849-45C591AD227E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836899CB-A11A-2BC0-2DB7-00DA802AA6A1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5" name="Picture 2">
            <a:extLst>
              <a:ext uri="{FF2B5EF4-FFF2-40B4-BE49-F238E27FC236}">
                <a16:creationId xmlns:a16="http://schemas.microsoft.com/office/drawing/2014/main" id="{8C4CC967-90E7-5A2B-5679-5C6D797CEF3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76" name="TextBox 16">
            <a:extLst>
              <a:ext uri="{FF2B5EF4-FFF2-40B4-BE49-F238E27FC236}">
                <a16:creationId xmlns:a16="http://schemas.microsoft.com/office/drawing/2014/main" id="{C82B310E-7084-2962-6FB5-AF5709A21EEC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77" name="TextBox 18">
            <a:extLst>
              <a:ext uri="{FF2B5EF4-FFF2-40B4-BE49-F238E27FC236}">
                <a16:creationId xmlns:a16="http://schemas.microsoft.com/office/drawing/2014/main" id="{98720143-2BE7-3D13-36FA-08F7F30D7C95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78" name="TextBox 19">
            <a:extLst>
              <a:ext uri="{FF2B5EF4-FFF2-40B4-BE49-F238E27FC236}">
                <a16:creationId xmlns:a16="http://schemas.microsoft.com/office/drawing/2014/main" id="{09F8553C-E13A-4C9A-9F2B-D81E25FABABA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9" name="TextBox 20">
            <a:extLst>
              <a:ext uri="{FF2B5EF4-FFF2-40B4-BE49-F238E27FC236}">
                <a16:creationId xmlns:a16="http://schemas.microsoft.com/office/drawing/2014/main" id="{9E257B0F-B5F3-58A6-C5DF-084BA2489DC0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577E9A6E-5124-24E4-513C-6609F2B2B5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5300" y="3371850"/>
            <a:ext cx="21361400" cy="9131300"/>
          </a:xfrm>
          <a:prstGeom prst="rect">
            <a:avLst/>
          </a:prstGeom>
          <a:effectLst>
            <a:outerShdw blurRad="228274" dist="210714" dir="2700000">
              <a:srgbClr val="1A7AE1">
                <a:alpha val="15000"/>
              </a:srgbClr>
            </a:outerShdw>
          </a:effectLst>
        </p:spPr>
      </p:pic>
      <p:pic>
        <p:nvPicPr>
          <p:cNvPr id="13" name="Picture 19">
            <a:extLst>
              <a:ext uri="{FF2B5EF4-FFF2-40B4-BE49-F238E27FC236}">
                <a16:creationId xmlns:a16="http://schemas.microsoft.com/office/drawing/2014/main" id="{E66249B9-3D44-17B2-FE16-9D44C02E9A71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5400000">
            <a:off x="4051300" y="7975600"/>
            <a:ext cx="9131300" cy="76200"/>
          </a:xfrm>
          <a:prstGeom prst="rect">
            <a:avLst/>
          </a:prstGeom>
        </p:spPr>
      </p:pic>
      <p:pic>
        <p:nvPicPr>
          <p:cNvPr id="14" name="Picture 20">
            <a:extLst>
              <a:ext uri="{FF2B5EF4-FFF2-40B4-BE49-F238E27FC236}">
                <a16:creationId xmlns:a16="http://schemas.microsoft.com/office/drawing/2014/main" id="{F29EEB3C-21A9-5545-4C0D-2464D9A6C703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 rot="5400000">
            <a:off x="11176000" y="7975600"/>
            <a:ext cx="9144000" cy="76200"/>
          </a:xfrm>
          <a:prstGeom prst="rect">
            <a:avLst/>
          </a:prstGeom>
        </p:spPr>
      </p:pic>
      <p:sp>
        <p:nvSpPr>
          <p:cNvPr id="15" name="TextBox 21">
            <a:extLst>
              <a:ext uri="{FF2B5EF4-FFF2-40B4-BE49-F238E27FC236}">
                <a16:creationId xmlns:a16="http://schemas.microsoft.com/office/drawing/2014/main" id="{1C87F608-A8E6-163A-5BE6-404CB4CDB6AC}"/>
              </a:ext>
            </a:extLst>
          </p:cNvPr>
          <p:cNvSpPr txBox="1"/>
          <p:nvPr/>
        </p:nvSpPr>
        <p:spPr>
          <a:xfrm>
            <a:off x="3822700" y="4178300"/>
            <a:ext cx="320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외부망</a:t>
            </a: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B059D122-4C71-C5E8-36F0-96F9F875DAAA}"/>
              </a:ext>
            </a:extLst>
          </p:cNvPr>
          <p:cNvSpPr txBox="1"/>
          <p:nvPr/>
        </p:nvSpPr>
        <p:spPr>
          <a:xfrm>
            <a:off x="10566400" y="4140200"/>
            <a:ext cx="3454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－ </a:t>
            </a:r>
            <a:r>
              <a:rPr lang="en-US" altLang="ko-KR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DMZ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29014EA8-93C3-1638-169D-9B2DD7F764B3}"/>
              </a:ext>
            </a:extLst>
          </p:cNvPr>
          <p:cNvSpPr txBox="1"/>
          <p:nvPr/>
        </p:nvSpPr>
        <p:spPr>
          <a:xfrm>
            <a:off x="17818100" y="4140200"/>
            <a:ext cx="3454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본사망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8" name="Picture 24">
            <a:extLst>
              <a:ext uri="{FF2B5EF4-FFF2-40B4-BE49-F238E27FC236}">
                <a16:creationId xmlns:a16="http://schemas.microsoft.com/office/drawing/2014/main" id="{D0FBB473-9588-FDDB-8C5E-445B098529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1400" y="5321300"/>
            <a:ext cx="1168400" cy="1130300"/>
          </a:xfrm>
          <a:prstGeom prst="rect">
            <a:avLst/>
          </a:prstGeom>
        </p:spPr>
      </p:pic>
      <p:sp>
        <p:nvSpPr>
          <p:cNvPr id="67" name="TextBox 25">
            <a:extLst>
              <a:ext uri="{FF2B5EF4-FFF2-40B4-BE49-F238E27FC236}">
                <a16:creationId xmlns:a16="http://schemas.microsoft.com/office/drawing/2014/main" id="{EEA4C229-DDF5-BCFF-6DC9-8E79F7BE41B1}"/>
              </a:ext>
            </a:extLst>
          </p:cNvPr>
          <p:cNvSpPr txBox="1"/>
          <p:nvPr/>
        </p:nvSpPr>
        <p:spPr>
          <a:xfrm>
            <a:off x="4305300" y="6489700"/>
            <a:ext cx="2286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</a:t>
            </a:r>
          </a:p>
        </p:txBody>
      </p:sp>
      <p:pic>
        <p:nvPicPr>
          <p:cNvPr id="70" name="Picture 26">
            <a:extLst>
              <a:ext uri="{FF2B5EF4-FFF2-40B4-BE49-F238E27FC236}">
                <a16:creationId xmlns:a16="http://schemas.microsoft.com/office/drawing/2014/main" id="{96300EB0-7791-857F-A0C1-9166EBD4DAEB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1765300" y="7861300"/>
            <a:ext cx="6896100" cy="76200"/>
          </a:xfrm>
          <a:prstGeom prst="rect">
            <a:avLst/>
          </a:prstGeom>
        </p:spPr>
      </p:pic>
      <p:sp>
        <p:nvSpPr>
          <p:cNvPr id="71" name="TextBox 27">
            <a:extLst>
              <a:ext uri="{FF2B5EF4-FFF2-40B4-BE49-F238E27FC236}">
                <a16:creationId xmlns:a16="http://schemas.microsoft.com/office/drawing/2014/main" id="{8C965B33-083E-330C-EF89-EA7B99610ABE}"/>
              </a:ext>
            </a:extLst>
          </p:cNvPr>
          <p:cNvSpPr txBox="1"/>
          <p:nvPr/>
        </p:nvSpPr>
        <p:spPr>
          <a:xfrm>
            <a:off x="3879850" y="8413751"/>
            <a:ext cx="320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협력사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망</a:t>
            </a:r>
          </a:p>
        </p:txBody>
      </p:sp>
      <p:pic>
        <p:nvPicPr>
          <p:cNvPr id="72" name="Picture 28">
            <a:extLst>
              <a:ext uri="{FF2B5EF4-FFF2-40B4-BE49-F238E27FC236}">
                <a16:creationId xmlns:a16="http://schemas.microsoft.com/office/drawing/2014/main" id="{69184DD2-FB72-2DDC-B01F-1EF78773B3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0" y="9550400"/>
            <a:ext cx="1422400" cy="1168400"/>
          </a:xfrm>
          <a:prstGeom prst="rect">
            <a:avLst/>
          </a:prstGeom>
        </p:spPr>
      </p:pic>
      <p:sp>
        <p:nvSpPr>
          <p:cNvPr id="73" name="TextBox 29">
            <a:extLst>
              <a:ext uri="{FF2B5EF4-FFF2-40B4-BE49-F238E27FC236}">
                <a16:creationId xmlns:a16="http://schemas.microsoft.com/office/drawing/2014/main" id="{D6BF2FF3-1453-8951-6E67-74BBD102EA3C}"/>
              </a:ext>
            </a:extLst>
          </p:cNvPr>
          <p:cNvSpPr txBox="1"/>
          <p:nvPr/>
        </p:nvSpPr>
        <p:spPr>
          <a:xfrm>
            <a:off x="4559300" y="10909300"/>
            <a:ext cx="1828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7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프린터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74" name="Picture 30">
            <a:extLst>
              <a:ext uri="{FF2B5EF4-FFF2-40B4-BE49-F238E27FC236}">
                <a16:creationId xmlns:a16="http://schemas.microsoft.com/office/drawing/2014/main" id="{FE2C4655-FF5F-2B89-732F-8B1FAB093A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09400" y="5283200"/>
            <a:ext cx="1168400" cy="1168400"/>
          </a:xfrm>
          <a:prstGeom prst="rect">
            <a:avLst/>
          </a:prstGeom>
        </p:spPr>
      </p:pic>
      <p:sp>
        <p:nvSpPr>
          <p:cNvPr id="80" name="TextBox 31">
            <a:extLst>
              <a:ext uri="{FF2B5EF4-FFF2-40B4-BE49-F238E27FC236}">
                <a16:creationId xmlns:a16="http://schemas.microsoft.com/office/drawing/2014/main" id="{DB0A93E7-36F7-81C9-BA58-EB60BF1EF845}"/>
              </a:ext>
            </a:extLst>
          </p:cNvPr>
          <p:cNvSpPr txBox="1"/>
          <p:nvPr/>
        </p:nvSpPr>
        <p:spPr>
          <a:xfrm>
            <a:off x="11176000" y="6464300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7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 공유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81" name="Picture 32">
            <a:extLst>
              <a:ext uri="{FF2B5EF4-FFF2-40B4-BE49-F238E27FC236}">
                <a16:creationId xmlns:a16="http://schemas.microsoft.com/office/drawing/2014/main" id="{86674435-A161-AF8A-8542-03845DA809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33800" y="5676900"/>
            <a:ext cx="1320800" cy="1168400"/>
          </a:xfrm>
          <a:prstGeom prst="rect">
            <a:avLst/>
          </a:prstGeom>
        </p:spPr>
      </p:pic>
      <p:pic>
        <p:nvPicPr>
          <p:cNvPr id="82" name="Picture 33">
            <a:extLst>
              <a:ext uri="{FF2B5EF4-FFF2-40B4-BE49-F238E27FC236}">
                <a16:creationId xmlns:a16="http://schemas.microsoft.com/office/drawing/2014/main" id="{37DBC927-F4B2-096E-4788-2AF7388E98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26300" y="5676900"/>
            <a:ext cx="1320800" cy="1168400"/>
          </a:xfrm>
          <a:prstGeom prst="rect">
            <a:avLst/>
          </a:prstGeom>
        </p:spPr>
      </p:pic>
      <p:pic>
        <p:nvPicPr>
          <p:cNvPr id="83" name="Picture 34">
            <a:extLst>
              <a:ext uri="{FF2B5EF4-FFF2-40B4-BE49-F238E27FC236}">
                <a16:creationId xmlns:a16="http://schemas.microsoft.com/office/drawing/2014/main" id="{9CCFEC52-B54D-87BF-94DD-63D7AB8015B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433800" y="9372600"/>
            <a:ext cx="1320800" cy="1168400"/>
          </a:xfrm>
          <a:prstGeom prst="rect">
            <a:avLst/>
          </a:prstGeom>
        </p:spPr>
      </p:pic>
      <p:pic>
        <p:nvPicPr>
          <p:cNvPr id="84" name="Picture 35">
            <a:extLst>
              <a:ext uri="{FF2B5EF4-FFF2-40B4-BE49-F238E27FC236}">
                <a16:creationId xmlns:a16="http://schemas.microsoft.com/office/drawing/2014/main" id="{1F19418B-B747-A5A3-4C95-A6AE8C0E4FE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659600" y="8928100"/>
            <a:ext cx="1841500" cy="1841500"/>
          </a:xfrm>
          <a:prstGeom prst="rect">
            <a:avLst/>
          </a:prstGeom>
        </p:spPr>
      </p:pic>
      <p:sp>
        <p:nvSpPr>
          <p:cNvPr id="85" name="TextBox 36">
            <a:extLst>
              <a:ext uri="{FF2B5EF4-FFF2-40B4-BE49-F238E27FC236}">
                <a16:creationId xmlns:a16="http://schemas.microsoft.com/office/drawing/2014/main" id="{7E027371-A25F-E355-B0BF-B0D2612598B7}"/>
              </a:ext>
            </a:extLst>
          </p:cNvPr>
          <p:cNvSpPr txBox="1"/>
          <p:nvPr/>
        </p:nvSpPr>
        <p:spPr>
          <a:xfrm>
            <a:off x="15976600" y="7086600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대외지원 관리자</a:t>
            </a:r>
          </a:p>
        </p:txBody>
      </p:sp>
      <p:sp>
        <p:nvSpPr>
          <p:cNvPr id="86" name="TextBox 37">
            <a:extLst>
              <a:ext uri="{FF2B5EF4-FFF2-40B4-BE49-F238E27FC236}">
                <a16:creationId xmlns:a16="http://schemas.microsoft.com/office/drawing/2014/main" id="{68976DAA-5B2B-8A9A-2781-D81DDD971FA5}"/>
              </a:ext>
            </a:extLst>
          </p:cNvPr>
          <p:cNvSpPr txBox="1"/>
          <p:nvPr/>
        </p:nvSpPr>
        <p:spPr>
          <a:xfrm>
            <a:off x="19519900" y="7086600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IT 관리자</a:t>
            </a:r>
          </a:p>
        </p:txBody>
      </p:sp>
      <p:sp>
        <p:nvSpPr>
          <p:cNvPr id="87" name="TextBox 38">
            <a:extLst>
              <a:ext uri="{FF2B5EF4-FFF2-40B4-BE49-F238E27FC236}">
                <a16:creationId xmlns:a16="http://schemas.microsoft.com/office/drawing/2014/main" id="{4155FB16-B3E3-B0BA-C4EF-574B0D11D02C}"/>
              </a:ext>
            </a:extLst>
          </p:cNvPr>
          <p:cNvSpPr txBox="1"/>
          <p:nvPr/>
        </p:nvSpPr>
        <p:spPr>
          <a:xfrm>
            <a:off x="15989300" y="10604501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개발자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8" name="TextBox 39">
            <a:extLst>
              <a:ext uri="{FF2B5EF4-FFF2-40B4-BE49-F238E27FC236}">
                <a16:creationId xmlns:a16="http://schemas.microsoft.com/office/drawing/2014/main" id="{C2FBE24E-3639-4B7A-1036-632A63FEC1EC}"/>
              </a:ext>
            </a:extLst>
          </p:cNvPr>
          <p:cNvSpPr txBox="1"/>
          <p:nvPr/>
        </p:nvSpPr>
        <p:spPr>
          <a:xfrm>
            <a:off x="19418300" y="10769600"/>
            <a:ext cx="2235200" cy="92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89" name="Picture 40">
            <a:extLst>
              <a:ext uri="{FF2B5EF4-FFF2-40B4-BE49-F238E27FC236}">
                <a16:creationId xmlns:a16="http://schemas.microsoft.com/office/drawing/2014/main" id="{CE994227-DF7A-83D0-56C8-552BE157F17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861800" y="9118600"/>
            <a:ext cx="1422400" cy="1422400"/>
          </a:xfrm>
          <a:prstGeom prst="rect">
            <a:avLst/>
          </a:prstGeom>
        </p:spPr>
      </p:pic>
      <p:sp>
        <p:nvSpPr>
          <p:cNvPr id="90" name="TextBox 41">
            <a:extLst>
              <a:ext uri="{FF2B5EF4-FFF2-40B4-BE49-F238E27FC236}">
                <a16:creationId xmlns:a16="http://schemas.microsoft.com/office/drawing/2014/main" id="{B4B093F5-E1F4-EBE8-5F7F-D5427496DB79}"/>
              </a:ext>
            </a:extLst>
          </p:cNvPr>
          <p:cNvSpPr txBox="1"/>
          <p:nvPr/>
        </p:nvSpPr>
        <p:spPr>
          <a:xfrm>
            <a:off x="11658600" y="10464800"/>
            <a:ext cx="1828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CI/CD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D3DF8AA7-0D07-E60E-0FE0-B7FE40927D2A}"/>
              </a:ext>
            </a:extLst>
          </p:cNvPr>
          <p:cNvGrpSpPr/>
          <p:nvPr/>
        </p:nvGrpSpPr>
        <p:grpSpPr>
          <a:xfrm>
            <a:off x="3524250" y="6108700"/>
            <a:ext cx="1187450" cy="4152900"/>
            <a:chOff x="3524250" y="6108700"/>
            <a:chExt cx="1187450" cy="4152900"/>
          </a:xfrm>
        </p:grpSpPr>
        <p:pic>
          <p:nvPicPr>
            <p:cNvPr id="92" name="Picture 42">
              <a:extLst>
                <a:ext uri="{FF2B5EF4-FFF2-40B4-BE49-F238E27FC236}">
                  <a16:creationId xmlns:a16="http://schemas.microsoft.com/office/drawing/2014/main" id="{CAD402A1-FCEB-A99E-560E-0FEA3108A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524250" y="10071100"/>
              <a:ext cx="1060450" cy="190500"/>
            </a:xfrm>
            <a:prstGeom prst="rect">
              <a:avLst/>
            </a:prstGeom>
          </p:spPr>
        </p:pic>
        <p:pic>
          <p:nvPicPr>
            <p:cNvPr id="93" name="Picture 43">
              <a:extLst>
                <a:ext uri="{FF2B5EF4-FFF2-40B4-BE49-F238E27FC236}">
                  <a16:creationId xmlns:a16="http://schemas.microsoft.com/office/drawing/2014/main" id="{6F7B7B83-F635-79CE-6ABD-B9E3657FC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530600" y="6108700"/>
              <a:ext cx="1181100" cy="63500"/>
            </a:xfrm>
            <a:prstGeom prst="rect">
              <a:avLst/>
            </a:prstGeom>
          </p:spPr>
        </p:pic>
        <p:pic>
          <p:nvPicPr>
            <p:cNvPr id="94" name="Picture 44">
              <a:extLst>
                <a:ext uri="{FF2B5EF4-FFF2-40B4-BE49-F238E27FC236}">
                  <a16:creationId xmlns:a16="http://schemas.microsoft.com/office/drawing/2014/main" id="{D081FE55-D8A6-41DD-FEB6-3FA8CF34E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5400000">
              <a:off x="1511300" y="8121650"/>
              <a:ext cx="4089400" cy="63500"/>
            </a:xfrm>
            <a:prstGeom prst="rect">
              <a:avLst/>
            </a:prstGeom>
          </p:spPr>
        </p:pic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64CDCD3-5CEB-F0E0-8235-0746332AE0B6}"/>
              </a:ext>
            </a:extLst>
          </p:cNvPr>
          <p:cNvGrpSpPr/>
          <p:nvPr/>
        </p:nvGrpSpPr>
        <p:grpSpPr>
          <a:xfrm>
            <a:off x="6311900" y="6083300"/>
            <a:ext cx="5295900" cy="4114800"/>
            <a:chOff x="6311900" y="6083300"/>
            <a:chExt cx="5295900" cy="4114800"/>
          </a:xfrm>
        </p:grpSpPr>
        <p:pic>
          <p:nvPicPr>
            <p:cNvPr id="96" name="Picture 45">
              <a:extLst>
                <a:ext uri="{FF2B5EF4-FFF2-40B4-BE49-F238E27FC236}">
                  <a16:creationId xmlns:a16="http://schemas.microsoft.com/office/drawing/2014/main" id="{16E56A86-1848-11E8-24BE-0FF2FB290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899400" y="6083300"/>
              <a:ext cx="3708400" cy="190500"/>
            </a:xfrm>
            <a:prstGeom prst="rect">
              <a:avLst/>
            </a:prstGeom>
          </p:spPr>
        </p:pic>
        <p:pic>
          <p:nvPicPr>
            <p:cNvPr id="97" name="Picture 46">
              <a:extLst>
                <a:ext uri="{FF2B5EF4-FFF2-40B4-BE49-F238E27FC236}">
                  <a16:creationId xmlns:a16="http://schemas.microsoft.com/office/drawing/2014/main" id="{09F089C3-9037-ED35-807D-11D22F527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5400000">
              <a:off x="5911850" y="8147051"/>
              <a:ext cx="4038599" cy="63500"/>
            </a:xfrm>
            <a:prstGeom prst="rect">
              <a:avLst/>
            </a:prstGeom>
          </p:spPr>
        </p:pic>
        <p:pic>
          <p:nvPicPr>
            <p:cNvPr id="98" name="Picture 47">
              <a:extLst>
                <a:ext uri="{FF2B5EF4-FFF2-40B4-BE49-F238E27FC236}">
                  <a16:creationId xmlns:a16="http://schemas.microsoft.com/office/drawing/2014/main" id="{41521AE8-6354-0E7D-0A25-9E4F68673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10800000">
              <a:off x="6311900" y="10134600"/>
              <a:ext cx="1651000" cy="63500"/>
            </a:xfrm>
            <a:prstGeom prst="rect">
              <a:avLst/>
            </a:prstGeom>
          </p:spPr>
        </p:pic>
      </p:grpSp>
      <p:pic>
        <p:nvPicPr>
          <p:cNvPr id="99" name="Picture 48">
            <a:extLst>
              <a:ext uri="{FF2B5EF4-FFF2-40B4-BE49-F238E27FC236}">
                <a16:creationId xmlns:a16="http://schemas.microsoft.com/office/drawing/2014/main" id="{EF204C95-EDD4-566E-8A62-84C904CEEC0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081000" y="6045200"/>
            <a:ext cx="3086100" cy="190500"/>
          </a:xfrm>
          <a:prstGeom prst="rect">
            <a:avLst/>
          </a:prstGeom>
        </p:spPr>
      </p:pic>
      <p:pic>
        <p:nvPicPr>
          <p:cNvPr id="100" name="Picture 49">
            <a:extLst>
              <a:ext uri="{FF2B5EF4-FFF2-40B4-BE49-F238E27FC236}">
                <a16:creationId xmlns:a16="http://schemas.microsoft.com/office/drawing/2014/main" id="{514E34B2-7B52-D9EB-B3EB-513A206DF85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881600" y="6197600"/>
            <a:ext cx="1968500" cy="190500"/>
          </a:xfrm>
          <a:prstGeom prst="rect">
            <a:avLst/>
          </a:prstGeom>
        </p:spPr>
      </p:pic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32E901C3-3952-B5F9-1DAC-60348E6FA5DD}"/>
              </a:ext>
            </a:extLst>
          </p:cNvPr>
          <p:cNvGrpSpPr/>
          <p:nvPr/>
        </p:nvGrpSpPr>
        <p:grpSpPr>
          <a:xfrm>
            <a:off x="21323300" y="6178550"/>
            <a:ext cx="1098550" cy="3867150"/>
            <a:chOff x="21323300" y="6178550"/>
            <a:chExt cx="1098550" cy="3867150"/>
          </a:xfrm>
        </p:grpSpPr>
        <p:pic>
          <p:nvPicPr>
            <p:cNvPr id="102" name="Picture 50">
              <a:extLst>
                <a:ext uri="{FF2B5EF4-FFF2-40B4-BE49-F238E27FC236}">
                  <a16:creationId xmlns:a16="http://schemas.microsoft.com/office/drawing/2014/main" id="{B3A3B35A-29FB-468C-5BF6-D8CF7F2C3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5400000">
              <a:off x="20450175" y="8016875"/>
              <a:ext cx="3752850" cy="190500"/>
            </a:xfrm>
            <a:prstGeom prst="rect">
              <a:avLst/>
            </a:prstGeom>
          </p:spPr>
        </p:pic>
        <p:pic>
          <p:nvPicPr>
            <p:cNvPr id="103" name="Picture 51">
              <a:extLst>
                <a:ext uri="{FF2B5EF4-FFF2-40B4-BE49-F238E27FC236}">
                  <a16:creationId xmlns:a16="http://schemas.microsoft.com/office/drawing/2014/main" id="{022EDF18-4B6D-5781-351D-D1CAE0119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1324887" y="6178550"/>
              <a:ext cx="1028700" cy="190500"/>
            </a:xfrm>
            <a:prstGeom prst="rect">
              <a:avLst/>
            </a:prstGeom>
          </p:spPr>
        </p:pic>
        <p:pic>
          <p:nvPicPr>
            <p:cNvPr id="104" name="Picture 52">
              <a:extLst>
                <a:ext uri="{FF2B5EF4-FFF2-40B4-BE49-F238E27FC236}">
                  <a16:creationId xmlns:a16="http://schemas.microsoft.com/office/drawing/2014/main" id="{1DC358EE-58EA-6538-3D3A-25166C8FE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10800000">
              <a:off x="21323300" y="9855200"/>
              <a:ext cx="1028700" cy="190500"/>
            </a:xfrm>
            <a:prstGeom prst="rect">
              <a:avLst/>
            </a:prstGeom>
          </p:spPr>
        </p:pic>
      </p:grpSp>
      <p:pic>
        <p:nvPicPr>
          <p:cNvPr id="105" name="Picture 53">
            <a:extLst>
              <a:ext uri="{FF2B5EF4-FFF2-40B4-BE49-F238E27FC236}">
                <a16:creationId xmlns:a16="http://schemas.microsoft.com/office/drawing/2014/main" id="{CD134725-0028-2984-DAD5-4C82E879305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10800000">
            <a:off x="17881600" y="9855200"/>
            <a:ext cx="1905000" cy="190500"/>
          </a:xfrm>
          <a:prstGeom prst="rect">
            <a:avLst/>
          </a:prstGeom>
        </p:spPr>
      </p:pic>
      <p:pic>
        <p:nvPicPr>
          <p:cNvPr id="106" name="Picture 54">
            <a:extLst>
              <a:ext uri="{FF2B5EF4-FFF2-40B4-BE49-F238E27FC236}">
                <a16:creationId xmlns:a16="http://schemas.microsoft.com/office/drawing/2014/main" id="{8DC71117-93FE-1F3E-4755-2A336D3CCD4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10800000">
            <a:off x="13436600" y="9855200"/>
            <a:ext cx="2921000" cy="190500"/>
          </a:xfrm>
          <a:prstGeom prst="rect">
            <a:avLst/>
          </a:prstGeom>
        </p:spPr>
      </p:pic>
      <p:pic>
        <p:nvPicPr>
          <p:cNvPr id="107" name="Picture 55">
            <a:extLst>
              <a:ext uri="{FF2B5EF4-FFF2-40B4-BE49-F238E27FC236}">
                <a16:creationId xmlns:a16="http://schemas.microsoft.com/office/drawing/2014/main" id="{2DFCF5E9-91FA-0495-FD35-1C0C0F55D10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637500" y="8051800"/>
            <a:ext cx="355600" cy="355600"/>
          </a:xfrm>
          <a:prstGeom prst="rect">
            <a:avLst/>
          </a:prstGeom>
        </p:spPr>
      </p:pic>
      <p:sp>
        <p:nvSpPr>
          <p:cNvPr id="108" name="TextBox 56">
            <a:extLst>
              <a:ext uri="{FF2B5EF4-FFF2-40B4-BE49-F238E27FC236}">
                <a16:creationId xmlns:a16="http://schemas.microsoft.com/office/drawing/2014/main" id="{C496FA8B-5BE1-63A8-E7C9-164F305201F4}"/>
              </a:ext>
            </a:extLst>
          </p:cNvPr>
          <p:cNvSpPr txBox="1"/>
          <p:nvPr/>
        </p:nvSpPr>
        <p:spPr>
          <a:xfrm>
            <a:off x="20955000" y="8013700"/>
            <a:ext cx="12700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 전송</a:t>
            </a:r>
          </a:p>
        </p:txBody>
      </p:sp>
      <p:sp>
        <p:nvSpPr>
          <p:cNvPr id="110" name="TextBox 58">
            <a:extLst>
              <a:ext uri="{FF2B5EF4-FFF2-40B4-BE49-F238E27FC236}">
                <a16:creationId xmlns:a16="http://schemas.microsoft.com/office/drawing/2014/main" id="{7B43EC3C-80DE-39D8-9D7D-43B240365955}"/>
              </a:ext>
            </a:extLst>
          </p:cNvPr>
          <p:cNvSpPr txBox="1"/>
          <p:nvPr/>
        </p:nvSpPr>
        <p:spPr>
          <a:xfrm>
            <a:off x="13837771" y="9525000"/>
            <a:ext cx="1981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자격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증명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</a:t>
            </a: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1" name="TextBox 59">
            <a:extLst>
              <a:ext uri="{FF2B5EF4-FFF2-40B4-BE49-F238E27FC236}">
                <a16:creationId xmlns:a16="http://schemas.microsoft.com/office/drawing/2014/main" id="{D14F26A1-B72F-D5F2-A0B5-57E65FD10CDF}"/>
              </a:ext>
            </a:extLst>
          </p:cNvPr>
          <p:cNvSpPr txBox="1"/>
          <p:nvPr/>
        </p:nvSpPr>
        <p:spPr>
          <a:xfrm>
            <a:off x="13462000" y="5626100"/>
            <a:ext cx="2324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악성파일 다운로드</a:t>
            </a:r>
          </a:p>
        </p:txBody>
      </p:sp>
      <p:pic>
        <p:nvPicPr>
          <p:cNvPr id="112" name="Picture 60">
            <a:extLst>
              <a:ext uri="{FF2B5EF4-FFF2-40B4-BE49-F238E27FC236}">
                <a16:creationId xmlns:a16="http://schemas.microsoft.com/office/drawing/2014/main" id="{F3069BE4-9607-F829-C776-EC6216D16BFC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068300" y="5651500"/>
            <a:ext cx="368300" cy="368300"/>
          </a:xfrm>
          <a:prstGeom prst="rect">
            <a:avLst/>
          </a:prstGeom>
        </p:spPr>
      </p:pic>
      <p:sp>
        <p:nvSpPr>
          <p:cNvPr id="113" name="TextBox 61">
            <a:extLst>
              <a:ext uri="{FF2B5EF4-FFF2-40B4-BE49-F238E27FC236}">
                <a16:creationId xmlns:a16="http://schemas.microsoft.com/office/drawing/2014/main" id="{4858359E-00B3-1C29-D660-38594E16F2C3}"/>
              </a:ext>
            </a:extLst>
          </p:cNvPr>
          <p:cNvSpPr txBox="1"/>
          <p:nvPr/>
        </p:nvSpPr>
        <p:spPr>
          <a:xfrm>
            <a:off x="18300700" y="5740400"/>
            <a:ext cx="1409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횡적 이동</a:t>
            </a:r>
          </a:p>
        </p:txBody>
      </p:sp>
      <p:pic>
        <p:nvPicPr>
          <p:cNvPr id="114" name="Picture 62">
            <a:extLst>
              <a:ext uri="{FF2B5EF4-FFF2-40B4-BE49-F238E27FC236}">
                <a16:creationId xmlns:a16="http://schemas.microsoft.com/office/drawing/2014/main" id="{BEF60BC8-502C-2ECD-9F86-6901F3EC7449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983200" y="5765800"/>
            <a:ext cx="406400" cy="406400"/>
          </a:xfrm>
          <a:prstGeom prst="rect">
            <a:avLst/>
          </a:prstGeom>
        </p:spPr>
      </p:pic>
      <p:pic>
        <p:nvPicPr>
          <p:cNvPr id="115" name="Picture 63">
            <a:extLst>
              <a:ext uri="{FF2B5EF4-FFF2-40B4-BE49-F238E27FC236}">
                <a16:creationId xmlns:a16="http://schemas.microsoft.com/office/drawing/2014/main" id="{95925AF5-5E47-0380-23C3-0B50E5DBCE6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92300" y="7467600"/>
            <a:ext cx="355600" cy="355600"/>
          </a:xfrm>
          <a:prstGeom prst="rect">
            <a:avLst/>
          </a:prstGeom>
        </p:spPr>
      </p:pic>
      <p:sp>
        <p:nvSpPr>
          <p:cNvPr id="116" name="TextBox 64">
            <a:extLst>
              <a:ext uri="{FF2B5EF4-FFF2-40B4-BE49-F238E27FC236}">
                <a16:creationId xmlns:a16="http://schemas.microsoft.com/office/drawing/2014/main" id="{64B5ED29-8F64-19FD-E495-19938B869AE2}"/>
              </a:ext>
            </a:extLst>
          </p:cNvPr>
          <p:cNvSpPr txBox="1"/>
          <p:nvPr/>
        </p:nvSpPr>
        <p:spPr>
          <a:xfrm>
            <a:off x="2146300" y="7429500"/>
            <a:ext cx="1422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 침투</a:t>
            </a:r>
          </a:p>
        </p:txBody>
      </p:sp>
      <p:pic>
        <p:nvPicPr>
          <p:cNvPr id="117" name="Picture 65">
            <a:extLst>
              <a:ext uri="{FF2B5EF4-FFF2-40B4-BE49-F238E27FC236}">
                <a16:creationId xmlns:a16="http://schemas.microsoft.com/office/drawing/2014/main" id="{6A0CD625-DEB0-D8CF-B375-B85E30BBBC2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140700" y="6477000"/>
            <a:ext cx="342900" cy="342900"/>
          </a:xfrm>
          <a:prstGeom prst="rect">
            <a:avLst/>
          </a:prstGeom>
        </p:spPr>
      </p:pic>
      <p:sp>
        <p:nvSpPr>
          <p:cNvPr id="118" name="TextBox 66">
            <a:extLst>
              <a:ext uri="{FF2B5EF4-FFF2-40B4-BE49-F238E27FC236}">
                <a16:creationId xmlns:a16="http://schemas.microsoft.com/office/drawing/2014/main" id="{1E12315C-E095-23B7-4529-8E1F516412EB}"/>
              </a:ext>
            </a:extLst>
          </p:cNvPr>
          <p:cNvSpPr txBox="1"/>
          <p:nvPr/>
        </p:nvSpPr>
        <p:spPr>
          <a:xfrm>
            <a:off x="8470900" y="6426200"/>
            <a:ext cx="2108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악성파일 업로드</a:t>
            </a:r>
          </a:p>
        </p:txBody>
      </p:sp>
      <p:pic>
        <p:nvPicPr>
          <p:cNvPr id="119" name="Picture 26">
            <a:extLst>
              <a:ext uri="{FF2B5EF4-FFF2-40B4-BE49-F238E27FC236}">
                <a16:creationId xmlns:a16="http://schemas.microsoft.com/office/drawing/2014/main" id="{05499747-71FD-70B4-A522-2D10B4D8C36E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8655050" y="7863681"/>
            <a:ext cx="7073902" cy="76200"/>
          </a:xfrm>
          <a:prstGeom prst="rect">
            <a:avLst/>
          </a:prstGeom>
        </p:spPr>
      </p:pic>
      <p:sp>
        <p:nvSpPr>
          <p:cNvPr id="120" name="TextBox 22">
            <a:extLst>
              <a:ext uri="{FF2B5EF4-FFF2-40B4-BE49-F238E27FC236}">
                <a16:creationId xmlns:a16="http://schemas.microsoft.com/office/drawing/2014/main" id="{D95975E9-CC6E-FED3-A0EB-995017577086}"/>
              </a:ext>
            </a:extLst>
          </p:cNvPr>
          <p:cNvSpPr txBox="1"/>
          <p:nvPr/>
        </p:nvSpPr>
        <p:spPr>
          <a:xfrm>
            <a:off x="10826750" y="8305800"/>
            <a:ext cx="3454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－ </a:t>
            </a:r>
            <a:r>
              <a:rPr lang="en-US" altLang="ko-KR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CI/CD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22" name="Picture 57">
            <a:extLst>
              <a:ext uri="{FF2B5EF4-FFF2-40B4-BE49-F238E27FC236}">
                <a16:creationId xmlns:a16="http://schemas.microsoft.com/office/drawing/2014/main" id="{A3939140-3E63-AF8A-6875-7352B7D80F69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8053050" y="9550400"/>
            <a:ext cx="342900" cy="342900"/>
          </a:xfrm>
          <a:prstGeom prst="rect">
            <a:avLst/>
          </a:prstGeom>
        </p:spPr>
      </p:pic>
      <p:sp>
        <p:nvSpPr>
          <p:cNvPr id="123" name="TextBox 58">
            <a:extLst>
              <a:ext uri="{FF2B5EF4-FFF2-40B4-BE49-F238E27FC236}">
                <a16:creationId xmlns:a16="http://schemas.microsoft.com/office/drawing/2014/main" id="{B6DC7518-57C7-9360-9A6A-1BEECE72570D}"/>
              </a:ext>
            </a:extLst>
          </p:cNvPr>
          <p:cNvSpPr txBox="1"/>
          <p:nvPr/>
        </p:nvSpPr>
        <p:spPr>
          <a:xfrm>
            <a:off x="18262600" y="9474886"/>
            <a:ext cx="146685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 확인</a:t>
            </a: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24" name="Picture 51">
            <a:extLst>
              <a:ext uri="{FF2B5EF4-FFF2-40B4-BE49-F238E27FC236}">
                <a16:creationId xmlns:a16="http://schemas.microsoft.com/office/drawing/2014/main" id="{FA649C2E-AA87-47E9-5DA5-CC82E0D2A41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3609171" y="9598454"/>
            <a:ext cx="3175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4445000"/>
            <a:ext cx="6375400" cy="6997700"/>
          </a:xfrm>
          <a:prstGeom prst="rect">
            <a:avLst/>
          </a:prstGeom>
          <a:effectLst>
            <a:outerShdw blurRad="159261" dist="147010" dir="2700000">
              <a:srgbClr val="1A7AE1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6600" y="4445000"/>
            <a:ext cx="6375400" cy="6997700"/>
          </a:xfrm>
          <a:prstGeom prst="rect">
            <a:avLst/>
          </a:prstGeom>
          <a:effectLst>
            <a:outerShdw blurRad="159261" dist="147010" dir="2700000">
              <a:srgbClr val="1A7AE1">
                <a:alpha val="1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4445000"/>
            <a:ext cx="6375400" cy="6997700"/>
          </a:xfrm>
          <a:prstGeom prst="rect">
            <a:avLst/>
          </a:prstGeom>
          <a:effectLst>
            <a:outerShdw blurRad="159261" dist="147010" dir="2700000">
              <a:srgbClr val="1A7AE1">
                <a:alpha val="1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프로그램 환경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5100" y="47879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프린트 서버(CUPS)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33900" y="47879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메일 서버(Zimbra)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55800" y="5778500"/>
            <a:ext cx="5562600" cy="284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 : 1.28.15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설명 : UNIX 기반 프린터 서버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취약점: CVE-2024-47176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           CVE-2024-47076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           CVE-2024-47175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           CVE-2024-47177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703800" y="5778500"/>
            <a:ext cx="5562600" cy="189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10.1.10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설명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오픈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소스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메일서버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CVE-2025-66</a:t>
            </a:r>
            <a:r>
              <a:rPr lang="en-US" sz="26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37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6</a:t>
            </a:r>
          </a:p>
          <a:p>
            <a:pPr lvl="0" algn="l">
              <a:lnSpc>
                <a:spcPct val="116199"/>
              </a:lnSpc>
            </a:pP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245600" y="4787900"/>
            <a:ext cx="6477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파일 서버(WingFTP)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53600" y="5778500"/>
            <a:ext cx="55626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 : 7.4.3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설명 : 오픈 소스 파일서버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 : CVE-2025-47812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33900" y="81534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브라우저(Chrome)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703800" y="9144000"/>
            <a:ext cx="55626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 : 128.0.6613.138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 : CVE-2024-2887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            CVE-2025-2783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45600" y="8153400"/>
            <a:ext cx="6477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OS(Windows)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53600" y="9144000"/>
            <a:ext cx="55626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 : Win 10 21H2 19044.1620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 : CVE-2024-21412</a:t>
            </a: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80115703-1E19-5566-348D-A394AE556E11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69DFA125-F63C-D6CB-63DA-0AB4FEC6A022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2ADAC271-44AF-809E-0F8C-22CB9F4F7D1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35" name="TextBox 16">
            <a:extLst>
              <a:ext uri="{FF2B5EF4-FFF2-40B4-BE49-F238E27FC236}">
                <a16:creationId xmlns:a16="http://schemas.microsoft.com/office/drawing/2014/main" id="{DCC40D4D-891B-201F-1333-8E32EE0032B4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B72BED9F-ADA2-8BB9-5EF8-7FA66F00DCCA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15F0AE98-E6D4-2EA7-5DEC-2E6D9969F2DE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DB032381-DE55-21E1-0B8B-ABD20EBF39AA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0" y="4368800"/>
            <a:ext cx="15849600" cy="6997700"/>
          </a:xfrm>
          <a:prstGeom prst="rect">
            <a:avLst/>
          </a:prstGeom>
          <a:effectLst>
            <a:outerShdw blurRad="384862" dist="161481" dir="2700000">
              <a:srgbClr val="000000">
                <a:alpha val="1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0096500" y="4800600"/>
            <a:ext cx="124968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CVE-2024-47176: UDP 631 무제한 수신
CVE-2024-47076: IPP 속성 검증 없이 저장
CVE-2024-47175: PPD에 악성 데이터 삽입
CVE-2024-47177: RCE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88300" y="47752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 설명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47300" y="7023100"/>
            <a:ext cx="126111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CUPS: 리눅스/유닉스 공통 인쇄 시스템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IPP: 인터넷 인쇄 프로토콜 (TCP/UDP 631)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PPD: 프린터 기능 기술 파일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88300" y="70612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99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 지식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58400" y="9067800"/>
            <a:ext cx="125984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Ubuntu, Debian, Fedora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탑재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인터넷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ko-KR" alt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최대 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30만 대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추정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인증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불필요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(UDP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패킷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1개)
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통합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과정에서의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부재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88300" y="91059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선정 이유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29591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CUPS : CVE-2024-47176, 47076, 47175, 47177</a:t>
            </a: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744045F0-23A3-3ED1-B954-7391693B9EB2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7CFF5F39-0192-5CAB-A256-BAC70F249540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8D7173F0-6EF5-DBFE-9A3F-98CDA672903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38" name="TextBox 16">
            <a:extLst>
              <a:ext uri="{FF2B5EF4-FFF2-40B4-BE49-F238E27FC236}">
                <a16:creationId xmlns:a16="http://schemas.microsoft.com/office/drawing/2014/main" id="{4B0034E0-05E7-00A9-F420-B119D337C47E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51B022B8-9A11-1AAE-C20A-3ED6621EDE8F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40" name="TextBox 19">
            <a:extLst>
              <a:ext uri="{FF2B5EF4-FFF2-40B4-BE49-F238E27FC236}">
                <a16:creationId xmlns:a16="http://schemas.microsoft.com/office/drawing/2014/main" id="{1A6EA977-B975-0536-F0C7-D0DF1966E4B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E771D415-C112-6B4E-6DC9-8B1FC120852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72D70557-7047-863F-2916-202BBF2913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5800" y="4368800"/>
            <a:ext cx="4381500" cy="6997700"/>
          </a:xfrm>
          <a:prstGeom prst="rect">
            <a:avLst/>
          </a:prstGeom>
          <a:effectLst>
            <a:outerShdw blurRad="241107" dist="101164" dir="2700000">
              <a:srgbClr val="000000">
                <a:alpha val="15000"/>
              </a:srgbClr>
            </a:outerShdw>
          </a:effectLst>
        </p:spPr>
      </p:pic>
      <p:pic>
        <p:nvPicPr>
          <p:cNvPr id="16" name="Picture 27">
            <a:extLst>
              <a:ext uri="{FF2B5EF4-FFF2-40B4-BE49-F238E27FC236}">
                <a16:creationId xmlns:a16="http://schemas.microsoft.com/office/drawing/2014/main" id="{5D969849-DE25-8E32-53F7-56D0F68F8F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679700" y="7708900"/>
            <a:ext cx="1905000" cy="190500"/>
          </a:xfrm>
          <a:prstGeom prst="rect">
            <a:avLst/>
          </a:prstGeom>
        </p:spPr>
      </p:pic>
      <p:pic>
        <p:nvPicPr>
          <p:cNvPr id="17" name="Picture 28">
            <a:extLst>
              <a:ext uri="{FF2B5EF4-FFF2-40B4-BE49-F238E27FC236}">
                <a16:creationId xmlns:a16="http://schemas.microsoft.com/office/drawing/2014/main" id="{2A1C246C-C14F-FAA3-F225-85312AB6D1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35300" y="4927600"/>
            <a:ext cx="1168400" cy="1130300"/>
          </a:xfrm>
          <a:prstGeom prst="rect">
            <a:avLst/>
          </a:prstGeom>
        </p:spPr>
      </p:pic>
      <p:sp>
        <p:nvSpPr>
          <p:cNvPr id="18" name="TextBox 29">
            <a:extLst>
              <a:ext uri="{FF2B5EF4-FFF2-40B4-BE49-F238E27FC236}">
                <a16:creationId xmlns:a16="http://schemas.microsoft.com/office/drawing/2014/main" id="{A7E198A8-F43F-5B15-899C-DAD3309AA780}"/>
              </a:ext>
            </a:extLst>
          </p:cNvPr>
          <p:cNvSpPr txBox="1"/>
          <p:nvPr/>
        </p:nvSpPr>
        <p:spPr>
          <a:xfrm>
            <a:off x="2489200" y="6096000"/>
            <a:ext cx="2286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</a:t>
            </a:r>
          </a:p>
        </p:txBody>
      </p:sp>
      <p:pic>
        <p:nvPicPr>
          <p:cNvPr id="19" name="Picture 30">
            <a:extLst>
              <a:ext uri="{FF2B5EF4-FFF2-40B4-BE49-F238E27FC236}">
                <a16:creationId xmlns:a16="http://schemas.microsoft.com/office/drawing/2014/main" id="{8C807636-B2A2-4C1B-AD4E-7DC1C6F170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1000" y="8978900"/>
            <a:ext cx="1422400" cy="1168400"/>
          </a:xfrm>
          <a:prstGeom prst="rect">
            <a:avLst/>
          </a:prstGeom>
        </p:spPr>
      </p:pic>
      <p:sp>
        <p:nvSpPr>
          <p:cNvPr id="20" name="TextBox 31">
            <a:extLst>
              <a:ext uri="{FF2B5EF4-FFF2-40B4-BE49-F238E27FC236}">
                <a16:creationId xmlns:a16="http://schemas.microsoft.com/office/drawing/2014/main" id="{7D5C2C95-A476-7267-257C-450E8D53F01B}"/>
              </a:ext>
            </a:extLst>
          </p:cNvPr>
          <p:cNvSpPr txBox="1"/>
          <p:nvPr/>
        </p:nvSpPr>
        <p:spPr>
          <a:xfrm>
            <a:off x="2705100" y="10337800"/>
            <a:ext cx="1828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프린트</a:t>
            </a:r>
            <a:r>
              <a:rPr 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32">
            <a:extLst>
              <a:ext uri="{FF2B5EF4-FFF2-40B4-BE49-F238E27FC236}">
                <a16:creationId xmlns:a16="http://schemas.microsoft.com/office/drawing/2014/main" id="{9EC5B266-A94A-9E03-46FD-8D8427536BB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0200" y="7594600"/>
            <a:ext cx="355600" cy="355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02D34CC-C138-8613-A51E-A11240D139D4}"/>
              </a:ext>
            </a:extLst>
          </p:cNvPr>
          <p:cNvSpPr txBox="1"/>
          <p:nvPr/>
        </p:nvSpPr>
        <p:spPr>
          <a:xfrm>
            <a:off x="4406900" y="7556500"/>
            <a:ext cx="1422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침투</a:t>
            </a: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1CEC00BE-6CC5-8C98-B6BB-FC098CC90C42}"/>
              </a:ext>
            </a:extLst>
          </p:cNvPr>
          <p:cNvSpPr txBox="1"/>
          <p:nvPr/>
        </p:nvSpPr>
        <p:spPr>
          <a:xfrm>
            <a:off x="3524250" y="5248532"/>
            <a:ext cx="320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외부망</a:t>
            </a:r>
            <a:endParaRPr lang="en-US" sz="26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3" name="TextBox 21">
            <a:extLst>
              <a:ext uri="{FF2B5EF4-FFF2-40B4-BE49-F238E27FC236}">
                <a16:creationId xmlns:a16="http://schemas.microsoft.com/office/drawing/2014/main" id="{8960F734-A0C9-DE89-8FC6-8428434CB1F9}"/>
              </a:ext>
            </a:extLst>
          </p:cNvPr>
          <p:cNvSpPr txBox="1"/>
          <p:nvPr/>
        </p:nvSpPr>
        <p:spPr>
          <a:xfrm>
            <a:off x="3575050" y="9302750"/>
            <a:ext cx="320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협력사망</a:t>
            </a:r>
            <a:endParaRPr lang="en-US" sz="26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29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00" y="4241800"/>
            <a:ext cx="12039600" cy="7175500"/>
          </a:xfrm>
          <a:prstGeom prst="rect">
            <a:avLst/>
          </a:prstGeom>
          <a:effectLst>
            <a:outerShdw blurRad="394804" dist="165652" dir="2700000">
              <a:srgbClr val="000000">
                <a:alpha val="15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6794500" y="4457700"/>
            <a:ext cx="11366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체인 전체 흐름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3200" y="5219700"/>
            <a:ext cx="11544300" cy="544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 → UDP 패킷 전송 → 피해 서버 포트 631
피해 서버 cups-browsed → 공격자의 가짜 IPP 서버에 자동 접속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 IPP 서버 → 악성 프린터 속성값 응답
CUPS가 가짜 프린터 PPD 파일 생성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 데이터가 PPD 파일 내 FoomaticRIPCommandLine에 삽입됨
사용자가 가짜 프린터로 인쇄 시도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foomatic-rip이 PPD 내 악성 명령어를 쉘에서 실행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950700" y="5918200"/>
            <a:ext cx="393700" cy="139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950700" y="7569200"/>
            <a:ext cx="393700" cy="139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001500" y="9207500"/>
            <a:ext cx="393700" cy="139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930400" y="29591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CVE-2024-47176, 47076, 47175, 47177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AFD74F8D-75CA-E54D-D959-78C2F30B1540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66D51D33-A66D-8FE8-DF38-9570440E3181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C01C39AF-7E54-4D88-F9B7-D79F03643BF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8E64A8BD-F020-C0D2-9A08-87300F16DA4C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E2087378-B4A1-6AF2-3846-15F429F5654F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09194E82-077C-E5E2-56A9-B393E74D839B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9BCF9D76-AA06-9945-F716-F5A933636D74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0" y="4368800"/>
            <a:ext cx="15849600" cy="6997700"/>
          </a:xfrm>
          <a:prstGeom prst="rect">
            <a:avLst/>
          </a:prstGeom>
          <a:effectLst>
            <a:outerShdw blurRad="384862" dist="161481" dir="2700000">
              <a:srgbClr val="000000">
                <a:alpha val="1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0147300" y="4826000"/>
            <a:ext cx="12496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WingFTP 서버에서 발생하는 인증  없는 원격 코드 실행 취약점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88300" y="47752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 설명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09200" y="6261100"/>
            <a:ext cx="12687300" cy="260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Null Byte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인젝션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원리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문자열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끝을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의미하는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널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바이트를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악용하여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</a:p>
          <a:p>
            <a:pPr lvl="0" algn="l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			        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확장자나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로직을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우회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직렬화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역직렬화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객체를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저장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전송하기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바이트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형태로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변환하고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			      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다시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복원하는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과정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Lua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스크립트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어플리케이션에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내장하기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쉬운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경량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스크립트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언어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88300" y="62865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99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 지식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0" y="9321800"/>
            <a:ext cx="125984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본사-협력사 간 인쇄 업무용 파일 서버 타겟팅 -&gt; 인증 없는 RCE
최종 타겟 연쇄 침투를 위한 내부망 초기 거점 장악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8300" y="93218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선정 이유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29591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WingFTP : CVE-2025-47812</a:t>
            </a: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41EFD33E-0379-D032-2FDE-D35633CED230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C622C722-92A4-BB36-4516-7F2901CE2806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38B1E54E-7A48-A940-34DA-041A6E27D8F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38" name="TextBox 16">
            <a:extLst>
              <a:ext uri="{FF2B5EF4-FFF2-40B4-BE49-F238E27FC236}">
                <a16:creationId xmlns:a16="http://schemas.microsoft.com/office/drawing/2014/main" id="{4999B97C-7A52-4425-7CFD-F8C0CD6EEAF5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A008534F-A017-34B3-CA37-CD839CAF8464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40" name="TextBox 19">
            <a:extLst>
              <a:ext uri="{FF2B5EF4-FFF2-40B4-BE49-F238E27FC236}">
                <a16:creationId xmlns:a16="http://schemas.microsoft.com/office/drawing/2014/main" id="{A791EC0C-64E6-7767-0FCD-C23E11A3E2DC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991852A2-3B11-C05E-11BE-DCEAAD33F943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AC5AB9B2-922A-73FF-1DCA-E0C7A9CC2B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4368800"/>
            <a:ext cx="4381500" cy="6997700"/>
          </a:xfrm>
          <a:prstGeom prst="rect">
            <a:avLst/>
          </a:prstGeom>
          <a:effectLst>
            <a:outerShdw blurRad="241107" dist="101164" dir="2700000">
              <a:srgbClr val="000000">
                <a:alpha val="15000"/>
              </a:srgbClr>
            </a:outerShdw>
          </a:effectLst>
        </p:spPr>
      </p:pic>
      <p:pic>
        <p:nvPicPr>
          <p:cNvPr id="16" name="Picture 27">
            <a:extLst>
              <a:ext uri="{FF2B5EF4-FFF2-40B4-BE49-F238E27FC236}">
                <a16:creationId xmlns:a16="http://schemas.microsoft.com/office/drawing/2014/main" id="{E69BEBEB-4DEE-0F3A-A4FE-A467206FE5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679700" y="7708900"/>
            <a:ext cx="1905000" cy="190500"/>
          </a:xfrm>
          <a:prstGeom prst="rect">
            <a:avLst/>
          </a:prstGeom>
        </p:spPr>
      </p:pic>
      <p:pic>
        <p:nvPicPr>
          <p:cNvPr id="17" name="Picture 28">
            <a:extLst>
              <a:ext uri="{FF2B5EF4-FFF2-40B4-BE49-F238E27FC236}">
                <a16:creationId xmlns:a16="http://schemas.microsoft.com/office/drawing/2014/main" id="{637105BC-F1E2-D118-59CB-A31A0A88A1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1000" y="4940300"/>
            <a:ext cx="1422400" cy="1168400"/>
          </a:xfrm>
          <a:prstGeom prst="rect">
            <a:avLst/>
          </a:prstGeom>
        </p:spPr>
      </p:pic>
      <p:sp>
        <p:nvSpPr>
          <p:cNvPr id="18" name="TextBox 29">
            <a:extLst>
              <a:ext uri="{FF2B5EF4-FFF2-40B4-BE49-F238E27FC236}">
                <a16:creationId xmlns:a16="http://schemas.microsoft.com/office/drawing/2014/main" id="{0A483365-D43D-FA10-E5AC-5C7EAFC78094}"/>
              </a:ext>
            </a:extLst>
          </p:cNvPr>
          <p:cNvSpPr txBox="1"/>
          <p:nvPr/>
        </p:nvSpPr>
        <p:spPr>
          <a:xfrm>
            <a:off x="2705100" y="6286500"/>
            <a:ext cx="18288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7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프린트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9" name="Picture 30">
            <a:extLst>
              <a:ext uri="{FF2B5EF4-FFF2-40B4-BE49-F238E27FC236}">
                <a16:creationId xmlns:a16="http://schemas.microsoft.com/office/drawing/2014/main" id="{C50A1A17-246C-C764-5F18-E75EA403A0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0" y="9017000"/>
            <a:ext cx="1168400" cy="1168400"/>
          </a:xfrm>
          <a:prstGeom prst="rect">
            <a:avLst/>
          </a:prstGeom>
        </p:spPr>
      </p:pic>
      <p:sp>
        <p:nvSpPr>
          <p:cNvPr id="20" name="TextBox 31">
            <a:extLst>
              <a:ext uri="{FF2B5EF4-FFF2-40B4-BE49-F238E27FC236}">
                <a16:creationId xmlns:a16="http://schemas.microsoft.com/office/drawing/2014/main" id="{2AEB0E94-C332-4EE0-E87B-7AE57FA28E2F}"/>
              </a:ext>
            </a:extLst>
          </p:cNvPr>
          <p:cNvSpPr txBox="1"/>
          <p:nvPr/>
        </p:nvSpPr>
        <p:spPr>
          <a:xfrm>
            <a:off x="2514600" y="10210800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7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 공유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32">
            <a:extLst>
              <a:ext uri="{FF2B5EF4-FFF2-40B4-BE49-F238E27FC236}">
                <a16:creationId xmlns:a16="http://schemas.microsoft.com/office/drawing/2014/main" id="{CB62CEEC-5391-9E82-2DA2-B8FF3D66A6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0800" y="7632700"/>
            <a:ext cx="342900" cy="3429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61FD3EA-7B17-9856-1E08-B4163E52A95F}"/>
              </a:ext>
            </a:extLst>
          </p:cNvPr>
          <p:cNvSpPr txBox="1"/>
          <p:nvPr/>
        </p:nvSpPr>
        <p:spPr>
          <a:xfrm>
            <a:off x="4191000" y="7594600"/>
            <a:ext cx="2108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악성파일 업로드</a:t>
            </a: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D3E075CF-ED78-3D62-77B9-AC6CA37A151C}"/>
              </a:ext>
            </a:extLst>
          </p:cNvPr>
          <p:cNvSpPr txBox="1"/>
          <p:nvPr/>
        </p:nvSpPr>
        <p:spPr>
          <a:xfrm>
            <a:off x="3708400" y="5543722"/>
            <a:ext cx="320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협력사망</a:t>
            </a:r>
            <a:endParaRPr lang="en-US" sz="26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3" name="TextBox 21">
            <a:extLst>
              <a:ext uri="{FF2B5EF4-FFF2-40B4-BE49-F238E27FC236}">
                <a16:creationId xmlns:a16="http://schemas.microsoft.com/office/drawing/2014/main" id="{0985B101-51DB-A742-D066-C0AC436957F3}"/>
              </a:ext>
            </a:extLst>
          </p:cNvPr>
          <p:cNvSpPr txBox="1"/>
          <p:nvPr/>
        </p:nvSpPr>
        <p:spPr>
          <a:xfrm>
            <a:off x="3570759" y="9158416"/>
            <a:ext cx="3200400" cy="1009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endParaRPr lang="en-US" altLang="ko-KR" sz="26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26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(DMZ)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0" y="4368800"/>
            <a:ext cx="15849600" cy="6997700"/>
          </a:xfrm>
          <a:prstGeom prst="rect">
            <a:avLst/>
          </a:prstGeom>
          <a:effectLst>
            <a:outerShdw blurRad="384862" dist="161481" dir="2700000">
              <a:srgbClr val="000000">
                <a:alpha val="1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0160000" y="4699000"/>
            <a:ext cx="124968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Windows Defender SmartScreen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우회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때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나타나는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경고창을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무력화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88300" y="47752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 설명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34600" y="6261100"/>
            <a:ext cx="126365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MotW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신뢰할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없는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영역에서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다운로드한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윈도우가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부여하는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	  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태그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SmartScreen: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MotW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태그가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붙은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시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안전성을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분석하여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		      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차단하고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경고창을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띄우는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윈도우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메커니즘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88300" y="62865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99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 지식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0" y="8864600"/>
            <a:ext cx="125984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Water Hydra 등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APT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그룹이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금융권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시, 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솔루션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탐지를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피하기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적극적으로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악용한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사례임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988300" y="88646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선정 이유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29591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Windows : CVE-2024-21412</a:t>
            </a: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45C56FCC-3B1C-A7B0-F84F-721CA3B9A40E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DA24D0B6-D32C-F9E8-B7CE-0C8F83DED67E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DFCA55C1-3728-226B-80E8-78E9F1B28C5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38" name="TextBox 16">
            <a:extLst>
              <a:ext uri="{FF2B5EF4-FFF2-40B4-BE49-F238E27FC236}">
                <a16:creationId xmlns:a16="http://schemas.microsoft.com/office/drawing/2014/main" id="{F4773436-EF98-2156-E220-5064FC445441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FC538933-4047-8C94-F438-94A8C79A3B7C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40" name="TextBox 19">
            <a:extLst>
              <a:ext uri="{FF2B5EF4-FFF2-40B4-BE49-F238E27FC236}">
                <a16:creationId xmlns:a16="http://schemas.microsoft.com/office/drawing/2014/main" id="{7DC158B2-65E8-765D-F7EC-2604A0A9143A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359E9357-064E-C420-D52A-10E6C43F6C6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CD9DF159-9F94-283F-CAA4-F31F70E4A8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4368800"/>
            <a:ext cx="4381500" cy="6997700"/>
          </a:xfrm>
          <a:prstGeom prst="rect">
            <a:avLst/>
          </a:prstGeom>
          <a:effectLst>
            <a:outerShdw blurRad="241107" dist="101164" dir="2700000">
              <a:srgbClr val="000000">
                <a:alpha val="15000"/>
              </a:srgbClr>
            </a:outerShdw>
          </a:effectLst>
        </p:spPr>
      </p:pic>
      <p:pic>
        <p:nvPicPr>
          <p:cNvPr id="16" name="Picture 27">
            <a:extLst>
              <a:ext uri="{FF2B5EF4-FFF2-40B4-BE49-F238E27FC236}">
                <a16:creationId xmlns:a16="http://schemas.microsoft.com/office/drawing/2014/main" id="{2917B774-33D1-6D97-C951-39FB0D7134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5054600"/>
            <a:ext cx="1168400" cy="1168400"/>
          </a:xfrm>
          <a:prstGeom prst="rect">
            <a:avLst/>
          </a:prstGeom>
        </p:spPr>
      </p:pic>
      <p:sp>
        <p:nvSpPr>
          <p:cNvPr id="17" name="TextBox 28">
            <a:extLst>
              <a:ext uri="{FF2B5EF4-FFF2-40B4-BE49-F238E27FC236}">
                <a16:creationId xmlns:a16="http://schemas.microsoft.com/office/drawing/2014/main" id="{7BA0E87B-AD38-EB0D-EAED-61A1B9C9D03D}"/>
              </a:ext>
            </a:extLst>
          </p:cNvPr>
          <p:cNvSpPr txBox="1"/>
          <p:nvPr/>
        </p:nvSpPr>
        <p:spPr>
          <a:xfrm>
            <a:off x="2514600" y="6248400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7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 공유</a:t>
            </a:r>
            <a:r>
              <a:rPr 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8" name="Picture 29">
            <a:extLst>
              <a:ext uri="{FF2B5EF4-FFF2-40B4-BE49-F238E27FC236}">
                <a16:creationId xmlns:a16="http://schemas.microsoft.com/office/drawing/2014/main" id="{D9639E61-5BCD-7C31-281A-181AF7CDB1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1800" y="8902700"/>
            <a:ext cx="1320800" cy="1168400"/>
          </a:xfrm>
          <a:prstGeom prst="rect">
            <a:avLst/>
          </a:prstGeom>
        </p:spPr>
      </p:pic>
      <p:sp>
        <p:nvSpPr>
          <p:cNvPr id="19" name="TextBox 30">
            <a:extLst>
              <a:ext uri="{FF2B5EF4-FFF2-40B4-BE49-F238E27FC236}">
                <a16:creationId xmlns:a16="http://schemas.microsoft.com/office/drawing/2014/main" id="{6A186F26-6485-0904-6646-1AD99AE038FC}"/>
              </a:ext>
            </a:extLst>
          </p:cNvPr>
          <p:cNvSpPr txBox="1"/>
          <p:nvPr/>
        </p:nvSpPr>
        <p:spPr>
          <a:xfrm>
            <a:off x="2514600" y="10312400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대외지원 관리자</a:t>
            </a:r>
          </a:p>
        </p:txBody>
      </p:sp>
      <p:pic>
        <p:nvPicPr>
          <p:cNvPr id="20" name="Picture 31">
            <a:extLst>
              <a:ext uri="{FF2B5EF4-FFF2-40B4-BE49-F238E27FC236}">
                <a16:creationId xmlns:a16="http://schemas.microsoft.com/office/drawing/2014/main" id="{959D575C-E4C4-8D40-5FD7-FEC929D9B9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679700" y="7708900"/>
            <a:ext cx="1905000" cy="190500"/>
          </a:xfrm>
          <a:prstGeom prst="rect">
            <a:avLst/>
          </a:prstGeom>
        </p:spPr>
      </p:pic>
      <p:sp>
        <p:nvSpPr>
          <p:cNvPr id="21" name="TextBox 32">
            <a:extLst>
              <a:ext uri="{FF2B5EF4-FFF2-40B4-BE49-F238E27FC236}">
                <a16:creationId xmlns:a16="http://schemas.microsoft.com/office/drawing/2014/main" id="{86B97F84-E0B8-832F-7344-0889BB8EF7C1}"/>
              </a:ext>
            </a:extLst>
          </p:cNvPr>
          <p:cNvSpPr txBox="1"/>
          <p:nvPr/>
        </p:nvSpPr>
        <p:spPr>
          <a:xfrm>
            <a:off x="3886200" y="7594600"/>
            <a:ext cx="22606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악성파일다운로드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BFE4FA0-BE76-9610-1C62-E612B9D6E0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62400" y="7112000"/>
            <a:ext cx="368300" cy="368300"/>
          </a:xfrm>
          <a:prstGeom prst="rect">
            <a:avLst/>
          </a:prstGeom>
        </p:spPr>
      </p:pic>
      <p:sp>
        <p:nvSpPr>
          <p:cNvPr id="42" name="TextBox 21">
            <a:extLst>
              <a:ext uri="{FF2B5EF4-FFF2-40B4-BE49-F238E27FC236}">
                <a16:creationId xmlns:a16="http://schemas.microsoft.com/office/drawing/2014/main" id="{C5FE97AC-34DE-AC05-FDB9-19AE235961D6}"/>
              </a:ext>
            </a:extLst>
          </p:cNvPr>
          <p:cNvSpPr txBox="1"/>
          <p:nvPr/>
        </p:nvSpPr>
        <p:spPr>
          <a:xfrm>
            <a:off x="3524250" y="5151223"/>
            <a:ext cx="3200400" cy="1009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endParaRPr lang="en-US" altLang="ko-KR" sz="26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26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(DMZ)</a:t>
            </a:r>
          </a:p>
        </p:txBody>
      </p:sp>
      <p:sp>
        <p:nvSpPr>
          <p:cNvPr id="43" name="TextBox 21">
            <a:extLst>
              <a:ext uri="{FF2B5EF4-FFF2-40B4-BE49-F238E27FC236}">
                <a16:creationId xmlns:a16="http://schemas.microsoft.com/office/drawing/2014/main" id="{BF78FE23-4541-BFA5-BD37-5583EFFD864A}"/>
              </a:ext>
            </a:extLst>
          </p:cNvPr>
          <p:cNvSpPr txBox="1"/>
          <p:nvPr/>
        </p:nvSpPr>
        <p:spPr>
          <a:xfrm>
            <a:off x="3595473" y="9214622"/>
            <a:ext cx="3200400" cy="4429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본사망</a:t>
            </a:r>
            <a:endParaRPr lang="en-US" altLang="ko-KR" sz="26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0" y="4368800"/>
            <a:ext cx="15849600" cy="6997700"/>
          </a:xfrm>
          <a:prstGeom prst="rect">
            <a:avLst/>
          </a:prstGeom>
          <a:effectLst>
            <a:outerShdw blurRad="384862" dist="161481" dir="2700000">
              <a:srgbClr val="000000">
                <a:alpha val="1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0160000" y="4699000"/>
            <a:ext cx="124968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Zimbra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웹메일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시스템에서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입력값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필터링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미흡으로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발생한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Stored XSS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b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</a:b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공격자가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본문에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스크립트를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삽입하여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실행할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있는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환경을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제공</a:t>
            </a:r>
            <a:endParaRPr lang="en-US" sz="2933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988300" y="47752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 설명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09200" y="6261100"/>
            <a:ext cx="125857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스크립트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브라우저가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웹페이지를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열 때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자동으로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실행되는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</a:t>
            </a:r>
            <a:r>
              <a:rPr lang="ko-KR" alt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버튼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클릭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</a:p>
          <a:p>
            <a:pPr lvl="0" algn="l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	     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팝업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같은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동작을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만들어냄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웹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필터링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사용자가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입력한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값에서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위험한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코드를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걸러내는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2933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장치</a:t>
            </a:r>
            <a:endParaRPr lang="en-US" sz="2933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88300" y="62865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99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 지식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0" y="8864600"/>
            <a:ext cx="125984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러시아-우크라이나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전쟁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중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러시아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APT28이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수행한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고스트메일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작전에서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우크라이나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정부를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대상으로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Zimbra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탈취함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환경을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만드는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8300" y="88646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선정 이유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29591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Zimbra : CVE-2025-66376</a:t>
            </a:r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95B512DA-5494-237B-20AD-257DFCCB3EF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C155D38F-F6C1-0764-DAD1-186803452CA5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58041E89-FB3B-9E36-400D-32C8BDA3812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40" name="TextBox 16">
            <a:extLst>
              <a:ext uri="{FF2B5EF4-FFF2-40B4-BE49-F238E27FC236}">
                <a16:creationId xmlns:a16="http://schemas.microsoft.com/office/drawing/2014/main" id="{EEEFF707-1FFB-4E84-4A1A-13736CC37F7B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08C4C729-9BB5-2663-812E-4F9306258C5F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3D08AC29-CCB9-8781-E1F1-DC681F8D7039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09B7C735-DCED-D269-0B81-C7D0427F735C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5E733280-B17E-44A6-52DB-14A5F8E4A2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4368800"/>
            <a:ext cx="4381500" cy="6997700"/>
          </a:xfrm>
          <a:prstGeom prst="rect">
            <a:avLst/>
          </a:prstGeom>
          <a:effectLst>
            <a:outerShdw blurRad="241107" dist="101164" dir="2700000">
              <a:srgbClr val="000000">
                <a:alpha val="15000"/>
              </a:srgbClr>
            </a:outerShdw>
          </a:effectLst>
        </p:spPr>
      </p:pic>
      <p:pic>
        <p:nvPicPr>
          <p:cNvPr id="16" name="Picture 27">
            <a:extLst>
              <a:ext uri="{FF2B5EF4-FFF2-40B4-BE49-F238E27FC236}">
                <a16:creationId xmlns:a16="http://schemas.microsoft.com/office/drawing/2014/main" id="{6F601DE0-53AD-C91E-6E2B-AF6C86A6A2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0" y="4927600"/>
            <a:ext cx="1320800" cy="1168400"/>
          </a:xfrm>
          <a:prstGeom prst="rect">
            <a:avLst/>
          </a:prstGeom>
        </p:spPr>
      </p:pic>
      <p:pic>
        <p:nvPicPr>
          <p:cNvPr id="17" name="Picture 28">
            <a:extLst>
              <a:ext uri="{FF2B5EF4-FFF2-40B4-BE49-F238E27FC236}">
                <a16:creationId xmlns:a16="http://schemas.microsoft.com/office/drawing/2014/main" id="{9F20E0FB-4815-CA5B-9CA4-541F917752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0200" y="8178800"/>
            <a:ext cx="1841500" cy="1841500"/>
          </a:xfrm>
          <a:prstGeom prst="rect">
            <a:avLst/>
          </a:prstGeom>
        </p:spPr>
      </p:pic>
      <p:sp>
        <p:nvSpPr>
          <p:cNvPr id="18" name="TextBox 29">
            <a:extLst>
              <a:ext uri="{FF2B5EF4-FFF2-40B4-BE49-F238E27FC236}">
                <a16:creationId xmlns:a16="http://schemas.microsoft.com/office/drawing/2014/main" id="{FADC293C-FE96-73F4-71FF-51E6CC251C96}"/>
              </a:ext>
            </a:extLst>
          </p:cNvPr>
          <p:cNvSpPr txBox="1"/>
          <p:nvPr/>
        </p:nvSpPr>
        <p:spPr>
          <a:xfrm>
            <a:off x="2717800" y="6337300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IT 관리자</a:t>
            </a:r>
          </a:p>
        </p:txBody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FFA9B936-15FA-BF91-D94B-1FE757DC0440}"/>
              </a:ext>
            </a:extLst>
          </p:cNvPr>
          <p:cNvSpPr txBox="1"/>
          <p:nvPr/>
        </p:nvSpPr>
        <p:spPr>
          <a:xfrm>
            <a:off x="2616200" y="10020300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31">
            <a:extLst>
              <a:ext uri="{FF2B5EF4-FFF2-40B4-BE49-F238E27FC236}">
                <a16:creationId xmlns:a16="http://schemas.microsoft.com/office/drawing/2014/main" id="{838D584C-8117-FAD4-C0E3-87B4CC6976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3670300" y="7277100"/>
            <a:ext cx="3733800" cy="190500"/>
          </a:xfrm>
          <a:prstGeom prst="rect">
            <a:avLst/>
          </a:prstGeom>
        </p:spPr>
      </p:pic>
      <p:pic>
        <p:nvPicPr>
          <p:cNvPr id="21" name="Picture 32">
            <a:extLst>
              <a:ext uri="{FF2B5EF4-FFF2-40B4-BE49-F238E27FC236}">
                <a16:creationId xmlns:a16="http://schemas.microsoft.com/office/drawing/2014/main" id="{7D953E6C-E027-BF55-6584-A8A3049A7E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3900" y="5422900"/>
            <a:ext cx="1028700" cy="190500"/>
          </a:xfrm>
          <a:prstGeom prst="rect">
            <a:avLst/>
          </a:prstGeom>
        </p:spPr>
      </p:pic>
      <p:pic>
        <p:nvPicPr>
          <p:cNvPr id="36" name="Picture 33">
            <a:extLst>
              <a:ext uri="{FF2B5EF4-FFF2-40B4-BE49-F238E27FC236}">
                <a16:creationId xmlns:a16="http://schemas.microsoft.com/office/drawing/2014/main" id="{C0AEB3D5-B931-6FAE-30B6-A36E0DEC0A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4533900" y="9105900"/>
            <a:ext cx="1028700" cy="190500"/>
          </a:xfrm>
          <a:prstGeom prst="rect">
            <a:avLst/>
          </a:prstGeom>
        </p:spPr>
      </p:pic>
      <p:pic>
        <p:nvPicPr>
          <p:cNvPr id="44" name="Picture 34">
            <a:extLst>
              <a:ext uri="{FF2B5EF4-FFF2-40B4-BE49-F238E27FC236}">
                <a16:creationId xmlns:a16="http://schemas.microsoft.com/office/drawing/2014/main" id="{2D0D1454-03E8-522C-39E8-218619CA64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35400" y="7302500"/>
            <a:ext cx="355600" cy="355600"/>
          </a:xfrm>
          <a:prstGeom prst="rect">
            <a:avLst/>
          </a:prstGeom>
        </p:spPr>
      </p:pic>
      <p:sp>
        <p:nvSpPr>
          <p:cNvPr id="45" name="TextBox 35">
            <a:extLst>
              <a:ext uri="{FF2B5EF4-FFF2-40B4-BE49-F238E27FC236}">
                <a16:creationId xmlns:a16="http://schemas.microsoft.com/office/drawing/2014/main" id="{8088A4DF-F991-EFD9-58AF-392EA0729853}"/>
              </a:ext>
            </a:extLst>
          </p:cNvPr>
          <p:cNvSpPr txBox="1"/>
          <p:nvPr/>
        </p:nvSpPr>
        <p:spPr>
          <a:xfrm>
            <a:off x="4165600" y="7264400"/>
            <a:ext cx="12700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 전송</a:t>
            </a: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D8ACDEA1-676C-0BC2-9A42-EB1F6CBBED14}"/>
              </a:ext>
            </a:extLst>
          </p:cNvPr>
          <p:cNvSpPr txBox="1"/>
          <p:nvPr/>
        </p:nvSpPr>
        <p:spPr>
          <a:xfrm>
            <a:off x="914400" y="5105400"/>
            <a:ext cx="3200400" cy="4429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본사망</a:t>
            </a:r>
            <a:endParaRPr lang="en-US" altLang="ko-KR" sz="26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6087BFDE-4F07-A166-8B3A-F8FF9B0416EB}"/>
              </a:ext>
            </a:extLst>
          </p:cNvPr>
          <p:cNvSpPr txBox="1"/>
          <p:nvPr/>
        </p:nvSpPr>
        <p:spPr>
          <a:xfrm>
            <a:off x="847982" y="8991599"/>
            <a:ext cx="3200400" cy="4429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본사망</a:t>
            </a:r>
            <a:endParaRPr lang="en-US" altLang="ko-KR" sz="26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33</a:t>
            </a:r>
          </a:p>
        </p:txBody>
      </p:sp>
      <p:sp>
        <p:nvSpPr>
          <p:cNvPr id="37" name="TextBox 14">
            <a:extLst>
              <a:ext uri="{FF2B5EF4-FFF2-40B4-BE49-F238E27FC236}">
                <a16:creationId xmlns:a16="http://schemas.microsoft.com/office/drawing/2014/main" id="{66E8BD6A-88D4-3263-D9D9-32D19780E13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A2A68F3B-BCB8-1464-0A62-C5C26BEAA6ED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9" name="Picture 2">
            <a:extLst>
              <a:ext uri="{FF2B5EF4-FFF2-40B4-BE49-F238E27FC236}">
                <a16:creationId xmlns:a16="http://schemas.microsoft.com/office/drawing/2014/main" id="{8C25235F-10B4-2699-90DC-35FFE515D2E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40" name="TextBox 16">
            <a:extLst>
              <a:ext uri="{FF2B5EF4-FFF2-40B4-BE49-F238E27FC236}">
                <a16:creationId xmlns:a16="http://schemas.microsoft.com/office/drawing/2014/main" id="{8658E162-5FD1-7B74-BEA9-550FE27B532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779771B9-2723-FA36-BCF1-B978EC69C4A8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00E92D0D-04F8-2A11-0E1B-284A76B5E39C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C14522EF-40EC-0F6C-029B-DB1801F8076F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EA0ACAD3-36D9-E977-45D1-43F300286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6500" y="4368800"/>
            <a:ext cx="15849600" cy="6997700"/>
          </a:xfrm>
          <a:prstGeom prst="rect">
            <a:avLst/>
          </a:prstGeom>
          <a:effectLst>
            <a:outerShdw blurRad="384862" dist="161481" dir="2700000">
              <a:srgbClr val="000000">
                <a:alpha val="15000"/>
              </a:srgbClr>
            </a:outerShdw>
          </a:effectLst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id="{7F14C84C-48B8-BC08-F49B-1608D8654636}"/>
              </a:ext>
            </a:extLst>
          </p:cNvPr>
          <p:cNvSpPr txBox="1"/>
          <p:nvPr/>
        </p:nvSpPr>
        <p:spPr>
          <a:xfrm>
            <a:off x="10160000" y="4699000"/>
            <a:ext cx="124968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크롬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V8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엔진의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타입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혼동</a:t>
            </a:r>
            <a:r>
              <a:rPr 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크롬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메모리를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임의로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읽고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쓸 수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F2055F0F-26D1-F3F2-9D1B-494DCEE87491}"/>
              </a:ext>
            </a:extLst>
          </p:cNvPr>
          <p:cNvSpPr txBox="1"/>
          <p:nvPr/>
        </p:nvSpPr>
        <p:spPr>
          <a:xfrm>
            <a:off x="7931150" y="475615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 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설명</a:t>
            </a:r>
            <a:endParaRPr lang="en-US" sz="3200" b="1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2883EB5E-7AD2-D5E5-DDB2-D9AC65EAF5F5}"/>
              </a:ext>
            </a:extLst>
          </p:cNvPr>
          <p:cNvSpPr txBox="1"/>
          <p:nvPr/>
        </p:nvSpPr>
        <p:spPr>
          <a:xfrm>
            <a:off x="10147300" y="6261100"/>
            <a:ext cx="124968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직접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빌드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한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WebAssembly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모듈로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타입을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잘못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판단하게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기존의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Read/Write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함수를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함수로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이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과정에서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V8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샌드박스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임의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</a:t>
            </a:r>
            <a:r>
              <a:rPr lang="en-US" sz="2933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D6D39BA6-C7A5-3487-A7CC-7BAC084D2BB3}"/>
              </a:ext>
            </a:extLst>
          </p:cNvPr>
          <p:cNvSpPr txBox="1"/>
          <p:nvPr/>
        </p:nvSpPr>
        <p:spPr>
          <a:xfrm>
            <a:off x="7931150" y="62611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동작</a:t>
            </a:r>
            <a:r>
              <a:rPr lang="en-US" sz="3200" b="1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방식</a:t>
            </a:r>
            <a:endParaRPr lang="en-US" sz="3200" b="1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40761FE8-210E-BFCF-6118-8BA9759E7987}"/>
              </a:ext>
            </a:extLst>
          </p:cNvPr>
          <p:cNvSpPr txBox="1"/>
          <p:nvPr/>
        </p:nvSpPr>
        <p:spPr>
          <a:xfrm>
            <a:off x="10179050" y="10102850"/>
            <a:ext cx="125984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Pwn2Own 2024에서 실제 사용된 제로데이 공격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B9C2E400-C4B2-C709-6388-B595BD04CD42}"/>
              </a:ext>
            </a:extLst>
          </p:cNvPr>
          <p:cNvSpPr txBox="1"/>
          <p:nvPr/>
        </p:nvSpPr>
        <p:spPr>
          <a:xfrm>
            <a:off x="7931150" y="100584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선정</a:t>
            </a:r>
            <a:r>
              <a:rPr lang="en-US" sz="3200" b="1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이유</a:t>
            </a:r>
            <a:endParaRPr lang="en-US" sz="3200" b="1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31006B9E-E90D-0794-B1D5-85F7EC7EA54A}"/>
              </a:ext>
            </a:extLst>
          </p:cNvPr>
          <p:cNvSpPr txBox="1"/>
          <p:nvPr/>
        </p:nvSpPr>
        <p:spPr>
          <a:xfrm>
            <a:off x="1930400" y="29591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V8 엔진 : CVE-2024-2887</a:t>
            </a:r>
          </a:p>
        </p:txBody>
      </p:sp>
      <p:sp>
        <p:nvSpPr>
          <p:cNvPr id="54" name="TextBox 22">
            <a:extLst>
              <a:ext uri="{FF2B5EF4-FFF2-40B4-BE49-F238E27FC236}">
                <a16:creationId xmlns:a16="http://schemas.microsoft.com/office/drawing/2014/main" id="{538DB9D6-456A-952E-124E-0DD1B63B8826}"/>
              </a:ext>
            </a:extLst>
          </p:cNvPr>
          <p:cNvSpPr txBox="1"/>
          <p:nvPr/>
        </p:nvSpPr>
        <p:spPr>
          <a:xfrm>
            <a:off x="10166350" y="8331200"/>
            <a:ext cx="124968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웹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콘텐츠를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리소스와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격리하여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실행하는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장치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프로세스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간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경계를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설정하여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발생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시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범위를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최소화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5" name="TextBox 23">
            <a:extLst>
              <a:ext uri="{FF2B5EF4-FFF2-40B4-BE49-F238E27FC236}">
                <a16:creationId xmlns:a16="http://schemas.microsoft.com/office/drawing/2014/main" id="{99113B1A-6038-5B8C-E1BB-10A13029908B}"/>
              </a:ext>
            </a:extLst>
          </p:cNvPr>
          <p:cNvSpPr txBox="1"/>
          <p:nvPr/>
        </p:nvSpPr>
        <p:spPr>
          <a:xfrm>
            <a:off x="7931150" y="83312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샌드박스</a:t>
            </a:r>
            <a:endParaRPr lang="en-US" sz="3200" b="1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80" name="Picture 6">
            <a:extLst>
              <a:ext uri="{FF2B5EF4-FFF2-40B4-BE49-F238E27FC236}">
                <a16:creationId xmlns:a16="http://schemas.microsoft.com/office/drawing/2014/main" id="{75595380-1783-B290-0B14-5A361381D0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4368800"/>
            <a:ext cx="4381500" cy="6997700"/>
          </a:xfrm>
          <a:prstGeom prst="rect">
            <a:avLst/>
          </a:prstGeom>
          <a:effectLst>
            <a:outerShdw blurRad="241107" dist="101164" dir="2700000">
              <a:srgbClr val="000000">
                <a:alpha val="15000"/>
              </a:srgbClr>
            </a:outerShdw>
          </a:effectLst>
        </p:spPr>
      </p:pic>
      <p:pic>
        <p:nvPicPr>
          <p:cNvPr id="81" name="Picture 28">
            <a:extLst>
              <a:ext uri="{FF2B5EF4-FFF2-40B4-BE49-F238E27FC236}">
                <a16:creationId xmlns:a16="http://schemas.microsoft.com/office/drawing/2014/main" id="{87BF6DA0-FAB0-DAE7-AE5B-2DC7B192F5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4650" y="4419600"/>
            <a:ext cx="1841500" cy="1841500"/>
          </a:xfrm>
          <a:prstGeom prst="rect">
            <a:avLst/>
          </a:prstGeom>
        </p:spPr>
      </p:pic>
      <p:sp>
        <p:nvSpPr>
          <p:cNvPr id="82" name="TextBox 30">
            <a:extLst>
              <a:ext uri="{FF2B5EF4-FFF2-40B4-BE49-F238E27FC236}">
                <a16:creationId xmlns:a16="http://schemas.microsoft.com/office/drawing/2014/main" id="{55443E12-3A95-4BE4-E063-F91B11CF99CE}"/>
              </a:ext>
            </a:extLst>
          </p:cNvPr>
          <p:cNvSpPr txBox="1"/>
          <p:nvPr/>
        </p:nvSpPr>
        <p:spPr>
          <a:xfrm>
            <a:off x="2632075" y="6165851"/>
            <a:ext cx="2235200" cy="5333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83" name="Picture 31">
            <a:extLst>
              <a:ext uri="{FF2B5EF4-FFF2-40B4-BE49-F238E27FC236}">
                <a16:creationId xmlns:a16="http://schemas.microsoft.com/office/drawing/2014/main" id="{F96649F6-B8F0-40BD-44AD-3456C58FDE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3670300" y="7277100"/>
            <a:ext cx="3733800" cy="190500"/>
          </a:xfrm>
          <a:prstGeom prst="rect">
            <a:avLst/>
          </a:prstGeom>
        </p:spPr>
      </p:pic>
      <p:pic>
        <p:nvPicPr>
          <p:cNvPr id="84" name="Picture 32">
            <a:extLst>
              <a:ext uri="{FF2B5EF4-FFF2-40B4-BE49-F238E27FC236}">
                <a16:creationId xmlns:a16="http://schemas.microsoft.com/office/drawing/2014/main" id="{F56EA2BB-8021-8D0C-2F24-81DE94D74E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3900" y="5422900"/>
            <a:ext cx="1028700" cy="190500"/>
          </a:xfrm>
          <a:prstGeom prst="rect">
            <a:avLst/>
          </a:prstGeom>
        </p:spPr>
      </p:pic>
      <p:pic>
        <p:nvPicPr>
          <p:cNvPr id="85" name="Picture 33">
            <a:extLst>
              <a:ext uri="{FF2B5EF4-FFF2-40B4-BE49-F238E27FC236}">
                <a16:creationId xmlns:a16="http://schemas.microsoft.com/office/drawing/2014/main" id="{5F04AE11-50EA-9850-772A-6BF17BFAEE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4533900" y="9105900"/>
            <a:ext cx="1028700" cy="190500"/>
          </a:xfrm>
          <a:prstGeom prst="rect">
            <a:avLst/>
          </a:prstGeom>
        </p:spPr>
      </p:pic>
      <p:sp>
        <p:nvSpPr>
          <p:cNvPr id="86" name="TextBox 35">
            <a:extLst>
              <a:ext uri="{FF2B5EF4-FFF2-40B4-BE49-F238E27FC236}">
                <a16:creationId xmlns:a16="http://schemas.microsoft.com/office/drawing/2014/main" id="{4EB6FD72-71E6-E6EB-5E19-15C8FD018C99}"/>
              </a:ext>
            </a:extLst>
          </p:cNvPr>
          <p:cNvSpPr txBox="1"/>
          <p:nvPr/>
        </p:nvSpPr>
        <p:spPr>
          <a:xfrm>
            <a:off x="4165600" y="7264400"/>
            <a:ext cx="12700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7" name="TextBox 21">
            <a:extLst>
              <a:ext uri="{FF2B5EF4-FFF2-40B4-BE49-F238E27FC236}">
                <a16:creationId xmlns:a16="http://schemas.microsoft.com/office/drawing/2014/main" id="{9108C581-2E20-8D62-9649-8CE647FE489F}"/>
              </a:ext>
            </a:extLst>
          </p:cNvPr>
          <p:cNvSpPr txBox="1"/>
          <p:nvPr/>
        </p:nvSpPr>
        <p:spPr>
          <a:xfrm>
            <a:off x="914400" y="5105400"/>
            <a:ext cx="3200400" cy="4429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본사망</a:t>
            </a:r>
            <a:endParaRPr lang="en-US" altLang="ko-KR" sz="26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8" name="TextBox 21">
            <a:extLst>
              <a:ext uri="{FF2B5EF4-FFF2-40B4-BE49-F238E27FC236}">
                <a16:creationId xmlns:a16="http://schemas.microsoft.com/office/drawing/2014/main" id="{B524E582-1D83-115B-A106-69503D967E95}"/>
              </a:ext>
            </a:extLst>
          </p:cNvPr>
          <p:cNvSpPr txBox="1"/>
          <p:nvPr/>
        </p:nvSpPr>
        <p:spPr>
          <a:xfrm>
            <a:off x="847982" y="8991599"/>
            <a:ext cx="3200400" cy="4429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본사망</a:t>
            </a:r>
            <a:endParaRPr lang="en-US" altLang="ko-KR" sz="26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89" name="Picture 27">
            <a:extLst>
              <a:ext uri="{FF2B5EF4-FFF2-40B4-BE49-F238E27FC236}">
                <a16:creationId xmlns:a16="http://schemas.microsoft.com/office/drawing/2014/main" id="{71738FFB-22EB-DA96-FB8A-0405867F4B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1350" y="8602534"/>
            <a:ext cx="1320800" cy="1168400"/>
          </a:xfrm>
          <a:prstGeom prst="rect">
            <a:avLst/>
          </a:prstGeom>
        </p:spPr>
      </p:pic>
      <p:sp>
        <p:nvSpPr>
          <p:cNvPr id="90" name="TextBox 29">
            <a:extLst>
              <a:ext uri="{FF2B5EF4-FFF2-40B4-BE49-F238E27FC236}">
                <a16:creationId xmlns:a16="http://schemas.microsoft.com/office/drawing/2014/main" id="{597ED78E-C013-8382-FB80-136D002C5AC0}"/>
              </a:ext>
            </a:extLst>
          </p:cNvPr>
          <p:cNvSpPr txBox="1"/>
          <p:nvPr/>
        </p:nvSpPr>
        <p:spPr>
          <a:xfrm>
            <a:off x="2774950" y="10012234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개발자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91" name="Picture 57">
            <a:extLst>
              <a:ext uri="{FF2B5EF4-FFF2-40B4-BE49-F238E27FC236}">
                <a16:creationId xmlns:a16="http://schemas.microsoft.com/office/drawing/2014/main" id="{2966A23D-E406-2120-1664-599B69D15E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67836" y="735004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0" y="4368800"/>
            <a:ext cx="15849600" cy="6997700"/>
          </a:xfrm>
          <a:prstGeom prst="rect">
            <a:avLst/>
          </a:prstGeom>
          <a:effectLst>
            <a:outerShdw blurRad="384862" dist="161481" dir="2700000">
              <a:srgbClr val="000000">
                <a:alpha val="1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0160000" y="4699000"/>
            <a:ext cx="124968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Mojo IPC를 이용한 탈출 취약점
브라우저 밖 시스템 전체를 장악할 수 있게 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88300" y="46990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 설명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47300" y="6261100"/>
            <a:ext cx="124968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IPC 보안 검사 우회 → 타이밍 오류 이용 → 샌드박스 탈출 → 시스템 완전 장악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88300" y="62611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동작 방식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0" y="8851900"/>
            <a:ext cx="12598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오퍼레이션 포럼트롤 (러시아 국가지원 해킹그룹)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8300" y="88519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선정 이유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29591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크롬 브라우저 : CVE-2025-2783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60000" y="7594600"/>
            <a:ext cx="12496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Mojo IPC : 크롬 샌드박스와 시스템간의 통신을 위한 프로세스 간 통신 프레임워크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300" y="7594600"/>
            <a:ext cx="18542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 지식</a:t>
            </a: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5EAE54AA-7847-A709-8B11-1A1196C78EFF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0" name="TextBox 14">
            <a:extLst>
              <a:ext uri="{FF2B5EF4-FFF2-40B4-BE49-F238E27FC236}">
                <a16:creationId xmlns:a16="http://schemas.microsoft.com/office/drawing/2014/main" id="{767DFBEE-2054-79A9-C6D2-5B6B655D4CB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4328FBDF-F7BD-41F2-497C-63FEC0C0531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42" name="TextBox 16">
            <a:extLst>
              <a:ext uri="{FF2B5EF4-FFF2-40B4-BE49-F238E27FC236}">
                <a16:creationId xmlns:a16="http://schemas.microsoft.com/office/drawing/2014/main" id="{3CFC75C3-BEB0-0667-9854-8BFEE7DFE2CE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3C939577-4643-7439-B272-68FD89301904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56840AA3-0C6A-6B6D-39FF-66F3B441D025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43B5AA87-9605-0B10-252B-87A35FEB4D0C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62" name="Picture 6">
            <a:extLst>
              <a:ext uri="{FF2B5EF4-FFF2-40B4-BE49-F238E27FC236}">
                <a16:creationId xmlns:a16="http://schemas.microsoft.com/office/drawing/2014/main" id="{8D98BE2C-5191-21DE-EFB4-E655099404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5800" y="4368800"/>
            <a:ext cx="4381500" cy="6997700"/>
          </a:xfrm>
          <a:prstGeom prst="rect">
            <a:avLst/>
          </a:prstGeom>
          <a:effectLst>
            <a:outerShdw blurRad="241107" dist="101164" dir="2700000">
              <a:srgbClr val="000000">
                <a:alpha val="15000"/>
              </a:srgbClr>
            </a:outerShdw>
          </a:effectLst>
        </p:spPr>
      </p:pic>
      <p:pic>
        <p:nvPicPr>
          <p:cNvPr id="63" name="Picture 28">
            <a:extLst>
              <a:ext uri="{FF2B5EF4-FFF2-40B4-BE49-F238E27FC236}">
                <a16:creationId xmlns:a16="http://schemas.microsoft.com/office/drawing/2014/main" id="{2B548464-DCA5-EE95-567E-0989A1564B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4650" y="4419600"/>
            <a:ext cx="1841500" cy="1841500"/>
          </a:xfrm>
          <a:prstGeom prst="rect">
            <a:avLst/>
          </a:prstGeom>
        </p:spPr>
      </p:pic>
      <p:sp>
        <p:nvSpPr>
          <p:cNvPr id="64" name="TextBox 30">
            <a:extLst>
              <a:ext uri="{FF2B5EF4-FFF2-40B4-BE49-F238E27FC236}">
                <a16:creationId xmlns:a16="http://schemas.microsoft.com/office/drawing/2014/main" id="{BA6745C4-6D0F-6286-F402-558C83F09B4F}"/>
              </a:ext>
            </a:extLst>
          </p:cNvPr>
          <p:cNvSpPr txBox="1"/>
          <p:nvPr/>
        </p:nvSpPr>
        <p:spPr>
          <a:xfrm>
            <a:off x="2632075" y="6165851"/>
            <a:ext cx="2235200" cy="5333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07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65" name="Picture 31">
            <a:extLst>
              <a:ext uri="{FF2B5EF4-FFF2-40B4-BE49-F238E27FC236}">
                <a16:creationId xmlns:a16="http://schemas.microsoft.com/office/drawing/2014/main" id="{4F623D49-34A2-6397-37C0-2822D3EBFC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3670300" y="7277100"/>
            <a:ext cx="3733800" cy="190500"/>
          </a:xfrm>
          <a:prstGeom prst="rect">
            <a:avLst/>
          </a:prstGeom>
        </p:spPr>
      </p:pic>
      <p:pic>
        <p:nvPicPr>
          <p:cNvPr id="66" name="Picture 32">
            <a:extLst>
              <a:ext uri="{FF2B5EF4-FFF2-40B4-BE49-F238E27FC236}">
                <a16:creationId xmlns:a16="http://schemas.microsoft.com/office/drawing/2014/main" id="{698C8C2B-3760-57B7-B18A-55524AFFF0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3900" y="5422900"/>
            <a:ext cx="1028700" cy="190500"/>
          </a:xfrm>
          <a:prstGeom prst="rect">
            <a:avLst/>
          </a:prstGeom>
        </p:spPr>
      </p:pic>
      <p:pic>
        <p:nvPicPr>
          <p:cNvPr id="67" name="Picture 33">
            <a:extLst>
              <a:ext uri="{FF2B5EF4-FFF2-40B4-BE49-F238E27FC236}">
                <a16:creationId xmlns:a16="http://schemas.microsoft.com/office/drawing/2014/main" id="{B6AF2BDC-8E46-187C-CDDC-A90C47D3CF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800000">
            <a:off x="4533900" y="9105900"/>
            <a:ext cx="1028700" cy="190500"/>
          </a:xfrm>
          <a:prstGeom prst="rect">
            <a:avLst/>
          </a:prstGeom>
        </p:spPr>
      </p:pic>
      <p:sp>
        <p:nvSpPr>
          <p:cNvPr id="68" name="TextBox 35">
            <a:extLst>
              <a:ext uri="{FF2B5EF4-FFF2-40B4-BE49-F238E27FC236}">
                <a16:creationId xmlns:a16="http://schemas.microsoft.com/office/drawing/2014/main" id="{90D98AB3-7A3F-F359-2B44-6C9A253C252D}"/>
              </a:ext>
            </a:extLst>
          </p:cNvPr>
          <p:cNvSpPr txBox="1"/>
          <p:nvPr/>
        </p:nvSpPr>
        <p:spPr>
          <a:xfrm>
            <a:off x="4165600" y="7264400"/>
            <a:ext cx="12700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9E479AF7-9B8B-426E-5125-579A71F1E117}"/>
              </a:ext>
            </a:extLst>
          </p:cNvPr>
          <p:cNvSpPr txBox="1"/>
          <p:nvPr/>
        </p:nvSpPr>
        <p:spPr>
          <a:xfrm>
            <a:off x="914400" y="5105400"/>
            <a:ext cx="3200400" cy="4429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본사망</a:t>
            </a:r>
            <a:endParaRPr lang="en-US" altLang="ko-KR" sz="26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0" name="TextBox 21">
            <a:extLst>
              <a:ext uri="{FF2B5EF4-FFF2-40B4-BE49-F238E27FC236}">
                <a16:creationId xmlns:a16="http://schemas.microsoft.com/office/drawing/2014/main" id="{7B6959DB-3723-B84C-BD7F-A8C306F04092}"/>
              </a:ext>
            </a:extLst>
          </p:cNvPr>
          <p:cNvSpPr txBox="1"/>
          <p:nvPr/>
        </p:nvSpPr>
        <p:spPr>
          <a:xfrm>
            <a:off x="847982" y="8991599"/>
            <a:ext cx="3200400" cy="44295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본사망</a:t>
            </a:r>
            <a:endParaRPr lang="en-US" altLang="ko-KR" sz="26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71" name="Picture 27">
            <a:extLst>
              <a:ext uri="{FF2B5EF4-FFF2-40B4-BE49-F238E27FC236}">
                <a16:creationId xmlns:a16="http://schemas.microsoft.com/office/drawing/2014/main" id="{4B9C41C1-6C89-0315-6C5E-D4ABBE34E9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1350" y="8602534"/>
            <a:ext cx="1320800" cy="1168400"/>
          </a:xfrm>
          <a:prstGeom prst="rect">
            <a:avLst/>
          </a:prstGeom>
        </p:spPr>
      </p:pic>
      <p:sp>
        <p:nvSpPr>
          <p:cNvPr id="72" name="TextBox 29">
            <a:extLst>
              <a:ext uri="{FF2B5EF4-FFF2-40B4-BE49-F238E27FC236}">
                <a16:creationId xmlns:a16="http://schemas.microsoft.com/office/drawing/2014/main" id="{AAAEB8D3-D2A2-308C-3C30-9FC1174CE833}"/>
              </a:ext>
            </a:extLst>
          </p:cNvPr>
          <p:cNvSpPr txBox="1"/>
          <p:nvPr/>
        </p:nvSpPr>
        <p:spPr>
          <a:xfrm>
            <a:off x="2774950" y="10012234"/>
            <a:ext cx="2235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07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개발자</a:t>
            </a:r>
            <a:endParaRPr lang="en-US" sz="2607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73" name="Picture 57">
            <a:extLst>
              <a:ext uri="{FF2B5EF4-FFF2-40B4-BE49-F238E27FC236}">
                <a16:creationId xmlns:a16="http://schemas.microsoft.com/office/drawing/2014/main" id="{ED5F6DD6-D865-8628-F244-5D623CA30A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67836" y="735004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1. Shodan이나 OSINT를 통해서 631포트 중 열려 있는 협력사의 CUPS 서버 확인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1912600" cy="8509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5100300" y="3873500"/>
            <a:ext cx="8420100" cy="417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본격적인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공급망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침투에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앞서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협력사를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찾아내는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초기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정찰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공격자는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위협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인텔리전스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검색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엔진인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Shodan을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국내에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노출된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CUPS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탐색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검색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약 19,000개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이상의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서버가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인터넷에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노출된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것을</a:t>
            </a:r>
            <a:r>
              <a:rPr 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CB9871B2-4694-DA8C-09E9-C2214DEF1BE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00953195-7DFF-0EF4-2BFA-B5DD13550C10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7A29697C-67AE-A51D-EA92-AB78D458C7B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5" name="TextBox 16">
            <a:extLst>
              <a:ext uri="{FF2B5EF4-FFF2-40B4-BE49-F238E27FC236}">
                <a16:creationId xmlns:a16="http://schemas.microsoft.com/office/drawing/2014/main" id="{CA230E4F-6630-61AE-1118-3EB69AB93D57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7A54AA3A-FC59-FB7D-33E7-B916769BF040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DC252B40-63EE-E8E2-39C2-E4BEF587378B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84164741-BAC2-785A-79BC-ECD07B7F73D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2. CUPS 연쇄 취약점 체인(CVE-2024-47176, 47076, 47175, 47177)을 사용하여  CUPS의 LP 권한을 획득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17700" y="3873500"/>
            <a:ext cx="8915400" cy="708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CVE-2024-47176</a:t>
            </a: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cups-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browsed가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UDP 631포트로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들어오는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패킷을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맹목적으로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신뢰하여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IPP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프린터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속성을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요청하도록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유도함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CVE-2024-47076</a:t>
            </a: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libcupsfilters가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IPP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서버로부터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응답받은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프린터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속성값을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적절히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필터링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하지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않고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수용함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CVE-2024-47175</a:t>
            </a: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libppd가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오염된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IPP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속성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'/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etc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/cups/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ppd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/'에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필터링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그대로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저장하여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악의적인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페이로드가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주입함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3873500"/>
            <a:ext cx="11684000" cy="9410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6858000"/>
            <a:ext cx="5892800" cy="558800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4AC26E6E-58BE-A9DF-66A8-A2799768B9E4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F47BEAA4-2398-096A-A4C9-BA0AB0011A59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3764A9E6-4BE6-67B8-DC13-5365E39E4C1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F4834629-9161-C43A-766F-605AAC03C178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89ED4D40-A4B5-9318-03FD-2931B8F2FEC1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3A330B32-2D80-3485-30F8-C84A7649BFEE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A22303E1-4BB0-B1ED-454B-FE7F73E9DEC3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2. CUPS 연쇄 취약점 체인(CVE-2024-47176, 47076, 47175, 47177)을 사용하여  CUPS의 LP 권한을 획득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3873500"/>
            <a:ext cx="9385300" cy="5676900"/>
          </a:xfrm>
          <a:prstGeom prst="rect">
            <a:avLst/>
          </a:prstGeom>
          <a:effectLst>
            <a:outerShdw blurRad="312553" dist="131141" dir="2700000">
              <a:srgbClr val="000000">
                <a:alpha val="23000"/>
              </a:srgbClr>
            </a:outerShdw>
          </a:effectLst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6718300"/>
            <a:ext cx="10299700" cy="6172200"/>
          </a:xfrm>
          <a:prstGeom prst="rect">
            <a:avLst/>
          </a:prstGeom>
          <a:effectLst>
            <a:outerShdw blurRad="339141" dist="94865" dir="2700000">
              <a:srgbClr val="000000">
                <a:alpha val="23000"/>
              </a:srgbClr>
            </a:outerShdw>
          </a:effectLst>
        </p:spPr>
      </p:pic>
      <p:sp>
        <p:nvSpPr>
          <p:cNvPr id="21" name="TextBox 21"/>
          <p:cNvSpPr txBox="1"/>
          <p:nvPr/>
        </p:nvSpPr>
        <p:spPr>
          <a:xfrm>
            <a:off x="14554200" y="3873500"/>
            <a:ext cx="9017000" cy="218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CVE-2024-47177</a:t>
            </a: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cups-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filters가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오염된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PPD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지시자를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명령어가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삽입되며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피해자가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프린터로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인쇄를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시도할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때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명령어가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실행되어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lp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쉘을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9842500"/>
            <a:ext cx="6540500" cy="1625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2300" y="10566400"/>
            <a:ext cx="6172200" cy="482600"/>
          </a:xfrm>
          <a:prstGeom prst="rect">
            <a:avLst/>
          </a:prstGeom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1CF29F29-EB8E-CC24-E60C-5A8AFF0CFB16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DC61FEBA-521A-DAE6-86AD-D95AB4BC2AF2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ECE6AB17-F84E-93B9-C106-539242525696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7C48C2D4-3770-2900-39FD-12EF7E1F8B74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69E1CDB5-BB84-4314-C8C1-6C51CB1C0D74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2E3B11A0-26FD-34AD-7B14-9AD5AD665A57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3A5DFCB3-3B31-6DBA-6827-B14D7C22F007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38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3. 내부 자동화 스크립트를 확인하여 WingFTP의 주소를 확인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17700" y="3873500"/>
            <a:ext cx="89154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수집하는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과정에서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정기적으로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추정되는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동기화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스크립트가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존재하는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것을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확인하고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도메인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'/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etc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/hosts/'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열람하여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IP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주소를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확보함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9232900" cy="5867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800" y="7239000"/>
            <a:ext cx="8991600" cy="4203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5800" y="11125200"/>
            <a:ext cx="6426200" cy="368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6900" y="6705600"/>
            <a:ext cx="3454400" cy="381000"/>
          </a:xfrm>
          <a:prstGeom prst="rect">
            <a:avLst/>
          </a:prstGeom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CF7E0A74-9115-7D8F-BC06-2F36623F3B8A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AA9D9856-49A9-3355-1017-CB14C290BCF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3E2F0570-E2CB-B5D1-3BD5-3B6BBF346796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4AAD01B3-A03D-49F2-CCBE-1D66C24A023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CF0E835A-0FE6-55C0-D8F9-9A8A54DCDEA5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6B80D356-7DE1-EF8F-E5F9-7F5ADE4F0FAF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20EBABF0-2297-30C3-977D-8F2DD71A025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39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4. Kali에서 WingFTP로 접속하기 위한 터널링 작업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17700" y="3873500"/>
            <a:ext cx="8915400" cy="273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좌측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Kali에서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WingFTP로의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통신을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터널링을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뚫기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중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발췌한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이미지임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Kali -&gt;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WingFTP접속을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relay.py를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작성하여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터널을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뚫음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6362700"/>
            <a:ext cx="11099800" cy="3403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3100" y="7632700"/>
            <a:ext cx="5930900" cy="469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8064500"/>
            <a:ext cx="5346700" cy="444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0900" y="3924300"/>
            <a:ext cx="11099800" cy="2082800"/>
          </a:xfrm>
          <a:prstGeom prst="rect">
            <a:avLst/>
          </a:prstGeom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AC578149-87DD-0D91-0561-876B36BC008C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727B9BCE-D052-3AF8-43C7-F38EDC6503B0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FCCF4A44-2706-B092-F00D-DB4D93F24909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CEE57AF2-F801-BF8F-6D33-5A078C1E37F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ABFAADCC-08E1-47ED-8F5A-E879EA72BC7F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1C08AE8D-7C28-2D23-9530-CF912D48408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44135360-4B0A-5FDF-40BD-651504D2D8F2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5. WingFTP 취약점(CVE-2025-47812)를 활용하여 루트권한 쉘을 획득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98900"/>
            <a:ext cx="11760200" cy="5918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9055100"/>
            <a:ext cx="6362700" cy="520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617700" y="3873500"/>
            <a:ext cx="89154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CVE-2025-47812</a:t>
            </a: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노출된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익명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계정을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뒤, ID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입력란에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NULL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바이트와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명령어를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포함하여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전송함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이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과정에서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처리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로직이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오작동하여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별도의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셸을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687B3A28-C055-CB2C-D616-2858AD045DB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15D56C48-D871-1E69-AF57-78E87241FA66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0FBCE5CD-D0E4-3140-92C5-BD6AB66B4B7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1909A88E-1D79-AD19-ADA2-CAB41B64C757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7AECE6E7-67C8-3FC5-516C-5242FF5203FC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7452BCFD-F629-9AEF-CAEC-246527AB4965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4EC1F13D-4512-4F0D-89FA-2FB291348416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</a:t>
            </a: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1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6. 획득한 쉘을 사용하여 관리자의 비밀번호를 변경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17700" y="3873500"/>
            <a:ext cx="8915400" cy="273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설정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변조하여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비밀번호를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변경함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단순한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넘어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침투를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전략적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거점으로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삼기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위함임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1874500" cy="660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1700" y="4800600"/>
            <a:ext cx="11645900" cy="850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4700" y="6502400"/>
            <a:ext cx="4140200" cy="533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0900" y="6985000"/>
            <a:ext cx="9766300" cy="495300"/>
          </a:xfrm>
          <a:prstGeom prst="rect">
            <a:avLst/>
          </a:prstGeom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720F6AB9-00E2-717E-F8F1-D3F8D6321DEE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277F0D44-D41A-F4EE-7329-951459F3DC8E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66D8BD46-E266-3080-5CA1-576FC940C97E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3CA263C6-0C5E-937F-4178-4D08D57B04FA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7C55EAB9-FDF0-E3BC-8C72-347C415D393F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0650E0AD-3810-CA53-EEA6-2CD7492ECA1E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F1BDACE6-B76A-F72E-ECA7-A17AE8ABE388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7. Webdav 및 터널링을 위한 포트를 변경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17700" y="3873500"/>
            <a:ext cx="80391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페이지에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접속하여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기존에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할당되어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(80, 990)를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임의의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비표준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(800, 9900)로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변경함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이어질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CVE-2024-21412을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Webdav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충돌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안정적으로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구동하기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작업임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1976100" cy="7493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8000" y="5041900"/>
            <a:ext cx="6083300" cy="5143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300" y="7023100"/>
            <a:ext cx="660400" cy="596900"/>
          </a:xfrm>
          <a:prstGeom prst="rect">
            <a:avLst/>
          </a:prstGeom>
        </p:spPr>
      </p:pic>
      <p:sp>
        <p:nvSpPr>
          <p:cNvPr id="24" name="TextBox 14">
            <a:extLst>
              <a:ext uri="{FF2B5EF4-FFF2-40B4-BE49-F238E27FC236}">
                <a16:creationId xmlns:a16="http://schemas.microsoft.com/office/drawing/2014/main" id="{3BB25807-4B03-8267-9FA8-A352ACFE440B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B6D42EAB-618C-5491-C50D-1570CEFB0FFC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A739BF0D-4616-69DA-0DA3-F2FA2D578523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7FA4B250-433F-46E8-9331-828D83EAA0E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C583A2A9-2E40-2AFA-4B25-DDE57851C490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1249F444-19CD-28D4-86DE-99DCCB5CCB87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B339FCD7-252C-222A-0E97-9AA188944764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</a:t>
            </a: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8. CVE-2024-21412를 위한 파일 업로드 및 Webdav 실행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9600" y="3873500"/>
            <a:ext cx="8102600" cy="435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피해자를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속일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미끼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(report_0427.zip)과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장악할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파일들(2.url 등)을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분리하여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업로드함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앞선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단게에서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확보해둔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80번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Webdav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실행함으로써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Windows의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우회하여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알아서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악성파일을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다운로드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하도록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유도할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준비를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함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0680700" cy="8178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7797800"/>
            <a:ext cx="10426700" cy="800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6900" y="10109200"/>
            <a:ext cx="1790700" cy="1930400"/>
          </a:xfrm>
          <a:prstGeom prst="rect">
            <a:avLst/>
          </a:prstGeom>
        </p:spPr>
      </p:pic>
      <p:sp>
        <p:nvSpPr>
          <p:cNvPr id="24" name="TextBox 14">
            <a:extLst>
              <a:ext uri="{FF2B5EF4-FFF2-40B4-BE49-F238E27FC236}">
                <a16:creationId xmlns:a16="http://schemas.microsoft.com/office/drawing/2014/main" id="{E80A375F-CC03-2A53-4B1B-382CCBAC14F0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EC32ED3E-A1E1-954A-0D80-A1AC909AB8C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55559D4A-384E-D2F2-82E5-322A08763A51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DD1FC741-7183-1DAE-7320-1C7E3143402C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2E56DAA5-CC29-3CCD-CDC8-42CA6B7D4342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46BE9C80-BC51-51AC-00C0-58217BE9F435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C8B8AB9E-E858-2D71-F5A0-566C986419E5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9. 관리자가 파일을 다운받아 실행하게 되면 공격자는 내부망 대외지원 관리자 PC의 쉘을 획득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54200" y="3873500"/>
            <a:ext cx="81407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피해자가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'.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url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'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실행하게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되면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시각적으로는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정상적인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문서가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열려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별도의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의심을하지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못하게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만듦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하지만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문서를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읽는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백그라운드에서는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발동되어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WebDAV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서버로부터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쉘이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다운로드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00" y="3873500"/>
            <a:ext cx="6565900" cy="8991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700" y="5715000"/>
            <a:ext cx="4178300" cy="419100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6C162AEF-2C7F-7ACB-80A9-209527A2E7D8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264B4A59-D6FC-2B8F-3385-CED40E8D7AB1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39B8C0EB-699D-73FB-71F1-357CA373E8B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6745F5E2-256A-C8C6-9A65-774CD8B80292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8DCB5991-F1C3-9956-0272-773D0AECFA28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8FBD91C6-7DFD-8118-2DCD-C38AC3007235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281B6314-3BDA-63ED-D17B-16AB46864A36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10. 관리자가 파일을 다운받아 실행하게 되면 공격자는 내부망 대외지원 관리자 PC의 쉘을 획득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0236200" cy="9080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617700" y="3873500"/>
            <a:ext cx="8039100" cy="490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피해자가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위장된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보고서를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열람하는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순간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백그라운드에서는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페이로드가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실행되어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공격자에게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리버스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커넥션을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시도함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그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방화벽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인바운드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정책을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우회하여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강력한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원격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제어권을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조회하여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Shellbank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도메인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단말기임을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10096500"/>
            <a:ext cx="1981200" cy="342900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3923EFE6-552D-9C27-042E-FD985E0DC8B7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4CF9DB35-E523-7E03-C1B4-1BD3BF89BC7E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96F0891E-8DD9-E7D3-6596-E4C7CC4BC31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18B92527-FBB3-705D-B323-9664A45E9F5B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51A90A71-0E50-1032-17DB-2F4E425CC963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4D0EDD1C-13BA-4B07-A2E0-207D0BEF34E2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1A5A980B-8F46-33BF-81BD-526C00E236F4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11. 내부 스캔을 통해 IP 주소 스캔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1506200" cy="7747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617700" y="3873500"/>
            <a:ext cx="80391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장악한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대외지원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거점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삼아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외부망에서는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보이지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않는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네트워크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파악하는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단계임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전체에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Ping Sweep을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수행하여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살아있는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IP를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모두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43AB7572-2A5A-09F5-2335-AF565DB574F2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AE334146-8921-910F-AE49-75E9B23D2691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7C93B9C8-B3BC-0632-7207-22C62329A49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E43F3850-1160-7733-9467-D71A3B3D3118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2C507E51-6B0E-B6F9-5AB5-A3AE505B6C6D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807FB4CD-CB8C-88B5-4783-78B3673335A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94163561-88D8-23D7-40B9-00BF977B456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12. 해당 IP에 Ping을 보내 PC 이름 확보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9131300" cy="7150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9893300"/>
            <a:ext cx="9131300" cy="2667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300" y="5308600"/>
            <a:ext cx="5524500" cy="431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2300" y="9271000"/>
            <a:ext cx="4889500" cy="431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11023600"/>
            <a:ext cx="4978400" cy="355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4617700" y="3873500"/>
            <a:ext cx="80391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IP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주소만으로는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중요도를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알 수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없으므로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ping -a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옵션을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활용하여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shellbank.local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시스템들의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호스트명을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파악하는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고도화된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단계임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IT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단말기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PC,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메일서버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등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가장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치명적인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타겟들의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위치를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식별임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7D2255C6-BDDD-9263-7677-450A1BB9E083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257050A2-570D-E9A7-EEC8-044ACBCBD4C6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4B96AF82-FEE3-8B59-19A7-6A4EAB4C5988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2B55151B-6465-B317-4E08-B8F4B937A5CE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C3B6790D-D867-9993-DCF4-EF79F6692671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492365EA-AD83-67E1-B64E-DD9F0E240F3C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8514D519-8E36-5F1D-50EC-538D580E7BC3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48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13. 획득한 대외지원 관리자 PC의 LAPS 권한을 확인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0312400" cy="3403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7112000"/>
            <a:ext cx="10312400" cy="5435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7400" y="7835900"/>
            <a:ext cx="1993900" cy="3556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4617700" y="3873500"/>
            <a:ext cx="8039100" cy="218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대외지원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사내망에서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어느정도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가지는지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AD의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Domain Admins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그룹에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속해있는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치명적인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허점을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발견함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CDF9F5D2-418E-46B8-B217-A79D646087FE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64D36A0D-02E4-F797-3998-547505C85A22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8B71480C-1609-EB3C-4C9B-CC4F203617DA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9E2BC51A-8496-AF47-6897-BD2586E640AD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88415C60-565D-F6BF-4D25-B008FE90A7F1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3B62680C-F9CC-915A-3FBF-EBD7690FC78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6BD71DB7-C8E1-1F12-495F-E7D8766756B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49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14. IT 관리자로 의심되는 PC 비밀번호 획득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1976100" cy="53213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617700" y="3873500"/>
            <a:ext cx="8915400" cy="273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앞선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스캔에서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점찍어둔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최우선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IT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PC(SB-IT-ADMIN)를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장악하기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AD에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저장된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LAPS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비밀번호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속성값을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조회함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그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비밀번호를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8191500"/>
            <a:ext cx="2146300" cy="444500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E51DCD4F-6E37-1688-6202-ADEB54ABA0E4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ADF7CEA6-C76B-323D-E706-74487F9AD5B6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FC85F3E8-F41A-39A8-E2ED-170C31F052D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22A9D3E1-860C-76E0-1601-104CE2C9D9D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46888FC6-7FD1-140F-3F3C-786845EB9736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6CA9B157-02F4-95E7-DC28-CCACF1997F9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5E1AABB4-3709-2A47-22B6-5F00C775698F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15. 내부 관리자로 횡이동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28800" y="3873500"/>
            <a:ext cx="8216900" cy="435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앞서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LAPS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평문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비밀번호를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폐쇄망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내부로의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1차로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장악한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대외지원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프록시로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삼아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트래픽을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우회함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도구인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PsExec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모듈을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계정으로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인증을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통과하였으며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통신만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허용하는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Bind TCP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셸을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IT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PC와의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성공함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6300" y="3873500"/>
            <a:ext cx="9029700" cy="4914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" y="8128000"/>
            <a:ext cx="9017000" cy="647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6300" y="8788400"/>
            <a:ext cx="9029700" cy="3568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2300" y="10464800"/>
            <a:ext cx="2146300" cy="368300"/>
          </a:xfrm>
          <a:prstGeom prst="rect">
            <a:avLst/>
          </a:prstGeom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C3E63DF3-AF39-F494-EC1A-F60B3A8A3AA3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F2A3E3BF-36BE-721F-1205-117620C9CAC9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8FE2215A-5D6D-DA31-88CF-91E704222446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564564C7-2969-E0F6-65EF-297F948933A5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3E9F62D6-6565-1918-D273-F356AA875BC6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ECA6B87-777A-48A6-214B-EC37AB459323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FE209AF2-E826-0486-F481-533F70756B28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16. 메일 서버 대상 포트 스캔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79600" y="3873500"/>
            <a:ext cx="81153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서버들이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자주쓰는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Zimbra에서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포트들을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스캔하여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열려있는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22, 25, 80, 443, 7071번이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열려있는것을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1976100" cy="4991100"/>
          </a:xfrm>
          <a:prstGeom prst="rect">
            <a:avLst/>
          </a:prstGeom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2E3BFD22-1549-ED05-7485-58EBA976B69C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EBDA9539-8481-48B2-EC74-27091C4D72C7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F38E0423-8364-E3CC-5AB1-D268766D6E0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5" name="TextBox 16">
            <a:extLst>
              <a:ext uri="{FF2B5EF4-FFF2-40B4-BE49-F238E27FC236}">
                <a16:creationId xmlns:a16="http://schemas.microsoft.com/office/drawing/2014/main" id="{7E8DDC28-44A5-3F67-5E1A-77E8F690079B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132E1C02-485E-1B79-618D-E26F9E6AA903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9B4F89AA-7C39-B7C9-EDDD-0B1D09A2481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0BEB5E8C-1358-082A-AE43-9C0E84D6E0C2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17. 메일 전송 용 포트포워딩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54200" y="3873500"/>
            <a:ext cx="8166100" cy="490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폐쇄형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제어하기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횡적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이동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거점을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'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중계기'로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변조하는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단계입니다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Meterpreter의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portfwd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기능을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2525번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25번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논리적으로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외부망에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있으면서도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마치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것처럼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접속하여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발송할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0947400" cy="9321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11277600"/>
            <a:ext cx="9029700" cy="1206500"/>
          </a:xfrm>
          <a:prstGeom prst="rect">
            <a:avLst/>
          </a:prstGeom>
        </p:spPr>
      </p:pic>
      <p:sp>
        <p:nvSpPr>
          <p:cNvPr id="23" name="TextBox 14">
            <a:extLst>
              <a:ext uri="{FF2B5EF4-FFF2-40B4-BE49-F238E27FC236}">
                <a16:creationId xmlns:a16="http://schemas.microsoft.com/office/drawing/2014/main" id="{725D4375-F228-9023-6593-9C4C5D4B10CD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3F1A83BD-8C16-76A1-FC58-BAFB4B355741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54A640D6-1BC4-B03E-14AE-77D48A10FC2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7231DE3D-B979-DCF8-FA43-A6399F2BEC4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7592CFD1-ABDC-9B94-FCA5-BDF6074EDE44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FEF6740A-1048-275B-8BC8-7261E6ED7F0E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5F914655-2B95-D4D7-CC3D-D9286328C2C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20900" y="2971800"/>
            <a:ext cx="210820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18.  Zimbra (CVE-2025-66376) 및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크롬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(CVE-2025-2783, 2024-2887)를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PC로의</a:t>
            </a:r>
            <a:r>
              <a:rPr 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피싱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메일을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발송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4203700"/>
            <a:ext cx="21399500" cy="7937500"/>
          </a:xfrm>
          <a:prstGeom prst="rect">
            <a:avLst/>
          </a:prstGeom>
        </p:spPr>
      </p:pic>
      <p:sp>
        <p:nvSpPr>
          <p:cNvPr id="21" name="TextBox 14">
            <a:extLst>
              <a:ext uri="{FF2B5EF4-FFF2-40B4-BE49-F238E27FC236}">
                <a16:creationId xmlns:a16="http://schemas.microsoft.com/office/drawing/2014/main" id="{2A1C307F-9BC2-5002-5CB7-9BB4EA19965B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DB6FD8F2-7844-D341-9EF8-AFEF2EB000C5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57A8D893-AABC-7487-DDCE-833A06CEB58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E5C9A360-0216-8EF8-D2EA-AC3FE8263768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A7C449FF-86BF-96E0-00DF-B8351D289241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F7C382FE-8B0B-138E-AD26-D30A84E5CB9D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F2373E60-3F2D-E243-566A-FC8E0895729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협력사망 경유를 통한 공급망 연쇄 침투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19. 개발자 PC의 쉘을 획득 후 개발자가 가지고 있는 개발 자격증명을 탈취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1976100" cy="79883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617700" y="3873500"/>
            <a:ext cx="9080500" cy="599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스피어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피싱을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최종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PC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침투에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성공한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수집하는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포스트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익스플로잇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단계임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개발자가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편의를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로컬에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남겨둔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.git-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credentials와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.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netrc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열람하여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GitLab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마스터키인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glpat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)과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패스워드를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평문으로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이로써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Shell Bank의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가장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자산인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금융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소스코드에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마음대로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접근하고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변조할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됨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200" y="5207000"/>
            <a:ext cx="3009900" cy="457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0600" y="7734300"/>
            <a:ext cx="11506200" cy="838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0600" y="10236200"/>
            <a:ext cx="3302000" cy="520700"/>
          </a:xfrm>
          <a:prstGeom prst="rect">
            <a:avLst/>
          </a:prstGeom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DB546E55-D667-ACED-EE89-93C190CAB8A4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03B45C03-C949-CA15-BAD9-BE675F8672A5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EA747339-2D10-80BB-3695-A2AFC5ACB1D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B4122D07-C711-DD76-5DF0-50A7606A11C8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DD29EBCC-7426-B302-2977-A59509E7A900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AEBFDE21-28DE-5F93-40AF-F4AA9C2FEFF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55E1ABD0-A16E-38A8-4EC9-3AD4057C292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29A9E1BC-705F-7DF2-71BA-ECFA0070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3340100"/>
            <a:ext cx="15963900" cy="3517900"/>
          </a:xfrm>
          <a:prstGeom prst="rect">
            <a:avLst/>
          </a:prstGeom>
          <a:effectLst>
            <a:outerShdw blurRad="193432" dist="81160" dir="2700000">
              <a:srgbClr val="000000">
                <a:alpha val="23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35550" y="3676650"/>
            <a:ext cx="30988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시나리오</a:t>
            </a:r>
            <a:r>
              <a:rPr lang="en-US" sz="40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40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  <a:endParaRPr lang="en-US" sz="40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054600" y="4413250"/>
            <a:ext cx="14503400" cy="2082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업로드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초기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침투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이동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n8n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악용으로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066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보안로직을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무력화하고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인프라를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장악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고객센터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XSS와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음성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딥보이스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자동화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피싱으로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탈취까지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이어지는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시나리오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rot="2400000">
            <a:off x="6477000" y="10172700"/>
            <a:ext cx="990600" cy="12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2400000">
            <a:off x="12827000" y="10172700"/>
            <a:ext cx="990600" cy="12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 rot="-2400000">
            <a:off x="16014700" y="10172700"/>
            <a:ext cx="9906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 rot="-2400000">
            <a:off x="9652000" y="10172700"/>
            <a:ext cx="990600" cy="12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9200" y="71755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7800" y="7721600"/>
            <a:ext cx="444500" cy="4445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245100" y="77851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3400" y="98679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10414000"/>
            <a:ext cx="444500" cy="4445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8382000" y="104775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07600" y="71755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18900" y="7721600"/>
            <a:ext cx="444500" cy="4445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1506200" y="77851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44500" y="98679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643100" y="10426700"/>
            <a:ext cx="444500" cy="4445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4630400" y="104902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268700" y="7175500"/>
            <a:ext cx="3441700" cy="3441700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767300" y="7721600"/>
            <a:ext cx="444500" cy="4445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7767300" y="7785100"/>
            <a:ext cx="457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79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02100" y="8534400"/>
            <a:ext cx="27432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 업로드 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 이용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40600" y="11137900"/>
            <a:ext cx="25273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r>
              <a:rPr lang="en-US" sz="30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이동</a:t>
            </a:r>
            <a:r>
              <a:rPr lang="en-US" sz="3066" b="0" i="0" u="none" strike="noStrike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ko-KR" altLang="en-US" sz="3066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보안로직</a:t>
            </a:r>
            <a:r>
              <a:rPr lang="ko-KR" altLang="en-US" sz="3066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무력화</a:t>
            </a:r>
            <a:endParaRPr lang="en-US" sz="3066" b="0" i="0" u="none" strike="noStrike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388600" y="8407400"/>
            <a:ext cx="28067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협력사망 침투 및 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 탈취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182600" y="11137900"/>
            <a:ext cx="33655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데이터 분석 및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딥보이스 모델 생성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357600" y="8407400"/>
            <a:ext cx="328930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지능형 피싱 및 </a:t>
            </a:r>
          </a:p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자금 탈취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침투를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통한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지능형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보이스피싱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공격</a:t>
            </a:r>
            <a:endParaRPr lang="en-US" sz="7066" b="0" i="0" u="none" strike="noStrike" spc="-3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6" name="TextBox 14">
            <a:extLst>
              <a:ext uri="{FF2B5EF4-FFF2-40B4-BE49-F238E27FC236}">
                <a16:creationId xmlns:a16="http://schemas.microsoft.com/office/drawing/2014/main" id="{860D2A70-A490-FA22-CF5F-C6020510935F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7" name="TextBox 14">
            <a:extLst>
              <a:ext uri="{FF2B5EF4-FFF2-40B4-BE49-F238E27FC236}">
                <a16:creationId xmlns:a16="http://schemas.microsoft.com/office/drawing/2014/main" id="{979F8BB3-433A-4C16-00F4-1A6204B94063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8EB9AE5D-6776-42A6-2D31-BBCA2ED96B96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49" name="TextBox 16">
            <a:extLst>
              <a:ext uri="{FF2B5EF4-FFF2-40B4-BE49-F238E27FC236}">
                <a16:creationId xmlns:a16="http://schemas.microsoft.com/office/drawing/2014/main" id="{C89EBD2B-6478-38E4-11B4-FDDA62372B34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E65D4693-0E99-FA6A-8E2E-EAE6F2F13EB5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51" name="TextBox 19">
            <a:extLst>
              <a:ext uri="{FF2B5EF4-FFF2-40B4-BE49-F238E27FC236}">
                <a16:creationId xmlns:a16="http://schemas.microsoft.com/office/drawing/2014/main" id="{A40EB073-8901-B1DC-F5B9-8A42E3BCAD91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905EADD8-5685-2B03-CEE0-2E922191D1E2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56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침투를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통한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지능형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보이스피싱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공격</a:t>
            </a:r>
            <a:endParaRPr lang="en-US" sz="7066" b="0" i="0" u="none" strike="noStrike" spc="-3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E80B0D36-5833-8CC5-D7E3-2E5426E08576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93" name="TextBox 14">
            <a:extLst>
              <a:ext uri="{FF2B5EF4-FFF2-40B4-BE49-F238E27FC236}">
                <a16:creationId xmlns:a16="http://schemas.microsoft.com/office/drawing/2014/main" id="{7ACD0DDC-BDF7-D848-29F7-D90BB93B7453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4" name="Picture 2">
            <a:extLst>
              <a:ext uri="{FF2B5EF4-FFF2-40B4-BE49-F238E27FC236}">
                <a16:creationId xmlns:a16="http://schemas.microsoft.com/office/drawing/2014/main" id="{B88B554C-D174-B2CD-A295-EA014943531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95" name="TextBox 16">
            <a:extLst>
              <a:ext uri="{FF2B5EF4-FFF2-40B4-BE49-F238E27FC236}">
                <a16:creationId xmlns:a16="http://schemas.microsoft.com/office/drawing/2014/main" id="{9606F91C-2D8E-00E4-1E34-CA5A54BF115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96" name="TextBox 18">
            <a:extLst>
              <a:ext uri="{FF2B5EF4-FFF2-40B4-BE49-F238E27FC236}">
                <a16:creationId xmlns:a16="http://schemas.microsoft.com/office/drawing/2014/main" id="{41CF90D4-2492-39B7-9DCD-E5D95215E5B5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97" name="TextBox 19">
            <a:extLst>
              <a:ext uri="{FF2B5EF4-FFF2-40B4-BE49-F238E27FC236}">
                <a16:creationId xmlns:a16="http://schemas.microsoft.com/office/drawing/2014/main" id="{B7B10A59-5E90-17CA-2F0F-F9BF81C7DCE2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8" name="TextBox 20">
            <a:extLst>
              <a:ext uri="{FF2B5EF4-FFF2-40B4-BE49-F238E27FC236}">
                <a16:creationId xmlns:a16="http://schemas.microsoft.com/office/drawing/2014/main" id="{1CAE46A5-3155-075A-F46B-942AE3066778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EE1BC8B1-C06E-6B10-6DC3-1E33B0F917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0500" y="3492500"/>
            <a:ext cx="21361400" cy="9131300"/>
          </a:xfrm>
          <a:prstGeom prst="rect">
            <a:avLst/>
          </a:prstGeom>
          <a:effectLst>
            <a:outerShdw blurRad="228274" dist="210714" dir="2700000">
              <a:srgbClr val="1A7AE1">
                <a:alpha val="15000"/>
              </a:srgbClr>
            </a:outerShdw>
          </a:effectLst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C125777A-B6D6-8375-63D6-DB6EA734804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5400000">
            <a:off x="3784600" y="8077200"/>
            <a:ext cx="9017000" cy="762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ABF9735B-195F-A02F-09B5-90B1D72FED20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 rot="5400000">
            <a:off x="11684000" y="8013700"/>
            <a:ext cx="9029700" cy="762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E7A88BF0-7F4A-F772-914F-802C237D6D68}"/>
              </a:ext>
            </a:extLst>
          </p:cNvPr>
          <p:cNvSpPr txBox="1"/>
          <p:nvPr/>
        </p:nvSpPr>
        <p:spPr>
          <a:xfrm>
            <a:off x="3454400" y="3924300"/>
            <a:ext cx="3200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외부망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6713882-FECE-8F53-1C62-9361FC08D038}"/>
              </a:ext>
            </a:extLst>
          </p:cNvPr>
          <p:cNvSpPr txBox="1"/>
          <p:nvPr/>
        </p:nvSpPr>
        <p:spPr>
          <a:xfrm>
            <a:off x="10426700" y="3924300"/>
            <a:ext cx="3454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9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내부망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22A9D9B-8E63-3D30-6BB4-5600D326B3E7}"/>
              </a:ext>
            </a:extLst>
          </p:cNvPr>
          <p:cNvSpPr txBox="1"/>
          <p:nvPr/>
        </p:nvSpPr>
        <p:spPr>
          <a:xfrm>
            <a:off x="17818100" y="3924300"/>
            <a:ext cx="3454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9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협력사망</a:t>
            </a:r>
            <a:endParaRPr lang="en-US" sz="29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750F096C-F40D-69E6-1AEB-09219BFC21B5}"/>
              </a:ext>
            </a:extLst>
          </p:cNvPr>
          <p:cNvSpPr txBox="1"/>
          <p:nvPr/>
        </p:nvSpPr>
        <p:spPr>
          <a:xfrm>
            <a:off x="8813800" y="6045200"/>
            <a:ext cx="3378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업로드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+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Shell </a:t>
            </a:r>
            <a:r>
              <a:rPr lang="en-US" sz="24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</a:t>
            </a:r>
            <a:endParaRPr lang="en-US" sz="24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16199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9">
            <a:extLst>
              <a:ext uri="{FF2B5EF4-FFF2-40B4-BE49-F238E27FC236}">
                <a16:creationId xmlns:a16="http://schemas.microsoft.com/office/drawing/2014/main" id="{43A3397B-E31E-9787-4497-E942426DE06F}"/>
              </a:ext>
            </a:extLst>
          </p:cNvPr>
          <p:cNvSpPr txBox="1"/>
          <p:nvPr/>
        </p:nvSpPr>
        <p:spPr>
          <a:xfrm>
            <a:off x="8763000" y="6667500"/>
            <a:ext cx="1536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6" name="Picture 30">
            <a:extLst>
              <a:ext uri="{FF2B5EF4-FFF2-40B4-BE49-F238E27FC236}">
                <a16:creationId xmlns:a16="http://schemas.microsoft.com/office/drawing/2014/main" id="{31822C93-3297-1F1E-7BC8-4BAD40F133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0400" y="5880100"/>
            <a:ext cx="1168400" cy="1130300"/>
          </a:xfrm>
          <a:prstGeom prst="rect">
            <a:avLst/>
          </a:prstGeom>
        </p:spPr>
      </p:pic>
      <p:sp>
        <p:nvSpPr>
          <p:cNvPr id="27" name="TextBox 31">
            <a:extLst>
              <a:ext uri="{FF2B5EF4-FFF2-40B4-BE49-F238E27FC236}">
                <a16:creationId xmlns:a16="http://schemas.microsoft.com/office/drawing/2014/main" id="{97AAA200-B13D-3A7B-0389-FBAE60811F0E}"/>
              </a:ext>
            </a:extLst>
          </p:cNvPr>
          <p:cNvSpPr txBox="1"/>
          <p:nvPr/>
        </p:nvSpPr>
        <p:spPr>
          <a:xfrm>
            <a:off x="3911600" y="7061200"/>
            <a:ext cx="2286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</a:t>
            </a:r>
          </a:p>
        </p:txBody>
      </p:sp>
      <p:sp>
        <p:nvSpPr>
          <p:cNvPr id="29" name="TextBox 32">
            <a:extLst>
              <a:ext uri="{FF2B5EF4-FFF2-40B4-BE49-F238E27FC236}">
                <a16:creationId xmlns:a16="http://schemas.microsoft.com/office/drawing/2014/main" id="{13CB5853-6A52-93FD-9357-84B4AFED4B8F}"/>
              </a:ext>
            </a:extLst>
          </p:cNvPr>
          <p:cNvSpPr txBox="1"/>
          <p:nvPr/>
        </p:nvSpPr>
        <p:spPr>
          <a:xfrm>
            <a:off x="4152900" y="11252200"/>
            <a:ext cx="18669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 자동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보이스피싱</a:t>
            </a: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2E27EC0C-314F-8D74-6472-769FA876D55D}"/>
              </a:ext>
            </a:extLst>
          </p:cNvPr>
          <p:cNvSpPr txBox="1"/>
          <p:nvPr/>
        </p:nvSpPr>
        <p:spPr>
          <a:xfrm>
            <a:off x="14770474" y="6045200"/>
            <a:ext cx="17780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유저정보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요청</a:t>
            </a: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1" name="TextBox 36">
            <a:extLst>
              <a:ext uri="{FF2B5EF4-FFF2-40B4-BE49-F238E27FC236}">
                <a16:creationId xmlns:a16="http://schemas.microsoft.com/office/drawing/2014/main" id="{B0EA9D0D-79ED-298A-2124-7833DF14C39F}"/>
              </a:ext>
            </a:extLst>
          </p:cNvPr>
          <p:cNvSpPr txBox="1"/>
          <p:nvPr/>
        </p:nvSpPr>
        <p:spPr>
          <a:xfrm>
            <a:off x="14986000" y="6705600"/>
            <a:ext cx="2755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 스크립트 반환</a:t>
            </a:r>
          </a:p>
        </p:txBody>
      </p:sp>
      <p:sp>
        <p:nvSpPr>
          <p:cNvPr id="32" name="TextBox 38">
            <a:extLst>
              <a:ext uri="{FF2B5EF4-FFF2-40B4-BE49-F238E27FC236}">
                <a16:creationId xmlns:a16="http://schemas.microsoft.com/office/drawing/2014/main" id="{CCC15711-F59F-A3E3-4CF4-FD1D9535353D}"/>
              </a:ext>
            </a:extLst>
          </p:cNvPr>
          <p:cNvSpPr txBox="1"/>
          <p:nvPr/>
        </p:nvSpPr>
        <p:spPr>
          <a:xfrm>
            <a:off x="16776700" y="11920876"/>
            <a:ext cx="21590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녹취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 </a:t>
            </a:r>
          </a:p>
        </p:txBody>
      </p:sp>
      <p:sp>
        <p:nvSpPr>
          <p:cNvPr id="33" name="TextBox 40">
            <a:extLst>
              <a:ext uri="{FF2B5EF4-FFF2-40B4-BE49-F238E27FC236}">
                <a16:creationId xmlns:a16="http://schemas.microsoft.com/office/drawing/2014/main" id="{F9C067DE-6C55-FEC6-4BB3-6FF57BA835A8}"/>
              </a:ext>
            </a:extLst>
          </p:cNvPr>
          <p:cNvSpPr txBox="1"/>
          <p:nvPr/>
        </p:nvSpPr>
        <p:spPr>
          <a:xfrm>
            <a:off x="10604500" y="7937500"/>
            <a:ext cx="1536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터널링 접근</a:t>
            </a:r>
          </a:p>
        </p:txBody>
      </p:sp>
      <p:sp>
        <p:nvSpPr>
          <p:cNvPr id="34" name="TextBox 44">
            <a:extLst>
              <a:ext uri="{FF2B5EF4-FFF2-40B4-BE49-F238E27FC236}">
                <a16:creationId xmlns:a16="http://schemas.microsoft.com/office/drawing/2014/main" id="{41023B16-7806-BEC8-63FF-2FCBA3004BAB}"/>
              </a:ext>
            </a:extLst>
          </p:cNvPr>
          <p:cNvSpPr txBox="1"/>
          <p:nvPr/>
        </p:nvSpPr>
        <p:spPr>
          <a:xfrm>
            <a:off x="20129500" y="9232900"/>
            <a:ext cx="1308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DB 장악</a:t>
            </a:r>
          </a:p>
        </p:txBody>
      </p:sp>
      <p:sp>
        <p:nvSpPr>
          <p:cNvPr id="35" name="TextBox 52">
            <a:extLst>
              <a:ext uri="{FF2B5EF4-FFF2-40B4-BE49-F238E27FC236}">
                <a16:creationId xmlns:a16="http://schemas.microsoft.com/office/drawing/2014/main" id="{A5B414B8-AC01-3C7C-5F15-E1570891E140}"/>
              </a:ext>
            </a:extLst>
          </p:cNvPr>
          <p:cNvSpPr txBox="1"/>
          <p:nvPr/>
        </p:nvSpPr>
        <p:spPr>
          <a:xfrm>
            <a:off x="16643350" y="4838700"/>
            <a:ext cx="2489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재사용</a:t>
            </a:r>
            <a:endParaRPr lang="en-US" sz="24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6" name="TextBox 53">
            <a:extLst>
              <a:ext uri="{FF2B5EF4-FFF2-40B4-BE49-F238E27FC236}">
                <a16:creationId xmlns:a16="http://schemas.microsoft.com/office/drawing/2014/main" id="{0B1D3367-520D-2264-D0E2-49F68B6FC494}"/>
              </a:ext>
            </a:extLst>
          </p:cNvPr>
          <p:cNvSpPr txBox="1"/>
          <p:nvPr/>
        </p:nvSpPr>
        <p:spPr>
          <a:xfrm>
            <a:off x="3352800" y="8293100"/>
            <a:ext cx="1866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목소리 학습</a:t>
            </a:r>
          </a:p>
        </p:txBody>
      </p:sp>
      <p:sp>
        <p:nvSpPr>
          <p:cNvPr id="37" name="TextBox 55">
            <a:extLst>
              <a:ext uri="{FF2B5EF4-FFF2-40B4-BE49-F238E27FC236}">
                <a16:creationId xmlns:a16="http://schemas.microsoft.com/office/drawing/2014/main" id="{AC3CBA15-A101-3215-9DF4-D0060C835A7B}"/>
              </a:ext>
            </a:extLst>
          </p:cNvPr>
          <p:cNvSpPr txBox="1"/>
          <p:nvPr/>
        </p:nvSpPr>
        <p:spPr>
          <a:xfrm>
            <a:off x="9359900" y="8864600"/>
            <a:ext cx="749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n8n</a:t>
            </a:r>
          </a:p>
        </p:txBody>
      </p:sp>
      <p:pic>
        <p:nvPicPr>
          <p:cNvPr id="38" name="Picture 56">
            <a:extLst>
              <a:ext uri="{FF2B5EF4-FFF2-40B4-BE49-F238E27FC236}">
                <a16:creationId xmlns:a16="http://schemas.microsoft.com/office/drawing/2014/main" id="{4FC5B49D-31BA-3448-3867-5643A35416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6700" y="7874000"/>
            <a:ext cx="1168400" cy="1168400"/>
          </a:xfrm>
          <a:prstGeom prst="rect">
            <a:avLst/>
          </a:prstGeom>
        </p:spPr>
      </p:pic>
      <p:pic>
        <p:nvPicPr>
          <p:cNvPr id="39" name="Picture 57">
            <a:extLst>
              <a:ext uri="{FF2B5EF4-FFF2-40B4-BE49-F238E27FC236}">
                <a16:creationId xmlns:a16="http://schemas.microsoft.com/office/drawing/2014/main" id="{73AC23AD-AF50-E98F-200F-FA752EFF18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20800" y="9944100"/>
            <a:ext cx="1117600" cy="1117600"/>
          </a:xfrm>
          <a:prstGeom prst="rect">
            <a:avLst/>
          </a:prstGeom>
        </p:spPr>
      </p:pic>
      <p:sp>
        <p:nvSpPr>
          <p:cNvPr id="40" name="TextBox 58">
            <a:extLst>
              <a:ext uri="{FF2B5EF4-FFF2-40B4-BE49-F238E27FC236}">
                <a16:creationId xmlns:a16="http://schemas.microsoft.com/office/drawing/2014/main" id="{243DD155-920B-3676-A488-7AFE8D1121B8}"/>
              </a:ext>
            </a:extLst>
          </p:cNvPr>
          <p:cNvSpPr txBox="1"/>
          <p:nvPr/>
        </p:nvSpPr>
        <p:spPr>
          <a:xfrm>
            <a:off x="13766800" y="11087100"/>
            <a:ext cx="1625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Bank DB</a:t>
            </a:r>
          </a:p>
        </p:txBody>
      </p:sp>
      <p:pic>
        <p:nvPicPr>
          <p:cNvPr id="41" name="Picture 59">
            <a:extLst>
              <a:ext uri="{FF2B5EF4-FFF2-40B4-BE49-F238E27FC236}">
                <a16:creationId xmlns:a16="http://schemas.microsoft.com/office/drawing/2014/main" id="{E4DDEB79-5BD1-DC4A-DF8F-22AD0FB95F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99200" y="11087100"/>
            <a:ext cx="1117600" cy="1117600"/>
          </a:xfrm>
          <a:prstGeom prst="rect">
            <a:avLst/>
          </a:prstGeom>
        </p:spPr>
      </p:pic>
      <p:sp>
        <p:nvSpPr>
          <p:cNvPr id="42" name="TextBox 60">
            <a:extLst>
              <a:ext uri="{FF2B5EF4-FFF2-40B4-BE49-F238E27FC236}">
                <a16:creationId xmlns:a16="http://schemas.microsoft.com/office/drawing/2014/main" id="{4323445D-ECE7-7B70-39BF-A4CA731AB50A}"/>
              </a:ext>
            </a:extLst>
          </p:cNvPr>
          <p:cNvSpPr txBox="1"/>
          <p:nvPr/>
        </p:nvSpPr>
        <p:spPr>
          <a:xfrm>
            <a:off x="18669000" y="120523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VoIP DB</a:t>
            </a:r>
          </a:p>
        </p:txBody>
      </p:sp>
      <p:sp>
        <p:nvSpPr>
          <p:cNvPr id="43" name="TextBox 61">
            <a:extLst>
              <a:ext uri="{FF2B5EF4-FFF2-40B4-BE49-F238E27FC236}">
                <a16:creationId xmlns:a16="http://schemas.microsoft.com/office/drawing/2014/main" id="{58DCC411-98E0-05AB-1404-9B773A77A9D0}"/>
              </a:ext>
            </a:extLst>
          </p:cNvPr>
          <p:cNvSpPr txBox="1"/>
          <p:nvPr/>
        </p:nvSpPr>
        <p:spPr>
          <a:xfrm>
            <a:off x="12065000" y="8864600"/>
            <a:ext cx="1219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WAS</a:t>
            </a:r>
          </a:p>
        </p:txBody>
      </p:sp>
      <p:sp>
        <p:nvSpPr>
          <p:cNvPr id="44" name="TextBox 62">
            <a:extLst>
              <a:ext uri="{FF2B5EF4-FFF2-40B4-BE49-F238E27FC236}">
                <a16:creationId xmlns:a16="http://schemas.microsoft.com/office/drawing/2014/main" id="{268C76FF-EAC4-57F4-12A0-2FEBAA0E3067}"/>
              </a:ext>
            </a:extLst>
          </p:cNvPr>
          <p:cNvSpPr txBox="1"/>
          <p:nvPr/>
        </p:nvSpPr>
        <p:spPr>
          <a:xfrm>
            <a:off x="12065000" y="9182100"/>
            <a:ext cx="1219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Docker</a:t>
            </a:r>
          </a:p>
        </p:txBody>
      </p:sp>
      <p:pic>
        <p:nvPicPr>
          <p:cNvPr id="45" name="Picture 63">
            <a:extLst>
              <a:ext uri="{FF2B5EF4-FFF2-40B4-BE49-F238E27FC236}">
                <a16:creationId xmlns:a16="http://schemas.microsoft.com/office/drawing/2014/main" id="{F563F75F-59DC-8F25-C249-ECBE7A4FC2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77700" y="7747000"/>
            <a:ext cx="1244600" cy="1244600"/>
          </a:xfrm>
          <a:prstGeom prst="rect">
            <a:avLst/>
          </a:prstGeom>
        </p:spPr>
      </p:pic>
      <p:pic>
        <p:nvPicPr>
          <p:cNvPr id="46" name="Picture 64">
            <a:extLst>
              <a:ext uri="{FF2B5EF4-FFF2-40B4-BE49-F238E27FC236}">
                <a16:creationId xmlns:a16="http://schemas.microsoft.com/office/drawing/2014/main" id="{5877B9C9-FDE1-83FC-9498-CB6D770FD6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3600" y="9944100"/>
            <a:ext cx="1041400" cy="1181100"/>
          </a:xfrm>
          <a:prstGeom prst="rect">
            <a:avLst/>
          </a:prstGeom>
        </p:spPr>
      </p:pic>
      <p:sp>
        <p:nvSpPr>
          <p:cNvPr id="47" name="TextBox 72">
            <a:extLst>
              <a:ext uri="{FF2B5EF4-FFF2-40B4-BE49-F238E27FC236}">
                <a16:creationId xmlns:a16="http://schemas.microsoft.com/office/drawing/2014/main" id="{454806EB-58B2-AC4F-2966-500BC71A82F7}"/>
              </a:ext>
            </a:extLst>
          </p:cNvPr>
          <p:cNvSpPr txBox="1"/>
          <p:nvPr/>
        </p:nvSpPr>
        <p:spPr>
          <a:xfrm>
            <a:off x="11620500" y="10782300"/>
            <a:ext cx="2527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 스크립트삽입</a:t>
            </a:r>
          </a:p>
        </p:txBody>
      </p:sp>
      <p:pic>
        <p:nvPicPr>
          <p:cNvPr id="48" name="Picture 76">
            <a:extLst>
              <a:ext uri="{FF2B5EF4-FFF2-40B4-BE49-F238E27FC236}">
                <a16:creationId xmlns:a16="http://schemas.microsoft.com/office/drawing/2014/main" id="{524B970B-C05C-91C5-B713-42DA4C0B50C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94800" y="10236200"/>
            <a:ext cx="1231900" cy="1231900"/>
          </a:xfrm>
          <a:prstGeom prst="rect">
            <a:avLst/>
          </a:prstGeom>
        </p:spPr>
      </p:pic>
      <p:sp>
        <p:nvSpPr>
          <p:cNvPr id="49" name="TextBox 77">
            <a:extLst>
              <a:ext uri="{FF2B5EF4-FFF2-40B4-BE49-F238E27FC236}">
                <a16:creationId xmlns:a16="http://schemas.microsoft.com/office/drawing/2014/main" id="{CA0C313F-B46B-22D3-E293-8CE31EC72E49}"/>
              </a:ext>
            </a:extLst>
          </p:cNvPr>
          <p:cNvSpPr txBox="1"/>
          <p:nvPr/>
        </p:nvSpPr>
        <p:spPr>
          <a:xfrm>
            <a:off x="9017000" y="11252200"/>
            <a:ext cx="1460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666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보안로직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0" name="TextBox 79">
            <a:extLst>
              <a:ext uri="{FF2B5EF4-FFF2-40B4-BE49-F238E27FC236}">
                <a16:creationId xmlns:a16="http://schemas.microsoft.com/office/drawing/2014/main" id="{97D1A37C-C9E2-E5B5-95A1-103D53C8015E}"/>
              </a:ext>
            </a:extLst>
          </p:cNvPr>
          <p:cNvSpPr txBox="1"/>
          <p:nvPr/>
        </p:nvSpPr>
        <p:spPr>
          <a:xfrm>
            <a:off x="10160000" y="9639300"/>
            <a:ext cx="1549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 우회</a:t>
            </a:r>
          </a:p>
        </p:txBody>
      </p:sp>
      <p:pic>
        <p:nvPicPr>
          <p:cNvPr id="51" name="Picture 82">
            <a:extLst>
              <a:ext uri="{FF2B5EF4-FFF2-40B4-BE49-F238E27FC236}">
                <a16:creationId xmlns:a16="http://schemas.microsoft.com/office/drawing/2014/main" id="{EEABA1A5-8474-BDE1-75C6-308F7493E7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986500" y="5923280"/>
            <a:ext cx="1219200" cy="1219200"/>
          </a:xfrm>
          <a:prstGeom prst="rect">
            <a:avLst/>
          </a:prstGeom>
        </p:spPr>
      </p:pic>
      <p:sp>
        <p:nvSpPr>
          <p:cNvPr id="52" name="TextBox 83">
            <a:extLst>
              <a:ext uri="{FF2B5EF4-FFF2-40B4-BE49-F238E27FC236}">
                <a16:creationId xmlns:a16="http://schemas.microsoft.com/office/drawing/2014/main" id="{109FA7AC-58F2-8655-3412-C4657FE502EB}"/>
              </a:ext>
            </a:extLst>
          </p:cNvPr>
          <p:cNvSpPr txBox="1"/>
          <p:nvPr/>
        </p:nvSpPr>
        <p:spPr>
          <a:xfrm>
            <a:off x="18694400" y="7077710"/>
            <a:ext cx="17018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CS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Server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95CC7F1-3658-1323-1762-88E1DDEBA976}"/>
              </a:ext>
            </a:extLst>
          </p:cNvPr>
          <p:cNvCxnSpPr>
            <a:cxnSpLocks/>
          </p:cNvCxnSpPr>
          <p:nvPr/>
        </p:nvCxnSpPr>
        <p:spPr>
          <a:xfrm>
            <a:off x="19545300" y="8051800"/>
            <a:ext cx="0" cy="304800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088E8EC-3990-1559-D0A4-D3F3C134A6A4}"/>
              </a:ext>
            </a:extLst>
          </p:cNvPr>
          <p:cNvCxnSpPr>
            <a:cxnSpLocks/>
          </p:cNvCxnSpPr>
          <p:nvPr/>
        </p:nvCxnSpPr>
        <p:spPr>
          <a:xfrm>
            <a:off x="5054600" y="5336540"/>
            <a:ext cx="0" cy="43815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직선 화살표 연결선 130">
            <a:extLst>
              <a:ext uri="{FF2B5EF4-FFF2-40B4-BE49-F238E27FC236}">
                <a16:creationId xmlns:a16="http://schemas.microsoft.com/office/drawing/2014/main" id="{ECDA767E-EBC3-DA75-49B1-80CF42601308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5029200" y="5337810"/>
            <a:ext cx="14566900" cy="585470"/>
          </a:xfrm>
          <a:prstGeom prst="bentConnector2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직선 화살표 연결선 130">
            <a:extLst>
              <a:ext uri="{FF2B5EF4-FFF2-40B4-BE49-F238E27FC236}">
                <a16:creationId xmlns:a16="http://schemas.microsoft.com/office/drawing/2014/main" id="{A2755DCE-7065-6325-BA88-D36CB55ADC3D}"/>
              </a:ext>
            </a:extLst>
          </p:cNvPr>
          <p:cNvCxnSpPr>
            <a:cxnSpLocks/>
          </p:cNvCxnSpPr>
          <p:nvPr/>
        </p:nvCxnSpPr>
        <p:spPr>
          <a:xfrm>
            <a:off x="6127750" y="6524625"/>
            <a:ext cx="6305551" cy="1271588"/>
          </a:xfrm>
          <a:prstGeom prst="bentConnector3">
            <a:avLst>
              <a:gd name="adj1" fmla="val 100000"/>
            </a:avLst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F7697C1-5053-AB4E-D9B6-50E5E077321B}"/>
              </a:ext>
            </a:extLst>
          </p:cNvPr>
          <p:cNvCxnSpPr>
            <a:cxnSpLocks/>
          </p:cNvCxnSpPr>
          <p:nvPr/>
        </p:nvCxnSpPr>
        <p:spPr>
          <a:xfrm>
            <a:off x="12896850" y="6524307"/>
            <a:ext cx="6038850" cy="857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D3A40A0-0C1C-2DF3-56FD-EB5702E8A125}"/>
              </a:ext>
            </a:extLst>
          </p:cNvPr>
          <p:cNvCxnSpPr>
            <a:cxnSpLocks/>
          </p:cNvCxnSpPr>
          <p:nvPr/>
        </p:nvCxnSpPr>
        <p:spPr>
          <a:xfrm flipV="1">
            <a:off x="12896850" y="6500494"/>
            <a:ext cx="0" cy="129571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D829A52-2B12-DB24-D3E1-1FFBA060DB96}"/>
              </a:ext>
            </a:extLst>
          </p:cNvPr>
          <p:cNvCxnSpPr>
            <a:cxnSpLocks/>
          </p:cNvCxnSpPr>
          <p:nvPr/>
        </p:nvCxnSpPr>
        <p:spPr>
          <a:xfrm>
            <a:off x="5029200" y="7553960"/>
            <a:ext cx="0" cy="231394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6BDF765-884D-D7DD-6647-057C59F9DAA1}"/>
              </a:ext>
            </a:extLst>
          </p:cNvPr>
          <p:cNvCxnSpPr>
            <a:cxnSpLocks/>
          </p:cNvCxnSpPr>
          <p:nvPr/>
        </p:nvCxnSpPr>
        <p:spPr>
          <a:xfrm>
            <a:off x="9734550" y="9377680"/>
            <a:ext cx="0" cy="98552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FB85FCA-F63C-EF1F-4A2D-6CFE4AD12ABE}"/>
              </a:ext>
            </a:extLst>
          </p:cNvPr>
          <p:cNvCxnSpPr>
            <a:cxnSpLocks/>
          </p:cNvCxnSpPr>
          <p:nvPr/>
        </p:nvCxnSpPr>
        <p:spPr>
          <a:xfrm flipV="1">
            <a:off x="9734550" y="9310370"/>
            <a:ext cx="0" cy="82550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3B6A9C24-E5B9-DD8F-15BA-B55CEC932D86}"/>
              </a:ext>
            </a:extLst>
          </p:cNvPr>
          <p:cNvCxnSpPr>
            <a:cxnSpLocks/>
          </p:cNvCxnSpPr>
          <p:nvPr/>
        </p:nvCxnSpPr>
        <p:spPr>
          <a:xfrm flipH="1">
            <a:off x="10336530" y="8509000"/>
            <a:ext cx="1550670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2AE37487-9D6A-926A-BCF8-DA46021E79C7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14579600" y="8382000"/>
            <a:ext cx="6350" cy="156210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DBF7523-973B-05C2-9061-20BC5B276D91}"/>
              </a:ext>
            </a:extLst>
          </p:cNvPr>
          <p:cNvCxnSpPr>
            <a:cxnSpLocks/>
          </p:cNvCxnSpPr>
          <p:nvPr/>
        </p:nvCxnSpPr>
        <p:spPr>
          <a:xfrm>
            <a:off x="13563600" y="8382000"/>
            <a:ext cx="10541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187">
            <a:extLst>
              <a:ext uri="{FF2B5EF4-FFF2-40B4-BE49-F238E27FC236}">
                <a16:creationId xmlns:a16="http://schemas.microsoft.com/office/drawing/2014/main" id="{204AF725-BF28-FCB9-AC55-30F9FA17BE6B}"/>
              </a:ext>
            </a:extLst>
          </p:cNvPr>
          <p:cNvCxnSpPr>
            <a:cxnSpLocks/>
            <a:stCxn id="44" idx="2"/>
          </p:cNvCxnSpPr>
          <p:nvPr/>
        </p:nvCxnSpPr>
        <p:spPr>
          <a:xfrm rot="16200000" flipH="1">
            <a:off x="12827000" y="9499600"/>
            <a:ext cx="990601" cy="1295400"/>
          </a:xfrm>
          <a:prstGeom prst="bentConnector2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8947787-ACE8-8C75-38F3-69C3E8EE7082}"/>
              </a:ext>
            </a:extLst>
          </p:cNvPr>
          <p:cNvSpPr txBox="1"/>
          <p:nvPr/>
        </p:nvSpPr>
        <p:spPr>
          <a:xfrm>
            <a:off x="8511989" y="5994737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➊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AF4D94-090F-9338-0E7D-851D38B9F2CD}"/>
              </a:ext>
            </a:extLst>
          </p:cNvPr>
          <p:cNvSpPr txBox="1"/>
          <p:nvPr/>
        </p:nvSpPr>
        <p:spPr>
          <a:xfrm>
            <a:off x="10233026" y="7859713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➋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7BB626-8826-CFA8-C663-16B1B85E428A}"/>
              </a:ext>
            </a:extLst>
          </p:cNvPr>
          <p:cNvSpPr txBox="1"/>
          <p:nvPr/>
        </p:nvSpPr>
        <p:spPr>
          <a:xfrm>
            <a:off x="9899651" y="9575800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➌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957B78-4D4C-2166-D25E-71B1EF898502}"/>
              </a:ext>
            </a:extLst>
          </p:cNvPr>
          <p:cNvSpPr txBox="1"/>
          <p:nvPr/>
        </p:nvSpPr>
        <p:spPr>
          <a:xfrm>
            <a:off x="11322050" y="10698202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➍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52E559-AD5B-B5C3-8A1C-BEF736946D4D}"/>
              </a:ext>
            </a:extLst>
          </p:cNvPr>
          <p:cNvSpPr txBox="1"/>
          <p:nvPr/>
        </p:nvSpPr>
        <p:spPr>
          <a:xfrm>
            <a:off x="14372852" y="5994737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➎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A03ECC-E08E-1801-B930-C6A1120E936D}"/>
              </a:ext>
            </a:extLst>
          </p:cNvPr>
          <p:cNvSpPr txBox="1"/>
          <p:nvPr/>
        </p:nvSpPr>
        <p:spPr>
          <a:xfrm>
            <a:off x="14770288" y="6631285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➏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451D3A-1A8F-2359-8837-0A8B432F0B57}"/>
              </a:ext>
            </a:extLst>
          </p:cNvPr>
          <p:cNvSpPr txBox="1"/>
          <p:nvPr/>
        </p:nvSpPr>
        <p:spPr>
          <a:xfrm>
            <a:off x="16294101" y="4777601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➐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D95D82-4BFF-3E7B-2AAD-72605CC254F4}"/>
              </a:ext>
            </a:extLst>
          </p:cNvPr>
          <p:cNvSpPr txBox="1"/>
          <p:nvPr/>
        </p:nvSpPr>
        <p:spPr>
          <a:xfrm>
            <a:off x="19801841" y="9169122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➑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A7E2540-528E-C6C5-A23B-A7DD4A5B931F}"/>
              </a:ext>
            </a:extLst>
          </p:cNvPr>
          <p:cNvSpPr txBox="1"/>
          <p:nvPr/>
        </p:nvSpPr>
        <p:spPr>
          <a:xfrm>
            <a:off x="16402050" y="11854101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➒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82CFF3-5402-2A96-CD4E-44D959274B8B}"/>
              </a:ext>
            </a:extLst>
          </p:cNvPr>
          <p:cNvSpPr txBox="1"/>
          <p:nvPr/>
        </p:nvSpPr>
        <p:spPr>
          <a:xfrm>
            <a:off x="3130552" y="8232001"/>
            <a:ext cx="482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➓</a:t>
            </a:r>
          </a:p>
        </p:txBody>
      </p:sp>
      <p:cxnSp>
        <p:nvCxnSpPr>
          <p:cNvPr id="76" name="직선 화살표 연결선 130">
            <a:extLst>
              <a:ext uri="{FF2B5EF4-FFF2-40B4-BE49-F238E27FC236}">
                <a16:creationId xmlns:a16="http://schemas.microsoft.com/office/drawing/2014/main" id="{BC07B8C2-EA62-F444-4AD2-993DD472EB74}"/>
              </a:ext>
            </a:extLst>
          </p:cNvPr>
          <p:cNvCxnSpPr>
            <a:cxnSpLocks/>
          </p:cNvCxnSpPr>
          <p:nvPr/>
        </p:nvCxnSpPr>
        <p:spPr>
          <a:xfrm rot="10800000">
            <a:off x="6070601" y="6766361"/>
            <a:ext cx="12777471" cy="5019439"/>
          </a:xfrm>
          <a:prstGeom prst="bentConnector3">
            <a:avLst>
              <a:gd name="adj1" fmla="val 89530"/>
            </a:avLst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0AD86-F0EF-365E-A5FA-A1DD0260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73A317-B0CE-DD85-CFF8-F9E8EC631E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F0662C3-408A-97AC-DC40-4A37E8518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DDA4B2E-FE94-FD08-81F4-5865262E6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AA4E74D-52A2-5635-D37F-80BD152BB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9B79C17-BF9C-F9BD-61E9-9B6E52BDD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EB809ED-67B9-422B-71C0-21F505DD8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65E75F74-07DC-A399-7F6D-262E3773D17E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57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642FE2A2-125E-3E77-9343-0775BC0C78E4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22694476-92B8-24AC-919F-E6BD3D85886E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E49F5F1-A2D8-633F-EEF3-96D599D5B20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9" name="TextBox 16">
            <a:extLst>
              <a:ext uri="{FF2B5EF4-FFF2-40B4-BE49-F238E27FC236}">
                <a16:creationId xmlns:a16="http://schemas.microsoft.com/office/drawing/2014/main" id="{F0132700-D30E-3CA1-DDAD-AD95CDD011D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CFD105FF-04CD-EDD6-F14F-4867E123844A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10B900B8-BD7D-7B96-BE7F-359AF58AD62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F82B80D9-D047-A76D-BB3E-C7394BAE8582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9F7772-C1B5-CF1B-564D-376E206D98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63370E-90A7-68B2-913A-074E0935FC65}"/>
              </a:ext>
            </a:extLst>
          </p:cNvPr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프로그램 환경</a:t>
            </a:r>
          </a:p>
        </p:txBody>
      </p:sp>
      <p:pic>
        <p:nvPicPr>
          <p:cNvPr id="33" name="Picture 3">
            <a:extLst>
              <a:ext uri="{FF2B5EF4-FFF2-40B4-BE49-F238E27FC236}">
                <a16:creationId xmlns:a16="http://schemas.microsoft.com/office/drawing/2014/main" id="{B6C83A0F-C1EC-5FBB-A682-0C2FBC694B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0500" y="4445000"/>
            <a:ext cx="6375400" cy="6997700"/>
          </a:xfrm>
          <a:prstGeom prst="rect">
            <a:avLst/>
          </a:prstGeom>
          <a:effectLst>
            <a:outerShdw blurRad="159261" dist="147010" dir="2700000">
              <a:srgbClr val="1A7AE1">
                <a:alpha val="15000"/>
              </a:srgbClr>
            </a:outerShdw>
          </a:effectLst>
        </p:spPr>
      </p:pic>
      <p:sp>
        <p:nvSpPr>
          <p:cNvPr id="34" name="TextBox 21">
            <a:extLst>
              <a:ext uri="{FF2B5EF4-FFF2-40B4-BE49-F238E27FC236}">
                <a16:creationId xmlns:a16="http://schemas.microsoft.com/office/drawing/2014/main" id="{971D7C85-4C43-6A5D-2BB7-328A0C5B42C2}"/>
              </a:ext>
            </a:extLst>
          </p:cNvPr>
          <p:cNvSpPr txBox="1"/>
          <p:nvPr/>
        </p:nvSpPr>
        <p:spPr>
          <a:xfrm>
            <a:off x="1435100" y="47879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Spring Boot</a:t>
            </a: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978D9756-9FD7-217A-068D-852486EF9629}"/>
              </a:ext>
            </a:extLst>
          </p:cNvPr>
          <p:cNvSpPr txBox="1"/>
          <p:nvPr/>
        </p:nvSpPr>
        <p:spPr>
          <a:xfrm>
            <a:off x="2279650" y="9194800"/>
            <a:ext cx="5264150" cy="189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sz="26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3.3.0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설명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Java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기반의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Spring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애플리케이션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프레임워크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36" name="Picture 22">
            <a:extLst>
              <a:ext uri="{FF2B5EF4-FFF2-40B4-BE49-F238E27FC236}">
                <a16:creationId xmlns:a16="http://schemas.microsoft.com/office/drawing/2014/main" id="{87F22236-5606-A138-ADBA-83532B3C54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2700" y="6078221"/>
            <a:ext cx="4191000" cy="2197100"/>
          </a:xfrm>
          <a:prstGeom prst="rect">
            <a:avLst/>
          </a:prstGeom>
        </p:spPr>
      </p:pic>
      <p:pic>
        <p:nvPicPr>
          <p:cNvPr id="37" name="Picture 5">
            <a:extLst>
              <a:ext uri="{FF2B5EF4-FFF2-40B4-BE49-F238E27FC236}">
                <a16:creationId xmlns:a16="http://schemas.microsoft.com/office/drawing/2014/main" id="{FDD41BCE-ADDA-E4D7-663B-4531136C67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400" y="4445000"/>
            <a:ext cx="6375400" cy="6997700"/>
          </a:xfrm>
          <a:prstGeom prst="rect">
            <a:avLst/>
          </a:prstGeom>
          <a:effectLst>
            <a:outerShdw blurRad="159261" dist="147010" dir="2700000">
              <a:srgbClr val="1A7AE1">
                <a:alpha val="15000"/>
              </a:srgbClr>
            </a:outerShdw>
          </a:effectLst>
        </p:spPr>
      </p:pic>
      <p:sp>
        <p:nvSpPr>
          <p:cNvPr id="38" name="TextBox 25">
            <a:extLst>
              <a:ext uri="{FF2B5EF4-FFF2-40B4-BE49-F238E27FC236}">
                <a16:creationId xmlns:a16="http://schemas.microsoft.com/office/drawing/2014/main" id="{8E9C7C3D-2524-5C7B-5746-0D95D8DB2F73}"/>
              </a:ext>
            </a:extLst>
          </p:cNvPr>
          <p:cNvSpPr txBox="1"/>
          <p:nvPr/>
        </p:nvSpPr>
        <p:spPr>
          <a:xfrm>
            <a:off x="9245600" y="4787900"/>
            <a:ext cx="6477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n8n</a:t>
            </a: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BD397F21-0F85-8081-2051-DDC3AE5A0CE6}"/>
              </a:ext>
            </a:extLst>
          </p:cNvPr>
          <p:cNvSpPr txBox="1"/>
          <p:nvPr/>
        </p:nvSpPr>
        <p:spPr>
          <a:xfrm>
            <a:off x="9702800" y="9144000"/>
            <a:ext cx="5664200" cy="185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sz="26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1.120.4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설명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앱,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API를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시각적으로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연결하</a:t>
            </a:r>
            <a:r>
              <a:rPr lang="ko-KR" alt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는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워크플로우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자동화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오픈소스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툴</a:t>
            </a:r>
          </a:p>
          <a:p>
            <a:pPr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CVE-2026-21858</a:t>
            </a:r>
          </a:p>
          <a:p>
            <a:pPr lvl="0" algn="l">
              <a:lnSpc>
                <a:spcPct val="116199"/>
              </a:lnSpc>
            </a:pP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40" name="Picture 30">
            <a:extLst>
              <a:ext uri="{FF2B5EF4-FFF2-40B4-BE49-F238E27FC236}">
                <a16:creationId xmlns:a16="http://schemas.microsoft.com/office/drawing/2014/main" id="{939EF9C9-6897-15BD-812F-39FBD6FB6C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4250" y="6299200"/>
            <a:ext cx="4635500" cy="1854200"/>
          </a:xfrm>
          <a:prstGeom prst="rect">
            <a:avLst/>
          </a:prstGeom>
        </p:spPr>
      </p:pic>
      <p:pic>
        <p:nvPicPr>
          <p:cNvPr id="41" name="Picture 4">
            <a:extLst>
              <a:ext uri="{FF2B5EF4-FFF2-40B4-BE49-F238E27FC236}">
                <a16:creationId xmlns:a16="http://schemas.microsoft.com/office/drawing/2014/main" id="{B639A168-1ED6-8E9E-0DCF-E733B15A33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46600" y="4445000"/>
            <a:ext cx="6375400" cy="6997700"/>
          </a:xfrm>
          <a:prstGeom prst="rect">
            <a:avLst/>
          </a:prstGeom>
          <a:effectLst>
            <a:outerShdw blurRad="159261" dist="147010" dir="2700000">
              <a:srgbClr val="1A7AE1">
                <a:alpha val="15000"/>
              </a:srgbClr>
            </a:outerShdw>
          </a:effectLst>
        </p:spPr>
      </p:pic>
      <p:sp>
        <p:nvSpPr>
          <p:cNvPr id="42" name="TextBox 22">
            <a:extLst>
              <a:ext uri="{FF2B5EF4-FFF2-40B4-BE49-F238E27FC236}">
                <a16:creationId xmlns:a16="http://schemas.microsoft.com/office/drawing/2014/main" id="{972E05CD-F367-FED4-82D6-8372CC3C1909}"/>
              </a:ext>
            </a:extLst>
          </p:cNvPr>
          <p:cNvSpPr txBox="1"/>
          <p:nvPr/>
        </p:nvSpPr>
        <p:spPr>
          <a:xfrm>
            <a:off x="17233900" y="47879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docker</a:t>
            </a: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3ACB666E-94D5-A04B-CBE8-8C164C901E2F}"/>
              </a:ext>
            </a:extLst>
          </p:cNvPr>
          <p:cNvSpPr txBox="1"/>
          <p:nvPr/>
        </p:nvSpPr>
        <p:spPr>
          <a:xfrm>
            <a:off x="17678400" y="9194800"/>
            <a:ext cx="5765800" cy="137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25.0.14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설명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: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어떤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환경에서든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동일하게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배포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및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가상화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플랫폼</a:t>
            </a:r>
            <a:r>
              <a:rPr lang="en-US" altLang="ko-KR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44" name="Picture 29">
            <a:extLst>
              <a:ext uri="{FF2B5EF4-FFF2-40B4-BE49-F238E27FC236}">
                <a16:creationId xmlns:a16="http://schemas.microsoft.com/office/drawing/2014/main" id="{55EE5BC7-47B5-49C2-AC3A-7001B75949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34000" y="6630671"/>
            <a:ext cx="48006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756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3423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취약점 선정 배경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58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500" y="3619500"/>
            <a:ext cx="13487400" cy="9309100"/>
          </a:xfrm>
          <a:prstGeom prst="rect">
            <a:avLst/>
          </a:prstGeom>
          <a:effectLst>
            <a:outerShdw blurRad="232831" dist="214921" dir="2700000">
              <a:srgbClr val="1A7AE1">
                <a:alpha val="15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8470900" y="3911600"/>
            <a:ext cx="64770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CVE-2026-21858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7315200"/>
            <a:ext cx="5715000" cy="2286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8597900" y="5702300"/>
            <a:ext cx="12115800" cy="284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2026년 4월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기준으로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8개의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CVE가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발행되는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등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치명적인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취약점이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지속적으로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보고되고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있습니다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특히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이 중 4건은 CVSS 9.9점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이상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나머지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4건은 7.5점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이상의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High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등급으로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평가되었</a:t>
            </a:r>
            <a:r>
              <a:rPr lang="ko-KR" altLang="en-US" sz="26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음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본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프로젝트에서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선정한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최고점인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CVSS 10.0을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기록한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건으로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인증되지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않은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네트워크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접근만으로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제어권을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완전히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있다는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위험성을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직접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시연하고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검증하기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채택되었</a:t>
            </a:r>
            <a:r>
              <a:rPr lang="ko-KR" alt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음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597900" y="5003800"/>
            <a:ext cx="12128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n8n 취약점 선정 개요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97900" y="9093200"/>
            <a:ext cx="12128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1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 설명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97900" y="9867900"/>
            <a:ext cx="121158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시스템이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Content-Type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헤더를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제대로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검증하지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않고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신뢰하여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파싱하는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결함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때문에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조작된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HTTP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요청을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보내면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임의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경로에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수 </a:t>
            </a:r>
            <a:r>
              <a:rPr lang="ko-KR" altLang="en-US" sz="26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있음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암호화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키 외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중요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탈취하여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활용하여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RCE가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가능한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</a:t>
            </a:r>
            <a:r>
              <a:rPr lang="ko-KR" altLang="en-US" sz="26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점임</a:t>
            </a:r>
            <a:endParaRPr lang="en-US" sz="26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CBDFDDBE-2FD6-5523-FF15-2F251ED945D8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F8A57490-C5BA-7B42-59C7-DC46D12CD610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24E5E27-D146-256F-E6DB-9744A2FCFAD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9" name="TextBox 16">
            <a:extLst>
              <a:ext uri="{FF2B5EF4-FFF2-40B4-BE49-F238E27FC236}">
                <a16:creationId xmlns:a16="http://schemas.microsoft.com/office/drawing/2014/main" id="{2FD390EF-A20C-FA2F-93D8-9839ED03ADE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86CD66DF-86EF-4974-F279-15644850A2CA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3699BABF-9354-3019-4F7D-ADCEFB7864B2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B59BC392-EEE4-50D8-DBE3-21564ACE30A0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59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AutoNum type="arabicPeriod"/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유저의 프로필 사진 업로드 기능에서 파일 업로드 우회 취약점을 이용한 Reverse Shell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610100"/>
            <a:ext cx="9105900" cy="7378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2000" y="7124700"/>
            <a:ext cx="12319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6200" y="10439400"/>
            <a:ext cx="1308100" cy="647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9900" y="8305800"/>
            <a:ext cx="2832100" cy="20701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8458200"/>
            <a:ext cx="1422400" cy="1422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1600" y="4965700"/>
            <a:ext cx="11772900" cy="5816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55400" y="9169400"/>
            <a:ext cx="9613900" cy="711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55400" y="5435600"/>
            <a:ext cx="10185400" cy="11811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646557FB-3D26-37B9-AEDA-63DD057C75F6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65B1C1CF-6C4D-FD2B-4FB4-05B80A8E6D53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848E9864-49F4-FC06-DBAA-388C377244D0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31" name="TextBox 16">
            <a:extLst>
              <a:ext uri="{FF2B5EF4-FFF2-40B4-BE49-F238E27FC236}">
                <a16:creationId xmlns:a16="http://schemas.microsoft.com/office/drawing/2014/main" id="{9C940260-1AE4-D80A-4B92-6FC03CD4DF86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E3F21D5C-B5C2-A6FF-73A4-D9803C49AF5E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E9496E1D-B03A-8780-0687-5E9459261A5E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71C98B99-1E9C-9589-DC09-A8320A702170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AutoNum type="arabicPeriod"/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유저의 프로필 사진 업로드 기능에서 파일 업로드 우회 취약점을 이용한 Reverse Shell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4787900"/>
            <a:ext cx="14300200" cy="4127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8394700"/>
            <a:ext cx="4051300" cy="533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2600" y="4787900"/>
            <a:ext cx="3327400" cy="5207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7030700" y="5880100"/>
            <a:ext cx="61595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업로드한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악성파일에서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요청하는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포트번호를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Listen상태로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열어두어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쉘이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연결되기를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기다림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C8CC8F9B-8949-E06B-A30F-C6E3F06A6226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94D167A3-ABBA-468D-69EE-F76C06135CD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61E106CA-D6C0-F895-87C2-35962E3D8C6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6ECCE12A-B176-DCC3-7945-30899ABDB42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C146A58E-783D-0D07-D6A4-2F02BF182EAA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4897D281-0F39-7360-8E87-DB018423E95E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1BB1CF48-80A8-4CCF-8735-6D8BD5265BBA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2. 서버 내부의 중요정보 파일 및 통신하는 서버에 대한 정보 수집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018000" y="5880100"/>
            <a:ext cx="6197600" cy="218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netstat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명령어를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통신하는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시도하여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n8n의 well-known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5678번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572000"/>
            <a:ext cx="14325600" cy="6311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8600" y="10096500"/>
            <a:ext cx="4826000" cy="673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8800" y="4610100"/>
            <a:ext cx="1714500" cy="330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2200" y="4927600"/>
            <a:ext cx="1219200" cy="3556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295B4C3D-59D2-3FBB-E836-4B75F763D0F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410AEBA-C169-7677-CFAB-2AE9B489871D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4C6596E6-4E61-3A32-336C-FF7CFBB4B02D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E6C9C05E-9E1C-F32C-D444-3B856F91E69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9C12EDCE-65DC-A6F0-43A9-2DCCA004689F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0B1F86DD-857D-B534-0F6D-6CE4CFF1CB95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D490852F-B05F-FD82-8F28-5DAE0FAF5489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</a:t>
            </a: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2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610100"/>
            <a:ext cx="14871700" cy="4584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0100" y="6273800"/>
            <a:ext cx="8331200" cy="584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8305800"/>
            <a:ext cx="14871700" cy="9652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2. 서버 내부의 중요정보 파일 및 통신하는 서버에 대한 정보 수집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11700" y="4521200"/>
            <a:ext cx="5778500" cy="435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n8n과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관련된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수집하기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application.properties파일에서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n8n의 endpoint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주소를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SSH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터널링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기술을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가상의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포트포워딩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효과를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Serveo를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n8n에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가능한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URL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E6C89149-A82D-A0A6-C709-D756FB1B5467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B9161D7A-BDAE-EAD5-79AF-1273DF2622AF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93BDB4CA-E3C7-CC74-8717-5AE4574BD31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0D48191F-248C-AA18-EE5F-A0725B1C18BD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8FB0E426-488C-F54C-3C75-EFF95AD3A090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97F9494F-5896-30B9-3BA6-5AE65636D0A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A394CCBF-E257-D2D8-F8EA-480141DCBA25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63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800" y="6870700"/>
            <a:ext cx="33274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4267200"/>
            <a:ext cx="14300200" cy="7988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2. 서버 내부의 중요정보 파일 및 통신하는 서버에 대한 정보 수집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30700" y="5880100"/>
            <a:ext cx="61595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정보들과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터널링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기술로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URL을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사이트가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어떠한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제공하는지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B49AACFA-AD04-90AF-BEE4-832D0C16EA9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71431A05-7AC1-06C4-905A-EE2A4E5B3B0E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1D8B360B-68C7-7286-E1A0-04A4E00331D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A62A9BE6-74A0-572F-6B79-2FE9456F4B3D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50A32AF3-2AD3-D38D-60B1-F79E1B16747A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BC5B69FC-332C-5797-D7E2-13E923CB0A7A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223C160D-2F6B-B3DF-3DE9-6BDB140B48EA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64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381500"/>
            <a:ext cx="14478000" cy="7607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06500" y="4533900"/>
            <a:ext cx="2209800" cy="584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2200" y="7581900"/>
            <a:ext cx="1714500" cy="4572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2. 서버 내부의 중요정보 파일 및 통신하는 서버에 대한 정보 수집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030700" y="5880100"/>
            <a:ext cx="61595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n8n의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식별하기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공개된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엔드포인트를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호출하여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버전을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식별하고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수집함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2EDEB22B-D564-625E-B4E2-7B509538CE27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6BE9D7E6-3025-0CF0-F058-29A7553CD53E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6DF25C2A-4757-2973-B347-72C9F35FFC67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076FD251-65FD-8D6F-5F2F-B76F2BA0F485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3DA49021-FA05-0137-201B-96E1BBC7437B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D21F8DBF-7622-BF67-253C-2596ACFFB780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971EADD1-F5DA-C275-5CB9-FED67E46D6A0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3. n8n서버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정보확인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CVE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333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보안로직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무력화</a:t>
            </a:r>
            <a:endParaRPr lang="en-US" sz="33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267200"/>
            <a:ext cx="12496800" cy="8153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200" y="10185400"/>
            <a:ext cx="12509500" cy="22352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6205200" y="5067300"/>
            <a:ext cx="70104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공개된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CVE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취약점을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활용하여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n8n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내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ID,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패스워드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해시값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그리고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JWT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서명용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비밀키를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추출함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확보된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계정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서명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암호값을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유효한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JWT를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최종적으로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857B1F9F-A0BB-969D-C0C3-7FC3295C19AC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BF2C8690-4942-43C4-006E-67AA7AB2F3F3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040AD19A-F860-EFAF-9B3C-29F975FA3C4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C018B65E-F473-5084-F2AE-23B011A309DB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2D650EA3-A050-2ADC-793D-C7178797F3DA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74CDED50-1288-2727-D854-5678CEA7F94C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310F698F-E02F-2718-AA92-E7352837C21E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66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381500"/>
            <a:ext cx="14668500" cy="6781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0" y="7416800"/>
            <a:ext cx="8851900" cy="1536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3. n8n서버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정보확인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CVE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보안로직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무력화</a:t>
            </a:r>
            <a:endParaRPr lang="en-US" sz="33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979900" y="5880100"/>
            <a:ext cx="62611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브라우저의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도구에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접속하여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JWT를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키값에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직접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주입함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주입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페이지를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갱신하면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요청자를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대시보드에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1F086F09-C910-CD93-A617-547E072EB590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3F8EFC4C-2029-F609-7A57-3145E5E9EA5C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45EFC4E0-977A-30D2-69B4-4F01FA99315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A5F622F3-DE0E-140F-3592-934AA3390B1C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D5E71E60-EFC4-C0FF-C727-9ABC0CDED4FF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8A02A4D7-A652-504D-9338-2466272A2FEF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A6AF976F-E954-0A16-C010-B44BE5C716B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370300" y="-5724525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3. n8n서버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정보확인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CVE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이용하여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보안로직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333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무력화</a:t>
            </a:r>
            <a:endParaRPr lang="en-US" sz="3333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601951" y="5565775"/>
            <a:ext cx="6159500" cy="435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n8n에서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구동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중인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자동화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워크플로우를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조사하여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보안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로직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노드를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식별함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노드를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r>
              <a:rPr lang="ko-KR" altLang="en-US" sz="30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로직</a:t>
            </a:r>
            <a:r>
              <a:rPr lang="ko-KR" altLang="en-US" sz="30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노드의 워크플로우를 비활성화하여 보안 관련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무력화함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20109C86-765B-563D-E62C-96972FB3CC5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CCD492E2-920A-1B39-678D-650A44FA5C0F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721BAEB8-EC39-0F17-9598-7D7FDEFEA6B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800967C3-C3BF-5FEC-81A8-90675CE9B7D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A4D6CA63-F851-36BF-F079-FD24E797D617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C7ECD9CC-A1C9-9CD0-F809-CB90C0B895C3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DAEB664A-6987-E134-3998-B5313D495AB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EE229AD-806D-DC4F-6602-010F873C4E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02" t="3366" r="3568" b="3097"/>
          <a:stretch/>
        </p:blipFill>
        <p:spPr>
          <a:xfrm>
            <a:off x="2667000" y="3959225"/>
            <a:ext cx="11029950" cy="8734287"/>
          </a:xfrm>
          <a:prstGeom prst="rect">
            <a:avLst/>
          </a:prstGeom>
          <a:ln>
            <a:noFill/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580B5A-8F33-C4B8-E83E-EFF51B489C01}"/>
              </a:ext>
            </a:extLst>
          </p:cNvPr>
          <p:cNvSpPr/>
          <p:nvPr/>
        </p:nvSpPr>
        <p:spPr>
          <a:xfrm>
            <a:off x="4572001" y="5880100"/>
            <a:ext cx="762000" cy="4483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68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152900"/>
            <a:ext cx="14109700" cy="7531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" y="10020300"/>
            <a:ext cx="13982700" cy="1663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4. WAS 서버에서 DB에 관한 정보 수집, 데이터 탈취 및 악성 스크립트 삽입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300" y="7607300"/>
            <a:ext cx="11176000" cy="609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7030700" y="5257800"/>
            <a:ext cx="6705600" cy="599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Docker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컨테이너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환경에서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모든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프로세스의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확인하기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프로세스의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메모리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맵인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/proc/1/mem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AWS Secret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Manager로부터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DB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접속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호출하면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값은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처리를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일시적으로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메모리에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상주하게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되어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메모리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덤프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특정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패턴을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스캔하여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암호화되어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관리되던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평문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형태로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추출함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5E4CB0F6-4F15-5C8D-0F2A-9BEF2457A2BE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2506973F-8145-DDBD-76EA-B137AE0095AD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55BD7CFA-64B0-F970-7207-42455E1F7F1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1D145EDC-2FC7-EED4-2878-AF1B3DAB285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635CED9C-F745-28DD-25B9-A18AFE959386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73A63483-D904-B299-B3B7-7B64A473E623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0">
            <a:extLst>
              <a:ext uri="{FF2B5EF4-FFF2-40B4-BE49-F238E27FC236}">
                <a16:creationId xmlns:a16="http://schemas.microsoft.com/office/drawing/2014/main" id="{DD625BE5-63F9-35C5-48B1-D234E43DE4B8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69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4. WAS 서버에서 DB에 관한 정보 수집, 데이터 탈취 및 악성 스크립트 삽입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89400" y="5943600"/>
            <a:ext cx="6477000" cy="435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앞서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확보한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DB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활용하여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AWS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RDS에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접속함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테이블에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회원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등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민감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추가적인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침투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경로를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확보하기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스크립트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(Stored XSS)를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삽입함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3873500"/>
            <a:ext cx="11658600" cy="9080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0100" y="4940300"/>
            <a:ext cx="1612900" cy="1346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7416800"/>
            <a:ext cx="1828800" cy="2463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0100" y="10007600"/>
            <a:ext cx="11722100" cy="12319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84B953E1-A931-3371-8AB6-CF49ED342793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1A534317-8D94-F26D-A522-5BE40C54C087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62D16E4D-3FED-C968-EAC4-E809FB3AE5E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9792A066-571E-900C-A86B-B14109ABF586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0EC770A7-0E66-025D-C6EF-688C31154960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2A85A78C-61DF-DEBE-E27E-9D8B4D30B827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BBDB8265-B40B-F475-3152-0FAA25E36601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5. 악성스크립트 작동으로 연쇄 침투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92900" y="4724400"/>
            <a:ext cx="3149600" cy="584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8674100"/>
            <a:ext cx="12179300" cy="4076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4686300"/>
            <a:ext cx="12179300" cy="4000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0900" y="4076700"/>
            <a:ext cx="12179300" cy="584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52600" y="4711700"/>
            <a:ext cx="8293100" cy="14859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5405100" y="6921500"/>
            <a:ext cx="6667500" cy="327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악성스크립트가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것을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기다리기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80포트를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Listen상태로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기다림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고객센터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악성스크립트가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삽입된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요청하게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되면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해당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공격자에게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제공하게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됨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1800" y="12052300"/>
            <a:ext cx="4737100" cy="431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16400" y="12014200"/>
            <a:ext cx="2628900" cy="736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5300" y="12319000"/>
            <a:ext cx="368300" cy="279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02100" y="11988800"/>
            <a:ext cx="2870200" cy="4699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F0533443-0BF3-B37C-CB47-B8B1F1DE7181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636BED32-66FA-DD0B-A74E-963085DA6C65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077FCD76-79EB-62A2-4633-3FFB5BE5D9EC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33" name="TextBox 16">
            <a:extLst>
              <a:ext uri="{FF2B5EF4-FFF2-40B4-BE49-F238E27FC236}">
                <a16:creationId xmlns:a16="http://schemas.microsoft.com/office/drawing/2014/main" id="{D15E2FC2-DABA-6BAB-087E-7AD9B351F097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04B281E5-5C65-DDFC-D41C-4791BB6DEF36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5DCF8CA4-43A3-5D67-186B-F979A52629C1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91497730-C918-ECFC-E450-768BD1173912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71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216400"/>
            <a:ext cx="13627100" cy="8026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" y="6438900"/>
            <a:ext cx="13538200" cy="2413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5. 악성스크립트 작동으로 연쇄 침투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30700" y="5880100"/>
            <a:ext cx="61595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사용하는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웹페이지에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주소값과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JWT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값을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7A2553C8-E8CF-5358-0B96-664C793286EA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FD154E68-26D4-D261-A271-4BB18643BE9F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73EF1B48-4610-E0C9-97AC-CE51C67C85D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D06DA4D9-CB8F-F5EA-CD85-127DC9B7D878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3D891E12-DE29-0D04-C331-0EDAE54B4790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AAA2482A-19B1-2A73-EF4E-262421991782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8C40BB02-605F-03B6-A57C-493187314227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0" y="4851400"/>
            <a:ext cx="10502900" cy="6527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4660900"/>
            <a:ext cx="10071100" cy="7823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4165600"/>
            <a:ext cx="10071100" cy="495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6400" y="10261600"/>
            <a:ext cx="2438400" cy="482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55600" y="10020300"/>
            <a:ext cx="5778500" cy="1104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5. 악성스크립트 작동으로 연쇄 침투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1389D45C-2973-63D5-377E-C0E3C3F52C2E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53324FB-C9BC-20F8-6E91-56D57A465C07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6D000350-1D02-AFA1-A863-B2A492C672D0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0F7C249A-232B-26ED-12D5-23B23EB5D40D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3C3F4D84-89DF-385A-C32B-0425740C1C52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86F99E52-636E-30E7-638D-45623A8FAEEF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34A9C266-2A0B-7BA5-CD3C-6C455DA1A2E6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6. 고객센터 망 장악, DB탈취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563100" y="5981700"/>
            <a:ext cx="1181100" cy="419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4305300"/>
            <a:ext cx="14859000" cy="5613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0900" y="7112000"/>
            <a:ext cx="14859000" cy="42291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700" y="7112000"/>
            <a:ext cx="8623300" cy="1701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7400" y="4965700"/>
            <a:ext cx="9448800" cy="558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5892800" y="9499600"/>
            <a:ext cx="1066800" cy="381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98700" y="10833100"/>
            <a:ext cx="6108700" cy="4699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7030700" y="5880100"/>
            <a:ext cx="6159500" cy="218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사전에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업로드된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웹쉘을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명령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실행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권한을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확보한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후,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제어의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편의성과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기능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확장을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리버스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쉘연결을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시도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D49725A6-1B1A-FB98-BD77-4EF73E28A654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37B14109-6FB8-8B28-802C-4F4F244A4711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C54D7731-DB33-DF3E-A61F-202FDA0C2059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31" name="TextBox 16">
            <a:extLst>
              <a:ext uri="{FF2B5EF4-FFF2-40B4-BE49-F238E27FC236}">
                <a16:creationId xmlns:a16="http://schemas.microsoft.com/office/drawing/2014/main" id="{CAC966DF-99B6-780F-2D57-8FC826E5CA37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56E68C20-4C43-5393-8ED8-281B86E9B894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AFB5CB84-0DDA-A1FE-A34E-BC65C426BDFF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743F94CA-89CE-6E21-8767-F1FDF421B30D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74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4419600"/>
            <a:ext cx="14732000" cy="6527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5638800"/>
            <a:ext cx="14732000" cy="1778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6. 고객센터 망 장악, DB탈취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30700" y="5880100"/>
            <a:ext cx="6159500" cy="273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탐색을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설정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.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env파일의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노출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.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env파일에서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평문으로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누출되어있는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DB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크레덴셜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획득함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66A93031-BC05-22EB-E86D-7B01209B5C2A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A01BD4C9-4E51-D719-4289-B4316995377A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5301C0B7-35CB-A7FA-712E-4EE56B83F50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8F2B318C-6E46-E810-7048-E27B2831DE64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1F2C6EDF-3774-14CD-FD4A-C8F714F9D66F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FC0AB9F5-50EC-9052-2C1E-F268DE260D0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E39D7F68-17FE-D797-94FC-1BFB51B5230A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75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140200"/>
            <a:ext cx="11430000" cy="9017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10490200"/>
            <a:ext cx="11430000" cy="1143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6. 고객센터 망 장악, DB탈취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8300" y="4737100"/>
            <a:ext cx="6616700" cy="482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225800" y="7366000"/>
            <a:ext cx="4419600" cy="4191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6357600" y="5880100"/>
            <a:ext cx="6832600" cy="273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앞서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ID와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Password를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데이터베이스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접근함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
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테이블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실시간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녹음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내역을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특정하여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추출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타겟을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확정함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D966EFF2-B2DB-01BC-695C-E10048CFFFA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42CBCF54-C03A-E9F4-3DCF-C95A0AD8171A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5560898E-446F-1CF7-13F0-AEC24307CAA5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6260837A-D8B0-95B1-6D15-10A8B92B55BB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68DA7C6D-A28A-291B-87E0-CB72883FFDD4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8A9FDC79-2C78-7920-029B-9E9D29C3848D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5F5D6A2D-FA83-9C8A-07BF-8FDE234E2498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76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521200"/>
            <a:ext cx="14579600" cy="2044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0900" y="7505700"/>
            <a:ext cx="14566900" cy="2095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9029700" y="6832600"/>
            <a:ext cx="749300" cy="393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6700" y="4521200"/>
            <a:ext cx="8813800" cy="596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0900" y="7505700"/>
            <a:ext cx="14579600" cy="8890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7. 탈취한 데이터를 이용한 보이스피싱 공격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30700" y="5880100"/>
            <a:ext cx="6159500" cy="218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탈취한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녹음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외부로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전송하기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9000번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포트를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활성화하고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피해자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서버에서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서버에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전송함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75DF595B-1AC8-A491-E5A4-FCDB4151BA0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891E9742-512F-89BA-A9F1-7B8930AF4FC5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E433593A-4586-ED72-55E6-83BA5FF03AF0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FCDF1A06-39AE-06E5-6410-6682E880EA7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89E2D2EC-AC7F-6CBF-571D-C26495C84B59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1D69420D-D15E-118F-0CEF-C00E433B1830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6CCDB20D-AA1C-DC3D-99C6-213DF157CCDD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7. 탈취한 데이터를 이용한 보이스피싱 공격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0" y="4292600"/>
            <a:ext cx="14452600" cy="7785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0" y="10096500"/>
            <a:ext cx="4318000" cy="647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7030700" y="5880100"/>
            <a:ext cx="6159500" cy="435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유출된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대규모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녹음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AI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학습이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가능한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형태로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전처리함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정제된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데이터셋을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딥러닝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음성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합성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모델에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학습함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대상자의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목소리를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구분이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불가능한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수준의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자산을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확보함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연쇄 침투를 통한 지능형 보이스피싱 공격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58E0040B-BE8C-12AB-DBF5-E69742981E71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C7197FB8-FBF1-1B74-4C20-20DE6DF0497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9438B8CE-E5C0-AC9C-F513-8EEE799C978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64FF5FC4-C144-D033-5814-FB6431CCB80B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202D66B5-E162-C5C8-4A16-52DA8FAB01F7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F8CD249C-08BF-AD48-A271-BD987BB1D3DA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E27691E3-64A5-DB65-F47C-42B5EF5E623B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F65FF-EBC8-170C-B3F7-AF8313DE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5">
            <a:extLst>
              <a:ext uri="{FF2B5EF4-FFF2-40B4-BE49-F238E27FC236}">
                <a16:creationId xmlns:a16="http://schemas.microsoft.com/office/drawing/2014/main" id="{34F3C021-0386-2AF1-1F82-8F3EF3A21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711" y="6635068"/>
            <a:ext cx="2885481" cy="2885481"/>
          </a:xfrm>
          <a:prstGeom prst="rect">
            <a:avLst/>
          </a:prstGeom>
          <a:effectLst>
            <a:outerShdw blurRad="189472" dist="79499" dir="2700000">
              <a:srgbClr val="000000">
                <a:alpha val="23000"/>
              </a:srgbClr>
            </a:outerShdw>
          </a:effectLst>
        </p:spPr>
      </p:pic>
      <p:sp>
        <p:nvSpPr>
          <p:cNvPr id="29" name="Google Shape;85;p13">
            <a:extLst>
              <a:ext uri="{FF2B5EF4-FFF2-40B4-BE49-F238E27FC236}">
                <a16:creationId xmlns:a16="http://schemas.microsoft.com/office/drawing/2014/main" id="{E42AEBB5-B00F-851F-0C15-1C77D1704032}"/>
              </a:ext>
            </a:extLst>
          </p:cNvPr>
          <p:cNvSpPr/>
          <p:nvPr/>
        </p:nvSpPr>
        <p:spPr>
          <a:xfrm>
            <a:off x="2570199" y="4917195"/>
            <a:ext cx="6427126" cy="6427126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A3AC4A8-45B8-D80D-5998-A88178D8E385}"/>
              </a:ext>
            </a:extLst>
          </p:cNvPr>
          <p:cNvSpPr/>
          <p:nvPr/>
        </p:nvSpPr>
        <p:spPr>
          <a:xfrm>
            <a:off x="8527656" y="6486446"/>
            <a:ext cx="1199304" cy="1225936"/>
          </a:xfrm>
          <a:prstGeom prst="ellipse">
            <a:avLst/>
          </a:prstGeom>
          <a:solidFill>
            <a:srgbClr val="005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A3559E5C-0097-BFF3-83F7-263E227537CD}"/>
              </a:ext>
            </a:extLst>
          </p:cNvPr>
          <p:cNvSpPr/>
          <p:nvPr/>
        </p:nvSpPr>
        <p:spPr>
          <a:xfrm>
            <a:off x="7291858" y="9976528"/>
            <a:ext cx="1199304" cy="1225936"/>
          </a:xfrm>
          <a:prstGeom prst="ellipse">
            <a:avLst/>
          </a:prstGeom>
          <a:solidFill>
            <a:srgbClr val="2E6E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EF66ED1-B536-47CB-96DA-E531CB7B2067}"/>
              </a:ext>
            </a:extLst>
          </p:cNvPr>
          <p:cNvSpPr/>
          <p:nvPr/>
        </p:nvSpPr>
        <p:spPr>
          <a:xfrm>
            <a:off x="3351548" y="9976528"/>
            <a:ext cx="1199304" cy="1225936"/>
          </a:xfrm>
          <a:prstGeom prst="ellipse">
            <a:avLst/>
          </a:prstGeom>
          <a:solidFill>
            <a:srgbClr val="3A7D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6C1D3E0-8B9D-5885-C6D0-E6CF48C3F086}"/>
              </a:ext>
            </a:extLst>
          </p:cNvPr>
          <p:cNvSpPr/>
          <p:nvPr/>
        </p:nvSpPr>
        <p:spPr>
          <a:xfrm>
            <a:off x="1844426" y="6487199"/>
            <a:ext cx="1199304" cy="1225936"/>
          </a:xfrm>
          <a:prstGeom prst="ellipse">
            <a:avLst/>
          </a:prstGeom>
          <a:solidFill>
            <a:srgbClr val="6FA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94F82DC-23B7-B57B-3C9F-894B12F547E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D56232A-0752-7469-2A2A-DFBA5527E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4641987-BA2E-61AA-3112-17ACB83DCB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56AFAD3-638E-37B6-27F9-C3CEFB0ED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81F5A75-84FE-5FCF-2AE1-2E10367C6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DF1973E-67B4-30F0-68B4-8E2744886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D63ED3CB-DC8A-9462-BDC8-37C8FAFC70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18320839-C35A-6F3B-636B-382F61D80B6F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78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13EFDBD-1F5B-9E06-3C0D-C29CEDE811B0}"/>
              </a:ext>
            </a:extLst>
          </p:cNvPr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보안 대책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77F25B3-43F5-D1CE-1AB8-FBCCB3666E5B}"/>
              </a:ext>
            </a:extLst>
          </p:cNvPr>
          <p:cNvSpPr txBox="1"/>
          <p:nvPr/>
        </p:nvSpPr>
        <p:spPr>
          <a:xfrm>
            <a:off x="1943100" y="2774783"/>
            <a:ext cx="45847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Zero Trust </a:t>
            </a:r>
            <a:r>
              <a:rPr lang="en-US" sz="3857" b="1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기반</a:t>
            </a:r>
            <a:r>
              <a:rPr 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857" b="1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설계</a:t>
            </a:r>
            <a:endParaRPr lang="en-US" sz="3857" b="1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DE17454-F0BB-2776-C589-B5B96C9659F9}"/>
              </a:ext>
            </a:extLst>
          </p:cNvPr>
          <p:cNvGrpSpPr/>
          <p:nvPr/>
        </p:nvGrpSpPr>
        <p:grpSpPr>
          <a:xfrm>
            <a:off x="11197891" y="3670304"/>
            <a:ext cx="11350959" cy="2112681"/>
            <a:chOff x="11888620" y="3517900"/>
            <a:chExt cx="11350959" cy="2112681"/>
          </a:xfrm>
          <a:effectLst>
            <a:outerShdw blurRad="139700" dist="38100" dir="18900000" algn="tl" rotWithShape="0">
              <a:prstClr val="black">
                <a:alpha val="33000"/>
              </a:prstClr>
            </a:outerShdw>
          </a:effectLst>
        </p:grpSpPr>
        <p:pic>
          <p:nvPicPr>
            <p:cNvPr id="20" name="Picture 20">
              <a:extLst>
                <a:ext uri="{FF2B5EF4-FFF2-40B4-BE49-F238E27FC236}">
                  <a16:creationId xmlns:a16="http://schemas.microsoft.com/office/drawing/2014/main" id="{96DEAB87-1D87-A283-A56A-7851077AE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864097" y="4520213"/>
              <a:ext cx="266700" cy="203200"/>
            </a:xfrm>
            <a:prstGeom prst="rect">
              <a:avLst/>
            </a:prstGeom>
          </p:spPr>
        </p:pic>
        <p:pic>
          <p:nvPicPr>
            <p:cNvPr id="36" name="Picture 21" descr="스크린샷, 직사각형, 프레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A019FD0-5AE4-ABAE-5C68-D20AF59E7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888620" y="3517900"/>
              <a:ext cx="11350959" cy="2108200"/>
            </a:xfrm>
            <a:prstGeom prst="rect">
              <a:avLst/>
            </a:prstGeom>
            <a:effectLst>
              <a:outerShdw blurRad="93663" dist="86458" dir="2700000">
                <a:srgbClr val="1A7AE1">
                  <a:alpha val="15000"/>
                </a:srgbClr>
              </a:outerShdw>
            </a:effectLst>
          </p:spPr>
        </p:pic>
        <p:pic>
          <p:nvPicPr>
            <p:cNvPr id="37" name="Picture 10">
              <a:extLst>
                <a:ext uri="{FF2B5EF4-FFF2-40B4-BE49-F238E27FC236}">
                  <a16:creationId xmlns:a16="http://schemas.microsoft.com/office/drawing/2014/main" id="{F3E413F6-938E-7ECA-79AF-C3C45609D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890264" y="3522381"/>
              <a:ext cx="139700" cy="21082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4C9FD4D-4377-D90C-8846-99F5F151674D}"/>
                </a:ext>
              </a:extLst>
            </p:cNvPr>
            <p:cNvSpPr txBox="1"/>
            <p:nvPr/>
          </p:nvSpPr>
          <p:spPr>
            <a:xfrm>
              <a:off x="13708064" y="3732525"/>
              <a:ext cx="8289383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b="1" i="0" u="none" strike="noStrike" dirty="0" err="1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절대</a:t>
              </a:r>
              <a:r>
                <a:rPr 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 </a:t>
              </a:r>
              <a:r>
                <a:rPr lang="en-US" sz="3200" b="1" i="0" u="none" strike="noStrike" dirty="0" err="1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신뢰하지</a:t>
              </a:r>
              <a:r>
                <a:rPr 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 </a:t>
              </a:r>
              <a:r>
                <a:rPr lang="en-US" sz="3200" b="1" i="0" u="none" strike="noStrike" dirty="0" err="1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말고</a:t>
              </a:r>
              <a:r>
                <a:rPr 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 </a:t>
              </a:r>
              <a:r>
                <a:rPr lang="en-US" sz="3200" b="1" i="0" u="none" strike="noStrike" dirty="0" err="1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항상</a:t>
              </a:r>
              <a:r>
                <a:rPr 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 </a:t>
              </a:r>
              <a:r>
                <a:rPr lang="en-US" sz="3200" b="1" i="0" u="none" strike="noStrike" dirty="0" err="1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검증</a:t>
              </a:r>
              <a:r>
                <a:rPr 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 (Verify Explicitly)</a:t>
              </a:r>
              <a:endParaRPr lang="ko-KR" altLang="en-US" sz="3200" b="1" dirty="0">
                <a:latin typeface="Pretendard Bold"/>
                <a:ea typeface="Pretendard Bold"/>
                <a:cs typeface="Arial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27899FC-58F1-A402-45DE-8AD923F75F18}"/>
                </a:ext>
              </a:extLst>
            </p:cNvPr>
            <p:cNvSpPr txBox="1"/>
            <p:nvPr/>
          </p:nvSpPr>
          <p:spPr>
            <a:xfrm>
              <a:off x="12206571" y="4469565"/>
              <a:ext cx="10018430" cy="91409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사용자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,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기기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,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네트워크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위치에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관계없이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모든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접근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요청을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신뢰하지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않고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,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지속적으로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신원과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권한을</a:t>
              </a:r>
              <a:r>
                <a:rPr 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 </a:t>
              </a:r>
              <a:r>
                <a:rPr lang="en-US" sz="2670" b="0" i="0" u="none" strike="noStrike" dirty="0" err="1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확인</a:t>
              </a:r>
              <a:endParaRPr lang="ko-KR" altLang="en-US" sz="2670" dirty="0">
                <a:latin typeface="Pretendard Medium"/>
                <a:ea typeface="Pretendard Medium"/>
              </a:endParaRPr>
            </a:p>
          </p:txBody>
        </p:sp>
        <p:pic>
          <p:nvPicPr>
            <p:cNvPr id="19" name="Picture 12">
              <a:extLst>
                <a:ext uri="{FF2B5EF4-FFF2-40B4-BE49-F238E27FC236}">
                  <a16:creationId xmlns:a16="http://schemas.microsoft.com/office/drawing/2014/main" id="{43A5E445-3355-132C-F80E-DB7900F1E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85000"/>
            </a:blip>
            <a:stretch>
              <a:fillRect/>
            </a:stretch>
          </p:blipFill>
          <p:spPr>
            <a:xfrm>
              <a:off x="12202133" y="3803260"/>
              <a:ext cx="1435100" cy="47265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BE21C6-A0C1-1019-C979-BC2D334724A8}"/>
                </a:ext>
              </a:extLst>
            </p:cNvPr>
            <p:cNvSpPr txBox="1"/>
            <p:nvPr/>
          </p:nvSpPr>
          <p:spPr>
            <a:xfrm>
              <a:off x="12415761" y="3791754"/>
              <a:ext cx="1078676" cy="5032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원칙 </a:t>
              </a:r>
              <a:r>
                <a:rPr lang="en-US" altLang="ko-KR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1</a:t>
              </a:r>
              <a:endParaRPr lang="ko-KR" altLang="en-US" sz="2670" dirty="0">
                <a:latin typeface="Pretendard Medium"/>
                <a:ea typeface="Pretendard Medium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E13C370-61A6-64CA-BA34-CD5B7D607D8A}"/>
              </a:ext>
            </a:extLst>
          </p:cNvPr>
          <p:cNvGrpSpPr/>
          <p:nvPr/>
        </p:nvGrpSpPr>
        <p:grpSpPr>
          <a:xfrm>
            <a:off x="11197891" y="6629404"/>
            <a:ext cx="11350959" cy="2112681"/>
            <a:chOff x="11888620" y="6477000"/>
            <a:chExt cx="11350959" cy="2112681"/>
          </a:xfrm>
          <a:effectLst>
            <a:outerShdw blurRad="139700" dist="38100" dir="18900000" algn="ctr" rotWithShape="0">
              <a:schemeClr val="tx1">
                <a:alpha val="33000"/>
              </a:schemeClr>
            </a:outerShdw>
          </a:effectLst>
        </p:grpSpPr>
        <p:pic>
          <p:nvPicPr>
            <p:cNvPr id="34" name="Picture 20">
              <a:extLst>
                <a:ext uri="{FF2B5EF4-FFF2-40B4-BE49-F238E27FC236}">
                  <a16:creationId xmlns:a16="http://schemas.microsoft.com/office/drawing/2014/main" id="{2EEC0CAE-D577-B3BF-BE37-65CA71C8E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864097" y="7479313"/>
              <a:ext cx="266700" cy="203200"/>
            </a:xfrm>
            <a:prstGeom prst="rect">
              <a:avLst/>
            </a:prstGeom>
          </p:spPr>
        </p:pic>
        <p:pic>
          <p:nvPicPr>
            <p:cNvPr id="45" name="Picture 21" descr="스크린샷, 직사각형, 프레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3602528-0110-982E-1188-B4E0C72F4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888620" y="6477000"/>
              <a:ext cx="11350959" cy="2108200"/>
            </a:xfrm>
            <a:prstGeom prst="rect">
              <a:avLst/>
            </a:prstGeom>
            <a:effectLst>
              <a:outerShdw blurRad="93663" dist="86458" dir="2700000">
                <a:srgbClr val="1A7AE1">
                  <a:alpha val="15000"/>
                </a:srgbClr>
              </a:outerShdw>
            </a:effectLst>
          </p:spPr>
        </p:pic>
        <p:pic>
          <p:nvPicPr>
            <p:cNvPr id="46" name="Picture 10">
              <a:extLst>
                <a:ext uri="{FF2B5EF4-FFF2-40B4-BE49-F238E27FC236}">
                  <a16:creationId xmlns:a16="http://schemas.microsoft.com/office/drawing/2014/main" id="{A967555B-9875-B170-6E32-FA9D7D1F9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890264" y="6481481"/>
              <a:ext cx="139700" cy="210820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539E3BE-2F03-4EA9-8135-9603766E7CAB}"/>
                </a:ext>
              </a:extLst>
            </p:cNvPr>
            <p:cNvSpPr txBox="1"/>
            <p:nvPr/>
          </p:nvSpPr>
          <p:spPr>
            <a:xfrm>
              <a:off x="13708064" y="6691625"/>
              <a:ext cx="9464910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최소 권한 접근 허용 </a:t>
              </a:r>
              <a:r>
                <a:rPr lang="en-US" altLang="ko-KR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(</a:t>
              </a:r>
              <a:r>
                <a:rPr 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Use Least Privileged Access)</a:t>
              </a:r>
              <a:endParaRPr lang="ko-KR" altLang="en-US" sz="3200" b="1" dirty="0">
                <a:latin typeface="Pretendard Bold"/>
                <a:ea typeface="Pretendard Bold"/>
                <a:cs typeface="Arial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5E43252-AD66-708B-F7B2-BD81C1FCFA18}"/>
                </a:ext>
              </a:extLst>
            </p:cNvPr>
            <p:cNvSpPr txBox="1"/>
            <p:nvPr/>
          </p:nvSpPr>
          <p:spPr>
            <a:xfrm>
              <a:off x="12206571" y="7428665"/>
              <a:ext cx="10018429" cy="91409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사용자가 업무 수행에 필요한 최소한의 리소스에만 접근하도록 제한하여</a:t>
              </a:r>
              <a:r>
                <a:rPr lang="en-US" altLang="ko-KR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, </a:t>
              </a:r>
              <a:r>
                <a:rPr lang="ko-KR" alt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사고 시 피해 범위를 최소화</a:t>
              </a:r>
              <a:endParaRPr lang="en-US" altLang="ko-KR" sz="2670" b="0" i="0" u="none" strike="noStrike" dirty="0">
                <a:solidFill>
                  <a:srgbClr val="333333"/>
                </a:solidFill>
                <a:latin typeface="Pretendard Medium"/>
                <a:ea typeface="Pretendard Medium"/>
                <a:cs typeface="Noto Sans KR"/>
              </a:endParaRPr>
            </a:p>
          </p:txBody>
        </p:sp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2FF15EE6-BF86-D049-8FEB-2807E6D4F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85000"/>
            </a:blip>
            <a:stretch>
              <a:fillRect/>
            </a:stretch>
          </p:blipFill>
          <p:spPr>
            <a:xfrm>
              <a:off x="12202133" y="6762360"/>
              <a:ext cx="1435100" cy="472659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D22E993-05A2-4164-76A8-422DF7DFC111}"/>
                </a:ext>
              </a:extLst>
            </p:cNvPr>
            <p:cNvSpPr txBox="1"/>
            <p:nvPr/>
          </p:nvSpPr>
          <p:spPr>
            <a:xfrm>
              <a:off x="12415761" y="6750854"/>
              <a:ext cx="1078676" cy="5032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원칙 </a:t>
              </a:r>
              <a:r>
                <a:rPr lang="en-US" altLang="ko-KR" sz="2670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2</a:t>
              </a:r>
              <a:endParaRPr lang="ko-KR" altLang="en-US" sz="2670" dirty="0">
                <a:latin typeface="Pretendard Medium"/>
                <a:ea typeface="Pretendard Medium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D37B16D-CC6D-AE2F-1305-860C2ABFC9BA}"/>
              </a:ext>
            </a:extLst>
          </p:cNvPr>
          <p:cNvGrpSpPr/>
          <p:nvPr/>
        </p:nvGrpSpPr>
        <p:grpSpPr>
          <a:xfrm>
            <a:off x="11197890" y="9560863"/>
            <a:ext cx="11350959" cy="2112681"/>
            <a:chOff x="11888619" y="9408459"/>
            <a:chExt cx="11350959" cy="2112681"/>
          </a:xfrm>
          <a:effectLst>
            <a:outerShdw blurRad="139700" dist="38100" dir="18900000" algn="ctr" rotWithShape="0">
              <a:schemeClr val="tx1">
                <a:alpha val="33000"/>
              </a:schemeClr>
            </a:outerShdw>
          </a:effectLst>
        </p:grpSpPr>
        <p:pic>
          <p:nvPicPr>
            <p:cNvPr id="48" name="Picture 20">
              <a:extLst>
                <a:ext uri="{FF2B5EF4-FFF2-40B4-BE49-F238E27FC236}">
                  <a16:creationId xmlns:a16="http://schemas.microsoft.com/office/drawing/2014/main" id="{4584B824-94FF-3835-6B89-35476773C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864096" y="10410772"/>
              <a:ext cx="266700" cy="203200"/>
            </a:xfrm>
            <a:prstGeom prst="rect">
              <a:avLst/>
            </a:prstGeom>
          </p:spPr>
        </p:pic>
        <p:pic>
          <p:nvPicPr>
            <p:cNvPr id="54" name="Picture 21" descr="스크린샷, 직사각형, 프레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95A1D33-3EF5-4AB4-55F5-820F6D7BC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888619" y="9408459"/>
              <a:ext cx="11350959" cy="2108200"/>
            </a:xfrm>
            <a:prstGeom prst="rect">
              <a:avLst/>
            </a:prstGeom>
            <a:effectLst>
              <a:outerShdw blurRad="93663" dist="86458" dir="2700000">
                <a:srgbClr val="1A7AE1">
                  <a:alpha val="15000"/>
                </a:srgbClr>
              </a:outerShdw>
            </a:effectLst>
          </p:spPr>
        </p:pic>
        <p:pic>
          <p:nvPicPr>
            <p:cNvPr id="55" name="Picture 10">
              <a:extLst>
                <a:ext uri="{FF2B5EF4-FFF2-40B4-BE49-F238E27FC236}">
                  <a16:creationId xmlns:a16="http://schemas.microsoft.com/office/drawing/2014/main" id="{D7CBD988-6409-AF9D-0D51-4EF461E98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890263" y="9412940"/>
              <a:ext cx="139700" cy="21082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94DFDF-BB70-82BF-0B92-448EC03005C8}"/>
                </a:ext>
              </a:extLst>
            </p:cNvPr>
            <p:cNvSpPr txBox="1"/>
            <p:nvPr/>
          </p:nvSpPr>
          <p:spPr>
            <a:xfrm>
              <a:off x="13708063" y="9623084"/>
              <a:ext cx="8289383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침해 가정 </a:t>
              </a:r>
              <a:r>
                <a:rPr lang="en-US" altLang="ko-KR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(</a:t>
              </a:r>
              <a:r>
                <a:rPr lang="en-US" sz="3200" b="1" i="0" u="none" strike="noStrike" dirty="0">
                  <a:solidFill>
                    <a:srgbClr val="000000"/>
                  </a:solidFill>
                  <a:latin typeface="Pretendard Bold"/>
                  <a:ea typeface="Pretendard Bold"/>
                  <a:cs typeface="Arial"/>
                </a:rPr>
                <a:t>Assume Breach)</a:t>
              </a:r>
              <a:endParaRPr lang="ko-KR" altLang="en-US" sz="3200" b="1" dirty="0">
                <a:latin typeface="Pretendard Bold"/>
                <a:ea typeface="Pretendard Bold"/>
                <a:cs typeface="Arial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6EF9D2-8B14-34E4-2337-CE3ECE48ED40}"/>
                </a:ext>
              </a:extLst>
            </p:cNvPr>
            <p:cNvSpPr txBox="1"/>
            <p:nvPr/>
          </p:nvSpPr>
          <p:spPr>
            <a:xfrm>
              <a:off x="12206570" y="10360124"/>
              <a:ext cx="10966404" cy="91409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네트워크가 이미 침해되었다고 가정하고</a:t>
              </a:r>
              <a:r>
                <a:rPr lang="en-US" altLang="ko-KR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, </a:t>
              </a:r>
              <a:r>
                <a:rPr lang="ko-KR" alt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네트워크 분할로 피해 범위를 최소화하며</a:t>
              </a:r>
              <a:r>
                <a:rPr lang="en-US" altLang="ko-KR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, </a:t>
              </a:r>
              <a:r>
                <a:rPr lang="ko-KR" alt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위협 탐지 및 대응 자동화 체계 구축</a:t>
              </a:r>
              <a:endParaRPr lang="ko-KR" altLang="en-US" sz="2670" dirty="0">
                <a:latin typeface="Pretendard Medium"/>
                <a:ea typeface="Pretendard Medium"/>
              </a:endParaRPr>
            </a:p>
          </p:txBody>
        </p:sp>
        <p:pic>
          <p:nvPicPr>
            <p:cNvPr id="52" name="Picture 12">
              <a:extLst>
                <a:ext uri="{FF2B5EF4-FFF2-40B4-BE49-F238E27FC236}">
                  <a16:creationId xmlns:a16="http://schemas.microsoft.com/office/drawing/2014/main" id="{ED3B1D9A-4EF4-2C7A-7016-75E11D4FE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85000"/>
            </a:blip>
            <a:stretch>
              <a:fillRect/>
            </a:stretch>
          </p:blipFill>
          <p:spPr>
            <a:xfrm>
              <a:off x="12202132" y="9693819"/>
              <a:ext cx="1435100" cy="472659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2E96D3A-0773-F1E1-2699-716596E570A2}"/>
                </a:ext>
              </a:extLst>
            </p:cNvPr>
            <p:cNvSpPr txBox="1"/>
            <p:nvPr/>
          </p:nvSpPr>
          <p:spPr>
            <a:xfrm>
              <a:off x="12415760" y="9682313"/>
              <a:ext cx="1078676" cy="5032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ko-KR" altLang="en-US" sz="2670" b="0" i="0" u="none" strike="noStrike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원칙 </a:t>
              </a:r>
              <a:r>
                <a:rPr lang="en-US" altLang="ko-KR" sz="2670" dirty="0">
                  <a:solidFill>
                    <a:srgbClr val="333333"/>
                  </a:solidFill>
                  <a:latin typeface="Pretendard Medium"/>
                  <a:ea typeface="Pretendard Medium"/>
                  <a:cs typeface="Noto Sans KR"/>
                </a:rPr>
                <a:t>3</a:t>
              </a:r>
              <a:endParaRPr lang="ko-KR" altLang="en-US" sz="2670" dirty="0">
                <a:latin typeface="Pretendard Medium"/>
                <a:ea typeface="Pretendard Medium"/>
              </a:endParaRPr>
            </a:p>
          </p:txBody>
        </p:sp>
      </p:grpSp>
      <p:pic>
        <p:nvPicPr>
          <p:cNvPr id="30" name="Google Shape;86;p13" descr="image.png">
            <a:extLst>
              <a:ext uri="{FF2B5EF4-FFF2-40B4-BE49-F238E27FC236}">
                <a16:creationId xmlns:a16="http://schemas.microsoft.com/office/drawing/2014/main" id="{945054CD-AF76-3ABE-C0A3-C4405BFED7C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07222" y="7454218"/>
            <a:ext cx="1353079" cy="135307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88;p13">
            <a:extLst>
              <a:ext uri="{FF2B5EF4-FFF2-40B4-BE49-F238E27FC236}">
                <a16:creationId xmlns:a16="http://schemas.microsoft.com/office/drawing/2014/main" id="{AF892EBA-539D-6517-9144-B3A8DBD0CCF6}"/>
              </a:ext>
            </a:extLst>
          </p:cNvPr>
          <p:cNvSpPr txBox="1"/>
          <p:nvPr/>
        </p:nvSpPr>
        <p:spPr>
          <a:xfrm>
            <a:off x="4493920" y="5444111"/>
            <a:ext cx="26049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1A1A1A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식별자</a:t>
            </a:r>
            <a:endParaRPr sz="2800" dirty="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38" name="Google Shape;90;p13">
            <a:extLst>
              <a:ext uri="{FF2B5EF4-FFF2-40B4-BE49-F238E27FC236}">
                <a16:creationId xmlns:a16="http://schemas.microsoft.com/office/drawing/2014/main" id="{C70574CD-148F-5FC4-58ED-C3D3803890C0}"/>
              </a:ext>
            </a:extLst>
          </p:cNvPr>
          <p:cNvSpPr txBox="1"/>
          <p:nvPr/>
        </p:nvSpPr>
        <p:spPr>
          <a:xfrm>
            <a:off x="8086038" y="7966106"/>
            <a:ext cx="209727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1A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기기</a:t>
            </a:r>
            <a:endParaRPr sz="280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49" name="Google Shape;92;p13">
            <a:extLst>
              <a:ext uri="{FF2B5EF4-FFF2-40B4-BE49-F238E27FC236}">
                <a16:creationId xmlns:a16="http://schemas.microsoft.com/office/drawing/2014/main" id="{08932A9C-860C-9A9F-D8F0-27EE5FE56BD4}"/>
              </a:ext>
            </a:extLst>
          </p:cNvPr>
          <p:cNvSpPr txBox="1"/>
          <p:nvPr/>
        </p:nvSpPr>
        <p:spPr>
          <a:xfrm>
            <a:off x="6375734" y="11435215"/>
            <a:ext cx="304442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1A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네트워크</a:t>
            </a:r>
            <a:endParaRPr sz="280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57" name="Google Shape;94;p13">
            <a:extLst>
              <a:ext uri="{FF2B5EF4-FFF2-40B4-BE49-F238E27FC236}">
                <a16:creationId xmlns:a16="http://schemas.microsoft.com/office/drawing/2014/main" id="{EDEC43E0-F73A-420F-2573-381F9BA284BF}"/>
              </a:ext>
            </a:extLst>
          </p:cNvPr>
          <p:cNvSpPr txBox="1"/>
          <p:nvPr/>
        </p:nvSpPr>
        <p:spPr>
          <a:xfrm>
            <a:off x="2443325" y="11435170"/>
            <a:ext cx="304442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1A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애플리케이션</a:t>
            </a:r>
            <a:endParaRPr sz="280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59" name="Google Shape;96;p13">
            <a:extLst>
              <a:ext uri="{FF2B5EF4-FFF2-40B4-BE49-F238E27FC236}">
                <a16:creationId xmlns:a16="http://schemas.microsoft.com/office/drawing/2014/main" id="{AEC80338-C34B-67EF-F908-86C72BB0BE86}"/>
              </a:ext>
            </a:extLst>
          </p:cNvPr>
          <p:cNvSpPr txBox="1"/>
          <p:nvPr/>
        </p:nvSpPr>
        <p:spPr>
          <a:xfrm>
            <a:off x="1434841" y="7966085"/>
            <a:ext cx="204666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1A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데이터</a:t>
            </a:r>
            <a:endParaRPr sz="280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pic>
        <p:nvPicPr>
          <p:cNvPr id="61" name="Google Shape;98;p13" descr="image.png">
            <a:extLst>
              <a:ext uri="{FF2B5EF4-FFF2-40B4-BE49-F238E27FC236}">
                <a16:creationId xmlns:a16="http://schemas.microsoft.com/office/drawing/2014/main" id="{A9D86E5C-9BFB-154C-828D-AA8090BA2EA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38688" y="6883643"/>
            <a:ext cx="591972" cy="473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99;p13" descr="image.png">
            <a:extLst>
              <a:ext uri="{FF2B5EF4-FFF2-40B4-BE49-F238E27FC236}">
                <a16:creationId xmlns:a16="http://schemas.microsoft.com/office/drawing/2014/main" id="{E55BAC7E-D939-D852-85AA-53C4A047C3B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01961" y="10352751"/>
            <a:ext cx="591972" cy="473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100;p13" descr="image.png">
            <a:extLst>
              <a:ext uri="{FF2B5EF4-FFF2-40B4-BE49-F238E27FC236}">
                <a16:creationId xmlns:a16="http://schemas.microsoft.com/office/drawing/2014/main" id="{913EB7B6-FB1B-1A7D-89C1-2740D92F54D0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694924" y="10352707"/>
            <a:ext cx="541232" cy="473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101;p13" descr="image.png">
            <a:extLst>
              <a:ext uri="{FF2B5EF4-FFF2-40B4-BE49-F238E27FC236}">
                <a16:creationId xmlns:a16="http://schemas.microsoft.com/office/drawing/2014/main" id="{4A8E8E33-9E3F-00D9-4A5C-16A0EEC5572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246688" y="6883622"/>
            <a:ext cx="422837" cy="47357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타원 70">
            <a:extLst>
              <a:ext uri="{FF2B5EF4-FFF2-40B4-BE49-F238E27FC236}">
                <a16:creationId xmlns:a16="http://schemas.microsoft.com/office/drawing/2014/main" id="{34828D5E-45BA-56D5-C446-70893E1EEE09}"/>
              </a:ext>
            </a:extLst>
          </p:cNvPr>
          <p:cNvSpPr/>
          <p:nvPr/>
        </p:nvSpPr>
        <p:spPr>
          <a:xfrm>
            <a:off x="5176430" y="4005237"/>
            <a:ext cx="1199304" cy="1225936"/>
          </a:xfrm>
          <a:prstGeom prst="ellipse">
            <a:avLst/>
          </a:prstGeom>
          <a:solidFill>
            <a:srgbClr val="8EB4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Google Shape;97;p13" descr="image.png">
            <a:extLst>
              <a:ext uri="{FF2B5EF4-FFF2-40B4-BE49-F238E27FC236}">
                <a16:creationId xmlns:a16="http://schemas.microsoft.com/office/drawing/2014/main" id="{8384F551-48A2-4A4C-487A-F7250777F2B5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500272" y="4361647"/>
            <a:ext cx="591972" cy="47357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Box 14">
            <a:extLst>
              <a:ext uri="{FF2B5EF4-FFF2-40B4-BE49-F238E27FC236}">
                <a16:creationId xmlns:a16="http://schemas.microsoft.com/office/drawing/2014/main" id="{72CA6CD7-237F-1A72-F319-B37BD843CDF6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29D713D3-59F8-8B19-1832-AE8D83BE7D3B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9FFC4986-0550-31B6-F70B-B20B0E856DBC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31" name="TextBox 16">
            <a:extLst>
              <a:ext uri="{FF2B5EF4-FFF2-40B4-BE49-F238E27FC236}">
                <a16:creationId xmlns:a16="http://schemas.microsoft.com/office/drawing/2014/main" id="{37C2D8D7-5732-77F9-A5DD-22F8EDAE6C41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ACA9148D-68E8-8221-E249-55B3F8F7E076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7CB6AFFA-1862-65EC-1003-6E0FD22B57D2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F816C960-F266-69C0-F95E-EB0F34A5D8CC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  <p:extLst>
      <p:ext uri="{BB962C8B-B14F-4D97-AF65-F5344CB8AC3E}">
        <p14:creationId xmlns:p14="http://schemas.microsoft.com/office/powerpoint/2010/main" val="21191627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1FAEB-7CDB-6504-1C2F-21401FD7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Picture 26">
            <a:extLst>
              <a:ext uri="{FF2B5EF4-FFF2-40B4-BE49-F238E27FC236}">
                <a16:creationId xmlns:a16="http://schemas.microsoft.com/office/drawing/2014/main" id="{9166CB23-4461-5995-C73D-1F035F3B7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8095" y="7121736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56" name="Picture 26">
            <a:extLst>
              <a:ext uri="{FF2B5EF4-FFF2-40B4-BE49-F238E27FC236}">
                <a16:creationId xmlns:a16="http://schemas.microsoft.com/office/drawing/2014/main" id="{BCBD511A-566B-9800-CA6F-5578D8281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0141" y="7102673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57" name="Picture 26">
            <a:extLst>
              <a:ext uri="{FF2B5EF4-FFF2-40B4-BE49-F238E27FC236}">
                <a16:creationId xmlns:a16="http://schemas.microsoft.com/office/drawing/2014/main" id="{8499F49D-E2E6-BC92-897D-7E09BD832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6720" y="7102673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54" name="Picture 26">
            <a:extLst>
              <a:ext uri="{FF2B5EF4-FFF2-40B4-BE49-F238E27FC236}">
                <a16:creationId xmlns:a16="http://schemas.microsoft.com/office/drawing/2014/main" id="{94F9D0B0-9185-F1B7-7A1A-0628835EB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802" y="7121736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53" name="Picture 26">
            <a:extLst>
              <a:ext uri="{FF2B5EF4-FFF2-40B4-BE49-F238E27FC236}">
                <a16:creationId xmlns:a16="http://schemas.microsoft.com/office/drawing/2014/main" id="{046AA62C-8D41-05AC-233A-182B5497A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506" y="7102673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5EEA898-6D30-A496-EC48-4BD8F93720A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08A229B-AC80-9895-F1C6-B672C8DF1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FE97992-65DF-7EDA-9BBB-E0E358E93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B292C66-862D-0F05-F8B4-8CE8FE7241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6526FB0-1650-0C3C-5A2B-CB61875FF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DAD2CCD-EB3E-7EE7-157F-7F268D2D7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B4E3892-8C90-E72D-9D14-5D480C2247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9E476A5A-1773-02B4-522F-0847D551CFE4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79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9BFF4E2-49A8-560F-1C76-2CA33BBDC5EE}"/>
              </a:ext>
            </a:extLst>
          </p:cNvPr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보안 대책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1B2DB5B-3B78-9AD3-4F12-C44FAE1C915A}"/>
              </a:ext>
            </a:extLst>
          </p:cNvPr>
          <p:cNvSpPr txBox="1"/>
          <p:nvPr/>
        </p:nvSpPr>
        <p:spPr>
          <a:xfrm>
            <a:off x="1943100" y="2774783"/>
            <a:ext cx="91440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Zero Trust </a:t>
            </a:r>
            <a:r>
              <a:rPr lang="en-US" sz="3857" b="1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기반</a:t>
            </a:r>
            <a:r>
              <a:rPr 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857" b="1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설계</a:t>
            </a:r>
            <a:r>
              <a:rPr 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ko-KR" alt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공급망 공격</a:t>
            </a:r>
            <a:endParaRPr lang="en-US" sz="3857" b="1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02" name="Google Shape;94;p13" descr="image.png">
            <a:extLst>
              <a:ext uri="{FF2B5EF4-FFF2-40B4-BE49-F238E27FC236}">
                <a16:creationId xmlns:a16="http://schemas.microsoft.com/office/drawing/2014/main" id="{39D48BD4-B99E-7898-B207-FDA9B31A0C8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81096" y="4242605"/>
            <a:ext cx="627379" cy="68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96;p13">
            <a:extLst>
              <a:ext uri="{FF2B5EF4-FFF2-40B4-BE49-F238E27FC236}">
                <a16:creationId xmlns:a16="http://schemas.microsoft.com/office/drawing/2014/main" id="{4FBEBE31-BAB2-A640-2E7A-A3335FD6A101}"/>
              </a:ext>
            </a:extLst>
          </p:cNvPr>
          <p:cNvSpPr txBox="1"/>
          <p:nvPr/>
        </p:nvSpPr>
        <p:spPr>
          <a:xfrm>
            <a:off x="2288632" y="8206991"/>
            <a:ext cx="32864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마이크로</a:t>
            </a: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세그멘테이션</a:t>
            </a:r>
            <a:endParaRPr sz="2800" b="1" dirty="0">
              <a:solidFill>
                <a:srgbClr val="000000"/>
              </a:solidFill>
              <a:latin typeface="Pretendard Bold"/>
              <a:ea typeface="Pretendard Bold"/>
              <a:cs typeface="Arial"/>
            </a:endParaRPr>
          </a:p>
        </p:txBody>
      </p:sp>
      <p:sp>
        <p:nvSpPr>
          <p:cNvPr id="305" name="Google Shape;97;p13">
            <a:extLst>
              <a:ext uri="{FF2B5EF4-FFF2-40B4-BE49-F238E27FC236}">
                <a16:creationId xmlns:a16="http://schemas.microsoft.com/office/drawing/2014/main" id="{C04ECD1E-B6F1-A121-9FBE-8B529749382D}"/>
              </a:ext>
            </a:extLst>
          </p:cNvPr>
          <p:cNvSpPr txBox="1"/>
          <p:nvPr/>
        </p:nvSpPr>
        <p:spPr>
          <a:xfrm>
            <a:off x="2303849" y="9054333"/>
            <a:ext cx="312988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포트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631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외부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노출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차단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내부망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이동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경로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통제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</a:endParaRPr>
          </a:p>
        </p:txBody>
      </p:sp>
      <p:pic>
        <p:nvPicPr>
          <p:cNvPr id="306" name="Google Shape;98;p13" descr="image.png">
            <a:extLst>
              <a:ext uri="{FF2B5EF4-FFF2-40B4-BE49-F238E27FC236}">
                <a16:creationId xmlns:a16="http://schemas.microsoft.com/office/drawing/2014/main" id="{5EF4B04B-FA77-B1D7-A0E7-2B92F110B0D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92704" y="4242631"/>
            <a:ext cx="784223" cy="68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100;p13">
            <a:extLst>
              <a:ext uri="{FF2B5EF4-FFF2-40B4-BE49-F238E27FC236}">
                <a16:creationId xmlns:a16="http://schemas.microsoft.com/office/drawing/2014/main" id="{5DDD5EBC-F1D6-1EF8-F580-99EC6A50288A}"/>
              </a:ext>
            </a:extLst>
          </p:cNvPr>
          <p:cNvSpPr txBox="1"/>
          <p:nvPr/>
        </p:nvSpPr>
        <p:spPr>
          <a:xfrm>
            <a:off x="6543892" y="8190612"/>
            <a:ext cx="3286443" cy="43088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엔드포인트</a:t>
            </a: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무결성</a:t>
            </a:r>
            <a:endParaRPr sz="2800" b="1" dirty="0">
              <a:solidFill>
                <a:srgbClr val="000000"/>
              </a:solidFill>
              <a:latin typeface="Pretendard Bold"/>
              <a:ea typeface="Pretendard Bold"/>
              <a:cs typeface="Arial"/>
            </a:endParaRPr>
          </a:p>
        </p:txBody>
      </p:sp>
      <p:sp>
        <p:nvSpPr>
          <p:cNvPr id="309" name="Google Shape;101;p13">
            <a:extLst>
              <a:ext uri="{FF2B5EF4-FFF2-40B4-BE49-F238E27FC236}">
                <a16:creationId xmlns:a16="http://schemas.microsoft.com/office/drawing/2014/main" id="{A0089169-823F-8ADA-DADF-796B55D28536}"/>
              </a:ext>
            </a:extLst>
          </p:cNvPr>
          <p:cNvSpPr txBox="1"/>
          <p:nvPr/>
        </p:nvSpPr>
        <p:spPr>
          <a:xfrm>
            <a:off x="6574707" y="8970978"/>
            <a:ext cx="31298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EDR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도입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파일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무결성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검증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애플리케이션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실행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제어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</a:endParaRPr>
          </a:p>
        </p:txBody>
      </p:sp>
      <p:pic>
        <p:nvPicPr>
          <p:cNvPr id="310" name="Google Shape;102;p13" descr="image.png">
            <a:extLst>
              <a:ext uri="{FF2B5EF4-FFF2-40B4-BE49-F238E27FC236}">
                <a16:creationId xmlns:a16="http://schemas.microsoft.com/office/drawing/2014/main" id="{7433B96D-1238-30EF-1C2A-E255FBE3EA8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061186" y="4242605"/>
            <a:ext cx="627379" cy="68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103;p13">
            <a:extLst>
              <a:ext uri="{FF2B5EF4-FFF2-40B4-BE49-F238E27FC236}">
                <a16:creationId xmlns:a16="http://schemas.microsoft.com/office/drawing/2014/main" id="{B91C3CF2-B935-6A56-A190-EB4CB790668F}"/>
              </a:ext>
            </a:extLst>
          </p:cNvPr>
          <p:cNvSpPr txBox="1"/>
          <p:nvPr/>
        </p:nvSpPr>
        <p:spPr>
          <a:xfrm>
            <a:off x="10807706" y="8206991"/>
            <a:ext cx="328635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브라우저·단말</a:t>
            </a: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보호</a:t>
            </a: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 </a:t>
            </a:r>
            <a:endParaRPr sz="2800" b="1" dirty="0">
              <a:solidFill>
                <a:srgbClr val="000000"/>
              </a:solidFill>
              <a:latin typeface="Pretendard Bold"/>
              <a:ea typeface="Pretendard Bold"/>
              <a:cs typeface="Arial"/>
            </a:endParaRPr>
          </a:p>
        </p:txBody>
      </p:sp>
      <p:sp>
        <p:nvSpPr>
          <p:cNvPr id="312" name="Google Shape;104;p13">
            <a:extLst>
              <a:ext uri="{FF2B5EF4-FFF2-40B4-BE49-F238E27FC236}">
                <a16:creationId xmlns:a16="http://schemas.microsoft.com/office/drawing/2014/main" id="{CA23735B-0AAF-1B64-2967-2AA6AE05128D}"/>
              </a:ext>
            </a:extLst>
          </p:cNvPr>
          <p:cNvSpPr txBox="1"/>
          <p:nvPr/>
        </p:nvSpPr>
        <p:spPr>
          <a:xfrm>
            <a:off x="10865468" y="8953128"/>
            <a:ext cx="31298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브라우저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격리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패치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관리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EDR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행위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탐지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</a:endParaRPr>
          </a:p>
        </p:txBody>
      </p:sp>
      <p:pic>
        <p:nvPicPr>
          <p:cNvPr id="313" name="Google Shape;105;p13" descr="image.png">
            <a:extLst>
              <a:ext uri="{FF2B5EF4-FFF2-40B4-BE49-F238E27FC236}">
                <a16:creationId xmlns:a16="http://schemas.microsoft.com/office/drawing/2014/main" id="{5AB3B46F-063A-16BB-2935-B6217C463A6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230600" y="4191592"/>
            <a:ext cx="784223" cy="68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107;p13">
            <a:extLst>
              <a:ext uri="{FF2B5EF4-FFF2-40B4-BE49-F238E27FC236}">
                <a16:creationId xmlns:a16="http://schemas.microsoft.com/office/drawing/2014/main" id="{EF6C7A3C-833F-04BC-3561-148576AA181F}"/>
              </a:ext>
            </a:extLst>
          </p:cNvPr>
          <p:cNvSpPr txBox="1"/>
          <p:nvPr/>
        </p:nvSpPr>
        <p:spPr>
          <a:xfrm>
            <a:off x="15095554" y="8206991"/>
            <a:ext cx="32864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SBOM &amp; </a:t>
            </a: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파이프라인</a:t>
            </a:r>
            <a:endParaRPr sz="2800" b="1" dirty="0">
              <a:solidFill>
                <a:srgbClr val="000000"/>
              </a:solidFill>
              <a:latin typeface="Pretendard Bold"/>
              <a:ea typeface="Pretendard Bold"/>
              <a:cs typeface="Arial"/>
            </a:endParaRPr>
          </a:p>
        </p:txBody>
      </p:sp>
      <p:sp>
        <p:nvSpPr>
          <p:cNvPr id="316" name="Google Shape;108;p13">
            <a:extLst>
              <a:ext uri="{FF2B5EF4-FFF2-40B4-BE49-F238E27FC236}">
                <a16:creationId xmlns:a16="http://schemas.microsoft.com/office/drawing/2014/main" id="{2FEC17FB-D0C1-C0E9-18D5-1842F28F598C}"/>
              </a:ext>
            </a:extLst>
          </p:cNvPr>
          <p:cNvSpPr txBox="1"/>
          <p:nvPr/>
        </p:nvSpPr>
        <p:spPr>
          <a:xfrm>
            <a:off x="15127304" y="8970978"/>
            <a:ext cx="31298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SBOM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관리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아티팩트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서명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빌드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변경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승인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파이프라인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최소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권한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</a:endParaRPr>
          </a:p>
        </p:txBody>
      </p:sp>
      <p:pic>
        <p:nvPicPr>
          <p:cNvPr id="317" name="Google Shape;109;p13" descr="image.png">
            <a:extLst>
              <a:ext uri="{FF2B5EF4-FFF2-40B4-BE49-F238E27FC236}">
                <a16:creationId xmlns:a16="http://schemas.microsoft.com/office/drawing/2014/main" id="{2387EA83-27E9-D3F3-32B4-E299E937BB7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0673893" y="4152900"/>
            <a:ext cx="548957" cy="68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111;p13">
            <a:extLst>
              <a:ext uri="{FF2B5EF4-FFF2-40B4-BE49-F238E27FC236}">
                <a16:creationId xmlns:a16="http://schemas.microsoft.com/office/drawing/2014/main" id="{C0418B5E-693D-4093-3CD9-CBF4E91E3326}"/>
              </a:ext>
            </a:extLst>
          </p:cNvPr>
          <p:cNvSpPr txBox="1"/>
          <p:nvPr/>
        </p:nvSpPr>
        <p:spPr>
          <a:xfrm>
            <a:off x="19383400" y="8206991"/>
            <a:ext cx="32864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데이터</a:t>
            </a: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보호</a:t>
            </a: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 및 </a:t>
            </a: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탐지</a:t>
            </a:r>
            <a:endParaRPr sz="2800" b="1" dirty="0">
              <a:solidFill>
                <a:srgbClr val="000000"/>
              </a:solidFill>
              <a:latin typeface="Pretendard Bold"/>
              <a:ea typeface="Pretendard Bold"/>
              <a:cs typeface="Arial"/>
            </a:endParaRPr>
          </a:p>
        </p:txBody>
      </p:sp>
      <p:sp>
        <p:nvSpPr>
          <p:cNvPr id="320" name="Google Shape;112;p13">
            <a:extLst>
              <a:ext uri="{FF2B5EF4-FFF2-40B4-BE49-F238E27FC236}">
                <a16:creationId xmlns:a16="http://schemas.microsoft.com/office/drawing/2014/main" id="{C820A6B2-FAFA-4963-DADB-DB81754690B4}"/>
              </a:ext>
            </a:extLst>
          </p:cNvPr>
          <p:cNvSpPr txBox="1"/>
          <p:nvPr/>
        </p:nvSpPr>
        <p:spPr>
          <a:xfrm>
            <a:off x="19383400" y="8970978"/>
            <a:ext cx="31298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DLP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데이터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암호화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  <a:sym typeface="Noto Sans KR"/>
            </a:endParaRPr>
          </a:p>
          <a:p>
            <a:pPr marR="0" lvl="0" inden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이상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행위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기반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반출</a:t>
            </a:r>
            <a:r>
              <a:rPr lang="en-US" sz="2000" dirty="0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retendard Medium" panose="020B0604020202020204" charset="-127"/>
                <a:ea typeface="Pretendard Medium" panose="020B0604020202020204" charset="-127"/>
                <a:cs typeface="Arial"/>
                <a:sym typeface="Noto Sans KR"/>
              </a:rPr>
              <a:t>차단</a:t>
            </a:r>
            <a:endParaRPr sz="2000" dirty="0">
              <a:solidFill>
                <a:srgbClr val="000000"/>
              </a:solidFill>
              <a:latin typeface="Pretendard Medium" panose="020B0604020202020204" charset="-127"/>
              <a:ea typeface="Pretendard Medium" panose="020B0604020202020204" charset="-127"/>
              <a:cs typeface="Arial"/>
            </a:endParaRPr>
          </a:p>
        </p:txBody>
      </p:sp>
      <p:pic>
        <p:nvPicPr>
          <p:cNvPr id="321" name="Google Shape;115;p13" descr="image.png">
            <a:extLst>
              <a:ext uri="{FF2B5EF4-FFF2-40B4-BE49-F238E27FC236}">
                <a16:creationId xmlns:a16="http://schemas.microsoft.com/office/drawing/2014/main" id="{1F6EB28B-F552-0701-364A-F38702ACBD2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470221" y="4382147"/>
            <a:ext cx="933790" cy="41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116;p13" descr="image.png">
            <a:extLst>
              <a:ext uri="{FF2B5EF4-FFF2-40B4-BE49-F238E27FC236}">
                <a16:creationId xmlns:a16="http://schemas.microsoft.com/office/drawing/2014/main" id="{FF3A2EE9-B7E2-0561-5944-D7A83C83F37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820629" y="4382147"/>
            <a:ext cx="933790" cy="41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117;p13" descr="image.png">
            <a:extLst>
              <a:ext uri="{FF2B5EF4-FFF2-40B4-BE49-F238E27FC236}">
                <a16:creationId xmlns:a16="http://schemas.microsoft.com/office/drawing/2014/main" id="{875CF6E3-B08A-BDC3-8EA0-1F3B1A0B34B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995356" y="4382201"/>
            <a:ext cx="933790" cy="41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118;p13" descr="image.png">
            <a:extLst>
              <a:ext uri="{FF2B5EF4-FFF2-40B4-BE49-F238E27FC236}">
                <a16:creationId xmlns:a16="http://schemas.microsoft.com/office/drawing/2014/main" id="{54CDB179-7512-55D1-A009-D5A5A46358B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8337112" y="4382173"/>
            <a:ext cx="933790" cy="41066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119;p13">
            <a:extLst>
              <a:ext uri="{FF2B5EF4-FFF2-40B4-BE49-F238E27FC236}">
                <a16:creationId xmlns:a16="http://schemas.microsoft.com/office/drawing/2014/main" id="{F234E50A-8BC3-21A6-569D-41E6B46F699B}"/>
              </a:ext>
            </a:extLst>
          </p:cNvPr>
          <p:cNvSpPr/>
          <p:nvPr/>
        </p:nvSpPr>
        <p:spPr>
          <a:xfrm>
            <a:off x="3813335" y="6336276"/>
            <a:ext cx="37646" cy="821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120;p13">
            <a:extLst>
              <a:ext uri="{FF2B5EF4-FFF2-40B4-BE49-F238E27FC236}">
                <a16:creationId xmlns:a16="http://schemas.microsoft.com/office/drawing/2014/main" id="{3A403619-B368-A7FC-2739-6EE9A0188A39}"/>
              </a:ext>
            </a:extLst>
          </p:cNvPr>
          <p:cNvSpPr/>
          <p:nvPr/>
        </p:nvSpPr>
        <p:spPr>
          <a:xfrm>
            <a:off x="8095466" y="6336293"/>
            <a:ext cx="37646" cy="821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121;p13">
            <a:extLst>
              <a:ext uri="{FF2B5EF4-FFF2-40B4-BE49-F238E27FC236}">
                <a16:creationId xmlns:a16="http://schemas.microsoft.com/office/drawing/2014/main" id="{F402BCDF-81FA-122B-8D8E-95B9CE4C4C31}"/>
              </a:ext>
            </a:extLst>
          </p:cNvPr>
          <p:cNvSpPr/>
          <p:nvPr/>
        </p:nvSpPr>
        <p:spPr>
          <a:xfrm>
            <a:off x="12389782" y="6317225"/>
            <a:ext cx="45719" cy="83997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122;p13">
            <a:extLst>
              <a:ext uri="{FF2B5EF4-FFF2-40B4-BE49-F238E27FC236}">
                <a16:creationId xmlns:a16="http://schemas.microsoft.com/office/drawing/2014/main" id="{19704BB2-E82A-CE90-9712-1634B9F7216C}"/>
              </a:ext>
            </a:extLst>
          </p:cNvPr>
          <p:cNvSpPr/>
          <p:nvPr/>
        </p:nvSpPr>
        <p:spPr>
          <a:xfrm>
            <a:off x="16693149" y="6336304"/>
            <a:ext cx="37646" cy="821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123;p13">
            <a:extLst>
              <a:ext uri="{FF2B5EF4-FFF2-40B4-BE49-F238E27FC236}">
                <a16:creationId xmlns:a16="http://schemas.microsoft.com/office/drawing/2014/main" id="{C98496CF-0092-3945-8987-D4895EF5A9C2}"/>
              </a:ext>
            </a:extLst>
          </p:cNvPr>
          <p:cNvSpPr/>
          <p:nvPr/>
        </p:nvSpPr>
        <p:spPr>
          <a:xfrm>
            <a:off x="20967296" y="6336304"/>
            <a:ext cx="37646" cy="821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사각형: 둥근 모서리 335">
            <a:extLst>
              <a:ext uri="{FF2B5EF4-FFF2-40B4-BE49-F238E27FC236}">
                <a16:creationId xmlns:a16="http://schemas.microsoft.com/office/drawing/2014/main" id="{FB212145-CBFD-44B1-3C2E-FAF6C88E3551}"/>
              </a:ext>
            </a:extLst>
          </p:cNvPr>
          <p:cNvSpPr/>
          <p:nvPr/>
        </p:nvSpPr>
        <p:spPr>
          <a:xfrm>
            <a:off x="10424943" y="5236118"/>
            <a:ext cx="3773657" cy="1095358"/>
          </a:xfrm>
          <a:prstGeom prst="roundRect">
            <a:avLst/>
          </a:prstGeom>
          <a:solidFill>
            <a:srgbClr val="3A7DC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Zimbra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 </a:t>
            </a:r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+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 </a:t>
            </a:r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Chrome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 체인</a:t>
            </a:r>
          </a:p>
        </p:txBody>
      </p:sp>
      <p:sp>
        <p:nvSpPr>
          <p:cNvPr id="337" name="사각형: 둥근 모서리 336">
            <a:extLst>
              <a:ext uri="{FF2B5EF4-FFF2-40B4-BE49-F238E27FC236}">
                <a16:creationId xmlns:a16="http://schemas.microsoft.com/office/drawing/2014/main" id="{4AB2696A-80DD-6475-3C23-AAF89DD943F2}"/>
              </a:ext>
            </a:extLst>
          </p:cNvPr>
          <p:cNvSpPr/>
          <p:nvPr/>
        </p:nvSpPr>
        <p:spPr>
          <a:xfrm>
            <a:off x="1926506" y="5233210"/>
            <a:ext cx="3773657" cy="109535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CUPS 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초기 침투</a:t>
            </a:r>
          </a:p>
        </p:txBody>
      </p:sp>
      <p:sp>
        <p:nvSpPr>
          <p:cNvPr id="338" name="사각형: 둥근 모서리 337">
            <a:extLst>
              <a:ext uri="{FF2B5EF4-FFF2-40B4-BE49-F238E27FC236}">
                <a16:creationId xmlns:a16="http://schemas.microsoft.com/office/drawing/2014/main" id="{CE2AE12A-BAAC-6AEC-1FE7-80C222CEE6E6}"/>
              </a:ext>
            </a:extLst>
          </p:cNvPr>
          <p:cNvSpPr/>
          <p:nvPr/>
        </p:nvSpPr>
        <p:spPr>
          <a:xfrm>
            <a:off x="6142222" y="5246012"/>
            <a:ext cx="3773657" cy="1095358"/>
          </a:xfrm>
          <a:prstGeom prst="roundRect">
            <a:avLst/>
          </a:prstGeom>
          <a:solidFill>
            <a:srgbClr val="6FA0D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>
                <a:latin typeface="Pretendard Bold" panose="020B0604020202020204" charset="-127"/>
                <a:ea typeface="Pretendard Bold" panose="020B0604020202020204" charset="-127"/>
              </a:rPr>
              <a:t>WingFTP</a:t>
            </a:r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 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→ 관리자 </a:t>
            </a:r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PC</a:t>
            </a:r>
            <a:endParaRPr lang="ko-KR" altLang="en-US" sz="2000" dirty="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339" name="사각형: 둥근 모서리 338">
            <a:extLst>
              <a:ext uri="{FF2B5EF4-FFF2-40B4-BE49-F238E27FC236}">
                <a16:creationId xmlns:a16="http://schemas.microsoft.com/office/drawing/2014/main" id="{1421E264-2AA8-9195-5566-FDCB9E19BF29}"/>
              </a:ext>
            </a:extLst>
          </p:cNvPr>
          <p:cNvSpPr/>
          <p:nvPr/>
        </p:nvSpPr>
        <p:spPr>
          <a:xfrm>
            <a:off x="14747037" y="5246012"/>
            <a:ext cx="3773657" cy="1095358"/>
          </a:xfrm>
          <a:prstGeom prst="roundRect">
            <a:avLst/>
          </a:prstGeom>
          <a:solidFill>
            <a:srgbClr val="2E6EB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Jenkins 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악성 빌드</a:t>
            </a:r>
          </a:p>
        </p:txBody>
      </p:sp>
      <p:sp>
        <p:nvSpPr>
          <p:cNvPr id="340" name="사각형: 둥근 모서리 339">
            <a:extLst>
              <a:ext uri="{FF2B5EF4-FFF2-40B4-BE49-F238E27FC236}">
                <a16:creationId xmlns:a16="http://schemas.microsoft.com/office/drawing/2014/main" id="{FF00422D-8563-37B7-B71E-E1BC635E2774}"/>
              </a:ext>
            </a:extLst>
          </p:cNvPr>
          <p:cNvSpPr/>
          <p:nvPr/>
        </p:nvSpPr>
        <p:spPr>
          <a:xfrm>
            <a:off x="18988965" y="5233210"/>
            <a:ext cx="3773657" cy="1095358"/>
          </a:xfrm>
          <a:prstGeom prst="roundRect">
            <a:avLst/>
          </a:prstGeom>
          <a:solidFill>
            <a:srgbClr val="005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데이터 탈취</a:t>
            </a:r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/</a:t>
            </a:r>
            <a:r>
              <a:rPr lang="ko-KR" altLang="en-US" sz="2000" dirty="0" err="1">
                <a:latin typeface="Pretendard Bold" panose="020B0604020202020204" charset="-127"/>
                <a:ea typeface="Pretendard Bold" panose="020B0604020202020204" charset="-127"/>
              </a:rPr>
              <a:t>랜섬웨어</a:t>
            </a:r>
            <a:endParaRPr lang="ko-KR" altLang="en-US" sz="2000" dirty="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341" name="사각형: 둥근 모서리 340">
            <a:extLst>
              <a:ext uri="{FF2B5EF4-FFF2-40B4-BE49-F238E27FC236}">
                <a16:creationId xmlns:a16="http://schemas.microsoft.com/office/drawing/2014/main" id="{106A9E5E-40EF-AB72-776D-D0336FBB21E9}"/>
              </a:ext>
            </a:extLst>
          </p:cNvPr>
          <p:cNvSpPr/>
          <p:nvPr/>
        </p:nvSpPr>
        <p:spPr>
          <a:xfrm>
            <a:off x="2291495" y="7482223"/>
            <a:ext cx="1325983" cy="410660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NETWORK</a:t>
            </a:r>
            <a:endParaRPr lang="ko-KR" altLang="en-US" sz="2000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342" name="사각형: 둥근 모서리 341">
            <a:extLst>
              <a:ext uri="{FF2B5EF4-FFF2-40B4-BE49-F238E27FC236}">
                <a16:creationId xmlns:a16="http://schemas.microsoft.com/office/drawing/2014/main" id="{139876B1-249D-9CF7-F7B7-9C11B04FEC52}"/>
              </a:ext>
            </a:extLst>
          </p:cNvPr>
          <p:cNvSpPr/>
          <p:nvPr/>
        </p:nvSpPr>
        <p:spPr>
          <a:xfrm>
            <a:off x="6574707" y="7506857"/>
            <a:ext cx="1049019" cy="361393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DEVICE</a:t>
            </a:r>
            <a:endParaRPr lang="ko-KR" altLang="en-US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9A5EFAF0-2C70-6E95-57D2-DE834C4A13D4}"/>
              </a:ext>
            </a:extLst>
          </p:cNvPr>
          <p:cNvSpPr/>
          <p:nvPr/>
        </p:nvSpPr>
        <p:spPr>
          <a:xfrm>
            <a:off x="15164092" y="7517437"/>
            <a:ext cx="1466331" cy="410660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WORKLOAD</a:t>
            </a:r>
            <a:endParaRPr lang="ko-KR" altLang="en-US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345" name="사각형: 둥근 모서리 344">
            <a:extLst>
              <a:ext uri="{FF2B5EF4-FFF2-40B4-BE49-F238E27FC236}">
                <a16:creationId xmlns:a16="http://schemas.microsoft.com/office/drawing/2014/main" id="{F479F15E-8AE2-E07B-E3FC-3159E190D59A}"/>
              </a:ext>
            </a:extLst>
          </p:cNvPr>
          <p:cNvSpPr/>
          <p:nvPr/>
        </p:nvSpPr>
        <p:spPr>
          <a:xfrm>
            <a:off x="19501919" y="7586307"/>
            <a:ext cx="757227" cy="343682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DATA</a:t>
            </a:r>
            <a:endParaRPr lang="ko-KR" altLang="en-US" sz="1600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346" name="사각형: 둥근 모서리 345">
            <a:extLst>
              <a:ext uri="{FF2B5EF4-FFF2-40B4-BE49-F238E27FC236}">
                <a16:creationId xmlns:a16="http://schemas.microsoft.com/office/drawing/2014/main" id="{BBE67B94-20FC-31BA-AFF3-87F0125C34F9}"/>
              </a:ext>
            </a:extLst>
          </p:cNvPr>
          <p:cNvSpPr/>
          <p:nvPr/>
        </p:nvSpPr>
        <p:spPr>
          <a:xfrm>
            <a:off x="10874481" y="7517437"/>
            <a:ext cx="1049019" cy="361393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DEVICE</a:t>
            </a:r>
            <a:endParaRPr lang="ko-KR" altLang="en-US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B03CC323-BB09-22FD-A171-8D6E15066EBB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2314FADE-E80D-F8AF-70E5-4A58F120084F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528BD80D-87A3-0913-510F-3415DA98FC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FE0677AC-AF34-8318-6995-26510F9414AB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15EBD140-5374-D59C-392F-89ABCBC17527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63A6982E-502C-CE88-5645-6805A1AC0CF8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610A0933-72F4-9F66-E983-046C0083AC48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  <p:extLst>
      <p:ext uri="{BB962C8B-B14F-4D97-AF65-F5344CB8AC3E}">
        <p14:creationId xmlns:p14="http://schemas.microsoft.com/office/powerpoint/2010/main" val="26793594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BB645-6FE7-1F93-1144-FCF7CD884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202182A-26D2-212C-9969-A68EDC4BF0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5A35DF8-75D3-03C9-8A86-2A1E1EC33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A39B3A2-A317-ACFF-1E3B-42D166CD8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FB896CF-BDD2-6825-9AE4-FA9B69FE4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D44BBAB-A57A-6E1A-C9BD-6033211C8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610BA08-3BCA-BB8C-15C7-5E281FC5E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BB2E65A-61EC-4EE9-E521-ADE9FF9D0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45FC3159-2E03-E171-D9BB-DB215E71C122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80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332E8E0-1F86-5ECB-85A7-8BA15A61EA50}"/>
              </a:ext>
            </a:extLst>
          </p:cNvPr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보안 대책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AE738EC-F99B-85C6-0660-D1252DA69EB7}"/>
              </a:ext>
            </a:extLst>
          </p:cNvPr>
          <p:cNvSpPr txBox="1"/>
          <p:nvPr/>
        </p:nvSpPr>
        <p:spPr>
          <a:xfrm>
            <a:off x="1943100" y="2774783"/>
            <a:ext cx="8884468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Zero Trust </a:t>
            </a:r>
            <a:r>
              <a:rPr lang="en-US" sz="3857" b="1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기반</a:t>
            </a:r>
            <a:r>
              <a:rPr 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857" b="1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설계</a:t>
            </a:r>
            <a:r>
              <a:rPr 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– </a:t>
            </a:r>
            <a:r>
              <a:rPr lang="ko-KR" altLang="en-US" sz="3857" b="1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보이스피싱</a:t>
            </a:r>
            <a:endParaRPr lang="en-US" sz="3857" b="1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0" name="Google Shape;140;p14" descr="image.png">
            <a:extLst>
              <a:ext uri="{FF2B5EF4-FFF2-40B4-BE49-F238E27FC236}">
                <a16:creationId xmlns:a16="http://schemas.microsoft.com/office/drawing/2014/main" id="{44A072F2-319D-D504-6DFE-0A23E4829C18}"/>
              </a:ext>
            </a:extLst>
          </p:cNvPr>
          <p:cNvPicPr preferRelativeResize="0"/>
          <p:nvPr/>
        </p:nvPicPr>
        <p:blipFill rotWithShape="1">
          <a:blip r:embed="rId7"/>
          <a:srcRect/>
          <a:stretch/>
        </p:blipFill>
        <p:spPr>
          <a:xfrm>
            <a:off x="3594105" y="4170008"/>
            <a:ext cx="471626" cy="721501"/>
          </a:xfrm>
          <a:prstGeom prst="rect">
            <a:avLst/>
          </a:prstGeom>
        </p:spPr>
      </p:pic>
      <p:pic>
        <p:nvPicPr>
          <p:cNvPr id="290" name="Google Shape;144;p14" descr="image.png">
            <a:extLst>
              <a:ext uri="{FF2B5EF4-FFF2-40B4-BE49-F238E27FC236}">
                <a16:creationId xmlns:a16="http://schemas.microsoft.com/office/drawing/2014/main" id="{7AC0C9D5-81C8-1138-21D8-966B460C12EC}"/>
              </a:ext>
            </a:extLst>
          </p:cNvPr>
          <p:cNvPicPr preferRelativeResize="0"/>
          <p:nvPr/>
        </p:nvPicPr>
        <p:blipFill rotWithShape="1">
          <a:blip r:embed="rId8"/>
          <a:srcRect/>
          <a:stretch/>
        </p:blipFill>
        <p:spPr>
          <a:xfrm>
            <a:off x="7695931" y="4170008"/>
            <a:ext cx="786042" cy="721501"/>
          </a:xfrm>
          <a:prstGeom prst="rect">
            <a:avLst/>
          </a:prstGeom>
        </p:spPr>
      </p:pic>
      <p:pic>
        <p:nvPicPr>
          <p:cNvPr id="334" name="Google Shape;148;p14" descr="image.png">
            <a:extLst>
              <a:ext uri="{FF2B5EF4-FFF2-40B4-BE49-F238E27FC236}">
                <a16:creationId xmlns:a16="http://schemas.microsoft.com/office/drawing/2014/main" id="{127B4AD5-96BC-CEFC-D40B-5F16B48F407F}"/>
              </a:ext>
            </a:extLst>
          </p:cNvPr>
          <p:cNvPicPr preferRelativeResize="0"/>
          <p:nvPr/>
        </p:nvPicPr>
        <p:blipFill rotWithShape="1">
          <a:blip r:embed="rId9"/>
          <a:srcRect/>
          <a:stretch/>
        </p:blipFill>
        <p:spPr>
          <a:xfrm>
            <a:off x="12187391" y="4152900"/>
            <a:ext cx="550230" cy="721501"/>
          </a:xfrm>
          <a:prstGeom prst="rect">
            <a:avLst/>
          </a:prstGeom>
        </p:spPr>
      </p:pic>
      <p:pic>
        <p:nvPicPr>
          <p:cNvPr id="338" name="Google Shape;152;p14" descr="image.png">
            <a:extLst>
              <a:ext uri="{FF2B5EF4-FFF2-40B4-BE49-F238E27FC236}">
                <a16:creationId xmlns:a16="http://schemas.microsoft.com/office/drawing/2014/main" id="{608F709F-BB59-438A-B8B4-2275E99F5788}"/>
              </a:ext>
            </a:extLst>
          </p:cNvPr>
          <p:cNvPicPr preferRelativeResize="0"/>
          <p:nvPr/>
        </p:nvPicPr>
        <p:blipFill rotWithShape="1">
          <a:blip r:embed="rId10"/>
          <a:srcRect/>
          <a:stretch/>
        </p:blipFill>
        <p:spPr>
          <a:xfrm>
            <a:off x="16430819" y="4152900"/>
            <a:ext cx="471626" cy="721501"/>
          </a:xfrm>
          <a:prstGeom prst="rect">
            <a:avLst/>
          </a:prstGeom>
        </p:spPr>
      </p:pic>
      <p:pic>
        <p:nvPicPr>
          <p:cNvPr id="342" name="Google Shape;156;p14" descr="image.png">
            <a:extLst>
              <a:ext uri="{FF2B5EF4-FFF2-40B4-BE49-F238E27FC236}">
                <a16:creationId xmlns:a16="http://schemas.microsoft.com/office/drawing/2014/main" id="{CF71A479-61F3-7BDE-9423-77955CFB0D77}"/>
              </a:ext>
            </a:extLst>
          </p:cNvPr>
          <p:cNvPicPr preferRelativeResize="0"/>
          <p:nvPr/>
        </p:nvPicPr>
        <p:blipFill rotWithShape="1">
          <a:blip r:embed="rId11"/>
          <a:srcRect/>
          <a:stretch/>
        </p:blipFill>
        <p:spPr>
          <a:xfrm>
            <a:off x="20566372" y="4152900"/>
            <a:ext cx="707437" cy="721501"/>
          </a:xfrm>
          <a:prstGeom prst="rect">
            <a:avLst/>
          </a:prstGeom>
        </p:spPr>
      </p:pic>
      <p:pic>
        <p:nvPicPr>
          <p:cNvPr id="346" name="Google Shape;162;p14" descr="image.png">
            <a:extLst>
              <a:ext uri="{FF2B5EF4-FFF2-40B4-BE49-F238E27FC236}">
                <a16:creationId xmlns:a16="http://schemas.microsoft.com/office/drawing/2014/main" id="{721C71F7-D2BC-5D3C-B2BF-DF9E63E2DF00}"/>
              </a:ext>
            </a:extLst>
          </p:cNvPr>
          <p:cNvPicPr preferRelativeResize="0"/>
          <p:nvPr/>
        </p:nvPicPr>
        <p:blipFill rotWithShape="1">
          <a:blip r:embed="rId12"/>
          <a:srcRect/>
          <a:stretch/>
        </p:blipFill>
        <p:spPr>
          <a:xfrm>
            <a:off x="5507044" y="4315999"/>
            <a:ext cx="935956" cy="429552"/>
          </a:xfrm>
          <a:prstGeom prst="rect">
            <a:avLst/>
          </a:prstGeom>
        </p:spPr>
      </p:pic>
      <p:pic>
        <p:nvPicPr>
          <p:cNvPr id="347" name="Google Shape;163;p14" descr="image.png">
            <a:extLst>
              <a:ext uri="{FF2B5EF4-FFF2-40B4-BE49-F238E27FC236}">
                <a16:creationId xmlns:a16="http://schemas.microsoft.com/office/drawing/2014/main" id="{698A0A01-5B5C-C11D-AF24-14115A18E698}"/>
              </a:ext>
            </a:extLst>
          </p:cNvPr>
          <p:cNvPicPr preferRelativeResize="0"/>
          <p:nvPr/>
        </p:nvPicPr>
        <p:blipFill rotWithShape="1">
          <a:blip r:embed="rId12"/>
          <a:srcRect/>
          <a:stretch/>
        </p:blipFill>
        <p:spPr>
          <a:xfrm>
            <a:off x="9891612" y="4371048"/>
            <a:ext cx="935956" cy="429552"/>
          </a:xfrm>
          <a:prstGeom prst="rect">
            <a:avLst/>
          </a:prstGeom>
        </p:spPr>
      </p:pic>
      <p:pic>
        <p:nvPicPr>
          <p:cNvPr id="348" name="Google Shape;164;p14" descr="image.png">
            <a:extLst>
              <a:ext uri="{FF2B5EF4-FFF2-40B4-BE49-F238E27FC236}">
                <a16:creationId xmlns:a16="http://schemas.microsoft.com/office/drawing/2014/main" id="{2FB3B2BF-A38A-3720-44DE-CB93BE0A7925}"/>
              </a:ext>
            </a:extLst>
          </p:cNvPr>
          <p:cNvPicPr preferRelativeResize="0"/>
          <p:nvPr/>
        </p:nvPicPr>
        <p:blipFill rotWithShape="1">
          <a:blip r:embed="rId12"/>
          <a:srcRect/>
          <a:stretch/>
        </p:blipFill>
        <p:spPr>
          <a:xfrm>
            <a:off x="14198600" y="4371048"/>
            <a:ext cx="935956" cy="429552"/>
          </a:xfrm>
          <a:prstGeom prst="rect">
            <a:avLst/>
          </a:prstGeom>
        </p:spPr>
      </p:pic>
      <p:pic>
        <p:nvPicPr>
          <p:cNvPr id="349" name="Google Shape;165;p14" descr="image.png">
            <a:extLst>
              <a:ext uri="{FF2B5EF4-FFF2-40B4-BE49-F238E27FC236}">
                <a16:creationId xmlns:a16="http://schemas.microsoft.com/office/drawing/2014/main" id="{8AC8DBC1-2855-5242-8630-EC801A958922}"/>
              </a:ext>
            </a:extLst>
          </p:cNvPr>
          <p:cNvPicPr preferRelativeResize="0"/>
          <p:nvPr/>
        </p:nvPicPr>
        <p:blipFill rotWithShape="1">
          <a:blip r:embed="rId12"/>
          <a:srcRect/>
          <a:stretch/>
        </p:blipFill>
        <p:spPr>
          <a:xfrm>
            <a:off x="18465376" y="4411043"/>
            <a:ext cx="935956" cy="429552"/>
          </a:xfrm>
          <a:prstGeom prst="rect">
            <a:avLst/>
          </a:prstGeom>
        </p:spPr>
      </p:pic>
      <p:pic>
        <p:nvPicPr>
          <p:cNvPr id="367" name="Picture 26">
            <a:extLst>
              <a:ext uri="{FF2B5EF4-FFF2-40B4-BE49-F238E27FC236}">
                <a16:creationId xmlns:a16="http://schemas.microsoft.com/office/drawing/2014/main" id="{EE165F7A-9363-F856-6DD7-DCE220BA94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848095" y="7160154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68" name="Picture 26">
            <a:extLst>
              <a:ext uri="{FF2B5EF4-FFF2-40B4-BE49-F238E27FC236}">
                <a16:creationId xmlns:a16="http://schemas.microsoft.com/office/drawing/2014/main" id="{1EA056C8-27A1-1E07-546C-A5D9626579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80141" y="7141091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69" name="Picture 26">
            <a:extLst>
              <a:ext uri="{FF2B5EF4-FFF2-40B4-BE49-F238E27FC236}">
                <a16:creationId xmlns:a16="http://schemas.microsoft.com/office/drawing/2014/main" id="{0054B79B-4B9D-EBF1-F4F7-CE24AA6E6D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26720" y="7141091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70" name="Picture 26">
            <a:extLst>
              <a:ext uri="{FF2B5EF4-FFF2-40B4-BE49-F238E27FC236}">
                <a16:creationId xmlns:a16="http://schemas.microsoft.com/office/drawing/2014/main" id="{9919FEA3-7F25-FA29-145F-E8D537B36C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5802" y="7160154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71" name="Picture 26">
            <a:extLst>
              <a:ext uri="{FF2B5EF4-FFF2-40B4-BE49-F238E27FC236}">
                <a16:creationId xmlns:a16="http://schemas.microsoft.com/office/drawing/2014/main" id="{389CA553-6866-1BF6-C7B6-B03EA8A76F1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6506" y="7141091"/>
            <a:ext cx="3718797" cy="3936718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sp>
        <p:nvSpPr>
          <p:cNvPr id="372" name="Google Shape;96;p13">
            <a:extLst>
              <a:ext uri="{FF2B5EF4-FFF2-40B4-BE49-F238E27FC236}">
                <a16:creationId xmlns:a16="http://schemas.microsoft.com/office/drawing/2014/main" id="{0689AB4B-4946-26E0-1980-2A369F1DDA3F}"/>
              </a:ext>
            </a:extLst>
          </p:cNvPr>
          <p:cNvSpPr txBox="1"/>
          <p:nvPr/>
        </p:nvSpPr>
        <p:spPr>
          <a:xfrm>
            <a:off x="2288632" y="8245409"/>
            <a:ext cx="32864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800" b="1" dirty="0" err="1">
                <a:solidFill>
                  <a:srgbClr val="000000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입력값</a:t>
            </a:r>
            <a:r>
              <a:rPr lang="ko-KR" altLang="en-US" sz="2800" b="1" dirty="0">
                <a:solidFill>
                  <a:srgbClr val="000000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 이중 검증</a:t>
            </a:r>
            <a:endParaRPr lang="ko-KR" altLang="en-US" sz="2800" dirty="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373" name="Google Shape;97;p13">
            <a:extLst>
              <a:ext uri="{FF2B5EF4-FFF2-40B4-BE49-F238E27FC236}">
                <a16:creationId xmlns:a16="http://schemas.microsoft.com/office/drawing/2014/main" id="{D0876318-C369-2EE2-AB86-CD4E73673B48}"/>
              </a:ext>
            </a:extLst>
          </p:cNvPr>
          <p:cNvSpPr txBox="1"/>
          <p:nvPr/>
        </p:nvSpPr>
        <p:spPr>
          <a:xfrm>
            <a:off x="2303849" y="9092751"/>
            <a:ext cx="3129888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  <a:buClr>
                <a:schemeClr val="dk1"/>
              </a:buClr>
              <a:buSzPts val="1100"/>
            </a:pPr>
            <a:r>
              <a:rPr lang="ko-KR" altLang="en-US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파일 확장자</a:t>
            </a:r>
            <a:r>
              <a:rPr lang="en-US" altLang="ko-KR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,MIME,</a:t>
            </a:r>
            <a:r>
              <a:rPr lang="ko-KR" altLang="en-US" dirty="0" err="1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시그니처</a:t>
            </a:r>
            <a:r>
              <a:rPr lang="ko-KR" altLang="en-US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 검증</a:t>
            </a:r>
          </a:p>
          <a:p>
            <a:pPr lvl="0">
              <a:lnSpc>
                <a:spcPct val="140000"/>
              </a:lnSpc>
            </a:pPr>
            <a:r>
              <a:rPr lang="ko-KR" altLang="en-US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실행 권한 제거</a:t>
            </a:r>
          </a:p>
          <a:p>
            <a:pPr lvl="0">
              <a:lnSpc>
                <a:spcPct val="140000"/>
              </a:lnSpc>
            </a:pPr>
            <a:r>
              <a:rPr lang="ko-KR" altLang="en-US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업로드 경로 분리 </a:t>
            </a:r>
          </a:p>
        </p:txBody>
      </p:sp>
      <p:sp>
        <p:nvSpPr>
          <p:cNvPr id="374" name="Google Shape;100;p13">
            <a:extLst>
              <a:ext uri="{FF2B5EF4-FFF2-40B4-BE49-F238E27FC236}">
                <a16:creationId xmlns:a16="http://schemas.microsoft.com/office/drawing/2014/main" id="{111B7F65-C976-58D9-AD48-3EF6516B3638}"/>
              </a:ext>
            </a:extLst>
          </p:cNvPr>
          <p:cNvSpPr txBox="1"/>
          <p:nvPr/>
        </p:nvSpPr>
        <p:spPr>
          <a:xfrm>
            <a:off x="6543892" y="8229030"/>
            <a:ext cx="3286443" cy="43088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800" b="1" dirty="0">
                <a:solidFill>
                  <a:srgbClr val="000000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자격증명 보호</a:t>
            </a:r>
            <a:endParaRPr lang="ko-KR" altLang="en-US" sz="2800" dirty="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375" name="Google Shape;101;p13">
            <a:extLst>
              <a:ext uri="{FF2B5EF4-FFF2-40B4-BE49-F238E27FC236}">
                <a16:creationId xmlns:a16="http://schemas.microsoft.com/office/drawing/2014/main" id="{EF8FD53C-7201-5CDA-A9F2-3B88D8CD461F}"/>
              </a:ext>
            </a:extLst>
          </p:cNvPr>
          <p:cNvSpPr txBox="1"/>
          <p:nvPr/>
        </p:nvSpPr>
        <p:spPr>
          <a:xfrm>
            <a:off x="6574707" y="9009396"/>
            <a:ext cx="31298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  <a:buClr>
                <a:schemeClr val="dk1"/>
              </a:buClr>
              <a:buSzPts val="1100"/>
            </a:pPr>
            <a:r>
              <a:rPr lang="en-US" altLang="ko-KR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JWT 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서명키 </a:t>
            </a:r>
            <a:r>
              <a:rPr lang="en-US" altLang="ko-KR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HSM/KMS 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보관</a:t>
            </a:r>
          </a:p>
          <a:p>
            <a:pPr lvl="0">
              <a:lnSpc>
                <a:spcPct val="140000"/>
              </a:lnSpc>
              <a:buClr>
                <a:schemeClr val="dk1"/>
              </a:buClr>
              <a:buSzPts val="1100"/>
            </a:pP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관리자 </a:t>
            </a:r>
            <a:r>
              <a:rPr lang="en-US" altLang="ko-KR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JIT 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권한 부여</a:t>
            </a:r>
          </a:p>
          <a:p>
            <a:pPr lvl="0">
              <a:lnSpc>
                <a:spcPct val="140000"/>
              </a:lnSpc>
            </a:pPr>
            <a:r>
              <a:rPr lang="en-US" altLang="ko-KR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API 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키 최소 권한 </a:t>
            </a:r>
          </a:p>
        </p:txBody>
      </p:sp>
      <p:sp>
        <p:nvSpPr>
          <p:cNvPr id="376" name="Google Shape;103;p13">
            <a:extLst>
              <a:ext uri="{FF2B5EF4-FFF2-40B4-BE49-F238E27FC236}">
                <a16:creationId xmlns:a16="http://schemas.microsoft.com/office/drawing/2014/main" id="{84057A11-7D79-8BAD-6417-7501A68A0373}"/>
              </a:ext>
            </a:extLst>
          </p:cNvPr>
          <p:cNvSpPr txBox="1"/>
          <p:nvPr/>
        </p:nvSpPr>
        <p:spPr>
          <a:xfrm>
            <a:off x="10851486" y="8245409"/>
            <a:ext cx="328635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브라우저·단말</a:t>
            </a: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보호</a:t>
            </a:r>
            <a:r>
              <a:rPr lang="en-US" sz="2800" b="1" dirty="0">
                <a:solidFill>
                  <a:srgbClr val="000000"/>
                </a:solidFill>
                <a:latin typeface="Pretendard Bold"/>
                <a:ea typeface="Pretendard Bold"/>
                <a:cs typeface="Arial"/>
                <a:sym typeface="Noto Sans KR"/>
              </a:rPr>
              <a:t> </a:t>
            </a:r>
            <a:endParaRPr sz="2800" b="1" dirty="0">
              <a:solidFill>
                <a:srgbClr val="000000"/>
              </a:solidFill>
              <a:latin typeface="Pretendard Bold"/>
              <a:ea typeface="Pretendard Bold"/>
              <a:cs typeface="Arial"/>
            </a:endParaRPr>
          </a:p>
        </p:txBody>
      </p:sp>
      <p:sp>
        <p:nvSpPr>
          <p:cNvPr id="377" name="Google Shape;104;p13">
            <a:extLst>
              <a:ext uri="{FF2B5EF4-FFF2-40B4-BE49-F238E27FC236}">
                <a16:creationId xmlns:a16="http://schemas.microsoft.com/office/drawing/2014/main" id="{2CB9B2F3-CB2A-C483-4C07-324D1122D5BA}"/>
              </a:ext>
            </a:extLst>
          </p:cNvPr>
          <p:cNvSpPr txBox="1"/>
          <p:nvPr/>
        </p:nvSpPr>
        <p:spPr>
          <a:xfrm>
            <a:off x="10865468" y="8991546"/>
            <a:ext cx="31298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  <a:buClr>
                <a:schemeClr val="dk1"/>
              </a:buClr>
              <a:buSzPts val="1100"/>
            </a:pPr>
            <a:r>
              <a:rPr lang="en-US" altLang="ko-KR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CSP 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적용</a:t>
            </a:r>
          </a:p>
          <a:p>
            <a:pPr lvl="0">
              <a:lnSpc>
                <a:spcPct val="140000"/>
              </a:lnSpc>
              <a:buClr>
                <a:schemeClr val="dk1"/>
              </a:buClr>
              <a:buSzPts val="1100"/>
            </a:pPr>
            <a:r>
              <a:rPr lang="en-US" altLang="ko-KR" sz="2000" dirty="0" err="1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HttpOnly·SameSite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 쿠키</a:t>
            </a:r>
          </a:p>
          <a:p>
            <a:pPr lvl="0">
              <a:lnSpc>
                <a:spcPct val="140000"/>
              </a:lnSpc>
            </a:pP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세션 재사용 탐지 </a:t>
            </a:r>
          </a:p>
        </p:txBody>
      </p:sp>
      <p:sp>
        <p:nvSpPr>
          <p:cNvPr id="378" name="Google Shape;107;p13">
            <a:extLst>
              <a:ext uri="{FF2B5EF4-FFF2-40B4-BE49-F238E27FC236}">
                <a16:creationId xmlns:a16="http://schemas.microsoft.com/office/drawing/2014/main" id="{08D52F8B-D405-4209-D383-61400241E8C0}"/>
              </a:ext>
            </a:extLst>
          </p:cNvPr>
          <p:cNvSpPr txBox="1"/>
          <p:nvPr/>
        </p:nvSpPr>
        <p:spPr>
          <a:xfrm>
            <a:off x="15095554" y="8245409"/>
            <a:ext cx="32864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800" b="1" dirty="0">
                <a:solidFill>
                  <a:srgbClr val="000000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최소 권한 및 암호화</a:t>
            </a:r>
            <a:endParaRPr lang="ko-KR" altLang="en-US" sz="2800" dirty="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379" name="Google Shape;108;p13">
            <a:extLst>
              <a:ext uri="{FF2B5EF4-FFF2-40B4-BE49-F238E27FC236}">
                <a16:creationId xmlns:a16="http://schemas.microsoft.com/office/drawing/2014/main" id="{34F667EE-19CB-6E11-05AC-B64E33169E7A}"/>
              </a:ext>
            </a:extLst>
          </p:cNvPr>
          <p:cNvSpPr txBox="1"/>
          <p:nvPr/>
        </p:nvSpPr>
        <p:spPr>
          <a:xfrm>
            <a:off x="15127304" y="9009396"/>
            <a:ext cx="31298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ko-KR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DB 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최소 권한</a:t>
            </a:r>
          </a:p>
          <a:p>
            <a:pPr lvl="0">
              <a:lnSpc>
                <a:spcPct val="140000"/>
              </a:lnSpc>
            </a:pP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녹취 데이터 암호화</a:t>
            </a:r>
          </a:p>
          <a:p>
            <a:pPr lvl="0">
              <a:lnSpc>
                <a:spcPct val="140000"/>
              </a:lnSpc>
            </a:pP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접근 감사 및 대량 조회 탐지</a:t>
            </a:r>
            <a:endParaRPr lang="ko-KR" altLang="en-US" sz="2000" dirty="0">
              <a:latin typeface="Pretendard Medium" panose="020B0604020202020204" charset="-127"/>
              <a:ea typeface="Pretendard Medium" panose="020B0604020202020204" charset="-127"/>
            </a:endParaRPr>
          </a:p>
        </p:txBody>
      </p:sp>
      <p:sp>
        <p:nvSpPr>
          <p:cNvPr id="380" name="Google Shape;111;p13">
            <a:extLst>
              <a:ext uri="{FF2B5EF4-FFF2-40B4-BE49-F238E27FC236}">
                <a16:creationId xmlns:a16="http://schemas.microsoft.com/office/drawing/2014/main" id="{7552B006-6C9B-D19F-F18C-8206323B51BD}"/>
              </a:ext>
            </a:extLst>
          </p:cNvPr>
          <p:cNvSpPr txBox="1"/>
          <p:nvPr/>
        </p:nvSpPr>
        <p:spPr>
          <a:xfrm>
            <a:off x="19383400" y="8245409"/>
            <a:ext cx="32864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800" b="1" dirty="0">
                <a:solidFill>
                  <a:srgbClr val="000000"/>
                </a:solidFill>
                <a:latin typeface="Pretendard Bold" panose="020B0604020202020204" charset="-127"/>
                <a:ea typeface="Pretendard Bold" panose="020B0604020202020204" charset="-127"/>
                <a:cs typeface="Noto Sans KR"/>
                <a:sym typeface="Noto Sans KR"/>
              </a:rPr>
              <a:t>사칭 방지 및 본인확인</a:t>
            </a:r>
            <a:endParaRPr lang="ko-KR" altLang="en-US" sz="2800" dirty="0">
              <a:latin typeface="Pretendard Bold" panose="020B0604020202020204" charset="-127"/>
              <a:ea typeface="Pretendard Bold" panose="020B0604020202020204" charset="-127"/>
            </a:endParaRPr>
          </a:p>
        </p:txBody>
      </p:sp>
      <p:sp>
        <p:nvSpPr>
          <p:cNvPr id="381" name="Google Shape;112;p13">
            <a:extLst>
              <a:ext uri="{FF2B5EF4-FFF2-40B4-BE49-F238E27FC236}">
                <a16:creationId xmlns:a16="http://schemas.microsoft.com/office/drawing/2014/main" id="{4810920D-D529-C13A-35FD-787165C4B564}"/>
              </a:ext>
            </a:extLst>
          </p:cNvPr>
          <p:cNvSpPr txBox="1"/>
          <p:nvPr/>
        </p:nvSpPr>
        <p:spPr>
          <a:xfrm>
            <a:off x="19383400" y="9009396"/>
            <a:ext cx="31298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음성 단독 인증 금지</a:t>
            </a:r>
          </a:p>
          <a:p>
            <a:pPr lvl="0">
              <a:lnSpc>
                <a:spcPct val="140000"/>
              </a:lnSpc>
            </a:pPr>
            <a:r>
              <a:rPr lang="en-US" altLang="ko-KR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2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채널 본인확인</a:t>
            </a:r>
          </a:p>
          <a:p>
            <a:pPr lvl="0">
              <a:lnSpc>
                <a:spcPct val="140000"/>
              </a:lnSpc>
            </a:pP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고액 송금 시 지연</a:t>
            </a:r>
            <a:r>
              <a:rPr lang="en-US" altLang="ko-KR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·</a:t>
            </a:r>
            <a:r>
              <a:rPr lang="ko-KR" altLang="en-US" sz="2000" dirty="0">
                <a:solidFill>
                  <a:srgbClr val="444444"/>
                </a:solidFill>
                <a:latin typeface="Pretendard Medium" panose="020B0604020202020204" charset="-127"/>
                <a:ea typeface="Pretendard Medium" panose="020B0604020202020204" charset="-127"/>
                <a:cs typeface="Noto Sans KR"/>
                <a:sym typeface="Noto Sans KR"/>
              </a:rPr>
              <a:t>재확인</a:t>
            </a:r>
            <a:endParaRPr lang="ko-KR" altLang="en-US" sz="2000" dirty="0">
              <a:latin typeface="Pretendard Medium" panose="020B0604020202020204" charset="-127"/>
              <a:ea typeface="Pretendard Medium" panose="020B0604020202020204" charset="-127"/>
            </a:endParaRPr>
          </a:p>
        </p:txBody>
      </p:sp>
      <p:sp>
        <p:nvSpPr>
          <p:cNvPr id="382" name="Google Shape;119;p13">
            <a:extLst>
              <a:ext uri="{FF2B5EF4-FFF2-40B4-BE49-F238E27FC236}">
                <a16:creationId xmlns:a16="http://schemas.microsoft.com/office/drawing/2014/main" id="{C9157203-9B72-06A2-A2DD-BB8DCF6BCB16}"/>
              </a:ext>
            </a:extLst>
          </p:cNvPr>
          <p:cNvSpPr/>
          <p:nvPr/>
        </p:nvSpPr>
        <p:spPr>
          <a:xfrm>
            <a:off x="3813335" y="6374694"/>
            <a:ext cx="37646" cy="821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120;p13">
            <a:extLst>
              <a:ext uri="{FF2B5EF4-FFF2-40B4-BE49-F238E27FC236}">
                <a16:creationId xmlns:a16="http://schemas.microsoft.com/office/drawing/2014/main" id="{D8FAB21C-2D6D-40FD-4AC7-64729CEFEFDC}"/>
              </a:ext>
            </a:extLst>
          </p:cNvPr>
          <p:cNvSpPr/>
          <p:nvPr/>
        </p:nvSpPr>
        <p:spPr>
          <a:xfrm>
            <a:off x="8095466" y="6374711"/>
            <a:ext cx="37646" cy="821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121;p13">
            <a:extLst>
              <a:ext uri="{FF2B5EF4-FFF2-40B4-BE49-F238E27FC236}">
                <a16:creationId xmlns:a16="http://schemas.microsoft.com/office/drawing/2014/main" id="{4D603A50-F7E3-2F0B-DD04-F00730AF1795}"/>
              </a:ext>
            </a:extLst>
          </p:cNvPr>
          <p:cNvSpPr/>
          <p:nvPr/>
        </p:nvSpPr>
        <p:spPr>
          <a:xfrm>
            <a:off x="12397973" y="6366986"/>
            <a:ext cx="45719" cy="8290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122;p13">
            <a:extLst>
              <a:ext uri="{FF2B5EF4-FFF2-40B4-BE49-F238E27FC236}">
                <a16:creationId xmlns:a16="http://schemas.microsoft.com/office/drawing/2014/main" id="{CB640B2F-0318-8C91-1043-56259EC227D1}"/>
              </a:ext>
            </a:extLst>
          </p:cNvPr>
          <p:cNvSpPr/>
          <p:nvPr/>
        </p:nvSpPr>
        <p:spPr>
          <a:xfrm>
            <a:off x="16693149" y="6374722"/>
            <a:ext cx="37646" cy="821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123;p13">
            <a:extLst>
              <a:ext uri="{FF2B5EF4-FFF2-40B4-BE49-F238E27FC236}">
                <a16:creationId xmlns:a16="http://schemas.microsoft.com/office/drawing/2014/main" id="{BC6E15AA-F8A0-5584-8E5E-BC882F42430E}"/>
              </a:ext>
            </a:extLst>
          </p:cNvPr>
          <p:cNvSpPr/>
          <p:nvPr/>
        </p:nvSpPr>
        <p:spPr>
          <a:xfrm>
            <a:off x="20967296" y="6374722"/>
            <a:ext cx="37646" cy="821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사각형: 둥근 모서리 386">
            <a:extLst>
              <a:ext uri="{FF2B5EF4-FFF2-40B4-BE49-F238E27FC236}">
                <a16:creationId xmlns:a16="http://schemas.microsoft.com/office/drawing/2014/main" id="{F6180888-E9E2-CB4C-C686-CF5F5F0E5CFF}"/>
              </a:ext>
            </a:extLst>
          </p:cNvPr>
          <p:cNvSpPr/>
          <p:nvPr/>
        </p:nvSpPr>
        <p:spPr>
          <a:xfrm>
            <a:off x="10424943" y="5274536"/>
            <a:ext cx="3773657" cy="1095358"/>
          </a:xfrm>
          <a:prstGeom prst="roundRect">
            <a:avLst/>
          </a:prstGeom>
          <a:solidFill>
            <a:srgbClr val="3A7DC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CS XSS + 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세션 재사용</a:t>
            </a:r>
          </a:p>
        </p:txBody>
      </p:sp>
      <p:sp>
        <p:nvSpPr>
          <p:cNvPr id="388" name="사각형: 둥근 모서리 387">
            <a:extLst>
              <a:ext uri="{FF2B5EF4-FFF2-40B4-BE49-F238E27FC236}">
                <a16:creationId xmlns:a16="http://schemas.microsoft.com/office/drawing/2014/main" id="{7B8C325D-CB0D-C1A4-CEBA-6D48D9DFE68B}"/>
              </a:ext>
            </a:extLst>
          </p:cNvPr>
          <p:cNvSpPr/>
          <p:nvPr/>
        </p:nvSpPr>
        <p:spPr>
          <a:xfrm>
            <a:off x="1926506" y="5271628"/>
            <a:ext cx="3773657" cy="109535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파일 업로드 취약점</a:t>
            </a:r>
          </a:p>
        </p:txBody>
      </p:sp>
      <p:sp>
        <p:nvSpPr>
          <p:cNvPr id="389" name="사각형: 둥근 모서리 388">
            <a:extLst>
              <a:ext uri="{FF2B5EF4-FFF2-40B4-BE49-F238E27FC236}">
                <a16:creationId xmlns:a16="http://schemas.microsoft.com/office/drawing/2014/main" id="{EAB5B8AE-1421-1DAF-ACD8-26178D49235A}"/>
              </a:ext>
            </a:extLst>
          </p:cNvPr>
          <p:cNvSpPr/>
          <p:nvPr/>
        </p:nvSpPr>
        <p:spPr>
          <a:xfrm>
            <a:off x="6142222" y="5284430"/>
            <a:ext cx="3773657" cy="1095358"/>
          </a:xfrm>
          <a:prstGeom prst="roundRect">
            <a:avLst/>
          </a:prstGeom>
          <a:solidFill>
            <a:srgbClr val="6FA0D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n8n 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무력화</a:t>
            </a:r>
          </a:p>
        </p:txBody>
      </p:sp>
      <p:sp>
        <p:nvSpPr>
          <p:cNvPr id="390" name="사각형: 둥근 모서리 389">
            <a:extLst>
              <a:ext uri="{FF2B5EF4-FFF2-40B4-BE49-F238E27FC236}">
                <a16:creationId xmlns:a16="http://schemas.microsoft.com/office/drawing/2014/main" id="{7CA73B0B-8FC8-08B6-7D4E-6980B5DD7522}"/>
              </a:ext>
            </a:extLst>
          </p:cNvPr>
          <p:cNvSpPr/>
          <p:nvPr/>
        </p:nvSpPr>
        <p:spPr>
          <a:xfrm>
            <a:off x="14747037" y="5284430"/>
            <a:ext cx="3773657" cy="1095358"/>
          </a:xfrm>
          <a:prstGeom prst="roundRect">
            <a:avLst/>
          </a:prstGeom>
          <a:solidFill>
            <a:srgbClr val="2E6EB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DB 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장악 </a:t>
            </a:r>
            <a:r>
              <a:rPr lang="en-US" altLang="ko-KR" sz="2000" dirty="0">
                <a:latin typeface="Pretendard Bold" panose="020B0604020202020204" charset="-127"/>
                <a:ea typeface="Pretendard Bold" panose="020B0604020202020204" charset="-127"/>
              </a:rPr>
              <a:t>+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 녹취 탈취</a:t>
            </a:r>
          </a:p>
        </p:txBody>
      </p:sp>
      <p:sp>
        <p:nvSpPr>
          <p:cNvPr id="391" name="사각형: 둥근 모서리 390">
            <a:extLst>
              <a:ext uri="{FF2B5EF4-FFF2-40B4-BE49-F238E27FC236}">
                <a16:creationId xmlns:a16="http://schemas.microsoft.com/office/drawing/2014/main" id="{377D7896-C0D6-D7EE-9D53-EBAE8B4F3B64}"/>
              </a:ext>
            </a:extLst>
          </p:cNvPr>
          <p:cNvSpPr/>
          <p:nvPr/>
        </p:nvSpPr>
        <p:spPr>
          <a:xfrm>
            <a:off x="18988965" y="5271628"/>
            <a:ext cx="3773657" cy="1095358"/>
          </a:xfrm>
          <a:prstGeom prst="roundRect">
            <a:avLst/>
          </a:prstGeom>
          <a:solidFill>
            <a:srgbClr val="0051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err="1">
                <a:latin typeface="Pretendard Bold" panose="020B0604020202020204" charset="-127"/>
                <a:ea typeface="Pretendard Bold" panose="020B0604020202020204" charset="-127"/>
              </a:rPr>
              <a:t>딥보이스</a:t>
            </a:r>
            <a:r>
              <a:rPr lang="ko-KR" altLang="en-US" sz="2000" dirty="0">
                <a:latin typeface="Pretendard Bold" panose="020B0604020202020204" charset="-127"/>
                <a:ea typeface="Pretendard Bold" panose="020B0604020202020204" charset="-127"/>
              </a:rPr>
              <a:t> 피싱 공격</a:t>
            </a:r>
          </a:p>
        </p:txBody>
      </p:sp>
      <p:sp>
        <p:nvSpPr>
          <p:cNvPr id="392" name="사각형: 둥근 모서리 391">
            <a:extLst>
              <a:ext uri="{FF2B5EF4-FFF2-40B4-BE49-F238E27FC236}">
                <a16:creationId xmlns:a16="http://schemas.microsoft.com/office/drawing/2014/main" id="{A0D2657E-8711-D99C-7643-52233FB9E01E}"/>
              </a:ext>
            </a:extLst>
          </p:cNvPr>
          <p:cNvSpPr/>
          <p:nvPr/>
        </p:nvSpPr>
        <p:spPr>
          <a:xfrm>
            <a:off x="2291495" y="7520641"/>
            <a:ext cx="1613434" cy="410660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WORKLOAD</a:t>
            </a:r>
            <a:endParaRPr lang="ko-KR" altLang="en-US" sz="2000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393" name="사각형: 둥근 모서리 392">
            <a:extLst>
              <a:ext uri="{FF2B5EF4-FFF2-40B4-BE49-F238E27FC236}">
                <a16:creationId xmlns:a16="http://schemas.microsoft.com/office/drawing/2014/main" id="{99F99B70-06EE-5323-4463-02DD2EDCBD77}"/>
              </a:ext>
            </a:extLst>
          </p:cNvPr>
          <p:cNvSpPr/>
          <p:nvPr/>
        </p:nvSpPr>
        <p:spPr>
          <a:xfrm>
            <a:off x="6574707" y="7545275"/>
            <a:ext cx="1197693" cy="361393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IDENTITY</a:t>
            </a:r>
            <a:endParaRPr lang="ko-KR" altLang="en-US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397" name="사각형: 둥근 모서리 396">
            <a:extLst>
              <a:ext uri="{FF2B5EF4-FFF2-40B4-BE49-F238E27FC236}">
                <a16:creationId xmlns:a16="http://schemas.microsoft.com/office/drawing/2014/main" id="{61536884-33E8-80B7-7B17-5A6FB1A53EEC}"/>
              </a:ext>
            </a:extLst>
          </p:cNvPr>
          <p:cNvSpPr/>
          <p:nvPr/>
        </p:nvSpPr>
        <p:spPr>
          <a:xfrm>
            <a:off x="10847029" y="7545275"/>
            <a:ext cx="1197693" cy="361393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IDENTITY</a:t>
            </a:r>
            <a:endParaRPr lang="ko-KR" altLang="en-US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398" name="사각형: 둥근 모서리 397">
            <a:extLst>
              <a:ext uri="{FF2B5EF4-FFF2-40B4-BE49-F238E27FC236}">
                <a16:creationId xmlns:a16="http://schemas.microsoft.com/office/drawing/2014/main" id="{93195951-73BE-E331-BBE3-14228A977DA2}"/>
              </a:ext>
            </a:extLst>
          </p:cNvPr>
          <p:cNvSpPr/>
          <p:nvPr/>
        </p:nvSpPr>
        <p:spPr>
          <a:xfrm>
            <a:off x="15113834" y="7554130"/>
            <a:ext cx="757227" cy="343682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DATA</a:t>
            </a:r>
            <a:endParaRPr lang="ko-KR" altLang="en-US" sz="1600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399" name="사각형: 둥근 모서리 398">
            <a:extLst>
              <a:ext uri="{FF2B5EF4-FFF2-40B4-BE49-F238E27FC236}">
                <a16:creationId xmlns:a16="http://schemas.microsoft.com/office/drawing/2014/main" id="{625A550E-DD61-31D1-024C-ABFE9CA2AB36}"/>
              </a:ext>
            </a:extLst>
          </p:cNvPr>
          <p:cNvSpPr/>
          <p:nvPr/>
        </p:nvSpPr>
        <p:spPr>
          <a:xfrm>
            <a:off x="19401199" y="7545275"/>
            <a:ext cx="1197693" cy="361393"/>
          </a:xfrm>
          <a:prstGeom prst="roundRect">
            <a:avLst/>
          </a:prstGeom>
          <a:solidFill>
            <a:srgbClr val="1A7A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>
                <a:solidFill>
                  <a:schemeClr val="bg1"/>
                </a:solidFill>
                <a:latin typeface="Pretendard SemiBold"/>
                <a:ea typeface="Pretendard SemiBold"/>
              </a:rPr>
              <a:t>IDENTITY</a:t>
            </a:r>
            <a:endParaRPr lang="ko-KR" altLang="en-US" spc="-100" dirty="0">
              <a:solidFill>
                <a:schemeClr val="bg1"/>
              </a:solidFill>
              <a:latin typeface="Pretendard SemiBold"/>
              <a:ea typeface="Pretendard SemiBold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DF305433-171D-5845-AC57-9955948C68ED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D9B8FD4-D6DC-F958-B720-F37A695F9E71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71A0B5F4-4D34-2822-E62D-045807F47767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312A9A2B-2FC9-B112-99F9-21C85284242E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5FBE433D-D3F2-A35C-BD0D-6E1B62A46969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9184206C-FAE8-ED67-E3FA-3C94DF0AD20F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9B8B231C-B13F-53F9-A8BC-3B01A84AE78E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</p:spTree>
    <p:extLst>
      <p:ext uri="{BB962C8B-B14F-4D97-AF65-F5344CB8AC3E}">
        <p14:creationId xmlns:p14="http://schemas.microsoft.com/office/powerpoint/2010/main" val="554472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ADB3C-B59A-78AE-C03D-B6DA4A3D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BE936A8-C4EB-7FC9-F50A-019A25C719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169774" y="-2578100"/>
            <a:ext cx="11442700" cy="11442700"/>
          </a:xfrm>
          <a:prstGeom prst="rect">
            <a:avLst/>
          </a:prstGeom>
        </p:spPr>
      </p:pic>
      <p:pic>
        <p:nvPicPr>
          <p:cNvPr id="37" name="Picture 26">
            <a:extLst>
              <a:ext uri="{FF2B5EF4-FFF2-40B4-BE49-F238E27FC236}">
                <a16:creationId xmlns:a16="http://schemas.microsoft.com/office/drawing/2014/main" id="{3BABDEE7-BB9D-14D8-6791-F64623E3D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273" y="4463143"/>
            <a:ext cx="16293928" cy="7062439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E957462-4C19-08C2-30EE-2D3481C41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178E71B-4864-BE78-8C28-6B8E10F189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A152359-CAD1-8558-AF77-889A48053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0E63B9C-E9A4-D94F-E91F-EBBE50A0C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2C007C7-EF2C-403C-AFCE-196163752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145C41BC-92AA-2F5F-5C96-1C8A879DD8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CFF59277-4ABB-31D7-48D1-4E311FA7320D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81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D512DB7-E6BF-D56E-02BB-3FB66326E6A7}"/>
              </a:ext>
            </a:extLst>
          </p:cNvPr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alt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보안 대책</a:t>
            </a:r>
            <a:endParaRPr lang="en-US" sz="7066" b="0" i="0" u="none" strike="noStrike" spc="-3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B1E789F3-0EB0-14F1-C3A7-61071EE332CB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3EA08931-2111-9624-CE49-EE046805A63C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8976860-E659-3B2E-772F-6702F7DB5E3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187052CA-EBFB-0B03-4DA1-A5CB3FCB03CF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0BD324A7-1D66-B1FB-0BE6-B20EFF7C4AE5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5CBB4E67-02DF-F9B8-5E76-92FBEBAEA642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16325BFE-40C2-CCA4-3EFF-B88E1B5A9BEE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9DC09-A589-354C-9D4C-1A262568ABA8}"/>
              </a:ext>
            </a:extLst>
          </p:cNvPr>
          <p:cNvSpPr txBox="1"/>
          <p:nvPr/>
        </p:nvSpPr>
        <p:spPr>
          <a:xfrm>
            <a:off x="1808480" y="47879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B723C-44E5-7C88-27F6-F7981232D387}"/>
              </a:ext>
            </a:extLst>
          </p:cNvPr>
          <p:cNvSpPr txBox="1"/>
          <p:nvPr/>
        </p:nvSpPr>
        <p:spPr>
          <a:xfrm>
            <a:off x="5076801" y="5735017"/>
            <a:ext cx="7391400" cy="579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지능형 우회 공격 원천 차단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n8n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무력화 등 자동화 솔루션을 우회화는 위장 공격을 보안 전문가의 분석과 판단으로 정확히 식별함</a:t>
            </a:r>
            <a:b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</a:b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체류 시간 단축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해커의 침투부터 유출까지의 시간을 분 단위로 단축해 핵심 고객 데이터와 금융 자산을 완벽히 보호함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endParaRPr lang="en-US" altLang="ko-KR" sz="2500" i="0" u="none" strike="noStrike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24/7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대응 체계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sz="2500" i="0" u="none" strike="noStrike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심야 시간대 관리자 부재를 노린 빈틈 공격에 연중 무휴 실시간으로 즉각 대응함</a:t>
            </a:r>
            <a:endParaRPr lang="en-US" sz="2500" i="0" u="none" strike="noStrike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E6E834BB-B0F6-457C-B0F8-C12C02BCF14B}"/>
              </a:ext>
            </a:extLst>
          </p:cNvPr>
          <p:cNvSpPr txBox="1"/>
          <p:nvPr/>
        </p:nvSpPr>
        <p:spPr>
          <a:xfrm>
            <a:off x="2120900" y="4786630"/>
            <a:ext cx="1998218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MDR </a:t>
            </a:r>
            <a:r>
              <a:rPr lang="ko-KR" alt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적용 필요성</a:t>
            </a: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1C91D5-6C7F-E6A2-F923-6003C26F49D3}"/>
              </a:ext>
            </a:extLst>
          </p:cNvPr>
          <p:cNvSpPr txBox="1"/>
          <p:nvPr/>
        </p:nvSpPr>
        <p:spPr>
          <a:xfrm>
            <a:off x="13938250" y="47879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A871BC-2FEC-D745-252B-9DFB84F078EE}"/>
              </a:ext>
            </a:extLst>
          </p:cNvPr>
          <p:cNvSpPr txBox="1"/>
          <p:nvPr/>
        </p:nvSpPr>
        <p:spPr>
          <a:xfrm>
            <a:off x="13008380" y="5630817"/>
            <a:ext cx="7353301" cy="579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4.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능동적 위협 사냥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 err="1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WingFTP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취약점을 통한 </a:t>
            </a:r>
            <a:r>
              <a:rPr lang="ko-KR" altLang="en-US" sz="2500" dirty="0" err="1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내부망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이동 시도 전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미세한 잠복 흔적을 선제적으로 찾아 제거함</a:t>
            </a:r>
            <a:b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</a:b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5.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실시간 원격 격리 및 조치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보이스피싱 및 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DB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탈취 감지 즉시 세션 강제 로그아웃 및 네트워크를 원격 격리하여 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차 피해 확산을 차단함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4021B9CB-DFC4-CB90-0AB1-FAF340FCCD33}"/>
              </a:ext>
            </a:extLst>
          </p:cNvPr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  <a:cs typeface="Pretendard Bold" panose="020B0600000101010101" charset="-127"/>
              </a:rPr>
              <a:t>M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  <a:cs typeface="Pretendard Bold" panose="020B0600000101010101" charset="-127"/>
              </a:rPr>
              <a:t>DR (</a:t>
            </a:r>
            <a:r>
              <a:rPr lang="en-US" sz="3333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  <a:cs typeface="Pretendard Bold" panose="020B0600000101010101" charset="-127"/>
              </a:rPr>
              <a:t>Managed</a:t>
            </a:r>
            <a:r>
              <a:rPr lang="en-US" sz="3333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  <a:cs typeface="Pretendard Bold" panose="020B0600000101010101" charset="-127"/>
              </a:rPr>
              <a:t> Detection and Response)</a:t>
            </a:r>
          </a:p>
        </p:txBody>
      </p:sp>
    </p:spTree>
    <p:extLst>
      <p:ext uri="{BB962C8B-B14F-4D97-AF65-F5344CB8AC3E}">
        <p14:creationId xmlns:p14="http://schemas.microsoft.com/office/powerpoint/2010/main" val="15378759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B0414-159A-BD32-0386-E140CA69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066139C-70BB-00EB-5684-46F106BC64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6" name="Picture 26">
            <a:extLst>
              <a:ext uri="{FF2B5EF4-FFF2-40B4-BE49-F238E27FC236}">
                <a16:creationId xmlns:a16="http://schemas.microsoft.com/office/drawing/2014/main" id="{32D3C35B-1EC6-03E7-0272-662B00E1E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7300" y="4463143"/>
            <a:ext cx="8585200" cy="7062439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7" name="Picture 26">
            <a:extLst>
              <a:ext uri="{FF2B5EF4-FFF2-40B4-BE49-F238E27FC236}">
                <a16:creationId xmlns:a16="http://schemas.microsoft.com/office/drawing/2014/main" id="{56F7F9F2-CE8C-166C-AB81-2A4E80711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700" y="4463143"/>
            <a:ext cx="8585200" cy="7062439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B8CA315-935A-A7E0-11DE-25F777CE8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6DD9342-7964-882F-60F7-6B219815D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D767685-B069-F0E3-3808-674631360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A47EF23-2DBC-1745-D74C-61C5FF8A0E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214ABDB-E89D-19BB-2174-B8849F893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0C4FDA2-0FCB-A03D-DD27-B629FA2AA2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1281356A-483F-946D-7C7B-2A486C9841E1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8CA7BE7-274D-FB78-42F4-080A5E4631DB}"/>
              </a:ext>
            </a:extLst>
          </p:cNvPr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alt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보안 대책</a:t>
            </a:r>
            <a:endParaRPr lang="en-US" sz="7066" b="0" i="0" u="none" strike="noStrike" spc="-3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959F2D79-26D6-3F9B-100E-870D709B6E3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7D3E214A-4395-3477-82E5-FE034F3B00C3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13A627D5-B2D8-057F-9AA0-2DA45C3B4EA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F5D742F7-C863-0131-9015-5B8210D241AC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4E61D35B-DBFD-DA7B-A3EB-CB506BCAF8C7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74F5AF30-9913-CAFF-61A4-1009F666F25C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5C8B8F0F-F7D6-336B-E22E-C79D60C7349B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551D5-0491-6146-15D5-46B6681E947F}"/>
              </a:ext>
            </a:extLst>
          </p:cNvPr>
          <p:cNvSpPr txBox="1"/>
          <p:nvPr/>
        </p:nvSpPr>
        <p:spPr>
          <a:xfrm>
            <a:off x="1808480" y="47879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EB23D-40C2-0491-2ACB-E950EE6EE0FD}"/>
              </a:ext>
            </a:extLst>
          </p:cNvPr>
          <p:cNvSpPr txBox="1"/>
          <p:nvPr/>
        </p:nvSpPr>
        <p:spPr>
          <a:xfrm>
            <a:off x="2316480" y="5651500"/>
            <a:ext cx="7391400" cy="579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적용 대상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관리자 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PC,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빌드 서버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DB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서버 등 개별 </a:t>
            </a:r>
            <a:r>
              <a:rPr lang="ko-KR" altLang="en-US" sz="2500" dirty="0" err="1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엔드포인트</a:t>
            </a:r>
            <a:b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</a:b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핵심 기능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단말기 내부에서 발생하는 모든 행위를 실시간으로 모니터링하고 기록함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endParaRPr lang="en-US" altLang="ko-KR" sz="2500" i="0" u="none" strike="noStrike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시나리오 적용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sz="2500" dirty="0" err="1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WingFTP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침투 이후 관리자 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PC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에서 발생하는 악성 스크립트 실행이나 파일 무결성 훼손 시도를 실시간으로 감시하고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즉각적인 프로세스 차단을 수행함</a:t>
            </a:r>
            <a:endParaRPr lang="en-US" sz="2500" i="0" u="none" strike="noStrike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92333ECE-9F4A-5C71-1FB9-1E9440C56B16}"/>
              </a:ext>
            </a:extLst>
          </p:cNvPr>
          <p:cNvSpPr txBox="1"/>
          <p:nvPr/>
        </p:nvSpPr>
        <p:spPr>
          <a:xfrm>
            <a:off x="1795780" y="4786630"/>
            <a:ext cx="8559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EDR (</a:t>
            </a:r>
            <a:r>
              <a:rPr lang="ko-KR" altLang="en-US" sz="2933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엔드포인트</a:t>
            </a:r>
            <a:r>
              <a:rPr lang="ko-KR" alt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탐지 및 대응</a:t>
            </a:r>
            <a:r>
              <a:rPr lang="en-US" altLang="ko-KR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)</a:t>
            </a: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AD6301-25CF-9A50-53CB-22055410918C}"/>
              </a:ext>
            </a:extLst>
          </p:cNvPr>
          <p:cNvSpPr txBox="1"/>
          <p:nvPr/>
        </p:nvSpPr>
        <p:spPr>
          <a:xfrm>
            <a:off x="13938250" y="4787900"/>
            <a:ext cx="6451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35D4C0-F1E8-1968-A41A-FCF42E2ECC61}"/>
              </a:ext>
            </a:extLst>
          </p:cNvPr>
          <p:cNvSpPr txBox="1"/>
          <p:nvPr/>
        </p:nvSpPr>
        <p:spPr>
          <a:xfrm>
            <a:off x="14589038" y="5651500"/>
            <a:ext cx="7353301" cy="579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적용 대상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네트워크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클라우드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이메일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인증 계정 등 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IT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인프라 전 계층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핵심 기능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서로 다른 영역에 분산된 보안 데이터를 하나로 통합하고 기계 주도형 상관관계를 분석하여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단일 도구로는 찾기 힘든 다단계 공격의 전체 경로를 시각화 함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시나리오 적용</a:t>
            </a:r>
            <a:b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</a:b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피싱부터 </a:t>
            </a:r>
            <a:r>
              <a:rPr lang="en-US" altLang="ko-KR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DB </a:t>
            </a:r>
            <a:r>
              <a:rPr lang="ko-KR" altLang="en-US" sz="25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접근까지 복합 공격 맥락 파악 및 대응 우선순위 결정함</a:t>
            </a:r>
            <a:endParaRPr lang="en-US" altLang="ko-KR" sz="2500" dirty="0">
              <a:solidFill>
                <a:srgbClr val="0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Box 25">
            <a:extLst>
              <a:ext uri="{FF2B5EF4-FFF2-40B4-BE49-F238E27FC236}">
                <a16:creationId xmlns:a16="http://schemas.microsoft.com/office/drawing/2014/main" id="{718DE7C6-FCEE-6E3A-BFF3-D99115CCB720}"/>
              </a:ext>
            </a:extLst>
          </p:cNvPr>
          <p:cNvSpPr txBox="1"/>
          <p:nvPr/>
        </p:nvSpPr>
        <p:spPr>
          <a:xfrm>
            <a:off x="13925550" y="4786630"/>
            <a:ext cx="8559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XDR</a:t>
            </a:r>
            <a:r>
              <a:rPr lang="ko-KR" alt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ko-KR" altLang="en-US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확장 탐지 및 대응</a:t>
            </a:r>
            <a:r>
              <a:rPr lang="en-US" altLang="ko-KR" sz="2933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)</a:t>
            </a:r>
            <a:endParaRPr lang="en-US" sz="2933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A277EAAE-92E1-1688-0CE9-93C9B2B778F5}"/>
              </a:ext>
            </a:extLst>
          </p:cNvPr>
          <p:cNvSpPr txBox="1"/>
          <p:nvPr/>
        </p:nvSpPr>
        <p:spPr>
          <a:xfrm>
            <a:off x="2120900" y="2971800"/>
            <a:ext cx="192405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  <a:cs typeface="Pretendard Bold" panose="020B0600000101010101" charset="-127"/>
              </a:rPr>
              <a:t>EDR,</a:t>
            </a:r>
            <a:r>
              <a:rPr lang="en-US" sz="3333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  <a:cs typeface="Pretendard Bold" panose="020B0600000101010101" charset="-127"/>
              </a:rPr>
              <a:t> XDR</a:t>
            </a:r>
            <a:endParaRPr lang="en-US" sz="3333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  <a:cs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30681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15" name="Picture 26">
            <a:extLst>
              <a:ext uri="{FF2B5EF4-FFF2-40B4-BE49-F238E27FC236}">
                <a16:creationId xmlns:a16="http://schemas.microsoft.com/office/drawing/2014/main" id="{6E5FD643-26FE-0E23-C3B7-60FC01734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0150" y="3881524"/>
            <a:ext cx="10426700" cy="8018376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16" name="Picture 26">
            <a:extLst>
              <a:ext uri="{FF2B5EF4-FFF2-40B4-BE49-F238E27FC236}">
                <a16:creationId xmlns:a16="http://schemas.microsoft.com/office/drawing/2014/main" id="{E11F16E4-58EF-0033-C140-E190E9B40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00" y="3881524"/>
            <a:ext cx="10426700" cy="8018376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</a:t>
            </a: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3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보안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대책</a:t>
            </a:r>
            <a:endParaRPr lang="en-US" sz="7066" b="0" i="0" u="none" strike="noStrike" spc="-3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EEF17B0D-E7B2-6E24-35A4-DBBFA69F899D}"/>
              </a:ext>
            </a:extLst>
          </p:cNvPr>
          <p:cNvSpPr txBox="1"/>
          <p:nvPr/>
        </p:nvSpPr>
        <p:spPr>
          <a:xfrm>
            <a:off x="1955799" y="2736850"/>
            <a:ext cx="6197601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SBOM(</a:t>
            </a:r>
            <a:r>
              <a:rPr lang="ko-KR" alt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소프트웨어 명세서</a:t>
            </a:r>
            <a:r>
              <a:rPr 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)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893A83EA-429F-6CEB-0004-62F3F9633765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3B3AB8AE-778E-80A0-2DC2-281A7E721A87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C9520738-E529-3B55-D803-D4903579A3F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66B97B31-8010-4305-8291-04635ADB249E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76E3EE09-470F-E8F7-470E-C3A466DA48AA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6061C82B-86CE-21B2-15E5-3FB19FFFF854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CD77B13D-BA03-CBD4-24C1-873935B56416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 및 진단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61500" y="5060950"/>
            <a:ext cx="266700" cy="203200"/>
          </a:xfrm>
          <a:prstGeom prst="rect">
            <a:avLst/>
          </a:prstGeom>
        </p:spPr>
      </p:pic>
      <p:sp>
        <p:nvSpPr>
          <p:cNvPr id="24" name="TextBox 41">
            <a:extLst>
              <a:ext uri="{FF2B5EF4-FFF2-40B4-BE49-F238E27FC236}">
                <a16:creationId xmlns:a16="http://schemas.microsoft.com/office/drawing/2014/main" id="{BDF73C01-2050-1AD3-12D0-65E5D724A17B}"/>
              </a:ext>
            </a:extLst>
          </p:cNvPr>
          <p:cNvSpPr txBox="1"/>
          <p:nvPr/>
        </p:nvSpPr>
        <p:spPr>
          <a:xfrm>
            <a:off x="13385800" y="5664201"/>
            <a:ext cx="9321800" cy="557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최근 소프트웨어 개발 및 클라우드 인프라 구축 방식이 복잡해지면서</a:t>
            </a:r>
            <a:r>
              <a:rPr lang="en-US" altLang="ko-KR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시스템을 구성하는 코드</a:t>
            </a:r>
            <a:r>
              <a:rPr lang="en-US" altLang="ko-KR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라이브러리</a:t>
            </a:r>
            <a:r>
              <a:rPr lang="en-US" altLang="ko-KR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의존성  등을 명확하게 식별하고 추적하여 보안 취약점에 대응하기 위하여</a:t>
            </a:r>
            <a:r>
              <a:rPr lang="en-US" altLang="ko-KR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 </a:t>
            </a: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제조업의 명세서 개념이 도입됨</a:t>
            </a:r>
            <a:endParaRPr lang="en-US" altLang="ko-KR" sz="2800" dirty="0"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endParaRPr lang="en-US" altLang="ko-KR" sz="2800" dirty="0"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 </a:t>
            </a:r>
            <a:r>
              <a:rPr lang="en-US" altLang="ko-KR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SBOM</a:t>
            </a: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은 </a:t>
            </a:r>
            <a:r>
              <a:rPr lang="en-US" altLang="ko-KR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SW </a:t>
            </a: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내부에 어떤 구성요소가 존재하는지 투명하게 식별하여</a:t>
            </a:r>
            <a:r>
              <a:rPr lang="en-US" altLang="ko-KR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dirty="0"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사이버 위험을 신속하게 추적하고 관리하기 위한 핵심 도구임</a:t>
            </a:r>
            <a:endParaRPr lang="en-US" sz="2800" b="0" i="0" u="none" strike="noStrike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endParaRPr lang="en-US" sz="2666" b="0" i="0" u="none" strike="noStrike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027275" y="4217670"/>
            <a:ext cx="570865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SBOM</a:t>
            </a:r>
            <a:r>
              <a:rPr lang="ko-KR" alt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이란</a:t>
            </a:r>
            <a:r>
              <a:rPr lang="en-US" altLang="ko-KR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?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C2847A3A-4D02-61C9-12A8-D342C0C6CD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4174" y="4585970"/>
            <a:ext cx="10115552" cy="6743701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91978-43F5-075D-981C-FB1E60156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D9E8E93-463F-0BA2-286C-1F55DA8D01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13" name="Picture 26">
            <a:extLst>
              <a:ext uri="{FF2B5EF4-FFF2-40B4-BE49-F238E27FC236}">
                <a16:creationId xmlns:a16="http://schemas.microsoft.com/office/drawing/2014/main" id="{AA914C91-2680-0382-2871-1B907C3A6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0150" y="3881524"/>
            <a:ext cx="10426700" cy="8018376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14" name="Picture 26">
            <a:extLst>
              <a:ext uri="{FF2B5EF4-FFF2-40B4-BE49-F238E27FC236}">
                <a16:creationId xmlns:a16="http://schemas.microsoft.com/office/drawing/2014/main" id="{9A304970-B4BB-8DD7-8DD2-8152FC55B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00" y="3881524"/>
            <a:ext cx="10426700" cy="8018376"/>
          </a:xfrm>
          <a:prstGeom prst="rect">
            <a:avLst/>
          </a:prstGeom>
          <a:effectLst>
            <a:outerShdw blurRad="139700" dist="38100" dir="2700000">
              <a:schemeClr val="tx1">
                <a:alpha val="33000"/>
              </a:scheme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CD34B78-3531-3650-2C82-5BE7F6AD2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918DC24-F4C2-F8FD-A464-3EBD954395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D7DE297-FE2B-3A13-14AC-B912B179E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A2516B3-433E-5F01-B0C9-F4DA3E38F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BF4554F-2BBB-E4D2-EA31-3CC15AAAD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8E172D1D-9192-E936-AE5D-A3318B37DD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CEE3491D-E377-C0EB-1113-2F8463291E64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48DC450-800A-890E-A4AE-A994B537716D}"/>
              </a:ext>
            </a:extLst>
          </p:cNvPr>
          <p:cNvSpPr txBox="1"/>
          <p:nvPr/>
        </p:nvSpPr>
        <p:spPr>
          <a:xfrm>
            <a:off x="1943100" y="1409700"/>
            <a:ext cx="202819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보안</a:t>
            </a:r>
            <a:r>
              <a:rPr lang="en-US" sz="7066" b="0" i="0" u="none" strike="noStrike" spc="-3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spc="-3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대책</a:t>
            </a:r>
            <a:endParaRPr lang="en-US" sz="7066" b="0" i="0" u="none" strike="noStrike" spc="-3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5805D4AE-A968-44A4-387F-12F8DF3E9E14}"/>
              </a:ext>
            </a:extLst>
          </p:cNvPr>
          <p:cNvSpPr txBox="1"/>
          <p:nvPr/>
        </p:nvSpPr>
        <p:spPr>
          <a:xfrm>
            <a:off x="1955799" y="2736850"/>
            <a:ext cx="6197601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SBOM(</a:t>
            </a:r>
            <a:r>
              <a:rPr lang="ko-KR" alt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소프트웨어 명세서</a:t>
            </a:r>
            <a:r>
              <a:rPr 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)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1F798AA4-AC95-6E67-03D1-2BF17F5945EC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80083856-245A-FFD3-D347-6F92B2B29258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516AAB06-D35D-9D07-6698-CEFBC8DB770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1201400" y="558800"/>
            <a:ext cx="2705100" cy="444500"/>
          </a:xfrm>
          <a:prstGeom prst="rect">
            <a:avLst/>
          </a:prstGeom>
        </p:spPr>
      </p:pic>
      <p:sp>
        <p:nvSpPr>
          <p:cNvPr id="23" name="TextBox 16">
            <a:extLst>
              <a:ext uri="{FF2B5EF4-FFF2-40B4-BE49-F238E27FC236}">
                <a16:creationId xmlns:a16="http://schemas.microsoft.com/office/drawing/2014/main" id="{50C1037B-E6A6-E9E2-C7BB-CE7ABACB6E6A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CEC7DD0A-B5DA-9726-E236-C6635674C8F6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9EA8D75C-81CB-D058-A614-48901EDE5784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1236B282-5810-7C47-5194-BA57E25BB5D6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진단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853F5DFB-5593-C25C-0176-B6EBFCF9956C}"/>
              </a:ext>
            </a:extLst>
          </p:cNvPr>
          <p:cNvSpPr txBox="1"/>
          <p:nvPr/>
        </p:nvSpPr>
        <p:spPr>
          <a:xfrm>
            <a:off x="14970125" y="4235450"/>
            <a:ext cx="570865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SBOM</a:t>
            </a:r>
            <a:r>
              <a:rPr lang="ko-KR" alt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적용 방법</a:t>
            </a:r>
            <a:endParaRPr lang="en-US" altLang="ko-KR" sz="3857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E5EE7C4B-C4D0-18D4-3BCA-DF35199387FA}"/>
              </a:ext>
            </a:extLst>
          </p:cNvPr>
          <p:cNvSpPr txBox="1"/>
          <p:nvPr/>
        </p:nvSpPr>
        <p:spPr>
          <a:xfrm>
            <a:off x="3511550" y="4340225"/>
            <a:ext cx="570865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SBOM</a:t>
            </a:r>
            <a:r>
              <a:rPr lang="ko-KR" alt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을 </a:t>
            </a:r>
            <a:r>
              <a:rPr lang="ko-KR" altLang="en-US" sz="3857" b="1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써야하는</a:t>
            </a:r>
            <a:r>
              <a:rPr lang="ko-KR" altLang="en-US" sz="3857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이유</a:t>
            </a:r>
            <a:endParaRPr lang="en-US" altLang="ko-KR" sz="3857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B2B68FD4-B196-3BC5-CA59-ACF5DB48952F}"/>
              </a:ext>
            </a:extLst>
          </p:cNvPr>
          <p:cNvSpPr txBox="1"/>
          <p:nvPr/>
        </p:nvSpPr>
        <p:spPr>
          <a:xfrm>
            <a:off x="1993900" y="5238750"/>
            <a:ext cx="9321800" cy="6007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Log4j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와 같은 세계적으로 사용되는 라이브러리에 취약점이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발견되었지만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다른 프레임워크나 솔루션에 내장되어 있어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소스코드 검색만으로는 시스템에 포함되어 있는지 탐지하기가 사실상 불가능했음</a:t>
            </a:r>
            <a:endParaRPr lang="en-US" altLang="ko-KR" sz="2800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endParaRPr lang="en-US" altLang="ko-KR" sz="2800" b="0" i="0" u="none" strike="noStrike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en-US" altLang="ko-KR" sz="2800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KISA</a:t>
            </a:r>
            <a:r>
              <a:rPr lang="ko-KR" altLang="en-US" sz="2800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에 따르면 고위험 취약점을 한 개 이상 포함하고 있는 오픈소스 코드베이스가 </a:t>
            </a:r>
            <a:r>
              <a:rPr lang="en-US" altLang="ko-KR" sz="2800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50%</a:t>
            </a:r>
            <a:r>
              <a:rPr lang="ko-KR" altLang="en-US" sz="2800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에 달할 만큼 관리가 어려움</a:t>
            </a:r>
            <a:endParaRPr lang="en-US" altLang="ko-KR" sz="2800" b="0" i="0" u="none" strike="noStrike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endParaRPr lang="en-US" sz="2800" b="0" i="0" u="none" strike="noStrike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개발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유통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운영 전 단계에서 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SW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에 어떤 오픈소스나 타사 라이브러리가 포함되어 있는지 </a:t>
            </a:r>
            <a:r>
              <a:rPr lang="ko-KR" altLang="en-US" sz="2800" b="0" i="0" u="none" strike="noStrike" dirty="0" err="1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목록화하여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새로운 취약점이 발표될 경우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해당 취약한 컴포넌트가 어느 시스템에 쓰이고 있는지 즉시 검색하여 패치를 적용함</a:t>
            </a:r>
          </a:p>
        </p:txBody>
      </p:sp>
      <p:sp>
        <p:nvSpPr>
          <p:cNvPr id="28" name="TextBox 41">
            <a:extLst>
              <a:ext uri="{FF2B5EF4-FFF2-40B4-BE49-F238E27FC236}">
                <a16:creationId xmlns:a16="http://schemas.microsoft.com/office/drawing/2014/main" id="{D5AA0959-729F-3FFE-ED25-B0294FF5D44C}"/>
              </a:ext>
            </a:extLst>
          </p:cNvPr>
          <p:cNvSpPr txBox="1"/>
          <p:nvPr/>
        </p:nvSpPr>
        <p:spPr>
          <a:xfrm>
            <a:off x="13208000" y="5302250"/>
            <a:ext cx="9321800" cy="557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16199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개발자가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코드를 빌드하는 시점에 명세서가 자동으로 생성되도록 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CI/CD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파이프라인에 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SBOM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추출 전용 플러그인을 연동함</a:t>
            </a:r>
            <a:endParaRPr lang="en-US" altLang="ko-KR" sz="2800" b="0" i="0" u="none" strike="noStrike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indent="-457200">
              <a:lnSpc>
                <a:spcPct val="116199"/>
              </a:lnSpc>
              <a:buFontTx/>
              <a:buChar char="-"/>
            </a:pPr>
            <a:endParaRPr lang="en-US" altLang="ko-KR" sz="2800" b="0" i="0" u="none" strike="noStrike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marL="457200" indent="-457200">
              <a:lnSpc>
                <a:spcPct val="116199"/>
              </a:lnSpc>
              <a:buFontTx/>
              <a:buChar char="-"/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SBOM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파일을 소프트웨어 구성 분석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도구</a:t>
            </a:r>
            <a:r>
              <a:rPr lang="ko-KR" altLang="en-US" sz="2800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를 이용하여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전 세계 취약점 데이터베이스와 실시간으로 사용 중인 라이브러리 버전에 알려진 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CVE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가 존재하는지 스캔함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.</a:t>
            </a:r>
            <a:endParaRPr lang="en-US" sz="2800" b="0" i="0" u="none" strike="noStrike" dirty="0">
              <a:solidFill>
                <a:srgbClr val="000000"/>
              </a:solidFill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56286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3E4BD-3B44-772F-0768-679A4BD3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B4571AF-7314-FA72-6775-77E3CDFDA3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798800" y="-18034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DC39BB9-BE82-AE54-AFA2-E5D1731C28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2806700" y="4838354"/>
            <a:ext cx="11442700" cy="114427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2C84FD75-76EA-4D8E-4B8B-844CB8917E1E}"/>
              </a:ext>
            </a:extLst>
          </p:cNvPr>
          <p:cNvSpPr txBox="1"/>
          <p:nvPr/>
        </p:nvSpPr>
        <p:spPr>
          <a:xfrm>
            <a:off x="6858000" y="4838354"/>
            <a:ext cx="9580972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43590"/>
              </a:lnSpc>
            </a:pPr>
            <a:r>
              <a:rPr lang="ko-KR" altLang="en-US" sz="9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 총평</a:t>
            </a:r>
            <a:endParaRPr lang="en-US" altLang="ko-KR" sz="96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1E7D1C-B8B5-02FC-3FCC-A2BA7FABF435}"/>
              </a:ext>
            </a:extLst>
          </p:cNvPr>
          <p:cNvSpPr txBox="1"/>
          <p:nvPr/>
        </p:nvSpPr>
        <p:spPr>
          <a:xfrm>
            <a:off x="2114550" y="2057400"/>
            <a:ext cx="4972050" cy="5982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3590"/>
              </a:lnSpc>
            </a:pPr>
            <a:r>
              <a:rPr lang="en-US" altLang="ko-KR" sz="30000" dirty="0">
                <a:solidFill>
                  <a:srgbClr val="1A7AE1"/>
                </a:solidFill>
                <a:latin typeface="Pretendard Regular" panose="02000503000000020004" pitchFamily="2" charset="-127"/>
                <a:ea typeface="Pretendard Regular" panose="02000503000000020004" pitchFamily="2" charset="-127"/>
                <a:cs typeface="Pretendard Regular" panose="02000503000000020004" pitchFamily="2" charset="-127"/>
              </a:rPr>
              <a:t>04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7592D180-B501-FB5B-E090-EA5A5B5D7D86}"/>
              </a:ext>
            </a:extLst>
          </p:cNvPr>
          <p:cNvCxnSpPr>
            <a:cxnSpLocks/>
          </p:cNvCxnSpPr>
          <p:nvPr/>
        </p:nvCxnSpPr>
        <p:spPr>
          <a:xfrm>
            <a:off x="6661150" y="6858000"/>
            <a:ext cx="13760450" cy="0"/>
          </a:xfrm>
          <a:prstGeom prst="line">
            <a:avLst/>
          </a:prstGeom>
          <a:ln w="57150">
            <a:solidFill>
              <a:srgbClr val="1A7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94C0EAC-695A-78A4-EED7-97322EB6E683}"/>
              </a:ext>
            </a:extLst>
          </p:cNvPr>
          <p:cNvCxnSpPr>
            <a:cxnSpLocks/>
          </p:cNvCxnSpPr>
          <p:nvPr/>
        </p:nvCxnSpPr>
        <p:spPr>
          <a:xfrm>
            <a:off x="4857114" y="3191568"/>
            <a:ext cx="781686" cy="0"/>
          </a:xfrm>
          <a:prstGeom prst="line">
            <a:avLst/>
          </a:prstGeom>
          <a:ln w="9525">
            <a:solidFill>
              <a:srgbClr val="1A7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5DDD56E-028D-0A6A-14D4-522C6728948A}"/>
              </a:ext>
            </a:extLst>
          </p:cNvPr>
          <p:cNvSpPr txBox="1"/>
          <p:nvPr/>
        </p:nvSpPr>
        <p:spPr>
          <a:xfrm>
            <a:off x="2514600" y="2872827"/>
            <a:ext cx="3048000" cy="63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500" dirty="0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CHAPTER</a:t>
            </a:r>
            <a:endParaRPr lang="en-US" altLang="ko-KR" sz="3500" b="0" i="0" u="none" strike="noStrike" dirty="0">
              <a:solidFill>
                <a:srgbClr val="1A7AE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299EBEBD-414E-AAFB-2D8A-964F146A5FD9}"/>
              </a:ext>
            </a:extLst>
          </p:cNvPr>
          <p:cNvSpPr/>
          <p:nvPr/>
        </p:nvSpPr>
        <p:spPr>
          <a:xfrm>
            <a:off x="20246913" y="6704980"/>
            <a:ext cx="303274" cy="304800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4CEB7E10-213B-3BC1-4828-70AFFFECD680}"/>
              </a:ext>
            </a:extLst>
          </p:cNvPr>
          <p:cNvSpPr/>
          <p:nvPr/>
        </p:nvSpPr>
        <p:spPr>
          <a:xfrm>
            <a:off x="6934200" y="7620000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1F8F1F1-3F4B-AF92-0B35-E9527F4DFB9B}"/>
              </a:ext>
            </a:extLst>
          </p:cNvPr>
          <p:cNvSpPr txBox="1"/>
          <p:nvPr/>
        </p:nvSpPr>
        <p:spPr>
          <a:xfrm>
            <a:off x="7389018" y="7338139"/>
            <a:ext cx="8460582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향후 계획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8244EBD1-DC47-3347-931D-9B59803A1B7C}"/>
              </a:ext>
            </a:extLst>
          </p:cNvPr>
          <p:cNvSpPr/>
          <p:nvPr/>
        </p:nvSpPr>
        <p:spPr>
          <a:xfrm>
            <a:off x="17326031" y="3808760"/>
            <a:ext cx="6219769" cy="6249640"/>
          </a:xfrm>
          <a:prstGeom prst="ellipse">
            <a:avLst/>
          </a:prstGeom>
          <a:noFill/>
          <a:ln w="38100">
            <a:solidFill>
              <a:srgbClr val="1A7AE1">
                <a:alpha val="3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EF0079FD-27C6-1DDD-2C08-482FB02678A7}"/>
              </a:ext>
            </a:extLst>
          </p:cNvPr>
          <p:cNvSpPr/>
          <p:nvPr/>
        </p:nvSpPr>
        <p:spPr>
          <a:xfrm>
            <a:off x="18643481" y="5180421"/>
            <a:ext cx="3584867" cy="3546788"/>
          </a:xfrm>
          <a:prstGeom prst="ellipse">
            <a:avLst/>
          </a:prstGeom>
          <a:solidFill>
            <a:srgbClr val="1A7AE1">
              <a:alpha val="8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원형: 비어 있음 89">
            <a:extLst>
              <a:ext uri="{FF2B5EF4-FFF2-40B4-BE49-F238E27FC236}">
                <a16:creationId xmlns:a16="http://schemas.microsoft.com/office/drawing/2014/main" id="{BA92C2F2-B6DA-E284-C4E5-3CEF7FAA3E3A}"/>
              </a:ext>
            </a:extLst>
          </p:cNvPr>
          <p:cNvSpPr/>
          <p:nvPr/>
        </p:nvSpPr>
        <p:spPr>
          <a:xfrm>
            <a:off x="17781407" y="4228873"/>
            <a:ext cx="5334000" cy="5415371"/>
          </a:xfrm>
          <a:prstGeom prst="donut">
            <a:avLst>
              <a:gd name="adj" fmla="val 3577"/>
            </a:avLst>
          </a:prstGeom>
          <a:solidFill>
            <a:srgbClr val="1A7AE1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8CAF0A1-2A68-E3F2-698C-AB661843AC0E}"/>
              </a:ext>
            </a:extLst>
          </p:cNvPr>
          <p:cNvSpPr/>
          <p:nvPr/>
        </p:nvSpPr>
        <p:spPr>
          <a:xfrm>
            <a:off x="6934200" y="8282861"/>
            <a:ext cx="152400" cy="137447"/>
          </a:xfrm>
          <a:prstGeom prst="ellipse">
            <a:avLst/>
          </a:prstGeom>
          <a:solidFill>
            <a:srgbClr val="1A7AE1"/>
          </a:solidFill>
          <a:ln>
            <a:solidFill>
              <a:srgbClr val="1A7A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A4EFF-1EEA-3FA6-60EE-D0976A7F4331}"/>
              </a:ext>
            </a:extLst>
          </p:cNvPr>
          <p:cNvSpPr txBox="1"/>
          <p:nvPr/>
        </p:nvSpPr>
        <p:spPr>
          <a:xfrm>
            <a:off x="7389018" y="8001000"/>
            <a:ext cx="8460582" cy="644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3590"/>
              </a:lnSpc>
            </a:pPr>
            <a:r>
              <a:rPr lang="ko-KR" altLang="en-US" sz="2800" spc="-100" dirty="0">
                <a:solidFill>
                  <a:srgbClr val="000000">
                    <a:alpha val="70196"/>
                  </a:srgbClr>
                </a:solidFill>
                <a:latin typeface="Pretendard Medium"/>
                <a:ea typeface="Pretendard Medium"/>
                <a:cs typeface="Pretendard Medium"/>
              </a:rPr>
              <a:t>프로젝트 소감</a:t>
            </a:r>
            <a:endParaRPr lang="en-US" altLang="ko-KR" sz="2800" spc="-100" dirty="0">
              <a:solidFill>
                <a:srgbClr val="000000">
                  <a:alpha val="70196"/>
                </a:srgbClr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927344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04DF9-6D24-4834-11D4-53426653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8491B40-51E0-E75E-4EEB-C34C45CB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25459FE-B69A-D985-5038-801BAA0C8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C4D784B-0F1C-3905-78C4-360D765A2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A008D96-4DBC-5093-4167-0633A6DFE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3CBCFE4-C039-4AC9-C7F8-354B455A1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64F78F1-3481-DE29-E1A0-CA8BF9C09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16007496-AC66-F820-014C-699A80D02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03DD0E87-B2B0-19C2-3F59-25DCF03ED594}"/>
              </a:ext>
            </a:extLst>
          </p:cNvPr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향후</a:t>
            </a:r>
            <a:r>
              <a:rPr lang="en-US" sz="7066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7066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계획</a:t>
            </a:r>
            <a:endParaRPr lang="en-US" sz="7066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09550D2-2E78-54FC-F645-370C86AEAF7E}"/>
              </a:ext>
            </a:extLst>
          </p:cNvPr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85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D1931121-D288-4407-7AE8-936B0F466811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7F1DE238-4A68-3077-70BB-DB7AB5BE3549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A165F33C-B3CC-E37A-6F8A-34B1012A72D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3944600" y="558800"/>
            <a:ext cx="2082801" cy="444500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92B8A7A3-006B-F799-E220-F310A5E17043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0B6A66A5-6A87-23A4-72E2-C7386A0D96DA}"/>
              </a:ext>
            </a:extLst>
          </p:cNvPr>
          <p:cNvSpPr txBox="1"/>
          <p:nvPr/>
        </p:nvSpPr>
        <p:spPr>
          <a:xfrm>
            <a:off x="113665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모의해킹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3B630A25-D5E5-EB15-4A06-8A14D0CBEBD7}"/>
              </a:ext>
            </a:extLst>
          </p:cNvPr>
          <p:cNvSpPr txBox="1"/>
          <p:nvPr/>
        </p:nvSpPr>
        <p:spPr>
          <a:xfrm>
            <a:off x="14097000" y="4572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latin typeface="Pretendard SemiBold"/>
                <a:ea typeface="Pretendard SemiBold"/>
                <a:cs typeface="Pretendard SemiBold"/>
              </a:rPr>
              <a:t>프로젝트</a:t>
            </a:r>
            <a:r>
              <a:rPr lang="en-US" sz="2666" b="0" i="0" u="none" strike="noStrike" spc="-100" dirty="0"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spc="-100" dirty="0" err="1">
                <a:latin typeface="Pretendard SemiBold"/>
                <a:ea typeface="Pretendard SemiBold"/>
                <a:cs typeface="Pretendard SemiBold"/>
              </a:rPr>
              <a:t>총평</a:t>
            </a:r>
            <a:endParaRPr lang="en-US" sz="2666" b="0" i="0" u="none" strike="noStrike" spc="-100" dirty="0"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EDB034C3-DF56-1610-A89A-88E106A56534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진단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D850458-5C40-0613-B6CC-1BEBBAE39430}"/>
              </a:ext>
            </a:extLst>
          </p:cNvPr>
          <p:cNvGrpSpPr/>
          <p:nvPr/>
        </p:nvGrpSpPr>
        <p:grpSpPr>
          <a:xfrm>
            <a:off x="1600200" y="4051300"/>
            <a:ext cx="21818601" cy="8115302"/>
            <a:chOff x="1600200" y="4051300"/>
            <a:chExt cx="21818601" cy="8115302"/>
          </a:xfrm>
        </p:grpSpPr>
        <p:pic>
          <p:nvPicPr>
            <p:cNvPr id="40" name="Picture 21">
              <a:extLst>
                <a:ext uri="{FF2B5EF4-FFF2-40B4-BE49-F238E27FC236}">
                  <a16:creationId xmlns:a16="http://schemas.microsoft.com/office/drawing/2014/main" id="{DAFA4A97-4F8F-0673-3E67-3DCE05E44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00200" y="4051301"/>
              <a:ext cx="6883401" cy="8115301"/>
            </a:xfrm>
            <a:prstGeom prst="rect">
              <a:avLst/>
            </a:prstGeom>
            <a:effectLst>
              <a:outerShdw blurRad="139700" dist="38100" dir="2700000">
                <a:schemeClr val="tx1">
                  <a:alpha val="33000"/>
                </a:schemeClr>
              </a:outerShdw>
            </a:effectLst>
          </p:spPr>
        </p:pic>
        <p:pic>
          <p:nvPicPr>
            <p:cNvPr id="41" name="Picture 21">
              <a:extLst>
                <a:ext uri="{FF2B5EF4-FFF2-40B4-BE49-F238E27FC236}">
                  <a16:creationId xmlns:a16="http://schemas.microsoft.com/office/drawing/2014/main" id="{79170060-FC58-0E2F-47EF-D687BB5CE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44000" y="4051301"/>
              <a:ext cx="6883401" cy="8115301"/>
            </a:xfrm>
            <a:prstGeom prst="rect">
              <a:avLst/>
            </a:prstGeom>
            <a:effectLst>
              <a:outerShdw blurRad="139700" dist="38100" dir="2700000">
                <a:schemeClr val="tx1">
                  <a:alpha val="33000"/>
                </a:schemeClr>
              </a:outerShdw>
            </a:effectLst>
          </p:spPr>
        </p:pic>
        <p:pic>
          <p:nvPicPr>
            <p:cNvPr id="42" name="Picture 21">
              <a:extLst>
                <a:ext uri="{FF2B5EF4-FFF2-40B4-BE49-F238E27FC236}">
                  <a16:creationId xmlns:a16="http://schemas.microsoft.com/office/drawing/2014/main" id="{5DEAF2DF-B416-AA0C-314F-46F129411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535400" y="4051300"/>
              <a:ext cx="6883401" cy="8115301"/>
            </a:xfrm>
            <a:prstGeom prst="rect">
              <a:avLst/>
            </a:prstGeom>
            <a:effectLst>
              <a:outerShdw blurRad="139700" dist="38100" dir="2700000">
                <a:schemeClr val="tx1">
                  <a:alpha val="33000"/>
                </a:schemeClr>
              </a:outerShdw>
            </a:effectLst>
          </p:spPr>
        </p:pic>
        <p:pic>
          <p:nvPicPr>
            <p:cNvPr id="43" name="Picture 4" descr="돋보기 - 무료 개 아이콘">
              <a:extLst>
                <a:ext uri="{FF2B5EF4-FFF2-40B4-BE49-F238E27FC236}">
                  <a16:creationId xmlns:a16="http://schemas.microsoft.com/office/drawing/2014/main" id="{323EC322-4DDD-0C91-4C26-31F9A923F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duotone>
                <a:prstClr val="black"/>
                <a:srgbClr val="1A7AE1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36687" y="4602604"/>
              <a:ext cx="978321" cy="978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6" descr="새로 고침 버튼 - 무료 화살개 아이콘">
              <a:extLst>
                <a:ext uri="{FF2B5EF4-FFF2-40B4-BE49-F238E27FC236}">
                  <a16:creationId xmlns:a16="http://schemas.microsoft.com/office/drawing/2014/main" id="{ABF49029-9175-FDB8-A1D6-5C494152DA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1A7AE1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757385" y="4604040"/>
              <a:ext cx="1032087" cy="1032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8" descr="방패 - 무료 보안개 아이콘">
              <a:extLst>
                <a:ext uri="{FF2B5EF4-FFF2-40B4-BE49-F238E27FC236}">
                  <a16:creationId xmlns:a16="http://schemas.microsoft.com/office/drawing/2014/main" id="{7267CF03-41DA-0F35-5539-DC60F2C9D3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prstClr val="black"/>
                <a:srgbClr val="1A7AE1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9436" y="4637044"/>
              <a:ext cx="1051946" cy="1051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1">
              <a:extLst>
                <a:ext uri="{FF2B5EF4-FFF2-40B4-BE49-F238E27FC236}">
                  <a16:creationId xmlns:a16="http://schemas.microsoft.com/office/drawing/2014/main" id="{FB0D3917-8B4A-48AD-02B7-ED4228437B33}"/>
                </a:ext>
              </a:extLst>
            </p:cNvPr>
            <p:cNvSpPr txBox="1"/>
            <p:nvPr/>
          </p:nvSpPr>
          <p:spPr>
            <a:xfrm>
              <a:off x="2301402" y="6578599"/>
              <a:ext cx="5480996" cy="306070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개발 단계부터 보안을 </a:t>
              </a:r>
              <a:r>
                <a:rPr lang="ko-KR" altLang="en-US" sz="2666" b="0" i="0" u="none" strike="noStrike" dirty="0" err="1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내재화하여</a:t>
              </a:r>
              <a:r>
                <a:rPr lang="ko-KR" altLang="en-US" sz="2666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 </a:t>
              </a: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취약점을 원천 차단</a:t>
              </a:r>
              <a:endParaRPr lang="en-US" altLang="ko-KR" sz="2666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  <a:p>
              <a:pPr lvl="0">
                <a:lnSpc>
                  <a:spcPct val="116199"/>
                </a:lnSpc>
              </a:pPr>
              <a:endParaRPr lang="en-US" altLang="ko-KR" sz="2666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  <a:p>
              <a:pPr lvl="0">
                <a:lnSpc>
                  <a:spcPct val="116199"/>
                </a:lnSpc>
              </a:pP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소스코드 정적 분석 도구 도입 및 전자금융서비스 </a:t>
              </a:r>
              <a:r>
                <a:rPr lang="ko-KR" altLang="en-US" sz="2666" b="0" i="0" u="none" strike="noStrike" dirty="0" err="1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시큐어코딩</a:t>
              </a:r>
              <a:r>
                <a:rPr lang="ko-KR" altLang="en-US" sz="2666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 가이드라인을 준수하여 시큐어 코딩을 진행</a:t>
              </a:r>
              <a:endParaRPr lang="en-US" sz="2666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</p:txBody>
        </p:sp>
        <p:sp>
          <p:nvSpPr>
            <p:cNvPr id="47" name="TextBox 11">
              <a:extLst>
                <a:ext uri="{FF2B5EF4-FFF2-40B4-BE49-F238E27FC236}">
                  <a16:creationId xmlns:a16="http://schemas.microsoft.com/office/drawing/2014/main" id="{B648EBD6-3637-F5F2-4DEF-8138052A454D}"/>
                </a:ext>
              </a:extLst>
            </p:cNvPr>
            <p:cNvSpPr txBox="1"/>
            <p:nvPr/>
          </p:nvSpPr>
          <p:spPr>
            <a:xfrm>
              <a:off x="3507869" y="4731683"/>
              <a:ext cx="3771900" cy="774700"/>
            </a:xfrm>
            <a:prstGeom prst="rect">
              <a:avLst/>
            </a:prstGeom>
          </p:spPr>
          <p:txBody>
            <a:bodyPr lIns="0" tIns="44874" rIns="0" bIns="0" rtlCol="0" anchor="t"/>
            <a:lstStyle/>
            <a:p>
              <a:pPr lvl="0" algn="l">
                <a:lnSpc>
                  <a:spcPct val="107899"/>
                </a:lnSpc>
              </a:pPr>
              <a:r>
                <a:rPr lang="ko-KR" altLang="en-US" sz="4000" dirty="0">
                  <a:solidFill>
                    <a:srgbClr val="000000"/>
                  </a:solidFill>
                  <a:latin typeface="Pretendard SemiBold"/>
                  <a:ea typeface="Pretendard SemiBold"/>
                  <a:cs typeface="Pretendard SemiBold"/>
                </a:rPr>
                <a:t>시큐어 코딩</a:t>
              </a:r>
              <a:endParaRPr lang="en-US" sz="40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48" name="TextBox 11">
              <a:extLst>
                <a:ext uri="{FF2B5EF4-FFF2-40B4-BE49-F238E27FC236}">
                  <a16:creationId xmlns:a16="http://schemas.microsoft.com/office/drawing/2014/main" id="{0ECF96B7-A1FF-A580-6560-19DD91CFD67E}"/>
                </a:ext>
              </a:extLst>
            </p:cNvPr>
            <p:cNvSpPr txBox="1"/>
            <p:nvPr/>
          </p:nvSpPr>
          <p:spPr>
            <a:xfrm>
              <a:off x="11112871" y="4725595"/>
              <a:ext cx="3771900" cy="774700"/>
            </a:xfrm>
            <a:prstGeom prst="rect">
              <a:avLst/>
            </a:prstGeom>
          </p:spPr>
          <p:txBody>
            <a:bodyPr lIns="0" tIns="44874" rIns="0" bIns="0" rtlCol="0" anchor="t"/>
            <a:lstStyle/>
            <a:p>
              <a:pPr lvl="0" algn="l">
                <a:lnSpc>
                  <a:spcPct val="107899"/>
                </a:lnSpc>
              </a:pPr>
              <a:r>
                <a:rPr lang="ko-KR" altLang="en-US" sz="4000" dirty="0">
                  <a:solidFill>
                    <a:srgbClr val="000000"/>
                  </a:solidFill>
                  <a:latin typeface="Pretendard SemiBold"/>
                  <a:ea typeface="Pretendard SemiBold"/>
                  <a:cs typeface="Pretendard SemiBold"/>
                </a:rPr>
                <a:t>침투 지점 </a:t>
              </a:r>
              <a:r>
                <a:rPr lang="ko-KR" altLang="en-US" sz="4000" dirty="0" err="1">
                  <a:solidFill>
                    <a:srgbClr val="000000"/>
                  </a:solidFill>
                  <a:latin typeface="Pretendard SemiBold"/>
                  <a:ea typeface="Pretendard SemiBold"/>
                  <a:cs typeface="Pretendard SemiBold"/>
                </a:rPr>
                <a:t>재검증</a:t>
              </a:r>
              <a:endParaRPr lang="en-US" sz="40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49" name="TextBox 41">
              <a:extLst>
                <a:ext uri="{FF2B5EF4-FFF2-40B4-BE49-F238E27FC236}">
                  <a16:creationId xmlns:a16="http://schemas.microsoft.com/office/drawing/2014/main" id="{2089A237-BF12-F78D-7AEF-8D1103CC933B}"/>
                </a:ext>
              </a:extLst>
            </p:cNvPr>
            <p:cNvSpPr txBox="1"/>
            <p:nvPr/>
          </p:nvSpPr>
          <p:spPr>
            <a:xfrm>
              <a:off x="9943154" y="6581370"/>
              <a:ext cx="5480996" cy="306070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기존 시나리오에서 확인된 취약점에 대해 보안 조치 적용 후 </a:t>
              </a:r>
              <a:r>
                <a:rPr lang="ko-KR" altLang="en-US" sz="2666" b="0" i="0" u="none" strike="noStrike" dirty="0" err="1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재침투</a:t>
              </a: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 테스트 수행</a:t>
              </a:r>
              <a:endParaRPr lang="en-US" altLang="ko-KR" sz="2666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  <a:p>
              <a:pPr lvl="0">
                <a:lnSpc>
                  <a:spcPct val="116199"/>
                </a:lnSpc>
              </a:pPr>
              <a:endParaRPr lang="en-US" altLang="ko-KR" sz="2666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  <a:p>
              <a:pPr lvl="0">
                <a:lnSpc>
                  <a:spcPct val="116199"/>
                </a:lnSpc>
              </a:pPr>
              <a:r>
                <a:rPr lang="ko-KR" altLang="en-US" sz="2666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발견한 취약점에 대해  보완 뿐만 아니라</a:t>
              </a: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 실질적 방어 기능을 검증</a:t>
              </a:r>
              <a:endParaRPr lang="en-US" sz="2666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</p:txBody>
        </p:sp>
        <p:sp>
          <p:nvSpPr>
            <p:cNvPr id="50" name="TextBox 11">
              <a:extLst>
                <a:ext uri="{FF2B5EF4-FFF2-40B4-BE49-F238E27FC236}">
                  <a16:creationId xmlns:a16="http://schemas.microsoft.com/office/drawing/2014/main" id="{FACEF6A0-5676-9B92-1B04-E54D0A4C9B8D}"/>
                </a:ext>
              </a:extLst>
            </p:cNvPr>
            <p:cNvSpPr txBox="1"/>
            <p:nvPr/>
          </p:nvSpPr>
          <p:spPr>
            <a:xfrm>
              <a:off x="18426130" y="4724400"/>
              <a:ext cx="3443609" cy="774700"/>
            </a:xfrm>
            <a:prstGeom prst="rect">
              <a:avLst/>
            </a:prstGeom>
          </p:spPr>
          <p:txBody>
            <a:bodyPr lIns="0" tIns="44874" rIns="0" bIns="0" rtlCol="0" anchor="t"/>
            <a:lstStyle/>
            <a:p>
              <a:pPr lvl="0" algn="l">
                <a:lnSpc>
                  <a:spcPct val="107899"/>
                </a:lnSpc>
              </a:pPr>
              <a:r>
                <a:rPr lang="ko-KR" altLang="en-US" sz="4000" dirty="0">
                  <a:solidFill>
                    <a:srgbClr val="000000"/>
                  </a:solidFill>
                  <a:latin typeface="Pretendard SemiBold"/>
                  <a:ea typeface="Pretendard SemiBold"/>
                  <a:cs typeface="Pretendard SemiBold"/>
                </a:rPr>
                <a:t>취약점 추가 발굴</a:t>
              </a:r>
              <a:endParaRPr lang="en-US" sz="40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1" name="TextBox 41">
              <a:extLst>
                <a:ext uri="{FF2B5EF4-FFF2-40B4-BE49-F238E27FC236}">
                  <a16:creationId xmlns:a16="http://schemas.microsoft.com/office/drawing/2014/main" id="{01F93527-D6B9-2C25-F10A-7D0E37AB7BF3}"/>
                </a:ext>
              </a:extLst>
            </p:cNvPr>
            <p:cNvSpPr txBox="1"/>
            <p:nvPr/>
          </p:nvSpPr>
          <p:spPr>
            <a:xfrm>
              <a:off x="17487900" y="6578599"/>
              <a:ext cx="5480996" cy="306070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기존 시나리오 외 영역으로 범위를 확장하여 </a:t>
              </a:r>
              <a:r>
                <a:rPr lang="ko-KR" altLang="en-US" sz="2666" b="0" i="0" u="none" strike="noStrike" dirty="0" err="1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미탐지</a:t>
              </a: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 취약점을 이용한 공격 탐색</a:t>
              </a:r>
              <a:endParaRPr lang="en-US" altLang="ko-KR" sz="2666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  <a:p>
              <a:pPr lvl="0">
                <a:lnSpc>
                  <a:spcPct val="116199"/>
                </a:lnSpc>
              </a:pPr>
              <a:endParaRPr lang="en-US" altLang="ko-KR" sz="2666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  <a:p>
              <a:pPr lvl="0">
                <a:lnSpc>
                  <a:spcPct val="116199"/>
                </a:lnSpc>
              </a:pPr>
              <a:r>
                <a:rPr lang="ko-KR" altLang="en-US" sz="2666" b="0" i="0" u="none" strike="noStrike" dirty="0">
                  <a:solidFill>
                    <a:srgbClr val="000000"/>
                  </a:solidFill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동일 서비스 내 다양한 우회 경로 및 비정상 로직 시나리오 추가로 발굴</a:t>
              </a:r>
              <a:endParaRPr lang="en-US" sz="2666" b="0" i="0" u="none" strike="noStrike" dirty="0">
                <a:solidFill>
                  <a:srgbClr val="000000"/>
                </a:solidFill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4C9B411-E91B-FDDB-3987-41DAA2B4248E}"/>
                </a:ext>
              </a:extLst>
            </p:cNvPr>
            <p:cNvSpPr/>
            <p:nvPr/>
          </p:nvSpPr>
          <p:spPr>
            <a:xfrm>
              <a:off x="7510698" y="4396695"/>
              <a:ext cx="816923" cy="16457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3F027A0-5C2D-4268-F79F-7BDAD2A97323}"/>
                </a:ext>
              </a:extLst>
            </p:cNvPr>
            <p:cNvSpPr/>
            <p:nvPr/>
          </p:nvSpPr>
          <p:spPr>
            <a:xfrm>
              <a:off x="14921366" y="4462953"/>
              <a:ext cx="816923" cy="16457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59CE810-EEB6-682E-6417-BDB777AD4518}"/>
                </a:ext>
              </a:extLst>
            </p:cNvPr>
            <p:cNvSpPr/>
            <p:nvPr/>
          </p:nvSpPr>
          <p:spPr>
            <a:xfrm>
              <a:off x="22477119" y="4586809"/>
              <a:ext cx="816923" cy="16457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00613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230600" y="-2590800"/>
            <a:ext cx="11442700" cy="1144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092200"/>
            <a:ext cx="228600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1612900"/>
            <a:ext cx="88900" cy="850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43100" y="1409700"/>
            <a:ext cx="10680700" cy="1257300"/>
          </a:xfrm>
          <a:prstGeom prst="rect">
            <a:avLst/>
          </a:prstGeom>
        </p:spPr>
        <p:txBody>
          <a:bodyPr lIns="0" tIns="4487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7066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소감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b="0" i="0" u="none" strike="noStrike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86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37719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2527300" y="41402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75000" y="4140200"/>
            <a:ext cx="1016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백승빈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7300" y="37846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23" name="TextBox 23"/>
          <p:cNvSpPr txBox="1"/>
          <p:nvPr/>
        </p:nvSpPr>
        <p:spPr>
          <a:xfrm>
            <a:off x="9893300" y="41402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0" y="37719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25" name="TextBox 25"/>
          <p:cNvSpPr txBox="1"/>
          <p:nvPr/>
        </p:nvSpPr>
        <p:spPr>
          <a:xfrm>
            <a:off x="17246600" y="41148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87122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27" name="TextBox 27"/>
          <p:cNvSpPr txBox="1"/>
          <p:nvPr/>
        </p:nvSpPr>
        <p:spPr>
          <a:xfrm>
            <a:off x="2527300" y="90805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7300" y="87249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29" name="TextBox 29"/>
          <p:cNvSpPr txBox="1"/>
          <p:nvPr/>
        </p:nvSpPr>
        <p:spPr>
          <a:xfrm>
            <a:off x="9969500" y="90932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0" y="8712200"/>
            <a:ext cx="6858000" cy="3187700"/>
          </a:xfrm>
          <a:prstGeom prst="rect">
            <a:avLst/>
          </a:prstGeom>
          <a:effectLst>
            <a:outerShdw blurRad="79726" dist="73593" dir="2700000">
              <a:srgbClr val="1A7AE1">
                <a:alpha val="15000"/>
              </a:srgbClr>
            </a:outerShdw>
          </a:effectLst>
        </p:spPr>
      </p:pic>
      <p:sp>
        <p:nvSpPr>
          <p:cNvPr id="31" name="TextBox 31"/>
          <p:cNvSpPr txBox="1"/>
          <p:nvPr/>
        </p:nvSpPr>
        <p:spPr>
          <a:xfrm>
            <a:off x="17348200" y="9067800"/>
            <a:ext cx="29210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1A7AE1"/>
                </a:solidFill>
                <a:latin typeface="Pretendard Medium"/>
                <a:ea typeface="Pretendard Medium"/>
                <a:cs typeface="Pretendard Medium"/>
              </a:rPr>
              <a:t>팀원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17200" y="9093200"/>
            <a:ext cx="1104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성준모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945100" y="4140200"/>
            <a:ext cx="1016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서정우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75000" y="9093200"/>
            <a:ext cx="1016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손지선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1000" y="4140200"/>
            <a:ext cx="1041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최상훈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995900" y="9067800"/>
            <a:ext cx="1016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표민우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246600" y="4800600"/>
            <a:ext cx="53975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인원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변동으로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목표는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조정해야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했지만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,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남은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6명이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끝까지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최선을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다해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완주하여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뿌듯합니다</a:t>
            </a:r>
            <a:endParaRPr lang="en-US" sz="2666" b="0" i="0" u="none" strike="noStrike" dirty="0">
              <a:solidFill>
                <a:srgbClr val="000000"/>
              </a:solidFill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7297400" y="9829800"/>
            <a:ext cx="3048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금융권은 건들지 말자</a:t>
            </a:r>
            <a:endParaRPr lang="en-US" sz="2666" b="0" i="0" u="none" strike="noStrike" dirty="0">
              <a:solidFill>
                <a:srgbClr val="000000"/>
              </a:solidFill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893300" y="9779000"/>
            <a:ext cx="47879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프로젝트 하면서 아쉬웠던 부분이 많았기에 수료 후 </a:t>
            </a:r>
            <a:r>
              <a:rPr lang="ko-KR" altLang="en-US" sz="2666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개선해나갈</a:t>
            </a:r>
            <a:r>
              <a:rPr lang="ko-KR" altLang="en-US" sz="2666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것입니다</a:t>
            </a:r>
            <a:endParaRPr lang="en-US" sz="2666" b="0" i="0" u="none" strike="noStrike" dirty="0">
              <a:solidFill>
                <a:srgbClr val="000000"/>
              </a:solidFill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006600" y="9728200"/>
            <a:ext cx="5778500" cy="189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예상치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못한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수많은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변수와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한계에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부딪히면서도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개발부터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시나리오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모의해킹까지의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전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과정을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직접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경험하며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많은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것을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배울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수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있었습니다</a:t>
            </a:r>
            <a:endParaRPr lang="en-US" sz="2666" b="0" i="0" u="none" strike="noStrike" dirty="0">
              <a:solidFill>
                <a:srgbClr val="000000"/>
              </a:solidFill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184400" y="4737100"/>
            <a:ext cx="5473700" cy="189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부족한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팀장이었지만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,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훌륭한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팀원들을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만난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덕분에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여기까지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무사히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올 수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있었습니다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.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많은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것을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배우고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경험할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수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있었던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소중한</a:t>
            </a:r>
            <a:r>
              <a:rPr lang="en-US" sz="2666" b="0" i="0" u="none" strike="noStrike" dirty="0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 두 </a:t>
            </a:r>
            <a:r>
              <a:rPr lang="en-US" sz="2666" b="0" i="0" u="none" strike="noStrike" dirty="0" err="1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달이었습니다</a:t>
            </a:r>
            <a:endParaRPr lang="en-US" sz="2666" b="0" i="0" u="none" strike="noStrike" dirty="0">
              <a:solidFill>
                <a:srgbClr val="000000"/>
              </a:solidFill>
              <a:latin typeface="Pretendard SemiBold" panose="020B0600000101010101" charset="-127"/>
              <a:ea typeface="Pretendard SemiBold" panose="020B0600000101010101" charset="-127"/>
              <a:cs typeface="Pretendard SemiBold" panose="020B0600000101010101" charset="-127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893300" y="4800600"/>
            <a:ext cx="5384800" cy="189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SemiBold" panose="020B0600000101010101" charset="-127"/>
              </a:rPr>
              <a:t>직접 구축한 웹·앱 환경을 시나리오에 다 담지 못해 아쉽지만, 6명이 개발부터 재현까지 함께하며 모의해킹의 전 과정을 깊이 있게 배운 값진 시간이었습니다</a:t>
            </a: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4C75E6E3-5755-906B-5DA9-614CCEC5F152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44" name="TextBox 14">
            <a:extLst>
              <a:ext uri="{FF2B5EF4-FFF2-40B4-BE49-F238E27FC236}">
                <a16:creationId xmlns:a16="http://schemas.microsoft.com/office/drawing/2014/main" id="{DAEEF9E5-C933-D14A-DBF3-C6587BF4B0F0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6" name="Picture 13">
            <a:extLst>
              <a:ext uri="{FF2B5EF4-FFF2-40B4-BE49-F238E27FC236}">
                <a16:creationId xmlns:a16="http://schemas.microsoft.com/office/drawing/2014/main" id="{99E6A1CE-D0F9-F173-671E-9C5925B75150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4020800" y="571500"/>
            <a:ext cx="1981200" cy="444500"/>
          </a:xfrm>
          <a:prstGeom prst="rect">
            <a:avLst/>
          </a:prstGeom>
        </p:spPr>
      </p:pic>
      <p:sp>
        <p:nvSpPr>
          <p:cNvPr id="47" name="TextBox 14">
            <a:extLst>
              <a:ext uri="{FF2B5EF4-FFF2-40B4-BE49-F238E27FC236}">
                <a16:creationId xmlns:a16="http://schemas.microsoft.com/office/drawing/2014/main" id="{EDB03857-7271-1167-6559-AAF4AC063A5E}"/>
              </a:ext>
            </a:extLst>
          </p:cNvPr>
          <p:cNvSpPr txBox="1"/>
          <p:nvPr/>
        </p:nvSpPr>
        <p:spPr>
          <a:xfrm>
            <a:off x="6946900" y="457200"/>
            <a:ext cx="2006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48" name="TextBox 16">
            <a:extLst>
              <a:ext uri="{FF2B5EF4-FFF2-40B4-BE49-F238E27FC236}">
                <a16:creationId xmlns:a16="http://schemas.microsoft.com/office/drawing/2014/main" id="{C1088103-85CD-3234-38BC-C3CC1ECC005B}"/>
              </a:ext>
            </a:extLst>
          </p:cNvPr>
          <p:cNvSpPr txBox="1"/>
          <p:nvPr/>
        </p:nvSpPr>
        <p:spPr>
          <a:xfrm>
            <a:off x="11353800" y="469900"/>
            <a:ext cx="25273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시나리오 모의해킹</a:t>
            </a:r>
          </a:p>
        </p:txBody>
      </p:sp>
      <p:sp>
        <p:nvSpPr>
          <p:cNvPr id="49" name="TextBox 17">
            <a:extLst>
              <a:ext uri="{FF2B5EF4-FFF2-40B4-BE49-F238E27FC236}">
                <a16:creationId xmlns:a16="http://schemas.microsoft.com/office/drawing/2014/main" id="{9B7C6166-CCB9-5837-6A3A-68852A3B76AF}"/>
              </a:ext>
            </a:extLst>
          </p:cNvPr>
          <p:cNvSpPr txBox="1"/>
          <p:nvPr/>
        </p:nvSpPr>
        <p:spPr>
          <a:xfrm>
            <a:off x="14097000" y="495300"/>
            <a:ext cx="1981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총평</a:t>
            </a:r>
          </a:p>
        </p:txBody>
      </p:sp>
      <p:sp>
        <p:nvSpPr>
          <p:cNvPr id="50" name="TextBox 20">
            <a:extLst>
              <a:ext uri="{FF2B5EF4-FFF2-40B4-BE49-F238E27FC236}">
                <a16:creationId xmlns:a16="http://schemas.microsoft.com/office/drawing/2014/main" id="{535B155F-8894-B38F-5999-5CD121F71EED}"/>
              </a:ext>
            </a:extLst>
          </p:cNvPr>
          <p:cNvSpPr txBox="1"/>
          <p:nvPr/>
        </p:nvSpPr>
        <p:spPr>
          <a:xfrm>
            <a:off x="9334500" y="469900"/>
            <a:ext cx="1752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3590"/>
              </a:lnSpc>
            </a:pP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개발</a:t>
            </a:r>
            <a:r>
              <a:rPr lang="en-US" sz="2666" b="0" i="0" u="none" strike="noStrike" spc="-100" dirty="0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2666" b="0" i="0" u="none" strike="noStrike" spc="-100" dirty="0" err="1">
                <a:solidFill>
                  <a:srgbClr val="C2C2C2"/>
                </a:solidFill>
                <a:latin typeface="Pretendard SemiBold"/>
                <a:ea typeface="Pretendard SemiBold"/>
                <a:cs typeface="Pretendard SemiBold"/>
              </a:rPr>
              <a:t>진단</a:t>
            </a:r>
            <a:endParaRPr lang="en-US" sz="2666" b="0" i="0" u="none" strike="noStrike" spc="-100" dirty="0">
              <a:solidFill>
                <a:srgbClr val="C2C2C2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4600" y="6870700"/>
            <a:ext cx="11442700" cy="1144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3251200" y="5918200"/>
            <a:ext cx="10109200" cy="10109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092200"/>
            <a:ext cx="22860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200400" y="787400"/>
            <a:ext cx="635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2225000" y="787400"/>
            <a:ext cx="6350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37300" y="787400"/>
            <a:ext cx="6350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57200"/>
            <a:ext cx="22860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664200" y="5143500"/>
            <a:ext cx="12979400" cy="2120900"/>
          </a:xfrm>
          <a:prstGeom prst="rect">
            <a:avLst/>
          </a:prstGeom>
        </p:spPr>
        <p:txBody>
          <a:bodyPr lIns="0" tIns="75887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1950" b="0" i="0" u="none" strike="noStrike" spc="-300">
                <a:solidFill>
                  <a:srgbClr val="1A7AE1"/>
                </a:solidFill>
                <a:latin typeface="Pretendard ExtraBold"/>
                <a:ea typeface="Pretendard ExtraBold"/>
                <a:cs typeface="Pretendard ExtraBold"/>
              </a:rPr>
              <a:t>감사합니다.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02300" y="7264400"/>
            <a:ext cx="12979400" cy="2120900"/>
          </a:xfrm>
          <a:prstGeom prst="rect">
            <a:avLst/>
          </a:prstGeom>
        </p:spPr>
        <p:txBody>
          <a:bodyPr lIns="0" tIns="75887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1950" b="0" i="0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Q&amp;A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07600" y="584200"/>
            <a:ext cx="736600" cy="381000"/>
          </a:xfrm>
          <a:prstGeom prst="rect">
            <a:avLst/>
          </a:prstGeom>
        </p:spPr>
        <p:txBody>
          <a:bodyPr lIns="0" tIns="32511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2133" cap="all" dirty="0">
                <a:solidFill>
                  <a:srgbClr val="024EA0"/>
                </a:solidFill>
                <a:latin typeface="Geologica Roman Light"/>
                <a:ea typeface="Geologica Roman Light"/>
                <a:cs typeface="Geologica Roman Light"/>
              </a:rPr>
              <a:t>87</a:t>
            </a:r>
            <a:endParaRPr lang="en-US" sz="2133" b="0" i="0" u="none" strike="noStrike" cap="all" dirty="0">
              <a:solidFill>
                <a:srgbClr val="024EA0"/>
              </a:solidFill>
              <a:latin typeface="Geologica Roman Light"/>
              <a:ea typeface="Geologica Roman Light"/>
              <a:cs typeface="Geologica Roman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1EA07-8173-FB19-5F6C-F393C1F1BF19}"/>
              </a:ext>
            </a:extLst>
          </p:cNvPr>
          <p:cNvSpPr txBox="1"/>
          <p:nvPr/>
        </p:nvSpPr>
        <p:spPr>
          <a:xfrm>
            <a:off x="1562100" y="635000"/>
            <a:ext cx="1104900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Sk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733" b="0" i="0" u="none" strike="noStrike" cap="all" dirty="0" err="1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쉴더스</a:t>
            </a:r>
            <a:r>
              <a:rPr lang="en-US" sz="1733" b="0" i="0" u="none" strike="noStrike" cap="all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 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2B881D25-F366-77C0-BDE4-F6A213811BEA}"/>
              </a:ext>
            </a:extLst>
          </p:cNvPr>
          <p:cNvSpPr txBox="1"/>
          <p:nvPr/>
        </p:nvSpPr>
        <p:spPr>
          <a:xfrm>
            <a:off x="4356273" y="650240"/>
            <a:ext cx="1434927" cy="304800"/>
          </a:xfrm>
          <a:prstGeom prst="rect">
            <a:avLst/>
          </a:prstGeom>
        </p:spPr>
        <p:txBody>
          <a:bodyPr lIns="0" tIns="26415" rIns="0" bIns="0" rtlCol="0" anchor="t"/>
          <a:lstStyle/>
          <a:p>
            <a:pPr lvl="0" algn="ctr">
              <a:lnSpc>
                <a:spcPct val="96279"/>
              </a:lnSpc>
            </a:pPr>
            <a:r>
              <a:rPr 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Rookies 29</a:t>
            </a:r>
            <a:r>
              <a:rPr lang="ko-KR" altLang="en-US" sz="1733" dirty="0">
                <a:solidFill>
                  <a:srgbClr val="024EA0">
                    <a:alpha val="80000"/>
                  </a:srgb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endParaRPr lang="en-US" sz="1733" b="0" i="0" u="none" strike="noStrike" dirty="0">
              <a:solidFill>
                <a:srgbClr val="024EA0">
                  <a:alpha val="80000"/>
                </a:srgb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2195</TotalTime>
  <Words>6662</Words>
  <Application>Microsoft Office PowerPoint</Application>
  <PresentationFormat>사용자 지정</PresentationFormat>
  <Paragraphs>1550</Paragraphs>
  <Slides>91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91</vt:i4>
      </vt:variant>
    </vt:vector>
  </HeadingPairs>
  <TitlesOfParts>
    <vt:vector size="103" baseType="lpstr">
      <vt:lpstr>Geologica Roman Light</vt:lpstr>
      <vt:lpstr>Calibri</vt:lpstr>
      <vt:lpstr>Pretendard Light</vt:lpstr>
      <vt:lpstr>Aptos</vt:lpstr>
      <vt:lpstr>Pretendard Medium</vt:lpstr>
      <vt:lpstr>Pretendard Regular</vt:lpstr>
      <vt:lpstr>Pretendard ExtraBold</vt:lpstr>
      <vt:lpstr>Hauora ExtraBold</vt:lpstr>
      <vt:lpstr>Arial</vt:lpstr>
      <vt:lpstr>Pretendard SemiBold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표민우</cp:lastModifiedBy>
  <cp:revision>142</cp:revision>
  <dcterms:created xsi:type="dcterms:W3CDTF">2006-08-16T00:00:00Z</dcterms:created>
  <dcterms:modified xsi:type="dcterms:W3CDTF">2026-05-07T04:16:56Z</dcterms:modified>
</cp:coreProperties>
</file>